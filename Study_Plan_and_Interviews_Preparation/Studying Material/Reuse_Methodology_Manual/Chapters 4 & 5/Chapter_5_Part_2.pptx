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30"/>
  </p:handoutMasterIdLst>
  <p:sldIdLst>
    <p:sldId id="277" r:id="rId3"/>
    <p:sldId id="316" r:id="rId5"/>
    <p:sldId id="318" r:id="rId6"/>
    <p:sldId id="320" r:id="rId7"/>
    <p:sldId id="364" r:id="rId8"/>
    <p:sldId id="325" r:id="rId9"/>
    <p:sldId id="322" r:id="rId10"/>
    <p:sldId id="327" r:id="rId11"/>
    <p:sldId id="332" r:id="rId12"/>
    <p:sldId id="331" r:id="rId13"/>
    <p:sldId id="351" r:id="rId14"/>
    <p:sldId id="352" r:id="rId15"/>
    <p:sldId id="363" r:id="rId16"/>
    <p:sldId id="335" r:id="rId17"/>
    <p:sldId id="337" r:id="rId18"/>
    <p:sldId id="339" r:id="rId19"/>
    <p:sldId id="343" r:id="rId20"/>
    <p:sldId id="344" r:id="rId21"/>
    <p:sldId id="345" r:id="rId22"/>
    <p:sldId id="384" r:id="rId23"/>
    <p:sldId id="348" r:id="rId24"/>
    <p:sldId id="349" r:id="rId25"/>
    <p:sldId id="341" r:id="rId26"/>
    <p:sldId id="342" r:id="rId27"/>
    <p:sldId id="388" r:id="rId28"/>
    <p:sldId id="386" r:id="rId2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8EA"/>
    <a:srgbClr val="CBCED2"/>
    <a:srgbClr val="27B34F"/>
    <a:srgbClr val="009FBD"/>
    <a:srgbClr val="009F59"/>
    <a:srgbClr val="003D61"/>
    <a:srgbClr val="3DDCE6"/>
    <a:srgbClr val="7C4A8B"/>
    <a:srgbClr val="1E4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1E4AEA4-8DFA-4A89-87EB-49C32662AFE0}">
  <a:tblStyle styleId="{37CE84F3-28C3-443E-9E96-99CF82512B78}" styleName="深色样式 1 - 强调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95" autoAdjust="0"/>
  </p:normalViewPr>
  <p:slideViewPr>
    <p:cSldViewPr snapToGrid="0" snapToObjects="1">
      <p:cViewPr varScale="1">
        <p:scale>
          <a:sx n="63" d="100"/>
          <a:sy n="63" d="100"/>
        </p:scale>
        <p:origin x="764" y="56"/>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13" d="100"/>
          <a:sy n="113" d="100"/>
        </p:scale>
        <p:origin x="3032" y="176"/>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image" Target="../media/image42.emf"/></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a:solidFill>
                <a:schemeClr val="bg1">
                  <a:lumMod val="50000"/>
                </a:scheme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b="1" smtClean="0">
                <a:solidFill>
                  <a:schemeClr val="bg1">
                    <a:lumMod val="50000"/>
                  </a:schemeClr>
                </a:solidFill>
                <a:latin typeface="Arial" panose="020B0604020202020204" pitchFamily="34" charset="0"/>
                <a:cs typeface="Arial" panose="020B0604020202020204" pitchFamily="34" charset="0"/>
              </a:rPr>
            </a:fld>
            <a:endParaRPr lang="en-US" b="1">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endPar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endParaRP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8"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1"/>
          <a:stretch>
            <a:fillRect/>
          </a:stretch>
        </p:blipFill>
        <p:spPr>
          <a:xfrm>
            <a:off x="99551" y="108612"/>
            <a:ext cx="1323726" cy="535440"/>
          </a:xfrm>
          <a:prstGeom prst="rect">
            <a:avLst/>
          </a:prstGeom>
          <a:noFill/>
          <a:ln>
            <a:noFill/>
          </a:ln>
        </p:spPr>
      </p:pic>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image" Target="../media/image42.emf"/></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a:latin typeface="Arial" panose="020B0604020202020204" pitchFamily="34" charset="0"/>
                <a:cs typeface="Arial" panose="020B0604020202020204" pitchFamily="34" charset="0"/>
              </a:defRPr>
            </a:lvl1pPr>
          </a:lstStyle>
          <a:p>
            <a:r>
              <a:rPr lang="en-US" i="1" dirty="0">
                <a:solidFill>
                  <a:srgbClr val="FFFFFF">
                    <a:lumMod val="65000"/>
                  </a:srgbClr>
                </a:solidFill>
              </a:rPr>
              <a:t>Footer</a:t>
            </a:r>
            <a:endParaRPr lang="en-US" i="1" dirty="0">
              <a:solidFill>
                <a:srgbClr val="FFFFFF">
                  <a:lumMod val="65000"/>
                </a:srgbClr>
              </a:solidFill>
            </a:endParaRP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1">
                <a:solidFill>
                  <a:schemeClr val="tx1">
                    <a:lumMod val="50000"/>
                    <a:lumOff val="50000"/>
                  </a:schemeClr>
                </a:solidFill>
                <a:latin typeface="Arial" panose="020B0604020202020204" pitchFamily="34" charset="0"/>
                <a:cs typeface="Arial" panose="020B0604020202020204" pitchFamily="34" charset="0"/>
              </a:defRPr>
            </a:lvl1pPr>
          </a:lstStyle>
          <a:p>
            <a:fld id="{900B8651-D313-4300-801F-836567026953}" type="slidenum">
              <a:rPr lang="en-US" smtClean="0"/>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endPar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endParaRP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34480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855980"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This is the light cover slide option. </a:t>
            </a:r>
            <a:endParaRPr lang="en-US" dirty="0"/>
          </a:p>
        </p:txBody>
      </p:sp>
      <p:sp>
        <p:nvSpPr>
          <p:cNvPr id="4" name="Slide Number Placeholder 3"/>
          <p:cNvSpPr>
            <a:spLocks noGrp="1"/>
          </p:cNvSpPr>
          <p:nvPr>
            <p:ph type="sldNum" sz="quarter" idx="10"/>
          </p:nvPr>
        </p:nvSpPr>
        <p:spPr/>
        <p:txBody>
          <a:bodyPr/>
          <a:lstStyle/>
          <a:p>
            <a:fld id="{900B8651-D313-4300-801F-836567026953}"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2.svg"/><Relationship Id="rId5" Type="http://schemas.openxmlformats.org/officeDocument/2006/relationships/image" Target="../media/image3.png"/><Relationship Id="rId4" Type="http://schemas.openxmlformats.org/officeDocument/2006/relationships/image" Target="../media/image1.sv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image" Target="../media/image3.svg"/><Relationship Id="rId5" Type="http://schemas.openxmlformats.org/officeDocument/2006/relationships/image" Target="../media/image5.png"/><Relationship Id="rId4" Type="http://schemas.openxmlformats.org/officeDocument/2006/relationships/image" Target="../media/image1.svg"/><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bg>
      <p:bgPr>
        <a:blipFill dpi="0" rotWithShape="1">
          <a:blip r:embed="rId2" cstate="screen">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p:cNvPicPr>
            <a:picLocks noChangeAspect="1"/>
          </p:cNvPicPr>
          <p:nvPr userDrawn="1"/>
        </p:nvPicPr>
        <p:blipFill rotWithShape="1">
          <a:blip r:embed="rId3" cstate="screen">
            <a:extLst>
              <a:ext uri="{96DAC541-7B7A-43D3-8B79-37D633B846F1}">
                <asvg:svgBlip xmlns:asvg="http://schemas.microsoft.com/office/drawing/2016/SVG/main" r:embed="rId4"/>
              </a:ext>
            </a:extLst>
          </a:blip>
          <a:srcRect l="983" t="31368" r="520" b="18339"/>
          <a:stretch>
            <a:fillRect/>
          </a:stretch>
        </p:blipFill>
        <p:spPr>
          <a:xfrm>
            <a:off x="0" y="-5203"/>
            <a:ext cx="12192000" cy="6863204"/>
          </a:xfrm>
          <a:prstGeom prst="rect">
            <a:avLst/>
          </a:prstGeom>
        </p:spPr>
      </p:pic>
      <p:sp>
        <p:nvSpPr>
          <p:cNvPr id="26" name="Rectangle 25"/>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p:cNvPicPr>
            <a:picLocks noChangeAspect="1"/>
          </p:cNvPicPr>
          <p:nvPr userDrawn="1"/>
        </p:nvPicPr>
        <p:blipFill>
          <a:blip r:embed="rId5" cstate="screen">
            <a:extLst>
              <a:ext uri="{96DAC541-7B7A-43D3-8B79-37D633B846F1}">
                <asvg:svgBlip xmlns:asvg="http://schemas.microsoft.com/office/drawing/2016/SVG/main" r:embed="rId6"/>
              </a:ext>
            </a:extLst>
          </a:blip>
          <a:srcRect/>
          <a:stretch>
            <a:fillRect/>
          </a:stretch>
        </p:blipFill>
        <p:spPr>
          <a:xfrm>
            <a:off x="347472" y="412047"/>
            <a:ext cx="1546299" cy="623945"/>
          </a:xfrm>
          <a:prstGeom prst="rect">
            <a:avLst/>
          </a:prstGeom>
        </p:spPr>
      </p:pic>
      <p:sp>
        <p:nvSpPr>
          <p:cNvPr id="28" name="Text Placeholder 2"/>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endParaRPr lang="en-US" dirty="0"/>
          </a:p>
        </p:txBody>
      </p:sp>
      <p:sp>
        <p:nvSpPr>
          <p:cNvPr id="29" name="Text Placeholder 6"/>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endParaRPr lang="en-US" dirty="0"/>
          </a:p>
        </p:txBody>
      </p:sp>
      <p:sp>
        <p:nvSpPr>
          <p:cNvPr id="30" name="Rectangle 29"/>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A04020102020204" pitchFamily="34" charset="0"/>
            </a:endParaRPr>
          </a:p>
        </p:txBody>
      </p:sp>
      <p:sp>
        <p:nvSpPr>
          <p:cNvPr id="13" name="Footer Placeholder 1"/>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A04020102020204" pitchFamily="34" charset="0"/>
              </a:defRPr>
            </a:lvl1pPr>
          </a:lstStyle>
          <a:p>
            <a:r>
              <a:rPr lang="en-US"/>
              <a:t>©2022 Analog Devices, Inc. </a:t>
            </a:r>
            <a:endParaRPr lang="en-US" dirty="0"/>
          </a:p>
        </p:txBody>
      </p:sp>
      <p:sp>
        <p:nvSpPr>
          <p:cNvPr id="14" name="Slide Number Placeholder 3"/>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fld>
            <a:endParaRPr lang="en-US" baseline="-11000" dirty="0"/>
          </a:p>
        </p:txBody>
      </p:sp>
      <p:sp>
        <p:nvSpPr>
          <p:cNvPr id="15" name="Date Placeholder 3"/>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Section Header">
    <p:bg>
      <p:bgPr>
        <a:blipFill dpi="0" rotWithShape="1">
          <a:blip r:embed="rId2" cstate="screen">
            <a:alphaModFix amt="50000"/>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p:cNvPicPr>
            <a:picLocks noChangeAspect="1"/>
          </p:cNvPicPr>
          <p:nvPr userDrawn="1"/>
        </p:nvPicPr>
        <p:blipFill rotWithShape="1">
          <a:blip r:embed="rId3" cstate="screen">
            <a:extLst>
              <a:ext uri="{96DAC541-7B7A-43D3-8B79-37D633B846F1}">
                <asvg:svgBlip xmlns:asvg="http://schemas.microsoft.com/office/drawing/2016/SVG/main" r:embed="rId4"/>
              </a:ext>
            </a:extLst>
          </a:blip>
          <a:srcRect l="983" t="31368" r="520" b="18339"/>
          <a:stretch>
            <a:fillRect/>
          </a:stretch>
        </p:blipFill>
        <p:spPr>
          <a:xfrm>
            <a:off x="0" y="-5203"/>
            <a:ext cx="12192000" cy="6863204"/>
          </a:xfrm>
          <a:prstGeom prst="rect">
            <a:avLst/>
          </a:prstGeom>
        </p:spPr>
      </p:pic>
      <p:sp>
        <p:nvSpPr>
          <p:cNvPr id="22" name="Rectangle 21"/>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p:cNvPicPr>
            <a:picLocks noChangeAspect="1"/>
          </p:cNvPicPr>
          <p:nvPr userDrawn="1"/>
        </p:nvPicPr>
        <p:blipFill>
          <a:blip r:embed="rId5" cstate="screen">
            <a:extLst>
              <a:ext uri="{96DAC541-7B7A-43D3-8B79-37D633B846F1}">
                <asvg:svgBlip xmlns:asvg="http://schemas.microsoft.com/office/drawing/2016/SVG/main" r:embed="rId6"/>
              </a:ext>
            </a:extLst>
          </a:blip>
          <a:srcRect/>
          <a:stretch>
            <a:fillRect/>
          </a:stretch>
        </p:blipFill>
        <p:spPr>
          <a:xfrm>
            <a:off x="347472" y="412047"/>
            <a:ext cx="1546299" cy="623945"/>
          </a:xfrm>
          <a:prstGeom prst="rect">
            <a:avLst/>
          </a:prstGeom>
        </p:spPr>
      </p:pic>
      <p:sp>
        <p:nvSpPr>
          <p:cNvPr id="25" name="Text Placeholder 8"/>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dirty="0"/>
              <a:t>Click To Add Presenter/Subheading</a:t>
            </a:r>
            <a:endParaRPr lang="en-US" dirty="0"/>
          </a:p>
        </p:txBody>
      </p:sp>
      <p:sp>
        <p:nvSpPr>
          <p:cNvPr id="26" name="Title Placeholder 2"/>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dirty="0"/>
              <a:t>Click to Edit</a:t>
            </a:r>
            <a:endParaRPr lang="en-US" dirty="0"/>
          </a:p>
        </p:txBody>
      </p:sp>
      <p:sp>
        <p:nvSpPr>
          <p:cNvPr id="27" name="Rectangle 26"/>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A04020102020204" pitchFamily="34" charset="0"/>
            </a:endParaRPr>
          </a:p>
        </p:txBody>
      </p:sp>
      <p:sp>
        <p:nvSpPr>
          <p:cNvPr id="13" name="Footer Placeholder 1"/>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A04020102020204" pitchFamily="34" charset="0"/>
              </a:defRPr>
            </a:lvl1pPr>
          </a:lstStyle>
          <a:p>
            <a:r>
              <a:rPr lang="en-US"/>
              <a:t>©2022 Analog Devices, Inc. </a:t>
            </a:r>
            <a:endParaRPr lang="en-US" dirty="0"/>
          </a:p>
        </p:txBody>
      </p:sp>
      <p:sp>
        <p:nvSpPr>
          <p:cNvPr id="14" name="Slide Number Placeholder 3"/>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fld>
            <a:endParaRPr lang="en-US" baseline="-11000" dirty="0"/>
          </a:p>
        </p:txBody>
      </p:sp>
      <p:sp>
        <p:nvSpPr>
          <p:cNvPr id="15" name="Date Placeholder 3"/>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panose="05000000000000000000" pitchFamily="2"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extBox 1"/>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endParaRPr lang="en-US" dirty="0"/>
          </a:p>
        </p:txBody>
      </p:sp>
      <p:sp>
        <p:nvSpPr>
          <p:cNvPr id="9" name="Footer Placeholder 1"/>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A04020102020204" pitchFamily="34" charset="0"/>
              </a:defRPr>
            </a:lvl1pPr>
          </a:lstStyle>
          <a:p>
            <a:r>
              <a:rPr lang="en-US"/>
              <a:t>©2022 Analog Devices, Inc. </a:t>
            </a:r>
            <a:endParaRPr lang="en-US" dirty="0"/>
          </a:p>
        </p:txBody>
      </p:sp>
      <p:sp>
        <p:nvSpPr>
          <p:cNvPr id="10" name="Slide Number Placeholder 3"/>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fld>
            <a:endParaRPr lang="en-US" baseline="-11000" dirty="0"/>
          </a:p>
        </p:txBody>
      </p:sp>
      <p:sp>
        <p:nvSpPr>
          <p:cNvPr id="12" name="Date Placeholder 3"/>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8.emf"/><Relationship Id="rId4" Type="http://schemas.openxmlformats.org/officeDocument/2006/relationships/image" Target="../media/image7.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screen">
            <a:alphaModFix amt="50000"/>
            <a:lum/>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endParaRPr lang="en-US" dirty="0"/>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endParaRPr lang="en-US" dirty="0"/>
          </a:p>
          <a:p>
            <a:pPr marL="457200" lvl="1" indent="-228600" algn="l" defTabSz="457200" rtl="0" eaLnBrk="1" latinLnBrk="0" hangingPunct="1">
              <a:spcBef>
                <a:spcPct val="20000"/>
              </a:spcBef>
              <a:buClr>
                <a:srgbClr val="1E4056"/>
              </a:buClr>
              <a:buFont typeface="Wingdings" panose="05000000000000000000" pitchFamily="2" charset="2"/>
              <a:buChar char="§"/>
            </a:pPr>
            <a:r>
              <a:rPr lang="en-US" dirty="0"/>
              <a:t>Second level</a:t>
            </a:r>
            <a:endParaRPr lang="en-US" dirty="0"/>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endParaRPr lang="en-US" dirty="0"/>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endParaRPr lang="en-US" dirty="0"/>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endParaRPr lang="en-US" dirty="0"/>
          </a:p>
        </p:txBody>
      </p:sp>
      <p:pic>
        <p:nvPicPr>
          <p:cNvPr id="12" name="Picture 11"/>
          <p:cNvPicPr>
            <a:picLocks noChangeAspect="1"/>
          </p:cNvPicPr>
          <p:nvPr userDrawn="1"/>
        </p:nvPicPr>
        <p:blipFill>
          <a:blip r:embed="rId5" cstate="screen"/>
          <a:stretch>
            <a:fillRect/>
          </a:stretch>
        </p:blipFill>
        <p:spPr>
          <a:xfrm>
            <a:off x="10919678" y="236303"/>
            <a:ext cx="991639" cy="398355"/>
          </a:xfrm>
          <a:prstGeom prst="rect">
            <a:avLst/>
          </a:prstGeom>
          <a:noFill/>
          <a:ln>
            <a:noFill/>
          </a:ln>
        </p:spPr>
      </p:pic>
      <p:sp>
        <p:nvSpPr>
          <p:cNvPr id="20" name="Rectangle 19"/>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A04020102020204" pitchFamily="34" charset="0"/>
            </a:endParaRPr>
          </a:p>
        </p:txBody>
      </p:sp>
      <p:sp>
        <p:nvSpPr>
          <p:cNvPr id="2" name="Footer Placeholder 1"/>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A04020102020204" pitchFamily="34" charset="0"/>
              </a:defRPr>
            </a:lvl1pPr>
          </a:lstStyle>
          <a:p>
            <a:r>
              <a:rPr lang="en-US"/>
              <a:t>©2022 Analog Devices, Inc. </a:t>
            </a:r>
            <a:endParaRPr lang="en-US" dirty="0"/>
          </a:p>
        </p:txBody>
      </p:sp>
      <p:sp>
        <p:nvSpPr>
          <p:cNvPr id="4" name="Slide Number Placeholder 3"/>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fld>
            <a:endParaRPr lang="en-US" baseline="-11000" dirty="0"/>
          </a:p>
        </p:txBody>
      </p:sp>
      <p:sp>
        <p:nvSpPr>
          <p:cNvPr id="9" name="Date Placeholder 3"/>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fld>
            <a:endParaRPr lang="en-US" dirty="0"/>
          </a:p>
        </p:txBody>
      </p:sp>
      <p:sp>
        <p:nvSpPr>
          <p:cNvPr id="5" name="TextBox 4"/>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panose="020B0604020202020204"/>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panose="020B0604020202020204"/>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panose="020B0604020202020204"/>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panose="020B0604020202020204"/>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7.png"/><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9.png"/><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342900" y="4587041"/>
            <a:ext cx="6470276" cy="553998"/>
          </a:xfrm>
        </p:spPr>
        <p:txBody>
          <a:bodyPr/>
          <a:lstStyle/>
          <a:p>
            <a:r>
              <a:rPr lang="en-US" dirty="0"/>
              <a:t>Reuse Methodology Manual for System-On-Chip Designs</a:t>
            </a:r>
            <a:endParaRPr lang="en-US" dirty="0"/>
          </a:p>
        </p:txBody>
      </p:sp>
      <p:sp>
        <p:nvSpPr>
          <p:cNvPr id="7" name="Text Placeholder 6"/>
          <p:cNvSpPr>
            <a:spLocks noGrp="1"/>
          </p:cNvSpPr>
          <p:nvPr>
            <p:ph type="body" sz="quarter" idx="12"/>
          </p:nvPr>
        </p:nvSpPr>
        <p:spPr>
          <a:xfrm>
            <a:off x="342899" y="3159909"/>
            <a:ext cx="7015843" cy="1329595"/>
          </a:xfrm>
        </p:spPr>
        <p:txBody>
          <a:bodyPr/>
          <a:lstStyle/>
          <a:p>
            <a:r>
              <a:rPr lang="en-US" dirty="0"/>
              <a:t>Chapter 5: RTL Coding Guidelines</a:t>
            </a:r>
            <a:endParaRPr lang="en-US" dirty="0"/>
          </a:p>
        </p:txBody>
      </p:sp>
      <p:sp>
        <p:nvSpPr>
          <p:cNvPr id="3" name="Footer Placeholder 2"/>
          <p:cNvSpPr>
            <a:spLocks noGrp="1"/>
          </p:cNvSpPr>
          <p:nvPr>
            <p:ph type="ftr" sz="quarter" idx="3"/>
          </p:nvPr>
        </p:nvSpPr>
        <p:spPr/>
        <p:txBody>
          <a:bodyPr>
            <a:normAutofit/>
          </a:bodyPr>
          <a:lstStyle/>
          <a:p>
            <a:r>
              <a:rPr lang="en-US"/>
              <a:t>©2022 Analog Devices, Inc. </a:t>
            </a:r>
            <a:endParaRPr lang="en-US" dirty="0"/>
          </a:p>
        </p:txBody>
      </p:sp>
      <p:sp>
        <p:nvSpPr>
          <p:cNvPr id="2" name="Date Placeholder 1"/>
          <p:cNvSpPr>
            <a:spLocks noGrp="1"/>
          </p:cNvSpPr>
          <p:nvPr>
            <p:ph type="dt" sz="half" idx="2"/>
          </p:nvPr>
        </p:nvSpPr>
        <p:spPr/>
        <p:txBody>
          <a:bodyPr/>
          <a:lstStyle/>
          <a:p>
            <a:fld id="{430F8550-9198-4116-B655-9B08CBD80A03}" type="datetime3">
              <a:rPr lang="en-US" smtClean="0"/>
            </a:fld>
            <a:endParaRPr lang="en-US" dirty="0"/>
          </a:p>
        </p:txBody>
      </p:sp>
      <p:sp>
        <p:nvSpPr>
          <p:cNvPr id="4" name="Slide Number Placeholder 3"/>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lang="en-GB" altLang="en-US" sz="2400" b="1" i="0" dirty="0">
                <a:solidFill>
                  <a:srgbClr val="000000"/>
                </a:solidFill>
                <a:effectLst/>
                <a:latin typeface="Times-Bold"/>
              </a:rPr>
              <a:t>The following guidelines aim to achieve </a:t>
            </a:r>
            <a:r>
              <a:rPr altLang="en-GB" sz="2400" b="1" i="0" dirty="0">
                <a:solidFill>
                  <a:srgbClr val="000000"/>
                </a:solidFill>
                <a:effectLst/>
                <a:latin typeface="Times-Bold"/>
              </a:rPr>
              <a:t>The following : </a:t>
            </a:r>
            <a:endParaRPr lang="en-GB" sz="1600" dirty="0"/>
          </a:p>
          <a:p>
            <a:pPr marL="0" indent="0">
              <a:lnSpc>
                <a:spcPct val="100000"/>
              </a:lnSpc>
              <a:buSzPct val="100000"/>
              <a:buNone/>
            </a:pPr>
            <a:r>
              <a:rPr altLang="en-GB" sz="2400" b="1" dirty="0">
                <a:latin typeface="Arial-BoldMT"/>
              </a:rPr>
              <a:t>  </a:t>
            </a:r>
            <a:br>
              <a:rPr altLang="en-GB" sz="2400" b="1" dirty="0">
                <a:latin typeface="Arial-BoldMT"/>
              </a:rPr>
            </a:br>
            <a:r>
              <a:rPr altLang="en-GB" sz="2400" b="1" dirty="0">
                <a:latin typeface="Arial-BoldMT"/>
              </a:rPr>
              <a:t>  </a:t>
            </a:r>
            <a:r>
              <a:rPr lang="en-GB" sz="2400" b="1" dirty="0">
                <a:latin typeface="Arial-BoldMT"/>
              </a:rPr>
              <a:t>– </a:t>
            </a:r>
            <a:r>
              <a:rPr altLang="en-GB" sz="2400" dirty="0">
                <a:latin typeface="+mn-lt"/>
                <a:cs typeface="+mn-lt"/>
              </a:rPr>
              <a:t>Performance </a:t>
            </a:r>
            <a:r>
              <a:rPr lang="en-GB" sz="1800" b="0" i="0" dirty="0">
                <a:solidFill>
                  <a:srgbClr val="000000"/>
                </a:solidFill>
                <a:effectLst/>
                <a:latin typeface="Times-Roman"/>
              </a:rPr>
              <a:t>.</a:t>
            </a:r>
            <a:br>
              <a:rPr lang="en-GB" sz="1800" b="0" i="0" dirty="0">
                <a:solidFill>
                  <a:srgbClr val="000000"/>
                </a:solidFill>
                <a:effectLst/>
                <a:latin typeface="Times-Roman"/>
              </a:rPr>
            </a:br>
            <a:r>
              <a:rPr altLang="en-GB" sz="1800" b="0" i="0" dirty="0">
                <a:solidFill>
                  <a:srgbClr val="000000"/>
                </a:solidFill>
                <a:effectLst/>
                <a:latin typeface="Times-Roman"/>
              </a:rPr>
              <a:t>    </a:t>
            </a:r>
            <a:r>
              <a:rPr lang="en-GB" sz="2400" b="1">
                <a:latin typeface="Arial-BoldMT"/>
                <a:sym typeface="+mn-ea"/>
              </a:rPr>
              <a:t>–</a:t>
            </a:r>
            <a:r>
              <a:rPr lang="en-GB" sz="2400" dirty="0">
                <a:latin typeface="Times New Roman" panose="02020603050405020304" pitchFamily="18" charset="0"/>
                <a:cs typeface="Times New Roman" panose="02020603050405020304" pitchFamily="18" charset="0"/>
              </a:rPr>
              <a:t>Simplification for static timing analysis</a:t>
            </a:r>
            <a:r>
              <a:rPr lang="en-GB" sz="2400" i="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r>
              <a:rPr altLang="en-GB" sz="2400" dirty="0">
                <a:latin typeface="Times New Roman" panose="02020603050405020304" pitchFamily="18" charset="0"/>
                <a:cs typeface="Times New Roman" panose="02020603050405020304" pitchFamily="18" charset="0"/>
              </a:rPr>
              <a:t>   </a:t>
            </a:r>
            <a:r>
              <a:rPr lang="en-GB" sz="2400" b="1">
                <a:latin typeface="Arial-BoldMT"/>
                <a:sym typeface="+mn-ea"/>
              </a:rPr>
              <a:t>–</a:t>
            </a:r>
            <a:r>
              <a:rPr lang="en-GB" sz="2400" dirty="0">
                <a:latin typeface="Times New Roman" panose="02020603050405020304" pitchFamily="18" charset="0"/>
                <a:cs typeface="Times New Roman" panose="02020603050405020304" pitchFamily="18" charset="0"/>
              </a:rPr>
              <a:t>Gate Level behavior that matches the original RTL</a:t>
            </a:r>
            <a:r>
              <a:rPr altLang="en-GB" sz="2400" dirty="0">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altLang="en-GB" sz="2400" dirty="0">
                <a:latin typeface="Times New Roman" panose="02020603050405020304" pitchFamily="18" charset="0"/>
                <a:cs typeface="Times New Roman" panose="02020603050405020304" pitchFamily="18" charset="0"/>
              </a:rPr>
              <a:t>   </a:t>
            </a:r>
            <a:r>
              <a:rPr lang="en-GB" sz="2400">
                <a:latin typeface="Times New Roman" panose="02020603050405020304" pitchFamily="18" charset="0"/>
                <a:cs typeface="Times New Roman" panose="02020603050405020304" pitchFamily="18" charset="0"/>
                <a:sym typeface="+mn-ea"/>
              </a:rPr>
              <a:t>–</a:t>
            </a:r>
            <a:r>
              <a:rPr altLang="en-GB" sz="2400">
                <a:latin typeface="Times New Roman" panose="02020603050405020304" pitchFamily="18" charset="0"/>
                <a:cs typeface="Times New Roman" panose="02020603050405020304" pitchFamily="18" charset="0"/>
                <a:sym typeface="+mn-ea"/>
              </a:rPr>
              <a:t>  Testability</a:t>
            </a:r>
            <a:r>
              <a:rPr altLang="en-GB" sz="2400" b="1">
                <a:latin typeface="Times New Roman" panose="02020603050405020304" pitchFamily="18" charset="0"/>
                <a:cs typeface="Times New Roman" panose="02020603050405020304" pitchFamily="18" charset="0"/>
                <a:sym typeface="+mn-ea"/>
              </a:rPr>
              <a:t> </a:t>
            </a:r>
            <a:br>
              <a:rPr lang="en-GB" sz="1100" dirty="0"/>
            </a:br>
            <a:endParaRPr lang="en-GB" sz="1600" dirty="0"/>
          </a:p>
          <a:p>
            <a:pPr marL="0" indent="0">
              <a:buSzPct val="100000"/>
              <a:buNone/>
            </a:pP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lang="en-US" dirty="0"/>
              <a:t>5.</a:t>
            </a:r>
            <a:r>
              <a:rPr lang="en-GB" altLang="en-US" dirty="0"/>
              <a:t>5</a:t>
            </a:r>
            <a:r>
              <a:rPr lang="en-US" dirty="0"/>
              <a:t> Coding</a:t>
            </a:r>
            <a:r>
              <a:rPr lang="en-GB" altLang="en-US" dirty="0"/>
              <a:t> for synthesis</a:t>
            </a:r>
            <a:r>
              <a:rPr lang="en-US" dirty="0"/>
              <a:t> </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a:t>
            </a:r>
            <a:r>
              <a:rPr lang="en-GB" altLang="en-US" sz="2400">
                <a:sym typeface="+mn-ea"/>
              </a:rPr>
              <a:t>5</a:t>
            </a:r>
            <a:r>
              <a:rPr altLang="en-GB" sz="2400">
                <a:sym typeface="+mn-ea"/>
              </a:rPr>
              <a:t>.1</a:t>
            </a:r>
            <a:r>
              <a:rPr sz="2400">
                <a:sym typeface="+mn-ea"/>
              </a:rPr>
              <a:t> Infer Registers </a:t>
            </a:r>
            <a:endParaRPr lang="en-US" sz="2400" dirty="0"/>
          </a:p>
          <a:p>
            <a:pPr marL="0" indent="0">
              <a:buSzPct val="100000"/>
              <a:buNone/>
            </a:pPr>
            <a:r>
              <a:rPr altLang="en-GB" sz="2400" b="1" i="0" dirty="0">
                <a:solidFill>
                  <a:srgbClr val="000000"/>
                </a:solidFill>
                <a:effectLst/>
                <a:latin typeface="Times-Bold"/>
              </a:rPr>
              <a:t>For Sequential Logic :</a:t>
            </a:r>
            <a:br>
              <a:rPr altLang="en-GB" sz="2400" b="1" i="0" dirty="0">
                <a:solidFill>
                  <a:srgbClr val="000000"/>
                </a:solidFill>
                <a:effectLst/>
                <a:latin typeface="Times-Bold"/>
              </a:rPr>
            </a:br>
            <a:r>
              <a:rPr altLang="en-GB" sz="2400" b="1" i="0" dirty="0">
                <a:solidFill>
                  <a:srgbClr val="000000"/>
                </a:solidFill>
                <a:effectLst/>
                <a:latin typeface="Times-Bold"/>
              </a:rPr>
              <a:t> </a:t>
            </a:r>
            <a:endParaRPr lang="en-GB" sz="1600" dirty="0"/>
          </a:p>
          <a:p>
            <a:pPr marL="0" indent="0">
              <a:lnSpc>
                <a:spcPct val="100000"/>
              </a:lnSpc>
              <a:buSzPct val="100000"/>
              <a:buNone/>
            </a:pPr>
            <a:r>
              <a:rPr altLang="en-GB" sz="2400" b="1" dirty="0">
                <a:latin typeface="Arial-BoldMT"/>
              </a:rPr>
              <a:t>  </a:t>
            </a:r>
            <a:r>
              <a:rPr lang="en-GB" sz="2400" b="1">
                <a:effectLst/>
                <a:latin typeface="Arial-BoldMT"/>
                <a:sym typeface="+mn-ea"/>
              </a:rPr>
              <a:t>Guideline –</a:t>
            </a: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Using flip-flops helps to achieve consistency of design .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r>
              <a:rPr lang="en-GB" sz="2400" b="1">
                <a:effectLst/>
                <a:latin typeface="Arial-BoldMT"/>
                <a:sym typeface="+mn-ea"/>
              </a:rPr>
              <a:t>–</a:t>
            </a: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For initializing The registered signal,</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-Use reset signal rather than using ‘Inital Statement’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As it causes mismatches between pre &amp; post synthesis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It’s </a:t>
            </a:r>
            <a:r>
              <a:rPr altLang="en-GB" sz="2400">
                <a:solidFill>
                  <a:srgbClr val="FF0000"/>
                </a:solidFill>
                <a:effectLst/>
                <a:latin typeface="Times New Roman" panose="02020603050405020304" pitchFamily="18" charset="0"/>
                <a:cs typeface="Times New Roman" panose="02020603050405020304" pitchFamily="18" charset="0"/>
                <a:sym typeface="+mn-ea"/>
              </a:rPr>
              <a:t>not synthesizible</a:t>
            </a:r>
            <a:r>
              <a:rPr altLang="en-GB" sz="2400">
                <a:effectLst/>
                <a:latin typeface="Times New Roman" panose="02020603050405020304" pitchFamily="18" charset="0"/>
                <a:cs typeface="Times New Roman" panose="02020603050405020304" pitchFamily="18" charset="0"/>
                <a:sym typeface="+mn-ea"/>
              </a:rPr>
              <a:t> for ASIC flow , and sometimes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Sometimes It’s </a:t>
            </a:r>
            <a:r>
              <a:rPr altLang="en-GB" sz="2400">
                <a:solidFill>
                  <a:srgbClr val="00B050"/>
                </a:solidFill>
                <a:effectLst/>
                <a:latin typeface="Times New Roman" panose="02020603050405020304" pitchFamily="18" charset="0"/>
                <a:cs typeface="Times New Roman" panose="02020603050405020304" pitchFamily="18" charset="0"/>
                <a:sym typeface="+mn-ea"/>
              </a:rPr>
              <a:t>synthesizible</a:t>
            </a:r>
            <a:r>
              <a:rPr altLang="en-GB" sz="2400">
                <a:effectLst/>
                <a:latin typeface="Times New Roman" panose="02020603050405020304" pitchFamily="18" charset="0"/>
                <a:cs typeface="Times New Roman" panose="02020603050405020304" pitchFamily="18" charset="0"/>
                <a:sym typeface="+mn-ea"/>
              </a:rPr>
              <a:t> for FPGA flow tools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(Ex. initializing memories)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8" name="Picture 7"/>
          <p:cNvPicPr>
            <a:picLocks noChangeAspect="1"/>
          </p:cNvPicPr>
          <p:nvPr/>
        </p:nvPicPr>
        <p:blipFill>
          <a:blip r:embed="rId1"/>
          <a:stretch>
            <a:fillRect/>
          </a:stretch>
        </p:blipFill>
        <p:spPr>
          <a:xfrm>
            <a:off x="3273425" y="4484370"/>
            <a:ext cx="4853940" cy="16078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a:t>
            </a:r>
            <a:r>
              <a:rPr lang="en-GB" altLang="en-US" sz="2400">
                <a:sym typeface="+mn-ea"/>
              </a:rPr>
              <a:t>5</a:t>
            </a:r>
            <a:r>
              <a:rPr altLang="en-GB" sz="2400">
                <a:sym typeface="+mn-ea"/>
              </a:rPr>
              <a:t>.2</a:t>
            </a:r>
            <a:r>
              <a:rPr sz="2400">
                <a:sym typeface="+mn-ea"/>
              </a:rPr>
              <a:t> Avoid Lathes</a:t>
            </a:r>
            <a:endParaRPr lang="en-US" sz="2400" dirty="0"/>
          </a:p>
          <a:p>
            <a:pPr marL="0" indent="0">
              <a:buSzPct val="100000"/>
              <a:buNone/>
            </a:pPr>
            <a:br>
              <a:rPr altLang="en-GB" sz="2400" b="1">
                <a:effectLst/>
                <a:latin typeface="Arial-BoldMT"/>
                <a:sym typeface="+mn-ea"/>
              </a:rPr>
            </a:br>
            <a:r>
              <a:rPr altLang="en-GB" sz="2400" b="1">
                <a:effectLst/>
                <a:latin typeface="Arial-BoldMT"/>
                <a:sym typeface="+mn-ea"/>
              </a:rPr>
              <a:t>Rule </a:t>
            </a:r>
            <a:r>
              <a:rPr lang="en-GB" sz="2400" b="1">
                <a:effectLst/>
                <a:latin typeface="Arial-BoldMT"/>
                <a:sym typeface="+mn-ea"/>
              </a:rPr>
              <a:t>–</a:t>
            </a:r>
            <a:r>
              <a:rPr altLang="en-GB" sz="2400" b="1">
                <a:effectLst/>
                <a:latin typeface="Arial-BoldMT"/>
                <a:sym typeface="+mn-ea"/>
              </a:rPr>
              <a:t> </a:t>
            </a:r>
            <a:r>
              <a:rPr altLang="en-GB" sz="2400">
                <a:solidFill>
                  <a:srgbClr val="FF0000"/>
                </a:solidFill>
                <a:effectLst/>
                <a:latin typeface="Times New Roman" panose="02020603050405020304" pitchFamily="18" charset="0"/>
                <a:cs typeface="Times New Roman" panose="02020603050405020304" pitchFamily="18" charset="0"/>
                <a:sym typeface="+mn-ea"/>
              </a:rPr>
              <a:t>Avoid </a:t>
            </a:r>
            <a:r>
              <a:rPr altLang="en-GB" sz="2400">
                <a:effectLst/>
                <a:latin typeface="Times New Roman" panose="02020603050405020304" pitchFamily="18" charset="0"/>
                <a:cs typeface="Times New Roman" panose="02020603050405020304" pitchFamily="18" charset="0"/>
                <a:sym typeface="+mn-ea"/>
              </a:rPr>
              <a:t>using any latches in your design  [They are more susceptible to noise as they are level sensitive]</a:t>
            </a:r>
            <a:br>
              <a:rPr altLang="en-GB" sz="2400">
                <a:effectLst/>
                <a:latin typeface="Times New Roman" panose="02020603050405020304" pitchFamily="18" charset="0"/>
                <a:cs typeface="Times New Roman" panose="02020603050405020304" pitchFamily="18" charset="0"/>
                <a:sym typeface="+mn-ea"/>
              </a:rPr>
            </a:br>
            <a:r>
              <a:rPr altLang="en-GB" sz="2400" b="1">
                <a:effectLst/>
                <a:latin typeface="Times New Roman" panose="02020603050405020304" pitchFamily="18" charset="0"/>
                <a:cs typeface="Times New Roman" panose="02020603050405020304" pitchFamily="18" charset="0"/>
                <a:sym typeface="+mn-ea"/>
              </a:rPr>
              <a:t>Note </a:t>
            </a:r>
            <a:r>
              <a:rPr lang="en-GB" altLang="en-US" sz="2400" b="1">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 </a:t>
            </a:r>
            <a:r>
              <a:rPr altLang="en-GB" sz="2400">
                <a:solidFill>
                  <a:srgbClr val="00B050"/>
                </a:solidFill>
                <a:effectLst/>
                <a:latin typeface="Times New Roman" panose="02020603050405020304" pitchFamily="18" charset="0"/>
                <a:cs typeface="Times New Roman" panose="02020603050405020304" pitchFamily="18" charset="0"/>
                <a:sym typeface="+mn-ea"/>
              </a:rPr>
              <a:t>Use </a:t>
            </a:r>
            <a:r>
              <a:rPr altLang="en-GB" sz="2400">
                <a:effectLst/>
                <a:latin typeface="Times New Roman" panose="02020603050405020304" pitchFamily="18" charset="0"/>
                <a:cs typeface="Times New Roman" panose="02020603050405020304" pitchFamily="18" charset="0"/>
                <a:sym typeface="+mn-ea"/>
              </a:rPr>
              <a:t>a design checking tool to check for latches in your design</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r>
              <a:rPr lang="en-GB" altLang="en-US" sz="2400">
                <a:effectLst/>
                <a:latin typeface="Times New Roman" panose="02020603050405020304" pitchFamily="18" charset="0"/>
                <a:cs typeface="Times New Roman" panose="02020603050405020304" pitchFamily="18" charset="0"/>
                <a:sym typeface="+mn-ea"/>
              </a:rPr>
              <a:t>A</a:t>
            </a:r>
            <a:r>
              <a:rPr altLang="en-GB" sz="2400">
                <a:effectLst/>
                <a:latin typeface="Times New Roman" panose="02020603050405020304" pitchFamily="18" charset="0"/>
                <a:cs typeface="Times New Roman" panose="02020603050405020304" pitchFamily="18" charset="0"/>
                <a:sym typeface="+mn-ea"/>
              </a:rPr>
              <a:t>ll latches must be instantiated and you must provide documentation that</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lists each latch and describes any special timing requirements that result from the</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latch.</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8" name="Picture 7"/>
          <p:cNvPicPr>
            <a:picLocks noChangeAspect="1"/>
          </p:cNvPicPr>
          <p:nvPr/>
        </p:nvPicPr>
        <p:blipFill>
          <a:blip r:embed="rId1"/>
          <a:stretch>
            <a:fillRect/>
          </a:stretch>
        </p:blipFill>
        <p:spPr>
          <a:xfrm>
            <a:off x="6184265" y="4398010"/>
            <a:ext cx="2712720" cy="1607820"/>
          </a:xfrm>
          <a:prstGeom prst="rect">
            <a:avLst/>
          </a:prstGeom>
        </p:spPr>
      </p:pic>
      <p:pic>
        <p:nvPicPr>
          <p:cNvPr id="7" name="Picture 6"/>
          <p:cNvPicPr>
            <a:picLocks noChangeAspect="1"/>
          </p:cNvPicPr>
          <p:nvPr/>
        </p:nvPicPr>
        <p:blipFill>
          <a:blip r:embed="rId2"/>
          <a:stretch>
            <a:fillRect/>
          </a:stretch>
        </p:blipFill>
        <p:spPr>
          <a:xfrm>
            <a:off x="1571625" y="4443730"/>
            <a:ext cx="2790825" cy="1562100"/>
          </a:xfrm>
          <a:prstGeom prst="rect">
            <a:avLst/>
          </a:prstGeom>
        </p:spPr>
      </p:pic>
      <p:graphicFrame>
        <p:nvGraphicFramePr>
          <p:cNvPr id="9" name="Table 8"/>
          <p:cNvGraphicFramePr/>
          <p:nvPr/>
        </p:nvGraphicFramePr>
        <p:xfrm>
          <a:off x="1219835" y="3804285"/>
          <a:ext cx="8533130" cy="2591435"/>
        </p:xfrm>
        <a:graphic>
          <a:graphicData uri="http://schemas.openxmlformats.org/drawingml/2006/table">
            <a:tbl>
              <a:tblPr firstRow="1" bandRow="1">
                <a:tableStyleId>{21E4AEA4-8DFA-4A89-87EB-49C32662AFE0}</a:tableStyleId>
              </a:tblPr>
              <a:tblGrid>
                <a:gridCol w="4266565"/>
                <a:gridCol w="4266565"/>
              </a:tblGrid>
              <a:tr h="2591435">
                <a:tc>
                  <a:txBody>
                    <a:bodyPr/>
                    <a:p>
                      <a:pPr>
                        <a:buNone/>
                      </a:pPr>
                      <a:r>
                        <a:rPr lang="en-GB" altLang="en-US">
                          <a:solidFill>
                            <a:schemeClr val="tx1"/>
                          </a:solidFill>
                        </a:rPr>
                        <a:t>A latch is infered of missing else statement:</a:t>
                      </a:r>
                      <a:endParaRPr lang="en-GB" altLang="en-US">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en-GB" altLang="en-US">
                          <a:solidFill>
                            <a:schemeClr val="tx1"/>
                          </a:solidFill>
                        </a:rPr>
                        <a:t>A latch is infered of assigments and conditions _case 2’b11_</a:t>
                      </a:r>
                      <a:r>
                        <a:rPr lang="en-US" altLang="en-GB">
                          <a:solidFill>
                            <a:schemeClr val="tx1"/>
                          </a:solidFill>
                        </a:rPr>
                        <a:t> .</a:t>
                      </a:r>
                      <a:endParaRPr lang="en-US" altLang="en-GB">
                        <a:solidFill>
                          <a:schemeClr val="tx1"/>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pic>
        <p:nvPicPr>
          <p:cNvPr id="10" name="Picture 9"/>
          <p:cNvPicPr>
            <a:picLocks noChangeAspect="1"/>
          </p:cNvPicPr>
          <p:nvPr/>
        </p:nvPicPr>
        <p:blipFill>
          <a:blip r:embed="rId3"/>
          <a:stretch>
            <a:fillRect/>
          </a:stretch>
        </p:blipFill>
        <p:spPr>
          <a:xfrm>
            <a:off x="6157595" y="4398010"/>
            <a:ext cx="3128645" cy="1962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a:t>
            </a:r>
            <a:r>
              <a:rPr lang="en-GB" altLang="en-US" sz="2400">
                <a:sym typeface="+mn-ea"/>
              </a:rPr>
              <a:t>5</a:t>
            </a:r>
            <a:r>
              <a:rPr altLang="en-GB" sz="2400">
                <a:sym typeface="+mn-ea"/>
              </a:rPr>
              <a:t>.2</a:t>
            </a:r>
            <a:r>
              <a:rPr sz="2400">
                <a:sym typeface="+mn-ea"/>
              </a:rPr>
              <a:t> Avoid Lathes</a:t>
            </a:r>
            <a:endParaRPr lang="en-US" sz="2400" dirty="0"/>
          </a:p>
          <a:p>
            <a:pPr marL="0" indent="0">
              <a:buSzPct val="100000"/>
              <a:buNone/>
            </a:pPr>
            <a:r>
              <a:rPr lang="en-GB" altLang="en-US" sz="2400">
                <a:effectLst/>
                <a:latin typeface="Times New Roman" panose="02020603050405020304" pitchFamily="18" charset="0"/>
                <a:cs typeface="Times New Roman" panose="02020603050405020304" pitchFamily="18" charset="0"/>
                <a:sym typeface="+mn-ea"/>
              </a:rPr>
              <a:t>Avoiding Latches can be done as follows : </a:t>
            </a:r>
            <a:br>
              <a:rPr lang="en-GB" altLang="en-US" sz="2400">
                <a:effectLst/>
                <a:latin typeface="Times New Roman" panose="02020603050405020304" pitchFamily="18" charset="0"/>
                <a:cs typeface="Times New Roman" panose="02020603050405020304" pitchFamily="18" charset="0"/>
                <a:sym typeface="+mn-ea"/>
              </a:rPr>
            </a:br>
            <a:r>
              <a:rPr lang="en-GB" altLang="en-US" sz="2400">
                <a:effectLst/>
                <a:latin typeface="Times New Roman" panose="02020603050405020304" pitchFamily="18" charset="0"/>
                <a:cs typeface="Times New Roman" panose="02020603050405020304" pitchFamily="18" charset="0"/>
                <a:sym typeface="+mn-ea"/>
              </a:rPr>
              <a:t>1)</a:t>
            </a:r>
            <a:r>
              <a:rPr lang="en-GB" altLang="en-US" sz="2000">
                <a:solidFill>
                  <a:srgbClr val="00B050"/>
                </a:solidFill>
                <a:effectLst/>
                <a:latin typeface="Times New Roman" panose="02020603050405020304" pitchFamily="18" charset="0"/>
                <a:cs typeface="Times New Roman" panose="02020603050405020304" pitchFamily="18" charset="0"/>
                <a:sym typeface="+mn-ea"/>
              </a:rPr>
              <a:t>Assign </a:t>
            </a:r>
            <a:r>
              <a:rPr lang="en-GB" altLang="en-US" sz="2000">
                <a:effectLst/>
                <a:latin typeface="Times New Roman" panose="02020603050405020304" pitchFamily="18" charset="0"/>
                <a:cs typeface="Times New Roman" panose="02020603050405020304" pitchFamily="18" charset="0"/>
                <a:sym typeface="+mn-ea"/>
              </a:rPr>
              <a:t>default values at the beginning of combinational always_block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2)</a:t>
            </a:r>
            <a:r>
              <a:rPr altLang="en-GB" sz="2000">
                <a:solidFill>
                  <a:srgbClr val="00B050"/>
                </a:solidFill>
                <a:effectLst/>
                <a:latin typeface="Times New Roman" panose="02020603050405020304" pitchFamily="18" charset="0"/>
                <a:cs typeface="Times New Roman" panose="02020603050405020304" pitchFamily="18" charset="0"/>
                <a:sym typeface="+mn-ea"/>
              </a:rPr>
              <a:t>Assign </a:t>
            </a:r>
            <a:r>
              <a:rPr altLang="en-GB" sz="2000">
                <a:effectLst/>
                <a:latin typeface="Times New Roman" panose="02020603050405020304" pitchFamily="18" charset="0"/>
                <a:cs typeface="Times New Roman" panose="02020603050405020304" pitchFamily="18" charset="0"/>
                <a:sym typeface="+mn-ea"/>
              </a:rPr>
              <a:t>outputs for all input conditions</a:t>
            </a:r>
            <a:r>
              <a:rPr lang="en-GB" altLang="en-US" sz="2000">
                <a:effectLst/>
                <a:latin typeface="Times New Roman" panose="02020603050405020304" pitchFamily="18" charset="0"/>
                <a:cs typeface="Times New Roman" panose="02020603050405020304" pitchFamily="18" charset="0"/>
                <a:sym typeface="+mn-ea"/>
              </a:rPr>
              <a:t>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3)</a:t>
            </a:r>
            <a:r>
              <a:rPr lang="en-GB" altLang="en-US" sz="2000">
                <a:solidFill>
                  <a:srgbClr val="00B050"/>
                </a:solidFill>
                <a:effectLst/>
                <a:latin typeface="Times New Roman" panose="02020603050405020304" pitchFamily="18" charset="0"/>
                <a:cs typeface="Times New Roman" panose="02020603050405020304" pitchFamily="18" charset="0"/>
                <a:sym typeface="+mn-ea"/>
              </a:rPr>
              <a:t>U</a:t>
            </a:r>
            <a:r>
              <a:rPr altLang="en-GB" sz="2000">
                <a:solidFill>
                  <a:srgbClr val="00B050"/>
                </a:solidFill>
                <a:effectLst/>
                <a:latin typeface="Times New Roman" panose="02020603050405020304" pitchFamily="18" charset="0"/>
                <a:cs typeface="Times New Roman" panose="02020603050405020304" pitchFamily="18" charset="0"/>
                <a:sym typeface="+mn-ea"/>
              </a:rPr>
              <a:t>se </a:t>
            </a:r>
            <a:r>
              <a:rPr altLang="en-GB" sz="2000">
                <a:effectLst/>
                <a:latin typeface="Times New Roman" panose="02020603050405020304" pitchFamily="18" charset="0"/>
                <a:cs typeface="Times New Roman" panose="02020603050405020304" pitchFamily="18" charset="0"/>
                <a:sym typeface="+mn-ea"/>
              </a:rPr>
              <a:t>else (instead of elsif) for the final priority branch</a:t>
            </a:r>
            <a:r>
              <a:rPr lang="en-GB" altLang="en-US" sz="20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graphicFrame>
        <p:nvGraphicFramePr>
          <p:cNvPr id="11" name="Table 10"/>
          <p:cNvGraphicFramePr/>
          <p:nvPr/>
        </p:nvGraphicFramePr>
        <p:xfrm>
          <a:off x="1828800" y="3238500"/>
          <a:ext cx="8533130" cy="2348230"/>
        </p:xfrm>
        <a:graphic>
          <a:graphicData uri="http://schemas.openxmlformats.org/drawingml/2006/table">
            <a:tbl>
              <a:tblPr firstRow="1" bandRow="1">
                <a:tableStyleId>{21E4AEA4-8DFA-4A89-87EB-49C32662AFE0}</a:tableStyleId>
              </a:tblPr>
              <a:tblGrid>
                <a:gridCol w="4266565"/>
                <a:gridCol w="4266565"/>
              </a:tblGrid>
              <a:tr h="2348230">
                <a:tc>
                  <a:txBody>
                    <a:bodyPr/>
                    <a:p>
                      <a:pPr>
                        <a:buNone/>
                      </a:pPr>
                      <a:r>
                        <a:rPr lang="en-GB" altLang="en-US">
                          <a:solidFill>
                            <a:schemeClr val="tx1"/>
                          </a:solidFill>
                        </a:rPr>
                        <a:t>Poor style of coding :</a:t>
                      </a:r>
                      <a:endParaRPr lang="en-GB" altLang="en-US">
                        <a:solidFill>
                          <a:schemeClr val="tx1"/>
                        </a:solidFill>
                      </a:endParaRPr>
                    </a:p>
                    <a:p>
                      <a:pPr>
                        <a:buNone/>
                      </a:pPr>
                      <a:r>
                        <a:rPr lang="en-GB" altLang="en-US">
                          <a:solidFill>
                            <a:schemeClr val="tx1"/>
                          </a:solidFill>
                        </a:rPr>
                        <a:t>Output is assigning output for all inputs coditions .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GB" altLang="en-US" sz="1800">
                          <a:solidFill>
                            <a:schemeClr val="tx1"/>
                          </a:solidFill>
                          <a:sym typeface="+mn-ea"/>
                        </a:rPr>
                        <a:t>Recommended style :</a:t>
                      </a:r>
                      <a:endParaRPr lang="en-GB" altLang="en-US" sz="1800">
                        <a:solidFill>
                          <a:schemeClr val="tx1"/>
                        </a:solidFill>
                        <a:sym typeface="+mn-ea"/>
                      </a:endParaRPr>
                    </a:p>
                    <a:p>
                      <a:pPr>
                        <a:buNone/>
                      </a:pPr>
                      <a:r>
                        <a:rPr lang="en-GB" altLang="en-US" sz="1800">
                          <a:solidFill>
                            <a:schemeClr val="tx1"/>
                          </a:solidFill>
                          <a:sym typeface="+mn-ea"/>
                        </a:rPr>
                        <a:t>Output has a default value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12" name="Picture 11"/>
          <p:cNvPicPr>
            <a:picLocks noChangeAspect="1"/>
          </p:cNvPicPr>
          <p:nvPr/>
        </p:nvPicPr>
        <p:blipFill>
          <a:blip r:embed="rId1"/>
          <a:stretch>
            <a:fillRect/>
          </a:stretch>
        </p:blipFill>
        <p:spPr>
          <a:xfrm>
            <a:off x="2056765" y="4091940"/>
            <a:ext cx="3472180" cy="1311910"/>
          </a:xfrm>
          <a:prstGeom prst="rect">
            <a:avLst/>
          </a:prstGeom>
        </p:spPr>
      </p:pic>
      <p:pic>
        <p:nvPicPr>
          <p:cNvPr id="13" name="Picture 12"/>
          <p:cNvPicPr>
            <a:picLocks noChangeAspect="1"/>
          </p:cNvPicPr>
          <p:nvPr/>
        </p:nvPicPr>
        <p:blipFill>
          <a:blip r:embed="rId2"/>
          <a:stretch>
            <a:fillRect/>
          </a:stretch>
        </p:blipFill>
        <p:spPr>
          <a:xfrm>
            <a:off x="6275705" y="3910965"/>
            <a:ext cx="3787775" cy="1492885"/>
          </a:xfrm>
          <a:prstGeom prst="rect">
            <a:avLst/>
          </a:prstGeom>
        </p:spPr>
      </p:pic>
      <p:sp>
        <p:nvSpPr>
          <p:cNvPr id="14" name="Rectangles 13"/>
          <p:cNvSpPr/>
          <p:nvPr/>
        </p:nvSpPr>
        <p:spPr>
          <a:xfrm>
            <a:off x="6283960" y="4300220"/>
            <a:ext cx="2273300" cy="173355"/>
          </a:xfrm>
          <a:prstGeom prst="rect">
            <a:avLst/>
          </a:prstGeom>
          <a:noFill/>
          <a:ln>
            <a:solidFill>
              <a:srgbClr val="FF0000"/>
            </a:solidFill>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p>
            <a:pPr algn="ctr"/>
            <a:endParaRPr lang="en-GB"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482725"/>
            <a:ext cx="11236960" cy="5126990"/>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.3</a:t>
            </a:r>
            <a:r>
              <a:rPr sz="2400">
                <a:sym typeface="+mn-ea"/>
              </a:rPr>
              <a:t> If you must use Lathes</a:t>
            </a:r>
            <a:endParaRPr lang="en-US" sz="2400" dirty="0"/>
          </a:p>
          <a:p>
            <a:pPr marL="0" indent="0">
              <a:buSzPct val="100000"/>
              <a:buNone/>
            </a:pPr>
            <a:br>
              <a:rPr altLang="en-GB" sz="2400" b="1">
                <a:effectLst/>
                <a:latin typeface="Arial-BoldMT"/>
                <a:sym typeface="+mn-ea"/>
              </a:rPr>
            </a:br>
            <a:r>
              <a:rPr altLang="en-GB" sz="2400" b="1">
                <a:effectLst/>
                <a:latin typeface="Arial-BoldMT"/>
                <a:sym typeface="+mn-ea"/>
              </a:rPr>
              <a:t>Rule </a:t>
            </a:r>
            <a:r>
              <a:rPr lang="en-GB" sz="2400" b="1">
                <a:effectLst/>
                <a:latin typeface="Arial-BoldMT"/>
                <a:sym typeface="+mn-ea"/>
              </a:rPr>
              <a:t>–</a:t>
            </a:r>
            <a:r>
              <a:rPr altLang="en-GB" sz="2400" b="1">
                <a:effectLst/>
                <a:latin typeface="Arial-BoldMT"/>
                <a:sym typeface="+mn-ea"/>
              </a:rPr>
              <a:t> </a:t>
            </a:r>
            <a:r>
              <a:rPr lang="en-GB" altLang="en-US" sz="2400" b="1">
                <a:effectLst/>
                <a:latin typeface="Times New Roman" panose="02020603050405020304" pitchFamily="18" charset="0"/>
                <a:cs typeface="Times New Roman" panose="02020603050405020304" pitchFamily="18" charset="0"/>
                <a:sym typeface="+mn-ea"/>
              </a:rPr>
              <a:t>We can use latches for testability as follows since it’s</a:t>
            </a:r>
            <a:br>
              <a:rPr lang="en-GB" altLang="en-US" sz="2400" b="1">
                <a:effectLst/>
                <a:latin typeface="Times New Roman" panose="02020603050405020304" pitchFamily="18" charset="0"/>
                <a:cs typeface="Times New Roman" panose="02020603050405020304" pitchFamily="18" charset="0"/>
                <a:sym typeface="+mn-ea"/>
              </a:rPr>
            </a:br>
            <a:r>
              <a:rPr lang="en-GB" altLang="en-US" sz="2400" b="1">
                <a:effectLst/>
                <a:latin typeface="Times New Roman" panose="02020603050405020304" pitchFamily="18" charset="0"/>
                <a:cs typeface="Times New Roman" panose="02020603050405020304" pitchFamily="18" charset="0"/>
                <a:sym typeface="+mn-ea"/>
              </a:rPr>
              <a:t>		   not avoidable in this case .</a:t>
            </a:r>
            <a:br>
              <a:rPr lang="en-GB" altLang="en-US" sz="2400" b="1">
                <a:effectLst/>
                <a:latin typeface="Arial-BoldMT"/>
                <a:sym typeface="+mn-ea"/>
              </a:rPr>
            </a:br>
            <a:r>
              <a:rPr lang="en-GB" altLang="en-US"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r>
              <a:rPr lang="en-GB" sz="1800" b="1">
                <a:effectLst/>
                <a:latin typeface="Arial-BoldMT"/>
                <a:sym typeface="+mn-ea"/>
              </a:rPr>
              <a:t>– </a:t>
            </a:r>
            <a:r>
              <a:rPr lang="en-GB" altLang="en-US" sz="1800" dirty="0">
                <a:latin typeface="+mn-lt"/>
                <a:cs typeface="Times New Roman" panose="02020603050405020304" pitchFamily="18" charset="0"/>
              </a:rPr>
              <a:t>This can be achieved by using a mux between the normal function and the test data to the mux.</a:t>
            </a:r>
            <a:br>
              <a:rPr lang="en-GB" altLang="en-US" sz="1800" dirty="0">
                <a:latin typeface="+mn-lt"/>
                <a:cs typeface="Times New Roman" panose="02020603050405020304" pitchFamily="18" charset="0"/>
              </a:rPr>
            </a:br>
            <a:r>
              <a:rPr lang="en-GB" altLang="en-US" sz="1800" dirty="0">
                <a:latin typeface="+mn-lt"/>
                <a:cs typeface="Times New Roman" panose="02020603050405020304" pitchFamily="18" charset="0"/>
              </a:rPr>
              <a:t>The selector can be an enable to test mode .</a:t>
            </a:r>
            <a:br>
              <a:rPr lang="en-GB" altLang="en-US" sz="1800" dirty="0">
                <a:latin typeface="+mn-lt"/>
                <a:cs typeface="Times New Roman" panose="02020603050405020304" pitchFamily="18" charset="0"/>
              </a:rPr>
            </a:br>
            <a:endParaRPr lang="en-GB" alt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913129"/>
          </a:xfrm>
        </p:spPr>
        <p:txBody>
          <a:bodyPr/>
          <a:lstStyle/>
          <a:p>
            <a:r>
              <a:rPr>
                <a:sym typeface="+mn-ea"/>
              </a:rPr>
              <a:t>5.</a:t>
            </a:r>
            <a:r>
              <a:rPr lang="en-GB" altLang="en-US">
                <a:sym typeface="+mn-ea"/>
              </a:rPr>
              <a:t>5</a:t>
            </a:r>
            <a:r>
              <a:rPr>
                <a:sym typeface="+mn-ea"/>
              </a:rPr>
              <a:t> Coding</a:t>
            </a:r>
            <a:r>
              <a:rPr lang="en-GB" altLang="en-US">
                <a:sym typeface="+mn-ea"/>
              </a:rPr>
              <a:t> for synthesis</a:t>
            </a:r>
            <a:br>
              <a:rPr lang="en-US" dirty="0"/>
            </a:b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7" name="Picture 6"/>
          <p:cNvPicPr>
            <a:picLocks noChangeAspect="1"/>
          </p:cNvPicPr>
          <p:nvPr/>
        </p:nvPicPr>
        <p:blipFill>
          <a:blip r:embed="rId1"/>
          <a:stretch>
            <a:fillRect/>
          </a:stretch>
        </p:blipFill>
        <p:spPr>
          <a:xfrm>
            <a:off x="1156335" y="2856865"/>
            <a:ext cx="446532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.4</a:t>
            </a:r>
            <a:r>
              <a:rPr sz="2400">
                <a:sym typeface="+mn-ea"/>
              </a:rPr>
              <a:t> Avoid Combinational Feedback</a:t>
            </a:r>
            <a:endParaRPr lang="en-US" sz="2400" dirty="0"/>
          </a:p>
          <a:p>
            <a:pPr marL="0" indent="0">
              <a:buSzPct val="100000"/>
              <a:buNone/>
            </a:pPr>
            <a:br>
              <a:rPr lang="en-GB" sz="2400" b="1">
                <a:effectLst/>
                <a:latin typeface="Arial-BoldMT"/>
                <a:sym typeface="+mn-ea"/>
              </a:rPr>
            </a:br>
            <a:r>
              <a:rPr lang="en-GB" sz="2400" b="1">
                <a:effectLst/>
                <a:latin typeface="Arial-BoldMT"/>
                <a:sym typeface="+mn-ea"/>
              </a:rPr>
              <a:t>Guideline –</a:t>
            </a:r>
            <a:r>
              <a:rPr altLang="en-GB" sz="2400" b="1">
                <a:effectLst/>
                <a:latin typeface="Arial-BoldMT"/>
                <a:sym typeface="+mn-ea"/>
              </a:rPr>
              <a:t> </a:t>
            </a:r>
            <a:r>
              <a:rPr altLang="en-GB" sz="2400">
                <a:solidFill>
                  <a:srgbClr val="FF0000"/>
                </a:solidFill>
                <a:effectLst/>
                <a:latin typeface="Times New Roman" panose="02020603050405020304" pitchFamily="18" charset="0"/>
                <a:cs typeface="Times New Roman" panose="02020603050405020304" pitchFamily="18" charset="0"/>
                <a:sym typeface="+mn-ea"/>
              </a:rPr>
              <a:t>Avoid </a:t>
            </a:r>
            <a:r>
              <a:rPr altLang="en-GB" sz="2400">
                <a:effectLst/>
                <a:latin typeface="Times New Roman" panose="02020603050405020304" pitchFamily="18" charset="0"/>
                <a:cs typeface="Times New Roman" panose="02020603050405020304" pitchFamily="18" charset="0"/>
                <a:sym typeface="+mn-ea"/>
              </a:rPr>
              <a:t>using any Combinational looping in your design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As it makes STA very hard .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graphicFrame>
        <p:nvGraphicFramePr>
          <p:cNvPr id="12" name="Table 11"/>
          <p:cNvGraphicFramePr/>
          <p:nvPr/>
        </p:nvGraphicFramePr>
        <p:xfrm>
          <a:off x="528320" y="3310890"/>
          <a:ext cx="8533130" cy="2696210"/>
        </p:xfrm>
        <a:graphic>
          <a:graphicData uri="http://schemas.openxmlformats.org/drawingml/2006/table">
            <a:tbl>
              <a:tblPr firstRow="1" bandRow="1">
                <a:tableStyleId>{21E4AEA4-8DFA-4A89-87EB-49C32662AFE0}</a:tableStyleId>
              </a:tblPr>
              <a:tblGrid>
                <a:gridCol w="4266565"/>
                <a:gridCol w="4266565"/>
              </a:tblGrid>
              <a:tr h="2696210">
                <a:tc>
                  <a:txBody>
                    <a:bodyPr/>
                    <a:p>
                      <a:pPr>
                        <a:buNone/>
                      </a:pPr>
                      <a:r>
                        <a:rPr altLang="en-GB" sz="1800">
                          <a:solidFill>
                            <a:schemeClr val="tx1"/>
                          </a:solidFill>
                          <a:effectLst/>
                          <a:latin typeface="Times New Roman" panose="02020603050405020304" pitchFamily="18" charset="0"/>
                          <a:cs typeface="Times New Roman" panose="02020603050405020304" pitchFamily="18" charset="0"/>
                          <a:sym typeface="+mn-ea"/>
                        </a:rPr>
                        <a:t>Instead of This combinational loop :</a:t>
                      </a: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lang="en-GB" altLang="en-GB" sz="1800">
                        <a:solidFill>
                          <a:schemeClr val="tx1"/>
                        </a:solidFill>
                        <a:effectLst/>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sz="1800">
                          <a:solidFill>
                            <a:schemeClr val="tx1"/>
                          </a:solidFill>
                          <a:effectLst/>
                          <a:latin typeface="Times New Roman" panose="02020603050405020304" pitchFamily="18" charset="0"/>
                          <a:cs typeface="Times New Roman" panose="02020603050405020304" pitchFamily="18" charset="0"/>
                          <a:sym typeface="+mn-ea"/>
                        </a:rPr>
                        <a:t>Break The loop into one forward direction with no feedback:</a:t>
                      </a: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a:t>v</a:t>
                      </a:r>
                      <a:endParaRPr lang="en-US" altLang="en-GB"/>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13" name="Picture 12"/>
          <p:cNvPicPr>
            <a:picLocks noChangeAspect="1"/>
          </p:cNvPicPr>
          <p:nvPr/>
        </p:nvPicPr>
        <p:blipFill>
          <a:blip r:embed="rId1"/>
          <a:stretch>
            <a:fillRect/>
          </a:stretch>
        </p:blipFill>
        <p:spPr>
          <a:xfrm>
            <a:off x="640080" y="3961130"/>
            <a:ext cx="3734435" cy="1939290"/>
          </a:xfrm>
          <a:prstGeom prst="rect">
            <a:avLst/>
          </a:prstGeom>
        </p:spPr>
      </p:pic>
      <p:pic>
        <p:nvPicPr>
          <p:cNvPr id="14" name="Picture 13"/>
          <p:cNvPicPr>
            <a:picLocks noChangeAspect="1"/>
          </p:cNvPicPr>
          <p:nvPr/>
        </p:nvPicPr>
        <p:blipFill>
          <a:blip r:embed="rId2"/>
          <a:stretch>
            <a:fillRect/>
          </a:stretch>
        </p:blipFill>
        <p:spPr>
          <a:xfrm>
            <a:off x="4860925" y="3919220"/>
            <a:ext cx="4139565" cy="1981200"/>
          </a:xfrm>
          <a:prstGeom prst="rect">
            <a:avLst/>
          </a:prstGeom>
        </p:spPr>
      </p:pic>
      <p:graphicFrame>
        <p:nvGraphicFramePr>
          <p:cNvPr id="7" name="Table 6"/>
          <p:cNvGraphicFramePr/>
          <p:nvPr/>
        </p:nvGraphicFramePr>
        <p:xfrm>
          <a:off x="515620" y="3321050"/>
          <a:ext cx="8533130" cy="2696210"/>
        </p:xfrm>
        <a:graphic>
          <a:graphicData uri="http://schemas.openxmlformats.org/drawingml/2006/table">
            <a:tbl>
              <a:tblPr firstRow="1" bandRow="1">
                <a:tableStyleId>{21E4AEA4-8DFA-4A89-87EB-49C32662AFE0}</a:tableStyleId>
              </a:tblPr>
              <a:tblGrid>
                <a:gridCol w="4266565"/>
                <a:gridCol w="4266565"/>
              </a:tblGrid>
              <a:tr h="2696210">
                <a:tc>
                  <a:txBody>
                    <a:bodyPr/>
                    <a:p>
                      <a:pPr>
                        <a:buNone/>
                      </a:pPr>
                      <a:r>
                        <a:rPr altLang="en-GB" sz="1800">
                          <a:solidFill>
                            <a:schemeClr val="tx1"/>
                          </a:solidFill>
                          <a:effectLst/>
                          <a:latin typeface="Times New Roman" panose="02020603050405020304" pitchFamily="18" charset="0"/>
                          <a:cs typeface="Times New Roman" panose="02020603050405020304" pitchFamily="18" charset="0"/>
                          <a:sym typeface="+mn-ea"/>
                        </a:rPr>
                        <a:t>Instead of This combinational loop :</a:t>
                      </a: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lang="en-GB" altLang="en-GB" sz="1800">
                        <a:solidFill>
                          <a:schemeClr val="tx1"/>
                        </a:solidFill>
                        <a:effectLst/>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sz="1800">
                          <a:solidFill>
                            <a:schemeClr val="tx1"/>
                          </a:solidFill>
                          <a:effectLst/>
                          <a:latin typeface="Times New Roman" panose="02020603050405020304" pitchFamily="18" charset="0"/>
                          <a:cs typeface="Times New Roman" panose="02020603050405020304" pitchFamily="18" charset="0"/>
                          <a:sym typeface="+mn-ea"/>
                        </a:rPr>
                        <a:t>Break The loop into one forward direction with no feedback:</a:t>
                      </a: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a:t>v</a:t>
                      </a:r>
                      <a:endParaRPr lang="en-US" altLang="en-GB"/>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8" name="Picture 7"/>
          <p:cNvPicPr>
            <a:picLocks noChangeAspect="1"/>
          </p:cNvPicPr>
          <p:nvPr/>
        </p:nvPicPr>
        <p:blipFill>
          <a:blip r:embed="rId1"/>
          <a:stretch>
            <a:fillRect/>
          </a:stretch>
        </p:blipFill>
        <p:spPr>
          <a:xfrm>
            <a:off x="627380" y="3971290"/>
            <a:ext cx="3734435" cy="1939290"/>
          </a:xfrm>
          <a:prstGeom prst="rect">
            <a:avLst/>
          </a:prstGeom>
        </p:spPr>
      </p:pic>
      <p:pic>
        <p:nvPicPr>
          <p:cNvPr id="9" name="Picture 8"/>
          <p:cNvPicPr>
            <a:picLocks noChangeAspect="1"/>
          </p:cNvPicPr>
          <p:nvPr/>
        </p:nvPicPr>
        <p:blipFill>
          <a:blip r:embed="rId2"/>
          <a:stretch>
            <a:fillRect/>
          </a:stretch>
        </p:blipFill>
        <p:spPr>
          <a:xfrm>
            <a:off x="4848225" y="3929380"/>
            <a:ext cx="4139565" cy="1981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441450"/>
            <a:ext cx="11236960" cy="5168265"/>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5</a:t>
            </a:r>
            <a:r>
              <a:rPr sz="2400">
                <a:sym typeface="+mn-ea"/>
              </a:rPr>
              <a:t> </a:t>
            </a:r>
            <a:r>
              <a:rPr lang="en-GB" altLang="en-US" sz="2400">
                <a:sym typeface="+mn-ea"/>
              </a:rPr>
              <a:t>Specify Complete Sensitivity Lists</a:t>
            </a:r>
            <a:endParaRPr lang="en-GB" altLang="en-US" sz="2400" dirty="0"/>
          </a:p>
          <a:p>
            <a:pPr marL="0" indent="0">
              <a:buSzPct val="100000"/>
              <a:buNone/>
            </a:pPr>
            <a:br>
              <a:rPr lang="en-GB" sz="2400" b="1">
                <a:effectLst/>
                <a:latin typeface="Arial-BoldMT"/>
                <a:sym typeface="+mn-ea"/>
              </a:rPr>
            </a:br>
            <a:r>
              <a:rPr lang="en-GB" sz="2400" b="1">
                <a:effectLst/>
                <a:latin typeface="Arial-BoldMT"/>
                <a:sym typeface="+mn-ea"/>
              </a:rPr>
              <a:t>Guideline –</a:t>
            </a:r>
            <a:r>
              <a:rPr altLang="en-GB" sz="2400">
                <a:effectLst/>
                <a:latin typeface="Times New Roman" panose="02020603050405020304" pitchFamily="18" charset="0"/>
                <a:cs typeface="Times New Roman" panose="02020603050405020304" pitchFamily="18" charset="0"/>
                <a:sym typeface="+mn-ea"/>
              </a:rPr>
              <a:t> Rule – Include a complete sensitivity list in each always (Verilog) blocks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To avoid mismatch between pre &amp; post syntehsis . </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913129"/>
          </a:xfrm>
        </p:spPr>
        <p:txBody>
          <a:bodyPr/>
          <a:lstStyle/>
          <a:p>
            <a:r>
              <a:rPr>
                <a:sym typeface="+mn-ea"/>
              </a:rPr>
              <a:t>5.</a:t>
            </a:r>
            <a:r>
              <a:rPr lang="en-GB" altLang="en-US">
                <a:sym typeface="+mn-ea"/>
              </a:rPr>
              <a:t>5</a:t>
            </a:r>
            <a:r>
              <a:rPr>
                <a:sym typeface="+mn-ea"/>
              </a:rPr>
              <a:t> Coding</a:t>
            </a:r>
            <a:r>
              <a:rPr lang="en-GB" altLang="en-US">
                <a:sym typeface="+mn-ea"/>
              </a:rPr>
              <a:t> for synthesis</a:t>
            </a:r>
            <a:br>
              <a:rPr lang="en-US" dirty="0"/>
            </a:br>
            <a:endParaRPr lang="en-GB" alt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7" name="Picture 6"/>
          <p:cNvPicPr>
            <a:picLocks noChangeAspect="1"/>
          </p:cNvPicPr>
          <p:nvPr/>
        </p:nvPicPr>
        <p:blipFill>
          <a:blip r:embed="rId1"/>
          <a:stretch>
            <a:fillRect/>
          </a:stretch>
        </p:blipFill>
        <p:spPr>
          <a:xfrm>
            <a:off x="2781935" y="2838450"/>
            <a:ext cx="5620385" cy="36709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9975"/>
            <a:ext cx="11236960" cy="5543218"/>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5</a:t>
            </a:r>
            <a:r>
              <a:rPr sz="2400">
                <a:sym typeface="+mn-ea"/>
              </a:rPr>
              <a:t> </a:t>
            </a:r>
            <a:r>
              <a:rPr lang="en-GB" altLang="en-US" sz="2400">
                <a:sym typeface="+mn-ea"/>
              </a:rPr>
              <a:t>Specify Complete Sensitivity Lists</a:t>
            </a:r>
            <a:endParaRPr lang="en-GB" altLang="en-US" sz="2400" dirty="0"/>
          </a:p>
          <a:p>
            <a:pPr marL="0" indent="0">
              <a:buSzPct val="100000"/>
              <a:buNone/>
            </a:pPr>
            <a:br>
              <a:rPr lang="en-GB" sz="2400" b="1">
                <a:effectLst/>
                <a:latin typeface="Arial-BoldMT"/>
                <a:sym typeface="+mn-ea"/>
              </a:rPr>
            </a:br>
            <a:r>
              <a:rPr lang="en-GB" sz="2400" b="1">
                <a:effectLst/>
                <a:latin typeface="Arial-BoldMT"/>
                <a:sym typeface="+mn-ea"/>
              </a:rPr>
              <a:t>Guideline –</a:t>
            </a:r>
            <a:r>
              <a:rPr altLang="en-GB" sz="2400"/>
              <a:t> </a:t>
            </a:r>
            <a:r>
              <a:rPr altLang="en-GB" sz="2400">
                <a:latin typeface="Times New Roman" panose="02020603050405020304" pitchFamily="18" charset="0"/>
                <a:cs typeface="Times New Roman" panose="02020603050405020304" pitchFamily="18" charset="0"/>
              </a:rPr>
              <a:t>Only include the necessary signals in the sensitivity list ,As adding                            				 unnecessary signals to the sensitivity list slows down simulation ,</a:t>
            </a:r>
            <a:br>
              <a:rPr altLang="en-GB" sz="2400">
                <a:latin typeface="Times New Roman" panose="02020603050405020304" pitchFamily="18" charset="0"/>
                <a:cs typeface="Times New Roman" panose="02020603050405020304" pitchFamily="18" charset="0"/>
              </a:rPr>
            </a:br>
            <a:r>
              <a:rPr altLang="en-GB" sz="2400">
                <a:latin typeface="Times New Roman" panose="02020603050405020304" pitchFamily="18" charset="0"/>
                <a:cs typeface="Times New Roman" panose="02020603050405020304" pitchFamily="18" charset="0"/>
              </a:rPr>
              <a:t>				</a:t>
            </a:r>
            <a:r>
              <a:rPr altLang="en-GB" sz="2400">
                <a:solidFill>
                  <a:srgbClr val="FF0000"/>
                </a:solidFill>
                <a:latin typeface="Times New Roman" panose="02020603050405020304" pitchFamily="18" charset="0"/>
                <a:cs typeface="Times New Roman" panose="02020603050405020304" pitchFamily="18" charset="0"/>
              </a:rPr>
              <a:t>As the always can be </a:t>
            </a:r>
            <a:r>
              <a:rPr altLang="en-GB" sz="2400">
                <a:solidFill>
                  <a:srgbClr val="FF0000"/>
                </a:solidFill>
                <a:latin typeface="Times New Roman" panose="02020603050405020304" pitchFamily="18" charset="0"/>
                <a:cs typeface="Times New Roman" panose="02020603050405020304" pitchFamily="18" charset="0"/>
                <a:sym typeface="+mn-ea"/>
              </a:rPr>
              <a:t>unnecessarily</a:t>
            </a:r>
            <a:r>
              <a:rPr altLang="en-GB" sz="2400">
                <a:solidFill>
                  <a:srgbClr val="FF0000"/>
                </a:solidFill>
                <a:latin typeface="Times New Roman" panose="02020603050405020304" pitchFamily="18" charset="0"/>
                <a:cs typeface="Times New Roman" panose="02020603050405020304" pitchFamily="18" charset="0"/>
              </a:rPr>
              <a:t> retriggered many times</a:t>
            </a:r>
            <a:r>
              <a:rPr altLang="en-GB" sz="2400">
                <a:latin typeface="Times New Roman" panose="02020603050405020304" pitchFamily="18" charset="0"/>
                <a:cs typeface="Times New Roman" panose="02020603050405020304" pitchFamily="18" charset="0"/>
              </a:rPr>
              <a:t> .</a:t>
            </a:r>
            <a:endParaRPr lang="en-US" altLang="en-GB"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GB" alt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graphicFrame>
        <p:nvGraphicFramePr>
          <p:cNvPr id="8" name="Table 7"/>
          <p:cNvGraphicFramePr/>
          <p:nvPr/>
        </p:nvGraphicFramePr>
        <p:xfrm>
          <a:off x="1707515" y="3027680"/>
          <a:ext cx="8533130" cy="3490595"/>
        </p:xfrm>
        <a:graphic>
          <a:graphicData uri="http://schemas.openxmlformats.org/drawingml/2006/table">
            <a:tbl>
              <a:tblPr firstRow="1" bandRow="1">
                <a:tableStyleId>{21E4AEA4-8DFA-4A89-87EB-49C32662AFE0}</a:tableStyleId>
              </a:tblPr>
              <a:tblGrid>
                <a:gridCol w="4266565"/>
                <a:gridCol w="4266565"/>
              </a:tblGrid>
              <a:tr h="1800225">
                <a:tc>
                  <a:txBody>
                    <a:bodyPr/>
                    <a:p>
                      <a:pPr>
                        <a:buNone/>
                      </a:pPr>
                      <a:r>
                        <a:rPr lang="en-US" altLang="en-GB">
                          <a:solidFill>
                            <a:schemeClr val="tx1"/>
                          </a:solidFill>
                        </a:rPr>
                        <a:t>Combinational block:</a:t>
                      </a:r>
                      <a:endParaRPr lang="en-US" altLang="en-GB">
                        <a:solidFill>
                          <a:schemeClr val="tx1"/>
                        </a:solidFill>
                      </a:endParaRPr>
                    </a:p>
                    <a:p>
                      <a:pPr>
                        <a:buNone/>
                      </a:pPr>
                      <a:r>
                        <a:rPr lang="en-US" altLang="en-GB">
                          <a:solidFill>
                            <a:schemeClr val="tx1"/>
                          </a:solidFill>
                        </a:rPr>
                        <a:t>Sensitivity list should :</a:t>
                      </a:r>
                      <a:endParaRPr lang="en-US" altLang="en-GB">
                        <a:solidFill>
                          <a:schemeClr val="tx1"/>
                        </a:solidFill>
                      </a:endParaRPr>
                    </a:p>
                    <a:p>
                      <a:pPr>
                        <a:buNone/>
                      </a:pPr>
                      <a:r>
                        <a:rPr lang="en-US" altLang="en-GB">
                          <a:solidFill>
                            <a:schemeClr val="tx1"/>
                          </a:solidFill>
                        </a:rPr>
                        <a:t>-Contain all read signals in the block That appears in the </a:t>
                      </a:r>
                      <a:r>
                        <a:rPr lang="en-US" altLang="en-GB">
                          <a:solidFill>
                            <a:srgbClr val="00B050"/>
                          </a:solidFill>
                        </a:rPr>
                        <a:t>RHS</a:t>
                      </a:r>
                      <a:r>
                        <a:rPr lang="en-US" altLang="en-GB">
                          <a:solidFill>
                            <a:schemeClr val="tx1"/>
                          </a:solidFill>
                        </a:rPr>
                        <a:t> or Conditions .</a:t>
                      </a:r>
                      <a:endParaRPr lang="en-US" altLang="en-GB">
                        <a:solidFill>
                          <a:schemeClr val="tx1"/>
                        </a:solidFill>
                      </a:endParaRPr>
                    </a:p>
                    <a:p>
                      <a:pPr>
                        <a:buNone/>
                      </a:pPr>
                      <a:r>
                        <a:rPr lang="en-US" altLang="en-GB">
                          <a:solidFill>
                            <a:schemeClr val="tx1"/>
                          </a:solidFill>
                        </a:rPr>
                        <a:t>-We can use always(*) to contain all read signals in the always block .</a:t>
                      </a:r>
                      <a:endParaRPr lang="en-US" altLang="en-GB">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en-GB">
                          <a:solidFill>
                            <a:schemeClr val="tx1"/>
                          </a:solidFill>
                        </a:rPr>
                        <a:t>Sequential Block :</a:t>
                      </a:r>
                      <a:endParaRPr lang="en-US" altLang="en-GB">
                        <a:solidFill>
                          <a:schemeClr val="tx1"/>
                        </a:solidFill>
                      </a:endParaRPr>
                    </a:p>
                    <a:p>
                      <a:pPr>
                        <a:buNone/>
                      </a:pPr>
                      <a:r>
                        <a:rPr lang="en-US" altLang="en-GB" sz="1800">
                          <a:solidFill>
                            <a:schemeClr val="tx1"/>
                          </a:solidFill>
                          <a:sym typeface="+mn-ea"/>
                        </a:rPr>
                        <a:t>Sensitivity list should :</a:t>
                      </a:r>
                      <a:endParaRPr lang="en-US" altLang="en-GB" sz="1800">
                        <a:solidFill>
                          <a:schemeClr val="tx1"/>
                        </a:solidFill>
                        <a:sym typeface="+mn-ea"/>
                      </a:endParaRPr>
                    </a:p>
                    <a:p>
                      <a:pPr>
                        <a:buNone/>
                      </a:pPr>
                      <a:r>
                        <a:rPr lang="en-US" altLang="en-GB">
                          <a:solidFill>
                            <a:schemeClr val="tx1"/>
                          </a:solidFill>
                        </a:rPr>
                        <a:t>-Contain edge triggerd clock .</a:t>
                      </a:r>
                      <a:endParaRPr lang="en-US" altLang="en-GB">
                        <a:solidFill>
                          <a:schemeClr val="tx1"/>
                        </a:solidFill>
                      </a:endParaRPr>
                    </a:p>
                    <a:p>
                      <a:pPr>
                        <a:buNone/>
                      </a:pPr>
                      <a:r>
                        <a:rPr lang="en-US" altLang="en-GB">
                          <a:solidFill>
                            <a:schemeClr val="tx1"/>
                          </a:solidFill>
                        </a:rPr>
                        <a:t>-Incase of asynchrounous reset , Edge triggered reset must be included .</a:t>
                      </a:r>
                      <a:endParaRPr lang="en-US" altLang="en-GB">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690370">
                <a:tc>
                  <a:txBody>
                    <a:bodyPr/>
                    <a:p>
                      <a:pPr>
                        <a:buNone/>
                      </a:pP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9" name="Picture 8"/>
          <p:cNvPicPr>
            <a:picLocks noChangeAspect="1"/>
          </p:cNvPicPr>
          <p:nvPr/>
        </p:nvPicPr>
        <p:blipFill>
          <a:blip r:embed="rId1"/>
          <a:stretch>
            <a:fillRect/>
          </a:stretch>
        </p:blipFill>
        <p:spPr>
          <a:xfrm>
            <a:off x="1960245" y="4849495"/>
            <a:ext cx="3459480" cy="1652905"/>
          </a:xfrm>
          <a:prstGeom prst="rect">
            <a:avLst/>
          </a:prstGeom>
        </p:spPr>
      </p:pic>
      <p:pic>
        <p:nvPicPr>
          <p:cNvPr id="11" name="Picture 10"/>
          <p:cNvPicPr>
            <a:picLocks noChangeAspect="1"/>
          </p:cNvPicPr>
          <p:nvPr/>
        </p:nvPicPr>
        <p:blipFill>
          <a:blip r:embed="rId2"/>
          <a:stretch>
            <a:fillRect/>
          </a:stretch>
        </p:blipFill>
        <p:spPr>
          <a:xfrm>
            <a:off x="6203315" y="4849495"/>
            <a:ext cx="3488055" cy="1653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208405"/>
            <a:ext cx="11236960" cy="5401310"/>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6</a:t>
            </a:r>
            <a:r>
              <a:rPr sz="2400">
                <a:sym typeface="+mn-ea"/>
              </a:rPr>
              <a:t> </a:t>
            </a:r>
            <a:r>
              <a:rPr lang="en-GB" altLang="en-US" sz="2400">
                <a:sym typeface="+mn-ea"/>
              </a:rPr>
              <a:t>Blocking and Nonblocking Assignments</a:t>
            </a:r>
            <a:endParaRPr lang="en-GB" altLang="en-US" sz="2400" dirty="0"/>
          </a:p>
          <a:p>
            <a:pPr marL="0" indent="0">
              <a:buSzPct val="100000"/>
              <a:buNone/>
            </a:pPr>
            <a:r>
              <a:rPr sz="2400">
                <a:effectLst/>
                <a:sym typeface="+mn-ea"/>
              </a:rPr>
              <a:t>Rule – </a:t>
            </a:r>
            <a:r>
              <a:rPr sz="2400">
                <a:effectLst/>
                <a:latin typeface="Times New Roman" panose="02020603050405020304" pitchFamily="18" charset="0"/>
                <a:cs typeface="Times New Roman" panose="02020603050405020304" pitchFamily="18" charset="0"/>
                <a:sym typeface="+mn-ea"/>
              </a:rPr>
              <a:t>When writing synthesizable code, always use nonblocking</a:t>
            </a:r>
            <a:endParaRPr sz="2400">
              <a:effectLst/>
              <a:latin typeface="Times New Roman" panose="02020603050405020304" pitchFamily="18" charset="0"/>
              <a:cs typeface="Times New Roman" panose="02020603050405020304" pitchFamily="18" charset="0"/>
              <a:sym typeface="+mn-ea"/>
            </a:endParaRPr>
          </a:p>
          <a:p>
            <a:pPr marL="0" indent="0">
              <a:buSzPct val="100000"/>
              <a:buNone/>
            </a:pPr>
            <a:r>
              <a:rPr sz="2400">
                <a:effectLst/>
                <a:latin typeface="Times New Roman" panose="02020603050405020304" pitchFamily="18" charset="0"/>
                <a:cs typeface="Times New Roman" panose="02020603050405020304" pitchFamily="18" charset="0"/>
                <a:sym typeface="+mn-ea"/>
              </a:rPr>
              <a:t>assignments in always@ (posedge clk) blocks.</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graphicFrame>
        <p:nvGraphicFramePr>
          <p:cNvPr id="12" name="Table 11"/>
          <p:cNvGraphicFramePr/>
          <p:nvPr/>
        </p:nvGraphicFramePr>
        <p:xfrm>
          <a:off x="243840" y="2884805"/>
          <a:ext cx="11464290" cy="3649345"/>
        </p:xfrm>
        <a:graphic>
          <a:graphicData uri="http://schemas.openxmlformats.org/drawingml/2006/table">
            <a:tbl>
              <a:tblPr firstRow="1" bandRow="1">
                <a:tableStyleId>{21E4AEA4-8DFA-4A89-87EB-49C32662AFE0}</a:tableStyleId>
              </a:tblPr>
              <a:tblGrid>
                <a:gridCol w="5565140"/>
                <a:gridCol w="5899150"/>
              </a:tblGrid>
              <a:tr h="3649345">
                <a:tc>
                  <a:txBody>
                    <a:bodyPr/>
                    <a:p>
                      <a:pPr>
                        <a:buNone/>
                      </a:pPr>
                      <a:r>
                        <a:rPr lang="en-GB" sz="1800">
                          <a:solidFill>
                            <a:schemeClr val="tx1"/>
                          </a:solidFill>
                          <a:effectLst/>
                          <a:latin typeface="Times New Roman" panose="02020603050405020304" pitchFamily="18" charset="0"/>
                          <a:cs typeface="Times New Roman" panose="02020603050405020304" pitchFamily="18" charset="0"/>
                          <a:sym typeface="+mn-ea"/>
                        </a:rPr>
                        <a:t>Blocking assignment :</a:t>
                      </a:r>
                      <a:endParaRPr 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Execution is done </a:t>
                      </a:r>
                      <a:r>
                        <a:rPr lang="en-US" altLang="en-GB" sz="1800">
                          <a:solidFill>
                            <a:srgbClr val="FFC000"/>
                          </a:solidFill>
                          <a:effectLst/>
                          <a:latin typeface="Times New Roman" panose="02020603050405020304" pitchFamily="18" charset="0"/>
                          <a:cs typeface="Times New Roman" panose="02020603050405020304" pitchFamily="18" charset="0"/>
                          <a:sym typeface="+mn-ea"/>
                        </a:rPr>
                        <a:t>sequentially </a:t>
                      </a:r>
                      <a:r>
                        <a:rPr lang="en-US" altLang="en-GB" sz="1800">
                          <a:solidFill>
                            <a:schemeClr val="tx1"/>
                          </a:solidFill>
                          <a:effectLst/>
                          <a:latin typeface="Times New Roman" panose="02020603050405020304" pitchFamily="18" charset="0"/>
                          <a:cs typeface="Times New Roman" panose="02020603050405020304" pitchFamily="18" charset="0"/>
                          <a:sym typeface="+mn-ea"/>
                        </a:rPr>
                        <a:t>(line by line ).</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So in the following example , </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 a is assigned to b .</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 a is assigned to b which already has the value of a .</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so a just loops around and is reassigned every clock.</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GB" altLang="en-US" sz="1800">
                          <a:solidFill>
                            <a:schemeClr val="tx1"/>
                          </a:solidFill>
                          <a:effectLst/>
                          <a:latin typeface="Times New Roman" panose="02020603050405020304" pitchFamily="18" charset="0"/>
                          <a:cs typeface="Times New Roman" panose="02020603050405020304" pitchFamily="18" charset="0"/>
                          <a:sym typeface="+mn-ea"/>
                        </a:rPr>
                        <a:t>Non_blocking assignment:</a:t>
                      </a: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Execution is done </a:t>
                      </a:r>
                      <a:r>
                        <a:rPr lang="en-US" altLang="en-GB" sz="1800">
                          <a:solidFill>
                            <a:srgbClr val="FFC000"/>
                          </a:solidFill>
                          <a:effectLst/>
                          <a:latin typeface="Times New Roman" panose="02020603050405020304" pitchFamily="18" charset="0"/>
                          <a:cs typeface="Times New Roman" panose="02020603050405020304" pitchFamily="18" charset="0"/>
                          <a:sym typeface="+mn-ea"/>
                        </a:rPr>
                        <a:t>concurrently </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a:t>
                      </a:r>
                      <a:r>
                        <a:rPr lang="en-US" altLang="en-GB" sz="1800">
                          <a:solidFill>
                            <a:srgbClr val="00B050"/>
                          </a:solidFill>
                          <a:effectLst/>
                          <a:latin typeface="Times New Roman" panose="02020603050405020304" pitchFamily="18" charset="0"/>
                          <a:cs typeface="Times New Roman" panose="02020603050405020304" pitchFamily="18" charset="0"/>
                          <a:sym typeface="+mn-ea"/>
                        </a:rPr>
                        <a:t>RH </a:t>
                      </a:r>
                      <a:r>
                        <a:rPr lang="en-US" altLang="en-GB" sz="1800">
                          <a:solidFill>
                            <a:schemeClr val="tx1"/>
                          </a:solidFill>
                          <a:effectLst/>
                          <a:latin typeface="Times New Roman" panose="02020603050405020304" pitchFamily="18" charset="0"/>
                          <a:cs typeface="Times New Roman" panose="02020603050405020304" pitchFamily="18" charset="0"/>
                          <a:sym typeface="+mn-ea"/>
                        </a:rPr>
                        <a:t>sides are evaluated then assigned to </a:t>
                      </a:r>
                      <a:r>
                        <a:rPr lang="en-US" altLang="en-GB" sz="1800">
                          <a:solidFill>
                            <a:srgbClr val="FF0000"/>
                          </a:solidFill>
                          <a:effectLst/>
                          <a:latin typeface="Times New Roman" panose="02020603050405020304" pitchFamily="18" charset="0"/>
                          <a:cs typeface="Times New Roman" panose="02020603050405020304" pitchFamily="18" charset="0"/>
                          <a:sym typeface="+mn-ea"/>
                        </a:rPr>
                        <a:t>LH </a:t>
                      </a:r>
                      <a:r>
                        <a:rPr lang="en-US" altLang="en-GB" sz="1800">
                          <a:solidFill>
                            <a:schemeClr val="tx1"/>
                          </a:solidFill>
                          <a:effectLst/>
                          <a:latin typeface="Times New Roman" panose="02020603050405020304" pitchFamily="18" charset="0"/>
                          <a:cs typeface="Times New Roman" panose="02020603050405020304" pitchFamily="18" charset="0"/>
                          <a:sym typeface="+mn-ea"/>
                        </a:rPr>
                        <a:t>sides each clock ) and that’s the intended behaviour . </a:t>
                      </a:r>
                      <a:endParaRPr lang="en-US" altLang="en-GB"/>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9" name="Picture 8"/>
          <p:cNvPicPr>
            <a:picLocks noChangeAspect="1"/>
          </p:cNvPicPr>
          <p:nvPr/>
        </p:nvPicPr>
        <p:blipFill>
          <a:blip r:embed="rId1"/>
          <a:stretch>
            <a:fillRect/>
          </a:stretch>
        </p:blipFill>
        <p:spPr>
          <a:xfrm>
            <a:off x="336550" y="4582160"/>
            <a:ext cx="4101465" cy="1830070"/>
          </a:xfrm>
          <a:prstGeom prst="rect">
            <a:avLst/>
          </a:prstGeom>
        </p:spPr>
      </p:pic>
      <p:pic>
        <p:nvPicPr>
          <p:cNvPr id="11" name="Picture 10"/>
          <p:cNvPicPr>
            <a:picLocks noChangeAspect="1"/>
          </p:cNvPicPr>
          <p:nvPr/>
        </p:nvPicPr>
        <p:blipFill>
          <a:blip r:embed="rId2"/>
          <a:stretch>
            <a:fillRect/>
          </a:stretch>
        </p:blipFill>
        <p:spPr>
          <a:xfrm>
            <a:off x="5812790" y="4563110"/>
            <a:ext cx="3870325" cy="1889760"/>
          </a:xfrm>
          <a:prstGeom prst="rect">
            <a:avLst/>
          </a:prstGeom>
        </p:spPr>
      </p:pic>
      <p:pic>
        <p:nvPicPr>
          <p:cNvPr id="8" name="Picture 7"/>
          <p:cNvPicPr>
            <a:picLocks noChangeAspect="1"/>
          </p:cNvPicPr>
          <p:nvPr/>
        </p:nvPicPr>
        <p:blipFill>
          <a:blip r:embed="rId3"/>
          <a:stretch>
            <a:fillRect/>
          </a:stretch>
        </p:blipFill>
        <p:spPr>
          <a:xfrm>
            <a:off x="8935720" y="5373370"/>
            <a:ext cx="2656840" cy="1157605"/>
          </a:xfrm>
          <a:prstGeom prst="rect">
            <a:avLst/>
          </a:prstGeom>
        </p:spPr>
      </p:pic>
      <p:pic>
        <p:nvPicPr>
          <p:cNvPr id="7" name="Picture 6"/>
          <p:cNvPicPr>
            <a:picLocks noChangeAspect="1"/>
          </p:cNvPicPr>
          <p:nvPr/>
        </p:nvPicPr>
        <p:blipFill>
          <a:blip r:embed="rId4"/>
          <a:stretch>
            <a:fillRect/>
          </a:stretch>
        </p:blipFill>
        <p:spPr>
          <a:xfrm>
            <a:off x="3451860" y="5328920"/>
            <a:ext cx="2360930" cy="1202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208405"/>
            <a:ext cx="11236960" cy="5401310"/>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8</a:t>
            </a:r>
            <a:r>
              <a:rPr sz="2400">
                <a:sym typeface="+mn-ea"/>
              </a:rPr>
              <a:t> </a:t>
            </a:r>
            <a:r>
              <a:rPr lang="en-GB" altLang="en-US" sz="2400">
                <a:sym typeface="+mn-ea"/>
              </a:rPr>
              <a:t>Case Statements vs. if-then-else Statements:</a:t>
            </a:r>
            <a:br>
              <a:rPr lang="en-GB" sz="2400" b="1">
                <a:effectLst/>
                <a:latin typeface="Arial-BoldMT"/>
                <a:sym typeface="+mn-ea"/>
              </a:rPr>
            </a:br>
            <a:r>
              <a:rPr sz="2400">
                <a:effectLst/>
                <a:sym typeface="+mn-ea"/>
              </a:rPr>
              <a:t>Guideline </a:t>
            </a:r>
            <a:r>
              <a:rPr sz="2400">
                <a:effectLst/>
                <a:latin typeface="Times New Roman" panose="02020603050405020304" pitchFamily="18" charset="0"/>
                <a:cs typeface="Times New Roman" panose="02020603050405020304" pitchFamily="18" charset="0"/>
                <a:sym typeface="+mn-ea"/>
              </a:rPr>
              <a:t>– The multiplexer is a faster circuit. </a:t>
            </a:r>
            <a:r>
              <a:rPr lang="en-GB" altLang="en-US" sz="2400">
                <a:effectLst/>
                <a:latin typeface="Times New Roman" panose="02020603050405020304" pitchFamily="18" charset="0"/>
                <a:cs typeface="Times New Roman" panose="02020603050405020304" pitchFamily="18" charset="0"/>
                <a:sym typeface="+mn-ea"/>
              </a:rPr>
              <a:t>So</a:t>
            </a:r>
            <a:r>
              <a:rPr sz="2400">
                <a:effectLst/>
                <a:latin typeface="Times New Roman" panose="02020603050405020304" pitchFamily="18" charset="0"/>
                <a:cs typeface="Times New Roman" panose="02020603050405020304" pitchFamily="18" charset="0"/>
                <a:sym typeface="+mn-ea"/>
              </a:rPr>
              <a:t>, if the priority-encoding</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structure is not required,  case statement </a:t>
            </a:r>
            <a:r>
              <a:rPr lang="en-GB" altLang="en-US" sz="2400">
                <a:effectLst/>
                <a:latin typeface="Times New Roman" panose="02020603050405020304" pitchFamily="18" charset="0"/>
                <a:cs typeface="Times New Roman" panose="02020603050405020304" pitchFamily="18" charset="0"/>
                <a:sym typeface="+mn-ea"/>
              </a:rPr>
              <a:t>is prefered over if-else statement .</a:t>
            </a:r>
            <a:br>
              <a:rPr lang="en-GB" altLang="en-US" sz="2400">
                <a:effectLst/>
                <a:latin typeface="Times New Roman" panose="02020603050405020304" pitchFamily="18" charset="0"/>
                <a:cs typeface="Times New Roman" panose="02020603050405020304" pitchFamily="18" charset="0"/>
                <a:sym typeface="+mn-ea"/>
              </a:rPr>
            </a:br>
            <a:br>
              <a:rPr lang="en-GB" altLang="en-US"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r>
              <a:rPr altLang="en-GB" sz="2400" b="1">
                <a:effectLst/>
                <a:latin typeface="Times New Roman" panose="02020603050405020304" pitchFamily="18" charset="0"/>
                <a:cs typeface="Times New Roman" panose="02020603050405020304" pitchFamily="18" charset="0"/>
                <a:sym typeface="+mn-ea"/>
              </a:rPr>
              <a:t>Note _ </a:t>
            </a:r>
            <a:r>
              <a:rPr altLang="en-GB" sz="2400">
                <a:effectLst/>
                <a:latin typeface="Times New Roman" panose="02020603050405020304" pitchFamily="18" charset="0"/>
                <a:cs typeface="Times New Roman" panose="02020603050405020304" pitchFamily="18" charset="0"/>
                <a:sym typeface="+mn-ea"/>
              </a:rPr>
              <a:t> An if-then-else statement can be useful if you have a late-arriving signal like the shown example , if ‘a’ is a </a:t>
            </a:r>
            <a:r>
              <a:rPr altLang="en-GB" sz="2400">
                <a:solidFill>
                  <a:srgbClr val="FF0000"/>
                </a:solidFill>
                <a:effectLst/>
                <a:latin typeface="Times New Roman" panose="02020603050405020304" pitchFamily="18" charset="0"/>
                <a:cs typeface="Times New Roman" panose="02020603050405020304" pitchFamily="18" charset="0"/>
                <a:sym typeface="+mn-ea"/>
              </a:rPr>
              <a:t>late arriving</a:t>
            </a:r>
            <a:r>
              <a:rPr altLang="en-GB" sz="2400">
                <a:effectLst/>
                <a:latin typeface="Times New Roman" panose="02020603050405020304" pitchFamily="18" charset="0"/>
                <a:cs typeface="Times New Roman" panose="02020603050405020304" pitchFamily="18" charset="0"/>
                <a:sym typeface="+mn-ea"/>
              </a:rPr>
              <a:t> signal , it can be connected to the </a:t>
            </a:r>
            <a:r>
              <a:rPr altLang="en-GB" sz="2400">
                <a:solidFill>
                  <a:srgbClr val="00B050"/>
                </a:solidFill>
                <a:effectLst/>
                <a:latin typeface="Times New Roman" panose="02020603050405020304" pitchFamily="18" charset="0"/>
                <a:cs typeface="Times New Roman" panose="02020603050405020304" pitchFamily="18" charset="0"/>
                <a:sym typeface="+mn-ea"/>
              </a:rPr>
              <a:t>fastest path</a:t>
            </a:r>
            <a:r>
              <a:rPr altLang="en-GB" sz="2400">
                <a:effectLst/>
                <a:latin typeface="Times New Roman" panose="02020603050405020304" pitchFamily="18" charset="0"/>
                <a:cs typeface="Times New Roman" panose="02020603050405020304" pitchFamily="18" charset="0"/>
                <a:sym typeface="+mn-ea"/>
              </a:rPr>
              <a:t> (first if condition )</a:t>
            </a:r>
            <a:br>
              <a:rPr lang="en-GB" altLang="en-US" sz="2400">
                <a:effectLst/>
                <a:latin typeface="Times New Roman" panose="02020603050405020304" pitchFamily="18" charset="0"/>
                <a:cs typeface="Times New Roman" panose="02020603050405020304" pitchFamily="18" charset="0"/>
                <a:sym typeface="+mn-ea"/>
              </a:rPr>
            </a:br>
            <a:endParaRPr sz="2400">
              <a:effectLst/>
              <a:latin typeface="Times New Roman" panose="02020603050405020304" pitchFamily="18" charset="0"/>
              <a:cs typeface="Times New Roman" panose="02020603050405020304" pitchFamily="18" charset="0"/>
              <a:sym typeface="+mn-ea"/>
            </a:endParaRPr>
          </a:p>
          <a:p>
            <a:pPr marL="0" indent="0">
              <a:buSzPct val="100000"/>
              <a:buNone/>
            </a:pP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graphicFrame>
        <p:nvGraphicFramePr>
          <p:cNvPr id="12" name="Table 11"/>
          <p:cNvGraphicFramePr/>
          <p:nvPr/>
        </p:nvGraphicFramePr>
        <p:xfrm>
          <a:off x="263525" y="3372485"/>
          <a:ext cx="8533130" cy="2410460"/>
        </p:xfrm>
        <a:graphic>
          <a:graphicData uri="http://schemas.openxmlformats.org/drawingml/2006/table">
            <a:tbl>
              <a:tblPr firstRow="1" bandRow="1">
                <a:tableStyleId>{21E4AEA4-8DFA-4A89-87EB-49C32662AFE0}</a:tableStyleId>
              </a:tblPr>
              <a:tblGrid>
                <a:gridCol w="4236085"/>
                <a:gridCol w="4297045"/>
              </a:tblGrid>
              <a:tr h="2410460">
                <a:tc>
                  <a:txBody>
                    <a:bodyPr/>
                    <a:p>
                      <a:pPr>
                        <a:buNone/>
                      </a:pPr>
                      <a:r>
                        <a:rPr lang="en-GB" sz="1800">
                          <a:solidFill>
                            <a:schemeClr val="tx1"/>
                          </a:solidFill>
                          <a:effectLst/>
                          <a:latin typeface="Times New Roman" panose="02020603050405020304" pitchFamily="18" charset="0"/>
                          <a:cs typeface="Times New Roman" panose="02020603050405020304" pitchFamily="18" charset="0"/>
                          <a:sym typeface="+mn-ea"/>
                        </a:rPr>
                        <a:t>Case Statement : </a:t>
                      </a:r>
                      <a:endParaRPr lang="en-GB" sz="1800">
                        <a:solidFill>
                          <a:schemeClr val="tx1"/>
                        </a:solidFill>
                        <a:effectLst/>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GB" altLang="en-US" sz="1800">
                          <a:solidFill>
                            <a:schemeClr val="tx1"/>
                          </a:solidFill>
                          <a:effectLst/>
                          <a:latin typeface="Times New Roman" panose="02020603050405020304" pitchFamily="18" charset="0"/>
                          <a:cs typeface="Times New Roman" panose="02020603050405020304" pitchFamily="18" charset="0"/>
                          <a:sym typeface="+mn-ea"/>
                        </a:rPr>
                        <a:t>If -else statements :</a:t>
                      </a:r>
                      <a:endParaRPr lang="en-GB" alt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a:t>v</a:t>
                      </a:r>
                      <a:endParaRPr lang="en-US" altLang="en-GB"/>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7" name="Picture 6"/>
          <p:cNvPicPr>
            <a:picLocks noChangeAspect="1"/>
          </p:cNvPicPr>
          <p:nvPr/>
        </p:nvPicPr>
        <p:blipFill>
          <a:blip r:embed="rId1"/>
          <a:stretch>
            <a:fillRect/>
          </a:stretch>
        </p:blipFill>
        <p:spPr>
          <a:xfrm>
            <a:off x="4734560" y="3684270"/>
            <a:ext cx="3527425" cy="2004695"/>
          </a:xfrm>
          <a:prstGeom prst="rect">
            <a:avLst/>
          </a:prstGeom>
        </p:spPr>
      </p:pic>
      <p:pic>
        <p:nvPicPr>
          <p:cNvPr id="8" name="Picture 7"/>
          <p:cNvPicPr>
            <a:picLocks noChangeAspect="1"/>
          </p:cNvPicPr>
          <p:nvPr/>
        </p:nvPicPr>
        <p:blipFill>
          <a:blip r:embed="rId2"/>
          <a:stretch>
            <a:fillRect/>
          </a:stretch>
        </p:blipFill>
        <p:spPr>
          <a:xfrm>
            <a:off x="694055" y="3889375"/>
            <a:ext cx="3135630" cy="17995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900" y="1214755"/>
            <a:ext cx="11236960" cy="5401310"/>
          </a:xfrm>
        </p:spPr>
        <p:txBody>
          <a:bodyPr>
            <a:normAutofit lnSpcReduction="10000"/>
          </a:bodyPr>
          <a:lstStyle/>
          <a:p>
            <a:pPr marL="0" indent="0">
              <a:lnSpc>
                <a:spcPct val="80000"/>
              </a:lnSpc>
              <a:buSzPct val="100000"/>
              <a:buNone/>
            </a:pPr>
            <a:r>
              <a:rPr sz="2400">
                <a:sym typeface="+mn-ea"/>
              </a:rPr>
              <a:t>5.</a:t>
            </a:r>
            <a:r>
              <a:rPr lang="en-GB" altLang="en-US" sz="2400">
                <a:sym typeface="+mn-ea"/>
              </a:rPr>
              <a:t>5</a:t>
            </a:r>
            <a:r>
              <a:rPr altLang="en-GB" sz="2400">
                <a:sym typeface="+mn-ea"/>
              </a:rPr>
              <a:t>.</a:t>
            </a:r>
            <a:r>
              <a:rPr lang="en-GB" altLang="en-US" sz="2400">
                <a:sym typeface="+mn-ea"/>
              </a:rPr>
              <a:t>9</a:t>
            </a:r>
            <a:r>
              <a:rPr sz="2400">
                <a:sym typeface="+mn-ea"/>
              </a:rPr>
              <a:t> </a:t>
            </a:r>
            <a:r>
              <a:rPr lang="en-GB" altLang="en-US" sz="2400">
                <a:sym typeface="+mn-ea"/>
              </a:rPr>
              <a:t>Coding Sequential Logic:</a:t>
            </a:r>
            <a:br>
              <a:rPr lang="en-GB" sz="2400" b="1">
                <a:effectLst/>
                <a:latin typeface="Arial-BoldMT"/>
                <a:sym typeface="+mn-ea"/>
              </a:rPr>
            </a:br>
            <a:r>
              <a:rPr sz="2400">
                <a:effectLst/>
                <a:sym typeface="+mn-ea"/>
              </a:rPr>
              <a:t>Guideline </a:t>
            </a:r>
            <a:r>
              <a:rPr lang="en-GB" altLang="en-US" sz="2400">
                <a:effectLst/>
                <a:sym typeface="+mn-ea"/>
              </a:rPr>
              <a:t>_</a:t>
            </a:r>
            <a:r>
              <a:rPr lang="en-GB" altLang="en-US" sz="2000">
                <a:effectLst/>
                <a:latin typeface="Times New Roman" panose="02020603050405020304" pitchFamily="18" charset="0"/>
                <a:cs typeface="Times New Roman" panose="02020603050405020304" pitchFamily="18" charset="0"/>
                <a:sym typeface="+mn-ea"/>
              </a:rPr>
              <a:t> </a:t>
            </a:r>
            <a:r>
              <a:rPr sz="2000">
                <a:effectLst/>
                <a:latin typeface="Times New Roman" panose="02020603050405020304" pitchFamily="18" charset="0"/>
                <a:cs typeface="Times New Roman" panose="02020603050405020304" pitchFamily="18" charset="0"/>
                <a:sym typeface="+mn-ea"/>
              </a:rPr>
              <a:t>Code sequential logic, including state machines, with one sequential</a:t>
            </a:r>
            <a:endParaRPr sz="2000">
              <a:effectLst/>
              <a:latin typeface="Times New Roman" panose="02020603050405020304" pitchFamily="18" charset="0"/>
              <a:cs typeface="Times New Roman" panose="02020603050405020304" pitchFamily="18" charset="0"/>
              <a:sym typeface="+mn-ea"/>
            </a:endParaRPr>
          </a:p>
          <a:p>
            <a:pPr marL="0" indent="0">
              <a:lnSpc>
                <a:spcPct val="80000"/>
              </a:lnSpc>
              <a:buSzPct val="100000"/>
              <a:buNone/>
            </a:pPr>
            <a:r>
              <a:rPr sz="2000">
                <a:effectLst/>
                <a:latin typeface="Times New Roman" panose="02020603050405020304" pitchFamily="18" charset="0"/>
                <a:cs typeface="Times New Roman" panose="02020603050405020304" pitchFamily="18" charset="0"/>
                <a:sym typeface="+mn-ea"/>
              </a:rPr>
              <a:t>sequential process. Improve readability by generating complex intermediate variables</a:t>
            </a:r>
            <a:endParaRPr sz="2000">
              <a:effectLst/>
              <a:latin typeface="Times New Roman" panose="02020603050405020304" pitchFamily="18" charset="0"/>
              <a:cs typeface="Times New Roman" panose="02020603050405020304" pitchFamily="18" charset="0"/>
              <a:sym typeface="+mn-ea"/>
            </a:endParaRPr>
          </a:p>
          <a:p>
            <a:pPr marL="0" indent="0">
              <a:lnSpc>
                <a:spcPct val="80000"/>
              </a:lnSpc>
              <a:buSzPct val="100000"/>
              <a:buNone/>
            </a:pPr>
            <a:r>
              <a:rPr sz="2000">
                <a:effectLst/>
                <a:latin typeface="Times New Roman" panose="02020603050405020304" pitchFamily="18" charset="0"/>
                <a:cs typeface="Times New Roman" panose="02020603050405020304" pitchFamily="18" charset="0"/>
                <a:sym typeface="+mn-ea"/>
              </a:rPr>
              <a:t>outside of the sequential process with assign statements.</a:t>
            </a:r>
            <a:r>
              <a:rPr altLang="en-GB" sz="20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mj-lt"/>
                <a:cs typeface="+mj-lt"/>
                <a:sym typeface="+mn-ea"/>
              </a:rPr>
              <a:t>Guideline – </a:t>
            </a:r>
            <a:r>
              <a:rPr altLang="en-GB" sz="2000">
                <a:effectLst/>
                <a:latin typeface="Times New Roman" panose="02020603050405020304" pitchFamily="18" charset="0"/>
                <a:cs typeface="Times New Roman" panose="02020603050405020304" pitchFamily="18" charset="0"/>
                <a:sym typeface="+mn-ea"/>
              </a:rPr>
              <a:t>Keep FSM and non-FSM logic in separate modules if they</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have different synthesis requirements. </a:t>
            </a:r>
            <a:br>
              <a:rPr altLang="en-GB" sz="2000">
                <a:effectLst/>
                <a:latin typeface="Times New Roman" panose="02020603050405020304" pitchFamily="18" charset="0"/>
                <a:cs typeface="Times New Roman" panose="02020603050405020304" pitchFamily="18" charset="0"/>
                <a:sym typeface="+mn-ea"/>
              </a:rPr>
            </a:b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For example, a very complex FSM might need to be in a</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separate module</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from a complex arithmetic block.</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9" name="Picture 8"/>
          <p:cNvPicPr>
            <a:picLocks noChangeAspect="1"/>
          </p:cNvPicPr>
          <p:nvPr/>
        </p:nvPicPr>
        <p:blipFill>
          <a:blip r:embed="rId1"/>
          <a:stretch>
            <a:fillRect/>
          </a:stretch>
        </p:blipFill>
        <p:spPr>
          <a:xfrm>
            <a:off x="9077960" y="1227455"/>
            <a:ext cx="3114040" cy="52330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900" y="1214755"/>
            <a:ext cx="11236960" cy="5401310"/>
          </a:xfrm>
        </p:spPr>
        <p:txBody>
          <a:bodyPr>
            <a:normAutofit fontScale="90000" lnSpcReduction="20000"/>
          </a:bodyPr>
          <a:lstStyle/>
          <a:p>
            <a:pPr marL="0" indent="0">
              <a:lnSpc>
                <a:spcPct val="80000"/>
              </a:lnSpc>
              <a:buSzPct val="100000"/>
              <a:buNone/>
            </a:pPr>
            <a:r>
              <a:rPr sz="2400">
                <a:sym typeface="+mn-ea"/>
              </a:rPr>
              <a:t>5.</a:t>
            </a:r>
            <a:r>
              <a:rPr lang="en-GB" altLang="en-US" sz="2400">
                <a:sym typeface="+mn-ea"/>
              </a:rPr>
              <a:t>5</a:t>
            </a:r>
            <a:r>
              <a:rPr altLang="en-GB" sz="2400">
                <a:sym typeface="+mn-ea"/>
              </a:rPr>
              <a:t>.</a:t>
            </a:r>
            <a:r>
              <a:rPr lang="en-GB" altLang="en-US" sz="2400">
                <a:sym typeface="+mn-ea"/>
              </a:rPr>
              <a:t>10</a:t>
            </a:r>
            <a:r>
              <a:rPr sz="2400">
                <a:sym typeface="+mn-ea"/>
              </a:rPr>
              <a:t> </a:t>
            </a:r>
            <a:r>
              <a:rPr lang="en-GB" altLang="en-US" sz="2400">
                <a:sym typeface="+mn-ea"/>
              </a:rPr>
              <a:t>Coding Sequential Logic:</a:t>
            </a:r>
            <a:br>
              <a:rPr lang="en-GB" altLang="en-US" sz="2400">
                <a:sym typeface="+mn-ea"/>
              </a:rPr>
            </a:br>
            <a:br>
              <a:rPr lang="en-GB" sz="2400" b="1">
                <a:effectLst/>
                <a:latin typeface="Arial-BoldMT"/>
                <a:sym typeface="+mn-ea"/>
              </a:rPr>
            </a:br>
            <a:r>
              <a:rPr sz="2400">
                <a:effectLst/>
                <a:sym typeface="+mn-ea"/>
              </a:rPr>
              <a:t>Guideline </a:t>
            </a:r>
            <a:r>
              <a:rPr lang="en-GB" altLang="en-US" sz="2400">
                <a:effectLst/>
                <a:sym typeface="+mn-ea"/>
              </a:rPr>
              <a:t>_</a:t>
            </a:r>
            <a:r>
              <a:rPr lang="en-GB" altLang="en-US" sz="2000">
                <a:effectLst/>
                <a:latin typeface="Times New Roman" panose="02020603050405020304" pitchFamily="18" charset="0"/>
                <a:cs typeface="Times New Roman" panose="02020603050405020304" pitchFamily="18" charset="0"/>
                <a:sym typeface="+mn-ea"/>
              </a:rPr>
              <a:t> </a:t>
            </a:r>
            <a:r>
              <a:rPr sz="2000">
                <a:effectLst/>
                <a:latin typeface="Times New Roman" panose="02020603050405020304" pitchFamily="18" charset="0"/>
                <a:cs typeface="Times New Roman" panose="02020603050405020304" pitchFamily="18" charset="0"/>
                <a:sym typeface="+mn-ea"/>
              </a:rPr>
              <a:t>Guideline – Keep late-arriving signals with critical timing closest to the output of a</a:t>
            </a:r>
            <a:endParaRPr sz="2000">
              <a:effectLst/>
              <a:latin typeface="Times New Roman" panose="02020603050405020304" pitchFamily="18" charset="0"/>
              <a:cs typeface="Times New Roman" panose="02020603050405020304" pitchFamily="18" charset="0"/>
              <a:sym typeface="+mn-ea"/>
            </a:endParaRPr>
          </a:p>
          <a:p>
            <a:pPr marL="0" indent="0">
              <a:lnSpc>
                <a:spcPct val="80000"/>
              </a:lnSpc>
              <a:buSzPct val="100000"/>
              <a:buNone/>
            </a:pPr>
            <a:r>
              <a:rPr sz="2000">
                <a:effectLst/>
                <a:latin typeface="Times New Roman" panose="02020603050405020304" pitchFamily="18" charset="0"/>
                <a:cs typeface="Times New Roman" panose="02020603050405020304" pitchFamily="18" charset="0"/>
                <a:sym typeface="+mn-ea"/>
              </a:rPr>
              <a:t>logic block. For example, use the </a:t>
            </a:r>
            <a:r>
              <a:rPr sz="2000">
                <a:solidFill>
                  <a:srgbClr val="FF0000"/>
                </a:solidFill>
                <a:effectLst/>
                <a:latin typeface="Times New Roman" panose="02020603050405020304" pitchFamily="18" charset="0"/>
                <a:cs typeface="Times New Roman" panose="02020603050405020304" pitchFamily="18" charset="0"/>
                <a:sym typeface="+mn-ea"/>
              </a:rPr>
              <a:t>late-arriving</a:t>
            </a:r>
            <a:r>
              <a:rPr sz="2000">
                <a:effectLst/>
                <a:latin typeface="Times New Roman" panose="02020603050405020304" pitchFamily="18" charset="0"/>
                <a:cs typeface="Times New Roman" panose="02020603050405020304" pitchFamily="18" charset="0"/>
                <a:sym typeface="+mn-ea"/>
              </a:rPr>
              <a:t> signal early in an if-else block</a:t>
            </a:r>
            <a:r>
              <a:rPr lang="en-GB" altLang="en-US" sz="2000">
                <a:effectLst/>
                <a:latin typeface="Times New Roman" panose="02020603050405020304" pitchFamily="18" charset="0"/>
                <a:cs typeface="Times New Roman" panose="02020603050405020304" pitchFamily="18" charset="0"/>
                <a:sym typeface="+mn-ea"/>
              </a:rPr>
              <a:t>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(first if condition in if-else statements)</a:t>
            </a:r>
            <a:r>
              <a:rPr altLang="en-GB" sz="20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r>
              <a:rPr lang="en-GB" altLang="en-US" sz="2400">
                <a:effectLst/>
                <a:latin typeface="Times New Roman" panose="02020603050405020304" pitchFamily="18" charset="0"/>
                <a:cs typeface="Times New Roman" panose="02020603050405020304" pitchFamily="18" charset="0"/>
                <a:sym typeface="+mn-ea"/>
              </a:rPr>
              <a:t>-----------------------------------------------------------------------------------</a:t>
            </a: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sz="2000">
                <a:sym typeface="+mn-ea"/>
              </a:rPr>
              <a:t>5.</a:t>
            </a:r>
            <a:r>
              <a:rPr lang="en-GB" altLang="en-US" sz="2000">
                <a:sym typeface="+mn-ea"/>
              </a:rPr>
              <a:t>5</a:t>
            </a:r>
            <a:r>
              <a:rPr altLang="en-GB" sz="2000">
                <a:sym typeface="+mn-ea"/>
              </a:rPr>
              <a:t>.</a:t>
            </a:r>
            <a:r>
              <a:rPr lang="en-GB" altLang="en-US" sz="2000">
                <a:sym typeface="+mn-ea"/>
              </a:rPr>
              <a:t>11</a:t>
            </a:r>
            <a:r>
              <a:rPr sz="2000">
                <a:sym typeface="+mn-ea"/>
              </a:rPr>
              <a:t> </a:t>
            </a:r>
            <a:r>
              <a:rPr lang="en-GB" altLang="en-US" sz="2000">
                <a:sym typeface="+mn-ea"/>
              </a:rPr>
              <a:t>Avoid Delay Times:</a:t>
            </a:r>
            <a:br>
              <a:rPr lang="en-GB" altLang="en-US" sz="2400">
                <a:sym typeface="+mn-ea"/>
              </a:rPr>
            </a:br>
            <a:br>
              <a:rPr altLang="en-GB" sz="2000">
                <a:effectLst/>
                <a:latin typeface="Times New Roman" panose="02020603050405020304" pitchFamily="18" charset="0"/>
                <a:cs typeface="Times New Roman" panose="02020603050405020304" pitchFamily="18" charset="0"/>
                <a:sym typeface="+mn-ea"/>
              </a:rPr>
            </a:br>
            <a:r>
              <a:rPr sz="2000">
                <a:effectLst/>
                <a:sym typeface="+mn-ea"/>
              </a:rPr>
              <a:t>Guideline</a:t>
            </a:r>
            <a:r>
              <a:rPr lang="en-GB" altLang="en-US" sz="2000">
                <a:effectLst/>
                <a:sym typeface="+mn-ea"/>
              </a:rPr>
              <a:t> </a:t>
            </a:r>
            <a:r>
              <a:rPr lang="en-GB" altLang="en-US" sz="2000">
                <a:effectLst/>
                <a:latin typeface="Times New Roman" panose="02020603050405020304" pitchFamily="18" charset="0"/>
                <a:cs typeface="Times New Roman" panose="02020603050405020304" pitchFamily="18" charset="0"/>
                <a:sym typeface="+mn-ea"/>
              </a:rPr>
              <a:t>– Do not use any delay constants in RTL code for the following reasons :</a:t>
            </a:r>
            <a:br>
              <a:rPr lang="en-GB" altLang="en-US"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a:t>
            </a:r>
            <a:br>
              <a:rPr altLang="en-GB"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1) Delays aren’t synthesizable .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2) They may may cause simulation behavior to differ from synthesis results.</a:t>
            </a:r>
            <a:br>
              <a:rPr lang="en-GB" altLang="en-US" sz="2000">
                <a:effectLst/>
                <a:latin typeface="Times New Roman" panose="02020603050405020304" pitchFamily="18" charset="0"/>
                <a:cs typeface="Times New Roman" panose="02020603050405020304" pitchFamily="18" charset="0"/>
                <a:sym typeface="+mn-ea"/>
              </a:rPr>
            </a:b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Instead , 1) Use Non_blocking assignments in your sequential designs </a:t>
            </a:r>
            <a:br>
              <a:rPr lang="en-GB" altLang="en-US" sz="2000">
                <a:effectLst/>
                <a:latin typeface="Times New Roman" panose="02020603050405020304" pitchFamily="18" charset="0"/>
                <a:cs typeface="Times New Roman" panose="02020603050405020304" pitchFamily="18" charset="0"/>
                <a:sym typeface="+mn-ea"/>
              </a:rPr>
            </a:b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               2)Adjust clock timing to your RTL and the interface timing</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                  </a:t>
            </a:r>
            <a:r>
              <a:rPr lang="en-GB" altLang="en-US" sz="2000">
                <a:effectLst/>
                <a:latin typeface="Times New Roman" panose="02020603050405020304" pitchFamily="18" charset="0"/>
                <a:cs typeface="Times New Roman" panose="02020603050405020304" pitchFamily="18" charset="0"/>
                <a:sym typeface="+mn-ea"/>
              </a:rPr>
              <a:t>from and to your code. </a:t>
            </a:r>
            <a:r>
              <a:rPr lang="en-GB" altLang="en-US" sz="2000">
                <a:effectLst/>
                <a:latin typeface="Times New Roman" panose="02020603050405020304" pitchFamily="18" charset="0"/>
                <a:cs typeface="Times New Roman" panose="02020603050405020304" pitchFamily="18" charset="0"/>
                <a:sym typeface="+mn-ea"/>
              </a:rPr>
              <a:t>   </a:t>
            </a:r>
            <a:r>
              <a:rPr lang="en-GB" altLang="en-US" sz="2000">
                <a:effectLst/>
                <a:latin typeface="Arial-BoldMT"/>
                <a:sym typeface="+mn-ea"/>
              </a:rPr>
              <a:t>                 </a:t>
            </a:r>
            <a:br>
              <a:rPr altLang="en-GB" sz="2000">
                <a:effectLst/>
                <a:latin typeface="Arial-BoldMT"/>
                <a:sym typeface="+mn-ea"/>
              </a:rPr>
            </a:br>
            <a:r>
              <a:rPr altLang="en-GB" sz="2400" b="1">
                <a:effectLst/>
                <a:latin typeface="Times New Roman" panose="02020603050405020304" pitchFamily="18" charset="0"/>
                <a:cs typeface="Times New Roman" panose="02020603050405020304" pitchFamily="18" charset="0"/>
                <a:sym typeface="+mn-ea"/>
              </a:rPr>
              <a:t> </a:t>
            </a:r>
            <a:r>
              <a:rPr lang="en-GB" altLang="en-US" sz="2400" b="1">
                <a:effectLst/>
                <a:latin typeface="Times New Roman" panose="02020603050405020304" pitchFamily="18" charset="0"/>
                <a:cs typeface="Times New Roman" panose="02020603050405020304" pitchFamily="18" charset="0"/>
                <a:sym typeface="+mn-ea"/>
              </a:rPr>
              <a:t>-----------------------------------------------------------------------------------</a:t>
            </a:r>
            <a:br>
              <a:rPr altLang="en-GB" sz="2400" b="1">
                <a:effectLst/>
                <a:latin typeface="Arial-BoldMT"/>
                <a:sym typeface="+mn-ea"/>
              </a:rPr>
            </a:br>
            <a:r>
              <a:rPr altLang="en-GB" sz="2000" b="1">
                <a:effectLst/>
                <a:latin typeface="Arial-BoldMT"/>
                <a:sym typeface="+mn-ea"/>
              </a:rPr>
              <a:t>5.5.12</a:t>
            </a:r>
            <a:r>
              <a:rPr lang="en-GB" altLang="en-US" sz="2000" b="1">
                <a:effectLst/>
                <a:latin typeface="Arial-BoldMT"/>
                <a:sym typeface="+mn-ea"/>
              </a:rPr>
              <a:t> Avoid full_case and parallel_case Pragmas</a:t>
            </a:r>
            <a:r>
              <a:rPr altLang="en-GB" sz="2000" b="1">
                <a:effectLst/>
                <a:latin typeface="Arial-BoldMT"/>
                <a:sym typeface="+mn-ea"/>
              </a:rPr>
              <a:t> </a:t>
            </a:r>
            <a:r>
              <a:rPr lang="en-GB" altLang="en-US" sz="2000" b="1">
                <a:effectLst/>
                <a:latin typeface="Arial-BoldMT"/>
                <a:sym typeface="+mn-ea"/>
              </a:rPr>
              <a:t>:</a:t>
            </a:r>
            <a:br>
              <a:rPr lang="en-GB" altLang="en-US" sz="2400" b="1">
                <a:effectLst/>
                <a:latin typeface="Arial-BoldMT"/>
                <a:sym typeface="+mn-ea"/>
              </a:rPr>
            </a:br>
            <a:r>
              <a:rPr altLang="en-GB" sz="2400" b="1">
                <a:effectLst/>
                <a:latin typeface="Arial-BoldMT"/>
                <a:sym typeface="+mn-ea"/>
              </a:rPr>
              <a:t>                </a:t>
            </a:r>
            <a:br>
              <a:rPr altLang="en-GB" sz="1000" b="1">
                <a:effectLst/>
                <a:latin typeface="Arial-BoldMT"/>
                <a:sym typeface="+mn-ea"/>
              </a:rPr>
            </a:br>
            <a:r>
              <a:rPr altLang="en-GB" sz="1000" b="1">
                <a:effectLst/>
                <a:latin typeface="+mj-lt"/>
                <a:cs typeface="+mj-lt"/>
                <a:sym typeface="+mn-ea"/>
              </a:rPr>
              <a:t> </a:t>
            </a:r>
            <a:r>
              <a:rPr altLang="en-GB" sz="2000" b="1">
                <a:effectLst/>
                <a:latin typeface="+mj-lt"/>
                <a:cs typeface="+mj-lt"/>
                <a:sym typeface="+mn-ea"/>
              </a:rPr>
              <a:t>  Guideline</a:t>
            </a:r>
            <a:r>
              <a:rPr altLang="en-GB" sz="2000" b="1">
                <a:effectLst/>
                <a:latin typeface="Times New Roman" panose="02020603050405020304" pitchFamily="18" charset="0"/>
                <a:cs typeface="Times New Roman" panose="02020603050405020304" pitchFamily="18" charset="0"/>
                <a:sym typeface="+mn-ea"/>
              </a:rPr>
              <a:t> (Verilog only) </a:t>
            </a:r>
            <a:r>
              <a:rPr altLang="en-GB" sz="2000">
                <a:effectLst/>
                <a:latin typeface="Times New Roman" panose="02020603050405020304" pitchFamily="18" charset="0"/>
                <a:cs typeface="Times New Roman" panose="02020603050405020304" pitchFamily="18" charset="0"/>
                <a:sym typeface="+mn-ea"/>
              </a:rPr>
              <a:t>–Write Verilog case statements</a:t>
            </a:r>
            <a:r>
              <a:rPr lang="en-GB" altLang="en-US" sz="2000">
                <a:effectLst/>
                <a:latin typeface="Times New Roman" panose="02020603050405020304" pitchFamily="18" charset="0"/>
                <a:cs typeface="Times New Roman" panose="02020603050405020304" pitchFamily="18" charset="0"/>
                <a:sym typeface="+mn-ea"/>
              </a:rPr>
              <a:t> to </a:t>
            </a:r>
            <a:r>
              <a:rPr altLang="en-GB" sz="2000">
                <a:effectLst/>
                <a:latin typeface="Times New Roman" panose="02020603050405020304" pitchFamily="18" charset="0"/>
                <a:cs typeface="Times New Roman" panose="02020603050405020304" pitchFamily="18" charset="0"/>
                <a:sym typeface="+mn-ea"/>
              </a:rPr>
              <a:t>cover all cases with no overlap.</a:t>
            </a:r>
            <a:br>
              <a:rPr altLang="en-GB"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Do not use the </a:t>
            </a:r>
            <a:r>
              <a:rPr altLang="en-GB" sz="2000">
                <a:solidFill>
                  <a:srgbClr val="FF0000"/>
                </a:solidFill>
                <a:effectLst/>
                <a:latin typeface="Times New Roman" panose="02020603050405020304" pitchFamily="18" charset="0"/>
                <a:cs typeface="Times New Roman" panose="02020603050405020304" pitchFamily="18" charset="0"/>
                <a:sym typeface="+mn-ea"/>
              </a:rPr>
              <a:t>full_case or parallel_case</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pragmas, because these cause a difference </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in code interpretation between synthesis</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and simulation. </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a:t>
            </a:r>
            <a:br>
              <a:rPr altLang="en-GB" sz="2000" b="1" dirty="0">
                <a:latin typeface="Times New Roman" panose="02020603050405020304" pitchFamily="18" charset="0"/>
                <a:cs typeface="Times New Roman" panose="02020603050405020304" pitchFamily="18" charset="0"/>
              </a:rPr>
            </a:br>
            <a:r>
              <a:rPr altLang="en-GB" sz="2000" b="1" dirty="0">
                <a:latin typeface="Times New Roman" panose="02020603050405020304" pitchFamily="18" charset="0"/>
                <a:cs typeface="Times New Roman" panose="02020603050405020304" pitchFamily="18" charset="0"/>
              </a:rPr>
              <a:t>"</a:t>
            </a:r>
            <a:r>
              <a:rPr altLang="en-GB" sz="2000" b="1" dirty="0">
                <a:solidFill>
                  <a:srgbClr val="FF0000"/>
                </a:solidFill>
                <a:latin typeface="Times New Roman" panose="02020603050405020304" pitchFamily="18" charset="0"/>
                <a:cs typeface="Times New Roman" panose="02020603050405020304" pitchFamily="18" charset="0"/>
              </a:rPr>
              <a:t>full_case" </a:t>
            </a:r>
            <a:r>
              <a:rPr altLang="en-GB" sz="2000" b="1" dirty="0">
                <a:latin typeface="Times New Roman" panose="02020603050405020304" pitchFamily="18" charset="0"/>
                <a:cs typeface="Times New Roman" panose="02020603050405020304" pitchFamily="18" charset="0"/>
              </a:rPr>
              <a:t>removes latches</a:t>
            </a:r>
            <a:r>
              <a:rPr lang="en-GB" altLang="en-US" sz="2000" b="1" dirty="0">
                <a:latin typeface="Times New Roman" panose="02020603050405020304" pitchFamily="18" charset="0"/>
                <a:cs typeface="Times New Roman" panose="02020603050405020304" pitchFamily="18" charset="0"/>
              </a:rPr>
              <a:t> from the</a:t>
            </a:r>
            <a:r>
              <a:rPr altLang="en-GB" sz="2000" b="1" dirty="0">
                <a:latin typeface="Times New Roman" panose="02020603050405020304" pitchFamily="18" charset="0"/>
                <a:cs typeface="Times New Roman" panose="02020603050405020304" pitchFamily="18" charset="0"/>
              </a:rPr>
              <a:t> design.</a:t>
            </a:r>
            <a:endParaRPr altLang="en-GB" sz="2000" b="1" dirty="0">
              <a:latin typeface="Times New Roman" panose="02020603050405020304" pitchFamily="18" charset="0"/>
              <a:cs typeface="Times New Roman" panose="02020603050405020304" pitchFamily="18" charset="0"/>
            </a:endParaRPr>
          </a:p>
          <a:p>
            <a:pPr marL="0" indent="0">
              <a:lnSpc>
                <a:spcPct val="80000"/>
              </a:lnSpc>
              <a:buSzPct val="100000"/>
              <a:buNone/>
            </a:pP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parallel_case</a:t>
            </a:r>
            <a:r>
              <a:rPr lang="en-US" sz="2000" dirty="0">
                <a:latin typeface="Times New Roman" panose="02020603050405020304" pitchFamily="18" charset="0"/>
                <a:cs typeface="Times New Roman" panose="02020603050405020304" pitchFamily="18" charset="0"/>
              </a:rPr>
              <a:t>" removes large, slow priority encoders from my designs.</a:t>
            </a:r>
            <a:endParaRPr lang="en-US" sz="20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10000"/>
          </a:bodyPr>
          <a:lstStyle/>
          <a:p>
            <a:pPr marL="0" indent="0">
              <a:buSzPct val="100000"/>
              <a:buNone/>
            </a:pPr>
            <a:r>
              <a:rPr lang="en-GB" sz="2400" b="1">
                <a:effectLst/>
                <a:latin typeface="Arial-BoldMT"/>
                <a:sym typeface="+mn-ea"/>
              </a:rPr>
              <a:t>–</a:t>
            </a:r>
            <a:r>
              <a:rPr altLang="en-GB" sz="2400" b="1">
                <a:effectLst/>
                <a:latin typeface="Arial-BoldMT"/>
                <a:sym typeface="+mn-ea"/>
              </a:rPr>
              <a:t> The aim for good partitioning of the design is the following :</a:t>
            </a:r>
            <a:br>
              <a:rPr altLang="en-GB" sz="2400" b="1">
                <a:effectLst/>
                <a:latin typeface="Arial-BoldMT"/>
                <a:sym typeface="+mn-ea"/>
              </a:rPr>
            </a:b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-Better synthesis results</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     -Faster compile runtimes</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     -Ability to use simpler synthesis strategies to meet timing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5.6</a:t>
            </a:r>
            <a:r>
              <a:rPr altLang="en-GB" sz="2400">
                <a:sym typeface="+mn-ea"/>
              </a:rPr>
              <a:t>.1</a:t>
            </a:r>
            <a:r>
              <a:rPr sz="2400">
                <a:sym typeface="+mn-ea"/>
              </a:rPr>
              <a:t> </a:t>
            </a:r>
            <a:r>
              <a:rPr lang="en-GB" altLang="en-US" sz="2400">
                <a:sym typeface="+mn-ea"/>
              </a:rPr>
              <a:t>Register All Outputs</a:t>
            </a:r>
            <a:endParaRPr lang="en-GB" altLang="en-US" sz="2400">
              <a:sym typeface="+mn-ea"/>
            </a:endParaRPr>
          </a:p>
          <a:p>
            <a:pPr marL="0" indent="0">
              <a:buSzPct val="100000"/>
              <a:buNone/>
            </a:pPr>
            <a:r>
              <a:rPr altLang="en-GB" sz="2400" b="1">
                <a:effectLst/>
                <a:latin typeface="Arial-BoldMT"/>
                <a:sym typeface="+mn-ea"/>
              </a:rPr>
              <a:t> </a:t>
            </a:r>
            <a:br>
              <a:rPr lang="en-GB" sz="2400" b="1">
                <a:effectLst/>
                <a:latin typeface="Arial-BoldMT"/>
                <a:sym typeface="+mn-ea"/>
              </a:rPr>
            </a:br>
            <a:r>
              <a:rPr sz="2400">
                <a:effectLst/>
                <a:sym typeface="+mn-ea"/>
              </a:rPr>
              <a:t>Guideline – </a:t>
            </a:r>
            <a:r>
              <a:rPr sz="2400">
                <a:effectLst/>
                <a:latin typeface="Times New Roman" panose="02020603050405020304" pitchFamily="18" charset="0"/>
                <a:cs typeface="Times New Roman" panose="02020603050405020304" pitchFamily="18" charset="0"/>
                <a:sym typeface="+mn-ea"/>
              </a:rPr>
              <a:t>For each subblock of a hierarchical macro design, register all output</a:t>
            </a:r>
            <a:endParaRPr sz="2400">
              <a:effectLst/>
              <a:latin typeface="Times New Roman" panose="02020603050405020304" pitchFamily="18" charset="0"/>
              <a:cs typeface="Times New Roman" panose="02020603050405020304" pitchFamily="18" charset="0"/>
              <a:sym typeface="+mn-ea"/>
            </a:endParaRPr>
          </a:p>
          <a:p>
            <a:pPr marL="0" indent="0">
              <a:buSzPct val="100000"/>
              <a:buNone/>
            </a:pPr>
            <a:r>
              <a:rPr sz="2400">
                <a:effectLst/>
                <a:latin typeface="Times New Roman" panose="02020603050405020304" pitchFamily="18" charset="0"/>
                <a:cs typeface="Times New Roman" panose="02020603050405020304" pitchFamily="18" charset="0"/>
                <a:sym typeface="+mn-ea"/>
              </a:rPr>
              <a:t>signals from the subblock for the following benefits :</a:t>
            </a:r>
            <a:br>
              <a:rPr sz="2400">
                <a:effectLst/>
                <a:latin typeface="Times New Roman" panose="02020603050405020304" pitchFamily="18" charset="0"/>
                <a:cs typeface="Times New Roman" panose="02020603050405020304" pitchFamily="18" charset="0"/>
                <a:sym typeface="+mn-ea"/>
              </a:rPr>
            </a:b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As This </a:t>
            </a:r>
            <a:r>
              <a:rPr sz="2400">
                <a:solidFill>
                  <a:srgbClr val="00B050"/>
                </a:solidFill>
                <a:effectLst/>
                <a:latin typeface="Times New Roman" panose="02020603050405020304" pitchFamily="18" charset="0"/>
                <a:cs typeface="Times New Roman" panose="02020603050405020304" pitchFamily="18" charset="0"/>
                <a:sym typeface="+mn-ea"/>
              </a:rPr>
              <a:t>Simplifies</a:t>
            </a:r>
            <a:r>
              <a:rPr sz="2400">
                <a:effectLst/>
                <a:latin typeface="Times New Roman" panose="02020603050405020304" pitchFamily="18" charset="0"/>
                <a:cs typeface="Times New Roman" panose="02020603050405020304" pitchFamily="18" charset="0"/>
                <a:sym typeface="+mn-ea"/>
              </a:rPr>
              <a:t> the synthesis process:</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1) It makes output drive strengths and input delays</a:t>
            </a:r>
            <a:r>
              <a:rPr sz="2400">
                <a:solidFill>
                  <a:srgbClr val="00B050"/>
                </a:solidFill>
                <a:effectLst/>
                <a:latin typeface="Times New Roman" panose="02020603050405020304" pitchFamily="18" charset="0"/>
                <a:cs typeface="Times New Roman" panose="02020603050405020304" pitchFamily="18" charset="0"/>
                <a:sym typeface="+mn-ea"/>
              </a:rPr>
              <a:t> predictable</a:t>
            </a:r>
            <a:r>
              <a:rPr sz="2400">
                <a:effectLst/>
                <a:latin typeface="Times New Roman" panose="02020603050405020304" pitchFamily="18" charset="0"/>
                <a:cs typeface="Times New Roman" panose="02020603050405020304" pitchFamily="18" charset="0"/>
                <a:sym typeface="+mn-ea"/>
              </a:rPr>
              <a:t>.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t>
            </a:r>
            <a:r>
              <a:rPr sz="2400">
                <a:solidFill>
                  <a:schemeClr val="accent6"/>
                </a:solidFill>
                <a:effectLst/>
                <a:latin typeface="Times New Roman" panose="02020603050405020304" pitchFamily="18" charset="0"/>
                <a:cs typeface="Times New Roman" panose="02020603050405020304" pitchFamily="18" charset="0"/>
                <a:sym typeface="+mn-ea"/>
              </a:rPr>
              <a:t>Reg2out </a:t>
            </a:r>
            <a:r>
              <a:rPr sz="2400">
                <a:effectLst/>
                <a:latin typeface="Times New Roman" panose="02020603050405020304" pitchFamily="18" charset="0"/>
                <a:cs typeface="Times New Roman" panose="02020603050405020304" pitchFamily="18" charset="0"/>
                <a:sym typeface="+mn-ea"/>
              </a:rPr>
              <a:t>path type]</a:t>
            </a:r>
            <a:br>
              <a:rPr sz="2400">
                <a:effectLst/>
                <a:latin typeface="Times New Roman" panose="02020603050405020304" pitchFamily="18" charset="0"/>
                <a:cs typeface="Times New Roman" panose="02020603050405020304" pitchFamily="18" charset="0"/>
                <a:sym typeface="+mn-ea"/>
              </a:rPr>
            </a:b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2)</a:t>
            </a:r>
            <a:r>
              <a:rPr altLang="en-GB" sz="2400">
                <a:effectLst/>
                <a:latin typeface="Times New Roman" panose="02020603050405020304" pitchFamily="18" charset="0"/>
                <a:cs typeface="Times New Roman" panose="02020603050405020304" pitchFamily="18" charset="0"/>
                <a:sym typeface="+mn-ea"/>
              </a:rPr>
              <a:t>  All the inputs of each block arrive with the same relative delay.</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7" name="Picture 6"/>
          <p:cNvPicPr>
            <a:picLocks noChangeAspect="1"/>
          </p:cNvPicPr>
          <p:nvPr/>
        </p:nvPicPr>
        <p:blipFill>
          <a:blip r:embed="rId1"/>
          <a:stretch>
            <a:fillRect/>
          </a:stretch>
        </p:blipFill>
        <p:spPr>
          <a:xfrm>
            <a:off x="2542540" y="4373245"/>
            <a:ext cx="6076315" cy="2127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5.6</a:t>
            </a:r>
            <a:r>
              <a:rPr altLang="en-GB" sz="2400">
                <a:sym typeface="+mn-ea"/>
              </a:rPr>
              <a:t>.2</a:t>
            </a:r>
            <a:r>
              <a:rPr sz="2400">
                <a:sym typeface="+mn-ea"/>
              </a:rPr>
              <a:t> </a:t>
            </a:r>
            <a:r>
              <a:rPr lang="en-GB" altLang="en-US" sz="2400">
                <a:sym typeface="+mn-ea"/>
              </a:rPr>
              <a:t>Locate Related Combinational Logic in a Single Module</a:t>
            </a:r>
            <a:endParaRPr lang="en-GB" altLang="en-US" sz="2400">
              <a:sym typeface="+mn-ea"/>
            </a:endParaRPr>
          </a:p>
          <a:p>
            <a:pPr marL="0" indent="0">
              <a:buSzPct val="100000"/>
              <a:buNone/>
            </a:pPr>
            <a:r>
              <a:rPr altLang="en-GB" sz="2400" b="1">
                <a:effectLst/>
                <a:latin typeface="Arial-BoldMT"/>
                <a:sym typeface="+mn-ea"/>
              </a:rPr>
              <a:t> </a:t>
            </a:r>
            <a:br>
              <a:rPr lang="en-GB" sz="2400" b="1">
                <a:effectLst/>
                <a:latin typeface="Arial-BoldMT"/>
                <a:sym typeface="+mn-ea"/>
              </a:rPr>
            </a:br>
            <a:r>
              <a:rPr sz="2400">
                <a:effectLst/>
                <a:sym typeface="+mn-ea"/>
              </a:rPr>
              <a:t>Guideline – </a:t>
            </a:r>
            <a:r>
              <a:rPr sz="2400">
                <a:effectLst/>
                <a:latin typeface="Times New Roman" panose="02020603050405020304" pitchFamily="18" charset="0"/>
                <a:cs typeface="Times New Roman" panose="02020603050405020304" pitchFamily="18" charset="0"/>
                <a:sym typeface="+mn-ea"/>
              </a:rPr>
              <a:t>Keep related combinational logic together in the same module.</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t>
            </a:r>
            <a:r>
              <a:rPr sz="2400">
                <a:solidFill>
                  <a:schemeClr val="accent6"/>
                </a:solidFill>
                <a:effectLst/>
                <a:latin typeface="Times New Roman" panose="02020603050405020304" pitchFamily="18" charset="0"/>
                <a:cs typeface="Times New Roman" panose="02020603050405020304" pitchFamily="18" charset="0"/>
                <a:sym typeface="+mn-ea"/>
              </a:rPr>
              <a:t> Because</a:t>
            </a:r>
            <a:r>
              <a:rPr sz="2400">
                <a:effectLst/>
                <a:latin typeface="Times New Roman" panose="02020603050405020304" pitchFamily="18" charset="0"/>
                <a:cs typeface="Times New Roman" panose="02020603050405020304" pitchFamily="18" charset="0"/>
                <a:sym typeface="+mn-ea"/>
              </a:rPr>
              <a:t> :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1)The synthesis tools have flexibility to optimize logic within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The module itself yet can’t optimize beyond this as it maintains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t>
            </a:r>
            <a:r>
              <a:rPr sz="2400">
                <a:solidFill>
                  <a:srgbClr val="FF0000"/>
                </a:solidFill>
                <a:effectLst/>
                <a:latin typeface="Times New Roman" panose="02020603050405020304" pitchFamily="18" charset="0"/>
                <a:cs typeface="Times New Roman" panose="02020603050405020304" pitchFamily="18" charset="0"/>
                <a:sym typeface="+mn-ea"/>
              </a:rPr>
              <a:t>hierarchical boundaries</a:t>
            </a:r>
            <a:r>
              <a:rPr sz="2400">
                <a:effectLst/>
                <a:latin typeface="Times New Roman" panose="02020603050405020304" pitchFamily="18" charset="0"/>
                <a:cs typeface="Times New Roman" panose="02020603050405020304" pitchFamily="18" charset="0"/>
                <a:sym typeface="+mn-ea"/>
              </a:rPr>
              <a:t> in the design between different modules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2)This eases time budgeting between blocks </a:t>
            </a:r>
            <a:r>
              <a:rPr altLang="en-GB" sz="2400">
                <a:effectLst/>
                <a:latin typeface="Times New Roman" panose="02020603050405020304" pitchFamily="18" charset="0"/>
                <a:cs typeface="Times New Roman" panose="02020603050405020304" pitchFamily="18" charset="0"/>
                <a:sym typeface="+mn-ea"/>
              </a:rPr>
              <a:t>and allows for</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faster simulation.</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9" name="Picture 8"/>
          <p:cNvPicPr>
            <a:picLocks noChangeAspect="1"/>
          </p:cNvPicPr>
          <p:nvPr/>
        </p:nvPicPr>
        <p:blipFill>
          <a:blip r:embed="rId1"/>
          <a:stretch>
            <a:fillRect/>
          </a:stretch>
        </p:blipFill>
        <p:spPr>
          <a:xfrm>
            <a:off x="150495" y="3544570"/>
            <a:ext cx="4941570" cy="1281430"/>
          </a:xfrm>
          <a:prstGeom prst="rect">
            <a:avLst/>
          </a:prstGeom>
        </p:spPr>
      </p:pic>
      <p:pic>
        <p:nvPicPr>
          <p:cNvPr id="10" name="Picture 9"/>
          <p:cNvPicPr>
            <a:picLocks noChangeAspect="1"/>
          </p:cNvPicPr>
          <p:nvPr/>
        </p:nvPicPr>
        <p:blipFill>
          <a:blip r:embed="rId2"/>
          <a:stretch>
            <a:fillRect/>
          </a:stretch>
        </p:blipFill>
        <p:spPr>
          <a:xfrm>
            <a:off x="318135" y="5280025"/>
            <a:ext cx="4606290" cy="1282700"/>
          </a:xfrm>
          <a:prstGeom prst="rect">
            <a:avLst/>
          </a:prstGeom>
        </p:spPr>
      </p:pic>
      <p:pic>
        <p:nvPicPr>
          <p:cNvPr id="11" name="Picture 10"/>
          <p:cNvPicPr>
            <a:picLocks noChangeAspect="1"/>
          </p:cNvPicPr>
          <p:nvPr/>
        </p:nvPicPr>
        <p:blipFill>
          <a:blip r:embed="rId3"/>
          <a:stretch>
            <a:fillRect/>
          </a:stretch>
        </p:blipFill>
        <p:spPr>
          <a:xfrm>
            <a:off x="6241415" y="3544570"/>
            <a:ext cx="5486400" cy="1257935"/>
          </a:xfrm>
          <a:prstGeom prst="rect">
            <a:avLst/>
          </a:prstGeom>
        </p:spPr>
      </p:pic>
      <p:cxnSp>
        <p:nvCxnSpPr>
          <p:cNvPr id="12" name="Straight Arrow Connector 11"/>
          <p:cNvCxnSpPr>
            <a:stCxn id="9" idx="2"/>
            <a:endCxn id="10" idx="0"/>
          </p:cNvCxnSpPr>
          <p:nvPr/>
        </p:nvCxnSpPr>
        <p:spPr>
          <a:xfrm>
            <a:off x="2621280" y="4826000"/>
            <a:ext cx="0" cy="454025"/>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10" idx="3"/>
            <a:endCxn id="11" idx="1"/>
          </p:cNvCxnSpPr>
          <p:nvPr/>
        </p:nvCxnSpPr>
        <p:spPr>
          <a:xfrm flipV="1">
            <a:off x="4924425" y="4173855"/>
            <a:ext cx="1316990" cy="1747520"/>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4" name="Text Box 13"/>
          <p:cNvSpPr txBox="1"/>
          <p:nvPr/>
        </p:nvSpPr>
        <p:spPr>
          <a:xfrm>
            <a:off x="6217285" y="4929505"/>
            <a:ext cx="5375275" cy="1633220"/>
          </a:xfrm>
          <a:prstGeom prst="rect">
            <a:avLst/>
          </a:prstGeom>
          <a:noFill/>
        </p:spPr>
        <p:txBody>
          <a:bodyPr wrap="square" lIns="0" tIns="0" rIns="0" bIns="0" rtlCol="0">
            <a:noAutofit/>
          </a:bodyPr>
          <a:p>
            <a:pPr marL="228600" indent="-228600" defTabSz="457200">
              <a:spcBef>
                <a:spcPts val="1000"/>
              </a:spcBef>
              <a:buClr>
                <a:srgbClr val="1E4056"/>
              </a:buClr>
              <a:buSzPct val="75000"/>
              <a:buFont typeface="Barlow"/>
              <a:buChar char="►"/>
            </a:pPr>
            <a:r>
              <a:rPr sz="2000">
                <a:effectLst/>
                <a:sym typeface="+mn-ea"/>
              </a:rPr>
              <a:t>Guideline –</a:t>
            </a:r>
            <a:r>
              <a:rPr lang="en-US" sz="2000">
                <a:effectLst/>
                <a:sym typeface="+mn-ea"/>
              </a:rPr>
              <a:t> It’s best to group all related logic to </a:t>
            </a:r>
            <a:r>
              <a:rPr lang="en-US" sz="2000">
                <a:solidFill>
                  <a:srgbClr val="00B050"/>
                </a:solidFill>
                <a:effectLst/>
                <a:sym typeface="+mn-ea"/>
              </a:rPr>
              <a:t>the destination block</a:t>
            </a:r>
            <a:r>
              <a:rPr lang="en-US" sz="2000">
                <a:effectLst/>
                <a:sym typeface="+mn-ea"/>
              </a:rPr>
              <a:t> . </a:t>
            </a:r>
            <a:br>
              <a:rPr lang="en-US" sz="2000">
                <a:effectLst/>
                <a:sym typeface="+mn-ea"/>
              </a:rPr>
            </a:br>
            <a:r>
              <a:rPr lang="en-US" sz="2000">
                <a:effectLst/>
                <a:sym typeface="+mn-ea"/>
              </a:rPr>
              <a:t>This helps to in timing optimization . </a:t>
            </a:r>
            <a:r>
              <a:rPr lang="en-US" altLang="en-GB" sz="2000" dirty="0">
                <a:solidFill>
                  <a:srgbClr val="000000"/>
                </a:solidFill>
              </a:rPr>
              <a:t> </a:t>
            </a:r>
            <a:endParaRPr lang="en-US" altLang="en-GB" sz="20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5.6</a:t>
            </a:r>
            <a:r>
              <a:rPr altLang="en-GB" sz="2400">
                <a:sym typeface="+mn-ea"/>
              </a:rPr>
              <a:t>.3</a:t>
            </a:r>
            <a:r>
              <a:rPr sz="2400">
                <a:sym typeface="+mn-ea"/>
              </a:rPr>
              <a:t> </a:t>
            </a:r>
            <a:r>
              <a:rPr lang="en-GB" altLang="en-US" sz="2400">
                <a:sym typeface="+mn-ea"/>
              </a:rPr>
              <a:t> Separate Modules That Have Different Design Goals</a:t>
            </a:r>
            <a:endParaRPr lang="en-GB" altLang="en-US" sz="2400">
              <a:sym typeface="+mn-ea"/>
            </a:endParaRPr>
          </a:p>
          <a:p>
            <a:pPr marL="0" indent="0">
              <a:buSzPct val="100000"/>
              <a:buNone/>
            </a:pPr>
            <a:r>
              <a:rPr altLang="en-GB" sz="2400" b="1">
                <a:effectLst/>
                <a:latin typeface="Arial-BoldMT"/>
                <a:sym typeface="+mn-ea"/>
              </a:rPr>
              <a:t> </a:t>
            </a:r>
            <a:r>
              <a:rPr altLang="en-GB" sz="2400" b="1">
                <a:solidFill>
                  <a:schemeClr val="tx1"/>
                </a:solidFill>
                <a:effectLst/>
                <a:latin typeface="Times New Roman" panose="02020603050405020304" pitchFamily="18" charset="0"/>
                <a:cs typeface="Times New Roman" panose="02020603050405020304" pitchFamily="18" charset="0"/>
                <a:sym typeface="+mn-ea"/>
              </a:rPr>
              <a:t>As shown the following example</a:t>
            </a: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It</a:t>
            </a: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shows a design where </a:t>
            </a:r>
            <a:r>
              <a:rPr altLang="en-GB" sz="2400">
                <a:solidFill>
                  <a:srgbClr val="FF0000"/>
                </a:solidFill>
                <a:effectLst/>
                <a:latin typeface="Times New Roman" panose="02020603050405020304" pitchFamily="18" charset="0"/>
                <a:cs typeface="Times New Roman" panose="02020603050405020304" pitchFamily="18" charset="0"/>
                <a:sym typeface="+mn-ea"/>
              </a:rPr>
              <a:t>the critical path</a:t>
            </a:r>
            <a:r>
              <a:rPr altLang="en-GB" sz="2400">
                <a:effectLst/>
                <a:latin typeface="Times New Roman" panose="02020603050405020304" pitchFamily="18" charset="0"/>
                <a:cs typeface="Times New Roman" panose="02020603050405020304" pitchFamily="18" charset="0"/>
                <a:sym typeface="+mn-ea"/>
              </a:rPr>
              <a:t> logic is grouped into a separate </a:t>
            </a:r>
            <a:r>
              <a:rPr lang="en-GB" sz="2400">
                <a:effectLst/>
                <a:latin typeface="Times New Roman" panose="02020603050405020304" pitchFamily="18" charset="0"/>
                <a:cs typeface="Times New Roman" panose="02020603050405020304" pitchFamily="18" charset="0"/>
                <a:sym typeface="+mn-ea"/>
              </a:rPr>
              <a:t>module from </a:t>
            </a:r>
            <a:r>
              <a:rPr lang="en-GB" sz="2400">
                <a:solidFill>
                  <a:srgbClr val="00B050"/>
                </a:solidFill>
                <a:effectLst/>
                <a:latin typeface="Times New Roman" panose="02020603050405020304" pitchFamily="18" charset="0"/>
                <a:cs typeface="Times New Roman" panose="02020603050405020304" pitchFamily="18" charset="0"/>
                <a:sym typeface="+mn-ea"/>
              </a:rPr>
              <a:t>the noncritical path</a:t>
            </a:r>
            <a:r>
              <a:rPr lang="en-GB" sz="2400">
                <a:effectLst/>
                <a:latin typeface="Times New Roman" panose="02020603050405020304" pitchFamily="18" charset="0"/>
                <a:cs typeface="Times New Roman" panose="02020603050405020304" pitchFamily="18" charset="0"/>
                <a:sym typeface="+mn-ea"/>
              </a:rPr>
              <a:t> logic</a:t>
            </a:r>
            <a:r>
              <a:rPr altLang="en-GB" sz="2400">
                <a:effectLst/>
                <a:latin typeface="Times New Roman" panose="02020603050405020304" pitchFamily="18" charset="0"/>
                <a:cs typeface="Times New Roman" panose="02020603050405020304" pitchFamily="18" charset="0"/>
                <a:sym typeface="+mn-ea"/>
              </a:rPr>
              <a:t> . </a:t>
            </a:r>
            <a:br>
              <a:rPr altLang="en-GB" sz="2400">
                <a:effectLst/>
                <a:latin typeface="Times New Roman" panose="02020603050405020304" pitchFamily="18" charset="0"/>
                <a:cs typeface="Times New Roman" panose="02020603050405020304" pitchFamily="18" charset="0"/>
                <a:sym typeface="+mn-ea"/>
              </a:rPr>
            </a:br>
            <a:br>
              <a:rPr lang="en-GB" sz="2400" b="1">
                <a:effectLst/>
                <a:latin typeface="Arial-BoldMT"/>
                <a:sym typeface="+mn-ea"/>
              </a:rPr>
            </a:br>
            <a:r>
              <a:rPr altLang="en-GB" sz="2400" b="1">
                <a:effectLst/>
                <a:latin typeface="Arial-BoldMT"/>
                <a:sym typeface="+mn-ea"/>
              </a:rPr>
              <a:t>_ </a:t>
            </a:r>
            <a:r>
              <a:rPr altLang="en-GB" sz="2400">
                <a:effectLst/>
                <a:latin typeface="Times New Roman" panose="02020603050405020304" pitchFamily="18" charset="0"/>
                <a:cs typeface="Times New Roman" panose="02020603050405020304" pitchFamily="18" charset="0"/>
                <a:sym typeface="+mn-ea"/>
              </a:rPr>
              <a:t>This differntiates the behaviour of the synthesis tool for both modules optimization :</a:t>
            </a:r>
            <a:br>
              <a:rPr altLang="en-GB" sz="2400">
                <a:effectLst/>
                <a:latin typeface="Arial-BoldMT"/>
                <a:sym typeface="+mn-ea"/>
              </a:rPr>
            </a:br>
            <a:br>
              <a:rPr altLang="en-GB" sz="2400">
                <a:effectLst/>
                <a:latin typeface="Arial-BoldMT"/>
                <a:sym typeface="+mn-ea"/>
              </a:rPr>
            </a:br>
            <a:r>
              <a:rPr altLang="en-GB" sz="2400">
                <a:effectLst/>
                <a:latin typeface="Arial-BoldMT"/>
                <a:sym typeface="+mn-ea"/>
              </a:rPr>
              <a:t>Module A:</a:t>
            </a:r>
            <a:br>
              <a:rPr altLang="en-GB" sz="2400">
                <a:effectLst/>
                <a:latin typeface="Arial-BoldMT"/>
                <a:sym typeface="+mn-ea"/>
              </a:rPr>
            </a:br>
            <a:br>
              <a:rPr altLang="en-GB" sz="2400">
                <a:effectLst/>
                <a:latin typeface="Arial-BoldMT"/>
                <a:sym typeface="+mn-ea"/>
              </a:rPr>
            </a:br>
            <a:r>
              <a:rPr altLang="en-GB" sz="2400">
                <a:solidFill>
                  <a:srgbClr val="FFC000"/>
                </a:solidFill>
                <a:effectLst/>
                <a:latin typeface="Times New Roman" panose="02020603050405020304" pitchFamily="18" charset="0"/>
                <a:cs typeface="Times New Roman" panose="02020603050405020304" pitchFamily="18" charset="0"/>
                <a:sym typeface="+mn-ea"/>
              </a:rPr>
              <a:t>Speed </a:t>
            </a:r>
            <a:r>
              <a:rPr altLang="en-GB" sz="2400">
                <a:effectLst/>
                <a:latin typeface="Times New Roman" panose="02020603050405020304" pitchFamily="18" charset="0"/>
                <a:cs typeface="Times New Roman" panose="02020603050405020304" pitchFamily="18" charset="0"/>
                <a:sym typeface="+mn-ea"/>
              </a:rPr>
              <a:t>optimization is needed .</a:t>
            </a:r>
            <a:br>
              <a:rPr altLang="en-GB" sz="2400">
                <a:effectLst/>
                <a:latin typeface="Arial-BoldMT"/>
                <a:sym typeface="+mn-ea"/>
              </a:rPr>
            </a:br>
            <a:br>
              <a:rPr altLang="en-GB" sz="2400">
                <a:effectLst/>
                <a:latin typeface="Arial-BoldMT"/>
                <a:sym typeface="+mn-ea"/>
              </a:rPr>
            </a:br>
            <a:r>
              <a:rPr altLang="en-GB" sz="2400">
                <a:effectLst/>
                <a:latin typeface="Arial-BoldMT"/>
                <a:sym typeface="+mn-ea"/>
              </a:rPr>
              <a:t>Module B:</a:t>
            </a:r>
            <a:br>
              <a:rPr altLang="en-GB" sz="2400" b="1">
                <a:effectLst/>
                <a:latin typeface="Arial-BoldMT"/>
                <a:sym typeface="+mn-ea"/>
              </a:rPr>
            </a:br>
            <a:r>
              <a:rPr altLang="en-GB" sz="2400" b="1">
                <a:effectLst/>
                <a:latin typeface="Arial-BoldMT"/>
                <a:sym typeface="+mn-ea"/>
              </a:rPr>
              <a:t> </a:t>
            </a:r>
            <a:r>
              <a:rPr altLang="en-GB" sz="2400">
                <a:solidFill>
                  <a:srgbClr val="FFC000"/>
                </a:solidFill>
                <a:effectLst/>
                <a:latin typeface="Times New Roman" panose="02020603050405020304" pitchFamily="18" charset="0"/>
                <a:cs typeface="Times New Roman" panose="02020603050405020304" pitchFamily="18" charset="0"/>
                <a:sym typeface="+mn-ea"/>
              </a:rPr>
              <a:t>Area</a:t>
            </a:r>
            <a:r>
              <a:rPr altLang="en-GB" sz="2400">
                <a:effectLst/>
                <a:latin typeface="Times New Roman" panose="02020603050405020304" pitchFamily="18" charset="0"/>
                <a:cs typeface="Times New Roman" panose="02020603050405020304" pitchFamily="18" charset="0"/>
                <a:sym typeface="+mn-ea"/>
              </a:rPr>
              <a:t> optimization is needed .</a:t>
            </a:r>
            <a:br>
              <a:rPr altLang="en-GB" sz="2400" b="1">
                <a:effectLst/>
                <a:latin typeface="Arial-BoldMT"/>
                <a:sym typeface="+mn-ea"/>
              </a:rPr>
            </a:br>
            <a:endParaRPr altLang="en-GB" sz="2400" b="1" dirty="0">
              <a:effectLst/>
              <a:latin typeface="Arial-BoldMT"/>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7" name="Picture 6"/>
          <p:cNvPicPr>
            <a:picLocks noChangeAspect="1"/>
          </p:cNvPicPr>
          <p:nvPr/>
        </p:nvPicPr>
        <p:blipFill>
          <a:blip r:embed="rId1"/>
          <a:stretch>
            <a:fillRect/>
          </a:stretch>
        </p:blipFill>
        <p:spPr>
          <a:xfrm>
            <a:off x="7466330" y="2898775"/>
            <a:ext cx="3726180" cy="3230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5.6</a:t>
            </a:r>
            <a:r>
              <a:rPr altLang="en-GB" sz="2400">
                <a:sym typeface="+mn-ea"/>
              </a:rPr>
              <a:t>.4</a:t>
            </a:r>
            <a:r>
              <a:rPr sz="2400">
                <a:sym typeface="+mn-ea"/>
              </a:rPr>
              <a:t> </a:t>
            </a:r>
            <a:r>
              <a:rPr lang="en-GB" altLang="en-US" sz="2400">
                <a:sym typeface="+mn-ea"/>
              </a:rPr>
              <a:t> Asynchronous Logic</a:t>
            </a:r>
            <a:br>
              <a:rPr lang="en-GB" altLang="en-US" sz="2400">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Guideline – </a:t>
            </a:r>
            <a:r>
              <a:rPr altLang="en-GB" sz="2400">
                <a:effectLst/>
                <a:latin typeface="Times New Roman" panose="02020603050405020304" pitchFamily="18" charset="0"/>
                <a:cs typeface="Times New Roman" panose="02020603050405020304" pitchFamily="18" charset="0"/>
                <a:sym typeface="+mn-ea"/>
              </a:rPr>
              <a:t>Avoid asynchronous logic for the following reasons :</a:t>
            </a:r>
            <a:endParaRPr altLang="en-GB" sz="240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1)Asynchronous logic is more </a:t>
            </a:r>
            <a:r>
              <a:rPr altLang="en-GB" sz="2400" dirty="0">
                <a:solidFill>
                  <a:srgbClr val="FF0000"/>
                </a:solidFill>
                <a:effectLst/>
                <a:latin typeface="Times New Roman" panose="02020603050405020304" pitchFamily="18" charset="0"/>
                <a:cs typeface="Times New Roman" panose="02020603050405020304" pitchFamily="18" charset="0"/>
                <a:sym typeface="+mn-ea"/>
              </a:rPr>
              <a:t>difficult </a:t>
            </a:r>
            <a:r>
              <a:rPr altLang="en-GB" sz="2400" dirty="0">
                <a:effectLst/>
                <a:latin typeface="Times New Roman" panose="02020603050405020304" pitchFamily="18" charset="0"/>
                <a:cs typeface="Times New Roman" panose="02020603050405020304" pitchFamily="18" charset="0"/>
                <a:sym typeface="+mn-ea"/>
              </a:rPr>
              <a:t>to design correctly and verify.</a:t>
            </a:r>
            <a:br>
              <a:rPr altLang="en-GB" sz="2400" dirty="0">
                <a:effectLst/>
                <a:latin typeface="Times New Roman" panose="02020603050405020304" pitchFamily="18" charset="0"/>
                <a:cs typeface="Times New Roman" panose="02020603050405020304" pitchFamily="18" charset="0"/>
                <a:sym typeface="+mn-ea"/>
              </a:rPr>
            </a:br>
            <a:br>
              <a:rPr altLang="en-GB" sz="2400" dirty="0">
                <a:effectLst/>
                <a:latin typeface="Times New Roman" panose="02020603050405020304" pitchFamily="18" charset="0"/>
                <a:cs typeface="Times New Roman" panose="02020603050405020304" pitchFamily="18" charset="0"/>
                <a:sym typeface="+mn-ea"/>
              </a:rPr>
            </a:br>
            <a:r>
              <a:rPr altLang="en-GB" sz="2400" dirty="0">
                <a:effectLst/>
                <a:latin typeface="Times New Roman" panose="02020603050405020304" pitchFamily="18" charset="0"/>
                <a:cs typeface="Times New Roman" panose="02020603050405020304" pitchFamily="18" charset="0"/>
                <a:sym typeface="+mn-ea"/>
              </a:rPr>
              <a:t>2)Correct timing and functionality may be</a:t>
            </a:r>
            <a:r>
              <a:rPr altLang="en-GB" sz="2400" dirty="0">
                <a:solidFill>
                  <a:srgbClr val="FFC000"/>
                </a:solidFill>
                <a:effectLst/>
                <a:latin typeface="Times New Roman" panose="02020603050405020304" pitchFamily="18" charset="0"/>
                <a:cs typeface="Times New Roman" panose="02020603050405020304" pitchFamily="18" charset="0"/>
                <a:sym typeface="+mn-ea"/>
              </a:rPr>
              <a:t> technology dependent</a:t>
            </a:r>
            <a:r>
              <a:rPr altLang="en-GB" sz="2400" dirty="0">
                <a:effectLst/>
                <a:latin typeface="Times New Roman" panose="02020603050405020304" pitchFamily="18" charset="0"/>
                <a:cs typeface="Times New Roman" panose="02020603050405020304" pitchFamily="18" charset="0"/>
                <a:sym typeface="+mn-ea"/>
              </a:rPr>
              <a:t>, which limits the portability of the design.</a:t>
            </a:r>
            <a:br>
              <a:rPr altLang="en-GB" sz="2400" dirty="0">
                <a:effectLst/>
                <a:latin typeface="Times New Roman" panose="02020603050405020304" pitchFamily="18" charset="0"/>
                <a:cs typeface="Times New Roman" panose="02020603050405020304" pitchFamily="18" charset="0"/>
                <a:sym typeface="+mn-ea"/>
              </a:rPr>
            </a:br>
            <a:endParaRPr altLang="en-GB" sz="2400" b="1" dirty="0">
              <a:effectLst/>
              <a:latin typeface="Arial-BoldMT"/>
              <a:cs typeface="Times New Roman" panose="02020603050405020304" pitchFamily="18" charset="0"/>
              <a:sym typeface="+mn-ea"/>
            </a:endParaRPr>
          </a:p>
          <a:p>
            <a:pPr marL="0" indent="0">
              <a:buSzPct val="100000"/>
              <a:buNone/>
            </a:pPr>
            <a:r>
              <a:rPr altLang="en-GB" sz="2400" b="1" dirty="0">
                <a:effectLst/>
                <a:latin typeface="Arial-BoldMT"/>
                <a:cs typeface="Times New Roman" panose="02020603050405020304" pitchFamily="18" charset="0"/>
                <a:sym typeface="+mn-ea"/>
              </a:rPr>
              <a:t>Guideline – </a:t>
            </a:r>
            <a:r>
              <a:rPr altLang="en-GB" sz="2400" dirty="0">
                <a:effectLst/>
                <a:latin typeface="Times New Roman" panose="02020603050405020304" pitchFamily="18" charset="0"/>
                <a:cs typeface="Times New Roman" panose="02020603050405020304" pitchFamily="18" charset="0"/>
                <a:sym typeface="+mn-ea"/>
              </a:rPr>
              <a:t>If asynchronous logic is required in the design, partition the asynchronous </a:t>
            </a:r>
            <a:br>
              <a:rPr altLang="en-GB" sz="2400" dirty="0">
                <a:effectLst/>
                <a:latin typeface="Times New Roman" panose="02020603050405020304" pitchFamily="18" charset="0"/>
                <a:cs typeface="Times New Roman" panose="02020603050405020304" pitchFamily="18" charset="0"/>
                <a:sym typeface="+mn-ea"/>
              </a:rPr>
            </a:br>
            <a:r>
              <a:rPr altLang="en-GB" sz="2400" dirty="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logic in a separate module from the synchronous logic:</a:t>
            </a:r>
            <a:r>
              <a:rPr altLang="en-GB" sz="2400" dirty="0">
                <a:effectLst/>
                <a:latin typeface="Times New Roman" panose="02020603050405020304" pitchFamily="18" charset="0"/>
                <a:cs typeface="Times New Roman" panose="02020603050405020304" pitchFamily="18" charset="0"/>
                <a:sym typeface="+mn-ea"/>
              </a:rPr>
              <a:t>         </a:t>
            </a:r>
            <a:endParaRPr altLang="en-GB" sz="2400" dirty="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1) Isolating the asynchronous logic in a separate module makes code </a:t>
            </a:r>
            <a:r>
              <a:rPr altLang="en-GB" sz="2400" dirty="0">
                <a:solidFill>
                  <a:srgbClr val="FFC000"/>
                </a:solidFill>
                <a:effectLst/>
                <a:latin typeface="Times New Roman" panose="02020603050405020304" pitchFamily="18" charset="0"/>
                <a:cs typeface="Times New Roman" panose="02020603050405020304" pitchFamily="18" charset="0"/>
                <a:sym typeface="+mn-ea"/>
              </a:rPr>
              <a:t>inspection</a:t>
            </a:r>
            <a:r>
              <a:rPr altLang="en-GB" sz="2400" dirty="0">
                <a:effectLst/>
                <a:latin typeface="Times New Roman" panose="02020603050405020304" pitchFamily="18" charset="0"/>
                <a:cs typeface="Times New Roman" panose="02020603050405020304" pitchFamily="18" charset="0"/>
                <a:sym typeface="+mn-ea"/>
              </a:rPr>
              <a:t> much</a:t>
            </a:r>
            <a:endParaRPr altLang="en-GB" sz="2400" dirty="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easier. </a:t>
            </a:r>
            <a:br>
              <a:rPr altLang="en-GB" sz="2400" dirty="0">
                <a:effectLst/>
                <a:latin typeface="Times New Roman" panose="02020603050405020304" pitchFamily="18" charset="0"/>
                <a:cs typeface="Times New Roman" panose="02020603050405020304" pitchFamily="18" charset="0"/>
                <a:sym typeface="+mn-ea"/>
              </a:rPr>
            </a:br>
            <a:r>
              <a:rPr altLang="en-GB" sz="2400" dirty="0">
                <a:effectLst/>
                <a:latin typeface="Times New Roman" panose="02020603050405020304" pitchFamily="18" charset="0"/>
                <a:cs typeface="Times New Roman" panose="02020603050405020304" pitchFamily="18" charset="0"/>
                <a:sym typeface="+mn-ea"/>
              </a:rPr>
              <a:t>2)Asynchronous logic needs to be reviewed carefully to verify its functionality</a:t>
            </a:r>
            <a:endParaRPr altLang="en-GB" sz="2400" dirty="0">
              <a:effectLst/>
              <a:latin typeface="Times New Roman" panose="02020603050405020304" pitchFamily="18" charset="0"/>
              <a:cs typeface="Times New Roman" panose="02020603050405020304" pitchFamily="18" charset="0"/>
              <a:sym typeface="+mn-ea"/>
            </a:endParaRP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and timing.</a:t>
            </a:r>
            <a:endParaRPr altLang="en-GB" sz="2400" dirty="0">
              <a:effectLst/>
              <a:latin typeface="Times New Roman" panose="02020603050405020304" pitchFamily="18" charset="0"/>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.5</a:t>
            </a:r>
            <a:r>
              <a:rPr sz="2400">
                <a:sym typeface="+mn-ea"/>
              </a:rPr>
              <a:t> </a:t>
            </a:r>
            <a:r>
              <a:rPr lang="en-GB" altLang="en-US" sz="2400">
                <a:sym typeface="+mn-ea"/>
              </a:rPr>
              <a:t> Arithmetic Operators: Merging Resources</a:t>
            </a:r>
            <a:br>
              <a:rPr lang="en-GB" altLang="en-US" sz="2400">
                <a:sym typeface="+mn-ea"/>
              </a:rPr>
            </a:br>
            <a:br>
              <a:rPr lang="en-GB" altLang="en-US" sz="2400">
                <a:sym typeface="+mn-ea"/>
              </a:rPr>
            </a:br>
            <a:br>
              <a:rPr lang="en-GB" altLang="en-US" sz="2400">
                <a:sym typeface="+mn-ea"/>
              </a:rPr>
            </a:br>
            <a:r>
              <a:rPr altLang="en-GB" sz="2400" b="1">
                <a:effectLst/>
                <a:latin typeface="Arial-BoldMT"/>
                <a:sym typeface="+mn-ea"/>
              </a:rPr>
              <a:t> </a:t>
            </a:r>
            <a:br>
              <a:rPr altLang="en-GB" sz="2400" b="1">
                <a:effectLst/>
                <a:latin typeface="Arial-BoldMT"/>
                <a:sym typeface="+mn-ea"/>
              </a:rPr>
            </a:br>
            <a:endParaRPr altLang="en-GB" sz="2400" b="1" dirty="0">
              <a:effectLst/>
              <a:latin typeface="Arial-BoldMT"/>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
        <p:nvSpPr>
          <p:cNvPr id="8" name="Text Box 7"/>
          <p:cNvSpPr txBox="1"/>
          <p:nvPr/>
        </p:nvSpPr>
        <p:spPr>
          <a:xfrm>
            <a:off x="5529580" y="1815465"/>
            <a:ext cx="5091430" cy="1744980"/>
          </a:xfrm>
          <a:prstGeom prst="rect">
            <a:avLst/>
          </a:prstGeom>
          <a:noFill/>
        </p:spPr>
        <p:txBody>
          <a:bodyPr wrap="square" lIns="0" tIns="0" rIns="0" bIns="0" rtlCol="0">
            <a:noAutofit/>
          </a:bodyPr>
          <a:p>
            <a:pPr marL="228600" indent="-228600" defTabSz="457200">
              <a:spcBef>
                <a:spcPts val="1000"/>
              </a:spcBef>
              <a:buClr>
                <a:srgbClr val="1E4056"/>
              </a:buClr>
              <a:buSzPct val="75000"/>
              <a:buFont typeface="Barlow"/>
              <a:buChar char="►"/>
            </a:pPr>
            <a:r>
              <a:rPr lang="en-GB" altLang="en-US" sz="2000" dirty="0">
                <a:solidFill>
                  <a:srgbClr val="000000"/>
                </a:solidFill>
              </a:rPr>
              <a:t>As we see in this example :That normally  two adder </a:t>
            </a:r>
            <a:r>
              <a:rPr lang="en-US" altLang="en-GB" sz="2000" dirty="0">
                <a:solidFill>
                  <a:srgbClr val="000000"/>
                </a:solidFill>
              </a:rPr>
              <a:t>are </a:t>
            </a:r>
            <a:r>
              <a:rPr lang="en-GB" altLang="en-US" sz="2000" dirty="0">
                <a:solidFill>
                  <a:srgbClr val="000000"/>
                </a:solidFill>
              </a:rPr>
              <a:t>to be created , Yet The synthesis tool will more likely to synthesize one adder to be shared in two additions which is called (Merging Resources)</a:t>
            </a:r>
            <a:endParaRPr lang="en-GB" altLang="en-US" sz="2000" dirty="0">
              <a:solidFill>
                <a:srgbClr val="000000"/>
              </a:solidFill>
            </a:endParaRPr>
          </a:p>
        </p:txBody>
      </p:sp>
      <p:graphicFrame>
        <p:nvGraphicFramePr>
          <p:cNvPr id="9" name="Table 8"/>
          <p:cNvGraphicFramePr/>
          <p:nvPr/>
        </p:nvGraphicFramePr>
        <p:xfrm>
          <a:off x="412750" y="3594100"/>
          <a:ext cx="10668635" cy="2936240"/>
        </p:xfrm>
        <a:graphic>
          <a:graphicData uri="http://schemas.openxmlformats.org/drawingml/2006/table">
            <a:tbl>
              <a:tblPr firstRow="1" bandRow="1">
                <a:tableStyleId>{21E4AEA4-8DFA-4A89-87EB-49C32662AFE0}</a:tableStyleId>
              </a:tblPr>
              <a:tblGrid>
                <a:gridCol w="4812030"/>
                <a:gridCol w="5856605"/>
              </a:tblGrid>
              <a:tr h="2936240">
                <a:tc>
                  <a:txBody>
                    <a:bodyPr/>
                    <a:p>
                      <a:pPr>
                        <a:buNone/>
                      </a:pPr>
                      <a:r>
                        <a:rPr lang="en-US" altLang="en-GB">
                          <a:solidFill>
                            <a:srgbClr val="FF0000"/>
                          </a:solidFill>
                        </a:rPr>
                        <a:t>Poor </a:t>
                      </a:r>
                      <a:r>
                        <a:rPr lang="en-US" altLang="en-GB">
                          <a:solidFill>
                            <a:schemeClr val="tx1"/>
                          </a:solidFill>
                        </a:rPr>
                        <a:t>way of partitioning the operators that can be shared by </a:t>
                      </a:r>
                      <a:r>
                        <a:rPr lang="en-US" altLang="en-GB">
                          <a:solidFill>
                            <a:srgbClr val="FFC000"/>
                          </a:solidFill>
                        </a:rPr>
                        <a:t>hierarchically </a:t>
                      </a:r>
                      <a:r>
                        <a:rPr lang="en-US" altLang="en-GB">
                          <a:solidFill>
                            <a:schemeClr val="tx1"/>
                          </a:solidFill>
                        </a:rPr>
                        <a:t>seperating them into differernt modules.</a:t>
                      </a:r>
                      <a:endParaRPr lang="en-US" altLang="en-GB">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en-GB" sz="1800">
                          <a:gradFill>
                            <a:gsLst>
                              <a:gs pos="0">
                                <a:srgbClr val="14CD68"/>
                              </a:gs>
                              <a:gs pos="100000">
                                <a:srgbClr val="0B6E38"/>
                              </a:gs>
                            </a:gsLst>
                            <a:lin scaled="0"/>
                          </a:gradFill>
                          <a:sym typeface="+mn-ea"/>
                        </a:rPr>
                        <a:t>Recommended </a:t>
                      </a:r>
                      <a:r>
                        <a:rPr lang="en-US" altLang="en-GB" sz="1800">
                          <a:solidFill>
                            <a:schemeClr val="tx1"/>
                          </a:solidFill>
                          <a:sym typeface="+mn-ea"/>
                        </a:rPr>
                        <a:t>way of partitioning the operators that can be shared by combining them into the same </a:t>
                      </a:r>
                      <a:r>
                        <a:rPr lang="en-US" altLang="en-GB" sz="1800">
                          <a:solidFill>
                            <a:srgbClr val="FFC000"/>
                          </a:solidFill>
                          <a:sym typeface="+mn-ea"/>
                        </a:rPr>
                        <a:t>hierarchy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10" name="Picture 9"/>
          <p:cNvPicPr>
            <a:picLocks noChangeAspect="1"/>
          </p:cNvPicPr>
          <p:nvPr/>
        </p:nvPicPr>
        <p:blipFill>
          <a:blip r:embed="rId1"/>
          <a:stretch>
            <a:fillRect/>
          </a:stretch>
        </p:blipFill>
        <p:spPr>
          <a:xfrm>
            <a:off x="1078230" y="4926330"/>
            <a:ext cx="3392805" cy="1457960"/>
          </a:xfrm>
          <a:prstGeom prst="rect">
            <a:avLst/>
          </a:prstGeom>
        </p:spPr>
      </p:pic>
      <p:pic>
        <p:nvPicPr>
          <p:cNvPr id="11" name="Picture 10"/>
          <p:cNvPicPr>
            <a:picLocks noChangeAspect="1"/>
          </p:cNvPicPr>
          <p:nvPr/>
        </p:nvPicPr>
        <p:blipFill>
          <a:blip r:embed="rId2"/>
          <a:stretch>
            <a:fillRect/>
          </a:stretch>
        </p:blipFill>
        <p:spPr>
          <a:xfrm>
            <a:off x="5241925" y="4926330"/>
            <a:ext cx="5501640" cy="1417320"/>
          </a:xfrm>
          <a:prstGeom prst="rect">
            <a:avLst/>
          </a:prstGeom>
        </p:spPr>
      </p:pic>
      <p:pic>
        <p:nvPicPr>
          <p:cNvPr id="12" name="Picture 11"/>
          <p:cNvPicPr>
            <a:picLocks noChangeAspect="1"/>
          </p:cNvPicPr>
          <p:nvPr/>
        </p:nvPicPr>
        <p:blipFill>
          <a:blip r:embed="rId3"/>
          <a:stretch>
            <a:fillRect/>
          </a:stretch>
        </p:blipFill>
        <p:spPr>
          <a:xfrm>
            <a:off x="591185" y="1632585"/>
            <a:ext cx="3061970" cy="15474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10000"/>
          </a:bodyPr>
          <a:lstStyle/>
          <a:p>
            <a:pPr marL="0" indent="0">
              <a:buSzPct val="100000"/>
              <a:buNone/>
            </a:pPr>
            <a:r>
              <a:rPr sz="2400">
                <a:sym typeface="+mn-ea"/>
              </a:rPr>
              <a:t>5.6</a:t>
            </a:r>
            <a:r>
              <a:rPr altLang="en-GB" sz="2400">
                <a:sym typeface="+mn-ea"/>
              </a:rPr>
              <a:t>.6</a:t>
            </a:r>
            <a:r>
              <a:rPr sz="2400">
                <a:sym typeface="+mn-ea"/>
              </a:rPr>
              <a:t> </a:t>
            </a:r>
            <a:r>
              <a:rPr lang="en-GB" altLang="en-US" sz="2400">
                <a:sym typeface="+mn-ea"/>
              </a:rPr>
              <a:t> Partitioning for Synthesis Runtime</a:t>
            </a:r>
            <a:br>
              <a:rPr lang="en-GB" altLang="en-US" sz="2400">
                <a:sym typeface="+mn-ea"/>
              </a:rPr>
            </a:br>
            <a:br>
              <a:rPr lang="en-GB" altLang="en-US" sz="2400">
                <a:sym typeface="+mn-ea"/>
              </a:rPr>
            </a:br>
            <a:r>
              <a:rPr altLang="en-GB" sz="2400" b="1">
                <a:effectLst/>
                <a:latin typeface="Arial-BoldMT"/>
                <a:sym typeface="+mn-ea"/>
              </a:rPr>
              <a:t>Guideline – </a:t>
            </a:r>
            <a:r>
              <a:rPr altLang="en-GB" sz="2400">
                <a:effectLst/>
                <a:latin typeface="Times New Roman" panose="02020603050405020304" pitchFamily="18" charset="0"/>
                <a:cs typeface="Times New Roman" panose="02020603050405020304" pitchFamily="18" charset="0"/>
                <a:sym typeface="+mn-ea"/>
              </a:rPr>
              <a:t>The most important considerations in partitioning should be the logic function, design </a:t>
            </a:r>
            <a:r>
              <a:rPr lang="en-GB" altLang="en-US" sz="2400">
                <a:latin typeface="Times New Roman" panose="02020603050405020304" pitchFamily="18" charset="0"/>
                <a:cs typeface="Times New Roman" panose="02020603050405020304" pitchFamily="18" charset="0"/>
                <a:sym typeface="+mn-ea"/>
              </a:rPr>
              <a:t>goals, and timing and area requirements</a:t>
            </a:r>
            <a:r>
              <a:rPr altLang="en-GB" sz="2400">
                <a:latin typeface="Times New Roman" panose="02020603050405020304" pitchFamily="18" charset="0"/>
                <a:cs typeface="Times New Roman" panose="02020603050405020304" pitchFamily="18" charset="0"/>
                <a:sym typeface="+mn-ea"/>
              </a:rPr>
              <a:t> to </a:t>
            </a:r>
            <a:r>
              <a:rPr altLang="en-GB" sz="2400">
                <a:solidFill>
                  <a:srgbClr val="00B050"/>
                </a:solidFill>
                <a:latin typeface="Times New Roman" panose="02020603050405020304" pitchFamily="18" charset="0"/>
                <a:cs typeface="Times New Roman" panose="02020603050405020304" pitchFamily="18" charset="0"/>
                <a:sym typeface="+mn-ea"/>
              </a:rPr>
              <a:t>optimize </a:t>
            </a:r>
            <a:r>
              <a:rPr altLang="en-GB" sz="2400">
                <a:latin typeface="Times New Roman" panose="02020603050405020304" pitchFamily="18" charset="0"/>
                <a:cs typeface="Times New Roman" panose="02020603050405020304" pitchFamily="18" charset="0"/>
                <a:sym typeface="+mn-ea"/>
              </a:rPr>
              <a:t>the runtime of </a:t>
            </a:r>
            <a:r>
              <a:rPr altLang="en-GB" sz="2400">
                <a:solidFill>
                  <a:srgbClr val="FFC000"/>
                </a:solidFill>
                <a:latin typeface="Times New Roman" panose="02020603050405020304" pitchFamily="18" charset="0"/>
                <a:cs typeface="Times New Roman" panose="02020603050405020304" pitchFamily="18" charset="0"/>
                <a:sym typeface="+mn-ea"/>
              </a:rPr>
              <a:t>synthesis process</a:t>
            </a:r>
            <a:r>
              <a:rPr altLang="en-GB" sz="2400">
                <a:latin typeface="Times New Roman" panose="02020603050405020304" pitchFamily="18" charset="0"/>
                <a:cs typeface="Times New Roman" panose="02020603050405020304" pitchFamily="18" charset="0"/>
                <a:sym typeface="+mn-ea"/>
              </a:rPr>
              <a:t>  this can be done as follows :</a:t>
            </a:r>
            <a:br>
              <a:rPr altLang="en-GB" sz="2400">
                <a:latin typeface="Times New Roman" panose="02020603050405020304" pitchFamily="18" charset="0"/>
                <a:cs typeface="Times New Roman" panose="02020603050405020304" pitchFamily="18" charset="0"/>
                <a:sym typeface="+mn-ea"/>
              </a:rPr>
            </a:br>
            <a:br>
              <a:rPr altLang="en-GB" sz="2400">
                <a:latin typeface="Times New Roman" panose="02020603050405020304" pitchFamily="18" charset="0"/>
                <a:cs typeface="Times New Roman" panose="02020603050405020304" pitchFamily="18" charset="0"/>
                <a:sym typeface="+mn-ea"/>
              </a:rPr>
            </a:br>
            <a:r>
              <a:rPr altLang="en-GB" sz="2400">
                <a:latin typeface="Times New Roman" panose="02020603050405020304" pitchFamily="18" charset="0"/>
                <a:cs typeface="Times New Roman" panose="02020603050405020304" pitchFamily="18" charset="0"/>
                <a:sym typeface="+mn-ea"/>
              </a:rPr>
              <a:t>1)Grouping </a:t>
            </a:r>
            <a:r>
              <a:rPr altLang="en-GB" sz="2400">
                <a:solidFill>
                  <a:srgbClr val="00B050"/>
                </a:solidFill>
                <a:latin typeface="Times New Roman" panose="02020603050405020304" pitchFamily="18" charset="0"/>
                <a:cs typeface="Times New Roman" panose="02020603050405020304" pitchFamily="18" charset="0"/>
                <a:sym typeface="+mn-ea"/>
              </a:rPr>
              <a:t>related functions </a:t>
            </a:r>
            <a:r>
              <a:rPr altLang="en-GB" sz="2400">
                <a:latin typeface="Times New Roman" panose="02020603050405020304" pitchFamily="18" charset="0"/>
                <a:cs typeface="Times New Roman" panose="02020603050405020304" pitchFamily="18" charset="0"/>
                <a:sym typeface="+mn-ea"/>
              </a:rPr>
              <a:t>together is much better than </a:t>
            </a:r>
            <a:r>
              <a:rPr altLang="en-GB" sz="2400">
                <a:solidFill>
                  <a:srgbClr val="FF0000"/>
                </a:solidFill>
                <a:latin typeface="Times New Roman" panose="02020603050405020304" pitchFamily="18" charset="0"/>
                <a:cs typeface="Times New Roman" panose="02020603050405020304" pitchFamily="18" charset="0"/>
                <a:sym typeface="+mn-ea"/>
              </a:rPr>
              <a:t>splitting functions artificially.</a:t>
            </a:r>
            <a:br>
              <a:rPr altLang="en-GB" sz="2400">
                <a:latin typeface="Times New Roman" panose="02020603050405020304" pitchFamily="18" charset="0"/>
                <a:cs typeface="Times New Roman" panose="02020603050405020304" pitchFamily="18" charset="0"/>
                <a:sym typeface="+mn-ea"/>
              </a:rPr>
            </a:br>
            <a:br>
              <a:rPr altLang="en-GB" sz="2400">
                <a:latin typeface="Times New Roman" panose="02020603050405020304" pitchFamily="18" charset="0"/>
                <a:cs typeface="Times New Roman" panose="02020603050405020304" pitchFamily="18" charset="0"/>
                <a:sym typeface="+mn-ea"/>
              </a:rPr>
            </a:br>
            <a:r>
              <a:rPr altLang="en-GB" sz="2400">
                <a:latin typeface="Times New Roman" panose="02020603050405020304" pitchFamily="18" charset="0"/>
                <a:cs typeface="Times New Roman" panose="02020603050405020304" pitchFamily="18" charset="0"/>
                <a:sym typeface="+mn-ea"/>
              </a:rPr>
              <a:t>2)</a:t>
            </a:r>
            <a:r>
              <a:rPr altLang="en-GB" sz="2400">
                <a:solidFill>
                  <a:srgbClr val="00B050"/>
                </a:solidFill>
                <a:latin typeface="Times New Roman" panose="02020603050405020304" pitchFamily="18" charset="0"/>
                <a:cs typeface="Times New Roman" panose="02020603050405020304" pitchFamily="18" charset="0"/>
                <a:sym typeface="+mn-ea"/>
              </a:rPr>
              <a:t>Good timing budgets</a:t>
            </a:r>
            <a:r>
              <a:rPr altLang="en-GB" sz="2400">
                <a:latin typeface="Times New Roman" panose="02020603050405020304" pitchFamily="18" charset="0"/>
                <a:cs typeface="Times New Roman" panose="02020603050405020304" pitchFamily="18" charset="0"/>
                <a:sym typeface="+mn-ea"/>
              </a:rPr>
              <a:t> and appropriate constraints can have a larger impact on</a:t>
            </a:r>
            <a:endParaRPr altLang="en-GB" sz="2400">
              <a:latin typeface="Times New Roman" panose="02020603050405020304" pitchFamily="18" charset="0"/>
              <a:cs typeface="Times New Roman" panose="02020603050405020304" pitchFamily="18" charset="0"/>
              <a:sym typeface="+mn-ea"/>
            </a:endParaRPr>
          </a:p>
          <a:p>
            <a:pPr marL="0" indent="0">
              <a:buSzPct val="100000"/>
              <a:buNone/>
            </a:pPr>
            <a:r>
              <a:rPr lang="en-GB" altLang="en-US" sz="2400">
                <a:latin typeface="Times New Roman" panose="02020603050405020304" pitchFamily="18" charset="0"/>
                <a:cs typeface="Times New Roman" panose="02020603050405020304" pitchFamily="18" charset="0"/>
                <a:sym typeface="+mn-ea"/>
              </a:rPr>
              <a:t>synthesis runtime than circuit size does.</a:t>
            </a:r>
            <a:br>
              <a:rPr lang="en-GB" altLang="en-US" sz="2400">
                <a:sym typeface="+mn-ea"/>
              </a:rPr>
            </a:br>
            <a:br>
              <a:rPr lang="en-GB" altLang="en-US" sz="2400">
                <a:sym typeface="+mn-ea"/>
              </a:rPr>
            </a:br>
            <a:r>
              <a:rPr altLang="en-GB" sz="2400">
                <a:latin typeface="Times New Roman" panose="02020603050405020304" pitchFamily="18" charset="0"/>
                <a:cs typeface="Times New Roman" panose="02020603050405020304" pitchFamily="18" charset="0"/>
                <a:sym typeface="+mn-ea"/>
              </a:rPr>
              <a:t>3</a:t>
            </a:r>
            <a:r>
              <a:rPr altLang="en-GB" sz="2400">
                <a:latin typeface="Times New Roman" panose="02020603050405020304" pitchFamily="18" charset="0"/>
                <a:cs typeface="Times New Roman" panose="02020603050405020304" pitchFamily="18" charset="0"/>
                <a:sym typeface="+mn-ea"/>
              </a:rPr>
              <a:t>) Grouping logic according to </a:t>
            </a:r>
            <a:r>
              <a:rPr altLang="en-GB" sz="2400">
                <a:solidFill>
                  <a:srgbClr val="FFC000"/>
                </a:solidFill>
                <a:latin typeface="Times New Roman" panose="02020603050405020304" pitchFamily="18" charset="0"/>
                <a:cs typeface="Times New Roman" panose="02020603050405020304" pitchFamily="18" charset="0"/>
                <a:sym typeface="+mn-ea"/>
              </a:rPr>
              <a:t>design goals</a:t>
            </a:r>
            <a:r>
              <a:rPr altLang="en-GB" sz="2400">
                <a:solidFill>
                  <a:schemeClr val="tx1"/>
                </a:solidFill>
                <a:latin typeface="Times New Roman" panose="02020603050405020304" pitchFamily="18" charset="0"/>
                <a:cs typeface="Times New Roman" panose="02020603050405020304" pitchFamily="18" charset="0"/>
                <a:sym typeface="+mn-ea"/>
              </a:rPr>
              <a:t> [Area _Timing or both</a:t>
            </a:r>
            <a:r>
              <a:rPr altLang="en-GB" sz="2400">
                <a:solidFill>
                  <a:srgbClr val="FFC000"/>
                </a:solidFill>
                <a:latin typeface="Times New Roman" panose="02020603050405020304" pitchFamily="18" charset="0"/>
                <a:cs typeface="Times New Roman" panose="02020603050405020304" pitchFamily="18" charset="0"/>
                <a:sym typeface="+mn-ea"/>
              </a:rPr>
              <a:t> </a:t>
            </a:r>
            <a:r>
              <a:rPr altLang="en-GB" sz="2400">
                <a:solidFill>
                  <a:schemeClr val="tx1"/>
                </a:solidFill>
                <a:latin typeface="Times New Roman" panose="02020603050405020304" pitchFamily="18" charset="0"/>
                <a:cs typeface="Times New Roman" panose="02020603050405020304" pitchFamily="18" charset="0"/>
                <a:sym typeface="+mn-ea"/>
              </a:rPr>
              <a:t>]</a:t>
            </a:r>
            <a:r>
              <a:rPr altLang="en-GB" sz="2400">
                <a:latin typeface="Times New Roman" panose="02020603050405020304" pitchFamily="18" charset="0"/>
                <a:cs typeface="Times New Roman" panose="02020603050405020304" pitchFamily="18" charset="0"/>
                <a:sym typeface="+mn-ea"/>
              </a:rPr>
              <a:t>, the synthesis strategy can be focused, </a:t>
            </a:r>
            <a:r>
              <a:rPr lang="en-GB" altLang="en-US" sz="2400">
                <a:latin typeface="Times New Roman" panose="02020603050405020304" pitchFamily="18" charset="0"/>
                <a:cs typeface="Times New Roman" panose="02020603050405020304" pitchFamily="18" charset="0"/>
                <a:sym typeface="+mn-ea"/>
              </a:rPr>
              <a:t>reducing synthesis runtime.</a:t>
            </a:r>
            <a:r>
              <a:rPr altLang="en-GB" sz="2400">
                <a:latin typeface="Times New Roman" panose="02020603050405020304" pitchFamily="18" charset="0"/>
                <a:cs typeface="Times New Roman" panose="02020603050405020304" pitchFamily="18" charset="0"/>
                <a:sym typeface="+mn-ea"/>
              </a:rPr>
              <a:t> </a:t>
            </a:r>
            <a:br>
              <a:rPr lang="en-GB" altLang="en-US" sz="2400">
                <a:sym typeface="+mn-ea"/>
              </a:rPr>
            </a:br>
            <a:r>
              <a:rPr altLang="en-GB" sz="2400" b="1">
                <a:effectLst/>
                <a:latin typeface="Arial-BoldMT"/>
                <a:sym typeface="+mn-ea"/>
              </a:rPr>
              <a:t> </a:t>
            </a:r>
            <a:br>
              <a:rPr altLang="en-GB" sz="2400" b="1">
                <a:effectLst/>
                <a:latin typeface="Arial-BoldMT"/>
                <a:sym typeface="+mn-ea"/>
              </a:rPr>
            </a:br>
            <a:endParaRPr altLang="en-GB" sz="2400" b="1" dirty="0">
              <a:effectLst/>
              <a:latin typeface="Arial-BoldMT"/>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fontScale="90000" lnSpcReduction="20000"/>
          </a:bodyPr>
          <a:lstStyle/>
          <a:p>
            <a:pPr marL="0" indent="0">
              <a:buSzPct val="100000"/>
              <a:buNone/>
            </a:pPr>
            <a:r>
              <a:rPr sz="2400">
                <a:sym typeface="+mn-ea"/>
              </a:rPr>
              <a:t>5.6</a:t>
            </a:r>
            <a:r>
              <a:rPr altLang="en-GB" sz="2400">
                <a:sym typeface="+mn-ea"/>
              </a:rPr>
              <a:t>.</a:t>
            </a:r>
            <a:r>
              <a:rPr lang="en-GB" altLang="en-US" sz="2400">
                <a:sym typeface="+mn-ea"/>
              </a:rPr>
              <a:t>7</a:t>
            </a:r>
            <a:r>
              <a:rPr sz="2400">
                <a:sym typeface="+mn-ea"/>
              </a:rPr>
              <a:t> </a:t>
            </a:r>
            <a:r>
              <a:rPr lang="en-GB" altLang="en-US" sz="2400">
                <a:sym typeface="+mn-ea"/>
              </a:rPr>
              <a:t> Avoid Timing Exceptions</a:t>
            </a:r>
            <a:br>
              <a:rPr lang="en-GB" altLang="en-US" sz="2400">
                <a:sym typeface="+mn-ea"/>
              </a:rPr>
            </a:br>
            <a:r>
              <a:rPr lang="en-GB" altLang="en-US" sz="2400">
                <a:sym typeface="+mn-ea"/>
              </a:rPr>
              <a:t>Timing Exceptions : </a:t>
            </a:r>
            <a:r>
              <a:rPr lang="en-GB" altLang="en-US" sz="2400">
                <a:latin typeface="Times New Roman" panose="02020603050405020304" pitchFamily="18" charset="0"/>
                <a:cs typeface="Times New Roman" panose="02020603050405020304" pitchFamily="18" charset="0"/>
                <a:sym typeface="+mn-ea"/>
              </a:rPr>
              <a:t>Those are the pathes that doesn’t require the data to be transfered withing one clock . </a:t>
            </a:r>
            <a:br>
              <a:rPr lang="en-GB" altLang="en-US" sz="2400">
                <a:latin typeface="Times New Roman" panose="02020603050405020304" pitchFamily="18" charset="0"/>
                <a:cs typeface="Times New Roman" panose="02020603050405020304" pitchFamily="18" charset="0"/>
                <a:sym typeface="+mn-ea"/>
              </a:rPr>
            </a:br>
            <a:r>
              <a:rPr lang="en-GB" altLang="en-US" sz="2400">
                <a:latin typeface="Times New Roman" panose="02020603050405020304" pitchFamily="18" charset="0"/>
                <a:cs typeface="Times New Roman" panose="02020603050405020304" pitchFamily="18" charset="0"/>
                <a:sym typeface="+mn-ea"/>
              </a:rPr>
              <a:t>-</a:t>
            </a:r>
            <a:r>
              <a:rPr lang="en-GB" altLang="en-US" sz="2400">
                <a:solidFill>
                  <a:srgbClr val="FF0000"/>
                </a:solidFill>
                <a:latin typeface="Times New Roman" panose="02020603050405020304" pitchFamily="18" charset="0"/>
                <a:cs typeface="Times New Roman" panose="02020603050405020304" pitchFamily="18" charset="0"/>
                <a:sym typeface="+mn-ea"/>
              </a:rPr>
              <a:t>False paths</a:t>
            </a:r>
            <a:r>
              <a:rPr lang="en-GB" altLang="en-US" sz="2400">
                <a:latin typeface="Times New Roman" panose="02020603050405020304" pitchFamily="18" charset="0"/>
                <a:cs typeface="Times New Roman" panose="02020603050405020304" pitchFamily="18" charset="0"/>
                <a:sym typeface="+mn-ea"/>
              </a:rPr>
              <a:t> :  Timing path’s not required to meet its timing constraints for the design to function properly . for the STA tools they maybe identified as failling paths yet the designer knows they aren’t failling .</a:t>
            </a:r>
            <a:endParaRPr lang="en-GB" altLang="en-US" sz="2400">
              <a:latin typeface="Times New Roman" panose="02020603050405020304" pitchFamily="18" charset="0"/>
              <a:cs typeface="Times New Roman" panose="02020603050405020304" pitchFamily="18" charset="0"/>
              <a:sym typeface="+mn-ea"/>
            </a:endParaRPr>
          </a:p>
          <a:p>
            <a:pPr marL="0" indent="0">
              <a:buSzPct val="100000"/>
              <a:buNone/>
            </a:pPr>
            <a:br>
              <a:rPr lang="en-GB" altLang="en-US" sz="2400">
                <a:sym typeface="+mn-ea"/>
              </a:rPr>
            </a:br>
            <a:r>
              <a:rPr lang="en-GB" altLang="en-US" sz="2400">
                <a:latin typeface="Times New Roman" panose="02020603050405020304" pitchFamily="18" charset="0"/>
                <a:cs typeface="Times New Roman" panose="02020603050405020304" pitchFamily="18" charset="0"/>
                <a:sym typeface="+mn-ea"/>
              </a:rPr>
              <a:t>-</a:t>
            </a:r>
            <a:r>
              <a:rPr lang="en-GB" altLang="en-US" sz="2400">
                <a:solidFill>
                  <a:srgbClr val="FF0000"/>
                </a:solidFill>
                <a:latin typeface="Times New Roman" panose="02020603050405020304" pitchFamily="18" charset="0"/>
                <a:cs typeface="Times New Roman" panose="02020603050405020304" pitchFamily="18" charset="0"/>
                <a:sym typeface="+mn-ea"/>
              </a:rPr>
              <a:t>Multicylce paths</a:t>
            </a:r>
            <a:r>
              <a:rPr lang="en-GB" altLang="en-US" sz="2400">
                <a:latin typeface="Times New Roman" panose="02020603050405020304" pitchFamily="18" charset="0"/>
                <a:cs typeface="Times New Roman" panose="02020603050405020304" pitchFamily="18" charset="0"/>
                <a:sym typeface="+mn-ea"/>
              </a:rPr>
              <a:t> : </a:t>
            </a:r>
            <a:br>
              <a:rPr lang="en-GB" altLang="en-US" sz="2400">
                <a:sym typeface="+mn-ea"/>
              </a:rPr>
            </a:br>
            <a:r>
              <a:rPr altLang="en-GB" sz="2400">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Design tools including synthesis, static timing analysis, and</a:t>
            </a:r>
            <a:r>
              <a:rPr lang="en-GB" altLang="en-US" sz="24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place and route tools must allow the data to take more than one clock cycle to</a:t>
            </a:r>
            <a:r>
              <a:rPr lang="en-GB" altLang="en-US" sz="24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traverse the path</a:t>
            </a:r>
            <a:br>
              <a:rPr altLang="en-GB" sz="2400" b="1">
                <a:effectLst/>
                <a:latin typeface="Arial-BoldMT"/>
                <a:sym typeface="+mn-ea"/>
              </a:rPr>
            </a:b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br>
              <a:rPr altLang="en-GB" sz="2400" b="1">
                <a:effectLst/>
                <a:latin typeface="Arial-BoldMT"/>
                <a:sym typeface="+mn-ea"/>
              </a:rPr>
            </a:br>
            <a:br>
              <a:rPr altLang="en-GB" sz="2400" b="1">
                <a:effectLst/>
                <a:latin typeface="Arial-BoldMT"/>
                <a:sym typeface="+mn-ea"/>
              </a:rPr>
            </a:br>
            <a:r>
              <a:rPr altLang="en-GB" sz="2400" b="1">
                <a:effectLst/>
                <a:latin typeface="Arial-BoldMT"/>
                <a:sym typeface="+mn-ea"/>
              </a:rPr>
              <a:t>Guideline </a:t>
            </a:r>
            <a:r>
              <a:rPr altLang="en-GB" sz="2400">
                <a:effectLst/>
                <a:latin typeface="Arial-BoldMT"/>
                <a:sym typeface="+mn-ea"/>
              </a:rPr>
              <a:t>–</a:t>
            </a:r>
            <a:r>
              <a:rPr altLang="en-GB" sz="2400">
                <a:effectLst/>
                <a:latin typeface="Times New Roman" panose="02020603050405020304" pitchFamily="18" charset="0"/>
                <a:cs typeface="Times New Roman" panose="02020603050405020304" pitchFamily="18" charset="0"/>
                <a:sym typeface="+mn-ea"/>
              </a:rPr>
              <a:t> Avoid </a:t>
            </a:r>
            <a:r>
              <a:rPr altLang="en-GB" sz="2400">
                <a:solidFill>
                  <a:srgbClr val="FF0000"/>
                </a:solidFill>
                <a:effectLst/>
                <a:latin typeface="Times New Roman" panose="02020603050405020304" pitchFamily="18" charset="0"/>
                <a:cs typeface="Times New Roman" panose="02020603050405020304" pitchFamily="18" charset="0"/>
                <a:sym typeface="+mn-ea"/>
              </a:rPr>
              <a:t>multicycle </a:t>
            </a:r>
            <a:r>
              <a:rPr altLang="en-GB" sz="2400">
                <a:effectLst/>
                <a:latin typeface="Times New Roman" panose="02020603050405020304" pitchFamily="18" charset="0"/>
                <a:cs typeface="Times New Roman" panose="02020603050405020304" pitchFamily="18" charset="0"/>
                <a:sym typeface="+mn-ea"/>
              </a:rPr>
              <a:t>paths and other timing exceptions in your design.</a:t>
            </a:r>
            <a:endParaRPr altLang="en-GB" sz="2400">
              <a:effectLst/>
              <a:latin typeface="Times New Roman" panose="02020603050405020304" pitchFamily="18" charset="0"/>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9" name="Picture 8"/>
          <p:cNvPicPr>
            <a:picLocks noChangeAspect="1"/>
          </p:cNvPicPr>
          <p:nvPr/>
        </p:nvPicPr>
        <p:blipFill>
          <a:blip r:embed="rId1"/>
          <a:stretch>
            <a:fillRect/>
          </a:stretch>
        </p:blipFill>
        <p:spPr>
          <a:xfrm>
            <a:off x="355600" y="3823970"/>
            <a:ext cx="9274810" cy="1908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a:t>
            </a:r>
            <a:r>
              <a:rPr lang="en-GB" altLang="en-US" sz="2400">
                <a:sym typeface="+mn-ea"/>
              </a:rPr>
              <a:t>7</a:t>
            </a:r>
            <a:r>
              <a:rPr sz="2400">
                <a:sym typeface="+mn-ea"/>
              </a:rPr>
              <a:t> </a:t>
            </a:r>
            <a:r>
              <a:rPr lang="en-GB" altLang="en-US" sz="2400">
                <a:sym typeface="+mn-ea"/>
              </a:rPr>
              <a:t> Avoid Timing Exceptions</a:t>
            </a:r>
            <a:br>
              <a:rPr lang="en-GB" altLang="en-US" sz="2400">
                <a:sym typeface="+mn-ea"/>
              </a:rPr>
            </a:br>
            <a:r>
              <a:rPr lang="en-GB" altLang="en-US" sz="2400">
                <a:sym typeface="+mn-ea"/>
              </a:rPr>
              <a:t>Guideline – </a:t>
            </a:r>
            <a:r>
              <a:rPr lang="en-GB" altLang="en-US" sz="2400">
                <a:latin typeface="Times New Roman" panose="02020603050405020304" pitchFamily="18" charset="0"/>
                <a:cs typeface="Times New Roman" panose="02020603050405020304" pitchFamily="18" charset="0"/>
                <a:sym typeface="+mn-ea"/>
              </a:rPr>
              <a:t>If you must use timing exceptions in your design, use</a:t>
            </a:r>
            <a:r>
              <a:rPr lang="en-GB" altLang="en-US" sz="2400">
                <a:solidFill>
                  <a:srgbClr val="00B050"/>
                </a:solidFill>
                <a:latin typeface="Times New Roman" panose="02020603050405020304" pitchFamily="18" charset="0"/>
                <a:cs typeface="Times New Roman" panose="02020603050405020304" pitchFamily="18" charset="0"/>
                <a:sym typeface="+mn-ea"/>
              </a:rPr>
              <a:t> start</a:t>
            </a:r>
            <a:r>
              <a:rPr lang="en-GB" altLang="en-US" sz="2400">
                <a:latin typeface="Times New Roman" panose="02020603050405020304" pitchFamily="18" charset="0"/>
                <a:cs typeface="Times New Roman" panose="02020603050405020304" pitchFamily="18" charset="0"/>
                <a:sym typeface="+mn-ea"/>
              </a:rPr>
              <a:t> and </a:t>
            </a:r>
            <a:r>
              <a:rPr lang="en-GB" altLang="en-US" sz="2400">
                <a:solidFill>
                  <a:srgbClr val="00B050"/>
                </a:solidFill>
                <a:latin typeface="Times New Roman" panose="02020603050405020304" pitchFamily="18" charset="0"/>
                <a:cs typeface="Times New Roman" panose="02020603050405020304" pitchFamily="18" charset="0"/>
                <a:sym typeface="+mn-ea"/>
              </a:rPr>
              <a:t>end</a:t>
            </a:r>
            <a:r>
              <a:rPr lang="en-GB" altLang="en-US" sz="2400">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points which are guaranteed to exist and be valid at the chip level.</a:t>
            </a:r>
            <a:br>
              <a:rPr altLang="en-GB" sz="2400">
                <a:effectLst/>
                <a:latin typeface="Times New Roman" panose="02020603050405020304" pitchFamily="18" charset="0"/>
                <a:cs typeface="Times New Roman" panose="02020603050405020304" pitchFamily="18" charset="0"/>
                <a:sym typeface="+mn-ea"/>
              </a:rPr>
            </a:br>
            <a:endParaRPr altLang="en-GB" sz="2400">
              <a:effectLst/>
              <a:latin typeface="Times New Roman" panose="02020603050405020304" pitchFamily="18" charset="0"/>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graphicFrame>
        <p:nvGraphicFramePr>
          <p:cNvPr id="7" name="Table 6"/>
          <p:cNvGraphicFramePr/>
          <p:nvPr/>
        </p:nvGraphicFramePr>
        <p:xfrm>
          <a:off x="175260" y="2136140"/>
          <a:ext cx="10927080" cy="4356735"/>
        </p:xfrm>
        <a:graphic>
          <a:graphicData uri="http://schemas.openxmlformats.org/drawingml/2006/table">
            <a:tbl>
              <a:tblPr firstRow="1" bandRow="1">
                <a:tableStyleId>{21E4AEA4-8DFA-4A89-87EB-49C32662AFE0}</a:tableStyleId>
              </a:tblPr>
              <a:tblGrid>
                <a:gridCol w="5641340"/>
                <a:gridCol w="5285740"/>
              </a:tblGrid>
              <a:tr h="476250">
                <a:tc>
                  <a:txBody>
                    <a:bodyPr/>
                    <a:p>
                      <a:pPr>
                        <a:buNone/>
                      </a:pPr>
                      <a:r>
                        <a:rPr lang="en-GB" altLang="en-US">
                          <a:solidFill>
                            <a:schemeClr val="tx1"/>
                          </a:solidFill>
                        </a:rPr>
                        <a:t>False Paths</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GB" altLang="en-US">
                          <a:solidFill>
                            <a:schemeClr val="tx1"/>
                          </a:solidFill>
                        </a:rPr>
                        <a:t>MultiCycle paths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80485">
                <a:tc>
                  <a:txBody>
                    <a:bodyPr/>
                    <a:p>
                      <a:pPr>
                        <a:buNone/>
                      </a:pPr>
                      <a:r>
                        <a:rPr lang="en-GB" altLang="en-US">
                          <a:solidFill>
                            <a:schemeClr val="tx1"/>
                          </a:solidFill>
                        </a:rPr>
                        <a:t>Guideline – Avoid false paths in your design.</a:t>
                      </a:r>
                      <a:endParaRPr lang="en-GB" altLang="en-US">
                        <a:solidFill>
                          <a:schemeClr val="tx1"/>
                        </a:solidFill>
                      </a:endParaRPr>
                    </a:p>
                    <a:p>
                      <a:pPr>
                        <a:buNone/>
                      </a:pPr>
                      <a:r>
                        <a:rPr lang="en-GB" altLang="en-US">
                          <a:solidFill>
                            <a:schemeClr val="tx1"/>
                          </a:solidFill>
                        </a:rPr>
                        <a:t>As the designer may accidentally ignore a valid warning of a time failling path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GB" altLang="en-US">
                          <a:solidFill>
                            <a:schemeClr val="tx1"/>
                          </a:solidFill>
                        </a:rPr>
                        <a:t>Use Isolating point-to-point exceptions as shown in the following example . </a:t>
                      </a:r>
                      <a:endParaRPr lang="en-GB" altLang="en-US">
                        <a:solidFill>
                          <a:schemeClr val="tx1"/>
                        </a:solidFill>
                      </a:endParaRPr>
                    </a:p>
                    <a:p>
                      <a:pPr>
                        <a:buNone/>
                      </a:pPr>
                      <a:r>
                        <a:rPr lang="en-GB" altLang="en-US">
                          <a:solidFill>
                            <a:schemeClr val="tx1"/>
                          </a:solidFill>
                        </a:rPr>
                        <a:t>A multicylce path is defined between  </a:t>
                      </a:r>
                      <a:r>
                        <a:rPr lang="en-GB" altLang="en-US">
                          <a:solidFill>
                            <a:srgbClr val="FFC000"/>
                          </a:solidFill>
                        </a:rPr>
                        <a:t>D_reg</a:t>
                      </a:r>
                      <a:r>
                        <a:rPr lang="en-GB" altLang="en-US">
                          <a:solidFill>
                            <a:schemeClr val="tx1"/>
                          </a:solidFill>
                        </a:rPr>
                        <a:t> to  </a:t>
                      </a:r>
                      <a:r>
                        <a:rPr lang="en-GB" altLang="en-US">
                          <a:solidFill>
                            <a:srgbClr val="FFC000"/>
                          </a:solidFill>
                        </a:rPr>
                        <a:t>S_reg</a:t>
                      </a:r>
                      <a:endParaRPr lang="en-GB" altLang="en-US">
                        <a:solidFill>
                          <a:schemeClr val="tx1"/>
                        </a:solidFill>
                      </a:endParaRPr>
                    </a:p>
                    <a:p>
                      <a:pPr>
                        <a:buNone/>
                      </a:pPr>
                      <a:r>
                        <a:rPr lang="en-GB" altLang="en-US">
                          <a:solidFill>
                            <a:schemeClr val="tx1"/>
                          </a:solidFill>
                        </a:rPr>
                        <a:t>This improves synthesis and timing results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pic>
        <p:nvPicPr>
          <p:cNvPr id="8" name="Picture 7"/>
          <p:cNvPicPr>
            <a:picLocks noChangeAspect="1"/>
          </p:cNvPicPr>
          <p:nvPr/>
        </p:nvPicPr>
        <p:blipFill>
          <a:blip r:embed="rId1"/>
          <a:stretch>
            <a:fillRect/>
          </a:stretch>
        </p:blipFill>
        <p:spPr>
          <a:xfrm>
            <a:off x="6158230" y="4011930"/>
            <a:ext cx="4411345" cy="2480945"/>
          </a:xfrm>
          <a:prstGeom prst="rect">
            <a:avLst/>
          </a:prstGeom>
        </p:spPr>
      </p:pic>
      <p:pic>
        <p:nvPicPr>
          <p:cNvPr id="10" name="Picture 9"/>
          <p:cNvPicPr>
            <a:picLocks noChangeAspect="1"/>
          </p:cNvPicPr>
          <p:nvPr/>
        </p:nvPicPr>
        <p:blipFill>
          <a:blip r:embed="rId2"/>
          <a:stretch>
            <a:fillRect/>
          </a:stretch>
        </p:blipFill>
        <p:spPr>
          <a:xfrm>
            <a:off x="495300" y="3724910"/>
            <a:ext cx="4947285" cy="26269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5.6</a:t>
            </a:r>
            <a:r>
              <a:rPr altLang="en-GB" sz="2400">
                <a:sym typeface="+mn-ea"/>
              </a:rPr>
              <a:t>.8</a:t>
            </a:r>
            <a:r>
              <a:rPr sz="2400">
                <a:sym typeface="+mn-ea"/>
              </a:rPr>
              <a:t> </a:t>
            </a:r>
            <a:r>
              <a:rPr lang="en-GB" altLang="en-US" sz="2400">
                <a:sym typeface="+mn-ea"/>
              </a:rPr>
              <a:t>Eliminate Glue Logic at the Top Level</a:t>
            </a: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r>
              <a:rPr sz="2400">
                <a:effectLst/>
                <a:sym typeface="+mn-ea"/>
              </a:rPr>
              <a:t>Guideline – </a:t>
            </a:r>
            <a:r>
              <a:rPr sz="2400">
                <a:effectLst/>
                <a:latin typeface="Times New Roman" panose="02020603050405020304" pitchFamily="18" charset="0"/>
                <a:cs typeface="Times New Roman" panose="02020603050405020304" pitchFamily="18" charset="0"/>
                <a:sym typeface="+mn-ea"/>
              </a:rPr>
              <a:t>Do not instantiate gate-level logic at the top level of the macro hierarchy.</a:t>
            </a:r>
            <a:endParaRPr sz="2400">
              <a:effectLst/>
              <a:latin typeface="Times New Roman" panose="02020603050405020304" pitchFamily="18" charset="0"/>
              <a:cs typeface="Times New Roman" panose="02020603050405020304" pitchFamily="18" charset="0"/>
              <a:sym typeface="+mn-ea"/>
            </a:endParaRPr>
          </a:p>
          <a:p>
            <a:pPr marL="0" indent="0" algn="l">
              <a:buSzPct val="100000"/>
              <a:buNone/>
            </a:pP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We can in the following example that : Optimization is limited because synthesis</a:t>
            </a:r>
            <a:endParaRPr sz="2400">
              <a:effectLst/>
              <a:latin typeface="Times New Roman" panose="02020603050405020304" pitchFamily="18" charset="0"/>
              <a:cs typeface="Times New Roman" panose="02020603050405020304" pitchFamily="18" charset="0"/>
              <a:sym typeface="+mn-ea"/>
            </a:endParaRPr>
          </a:p>
          <a:p>
            <a:pPr marL="0" indent="0" algn="l">
              <a:buSzPct val="100000"/>
              <a:buNone/>
            </a:pPr>
            <a:r>
              <a:rPr altLang="en-GB" sz="2400">
                <a:effectLst/>
                <a:latin typeface="Times New Roman" panose="02020603050405020304" pitchFamily="18" charset="0"/>
                <a:cs typeface="Times New Roman" panose="02020603050405020304" pitchFamily="18" charset="0"/>
                <a:sym typeface="+mn-ea"/>
              </a:rPr>
              <a:t>tools </a:t>
            </a:r>
            <a:r>
              <a:rPr altLang="en-GB" sz="2400">
                <a:solidFill>
                  <a:srgbClr val="FF0000"/>
                </a:solidFill>
                <a:effectLst/>
                <a:latin typeface="Times New Roman" panose="02020603050405020304" pitchFamily="18" charset="0"/>
                <a:cs typeface="Times New Roman" panose="02020603050405020304" pitchFamily="18" charset="0"/>
                <a:sym typeface="+mn-ea"/>
              </a:rPr>
              <a:t>cannot merge </a:t>
            </a:r>
            <a:r>
              <a:rPr altLang="en-GB" sz="2400">
                <a:effectLst/>
                <a:latin typeface="Times New Roman" panose="02020603050405020304" pitchFamily="18" charset="0"/>
                <a:cs typeface="Times New Roman" panose="02020603050405020304" pitchFamily="18" charset="0"/>
                <a:sym typeface="+mn-ea"/>
              </a:rPr>
              <a:t>the NAND with the combinational logic inside Block C.</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7" name="Picture 6"/>
          <p:cNvPicPr>
            <a:picLocks noChangeAspect="1"/>
          </p:cNvPicPr>
          <p:nvPr/>
        </p:nvPicPr>
        <p:blipFill>
          <a:blip r:embed="rId1"/>
          <a:stretch>
            <a:fillRect/>
          </a:stretch>
        </p:blipFill>
        <p:spPr>
          <a:xfrm>
            <a:off x="342900" y="3251835"/>
            <a:ext cx="5394960" cy="2381885"/>
          </a:xfrm>
          <a:prstGeom prst="rect">
            <a:avLst/>
          </a:prstGeom>
        </p:spPr>
      </p:pic>
      <p:pic>
        <p:nvPicPr>
          <p:cNvPr id="8" name="Picture 7"/>
          <p:cNvPicPr>
            <a:picLocks noChangeAspect="1"/>
          </p:cNvPicPr>
          <p:nvPr/>
        </p:nvPicPr>
        <p:blipFill>
          <a:blip r:embed="rId2"/>
          <a:stretch>
            <a:fillRect/>
          </a:stretch>
        </p:blipFill>
        <p:spPr>
          <a:xfrm>
            <a:off x="6351270" y="3289935"/>
            <a:ext cx="5433060" cy="2297430"/>
          </a:xfrm>
          <a:prstGeom prst="rect">
            <a:avLst/>
          </a:prstGeom>
        </p:spPr>
      </p:pic>
      <p:cxnSp>
        <p:nvCxnSpPr>
          <p:cNvPr id="15" name="Straight Arrow Connector 14"/>
          <p:cNvCxnSpPr>
            <a:stCxn id="7" idx="3"/>
            <a:endCxn id="8" idx="1"/>
          </p:cNvCxnSpPr>
          <p:nvPr/>
        </p:nvCxnSpPr>
        <p:spPr>
          <a:xfrm flipV="1">
            <a:off x="5737860" y="4438650"/>
            <a:ext cx="613410" cy="4445"/>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6" name="Text Box 15"/>
          <p:cNvSpPr txBox="1"/>
          <p:nvPr/>
        </p:nvSpPr>
        <p:spPr>
          <a:xfrm>
            <a:off x="6754495" y="5781675"/>
            <a:ext cx="4523740" cy="618490"/>
          </a:xfrm>
          <a:prstGeom prst="rect">
            <a:avLst/>
          </a:prstGeom>
          <a:noFill/>
        </p:spPr>
        <p:txBody>
          <a:bodyPr wrap="square" lIns="0" tIns="0" rIns="0" bIns="0" rtlCol="0">
            <a:noAutofit/>
          </a:bodyPr>
          <a:p>
            <a:pPr marL="228600" indent="-228600" defTabSz="457200">
              <a:spcBef>
                <a:spcPts val="1000"/>
              </a:spcBef>
              <a:buClr>
                <a:srgbClr val="1E4056"/>
              </a:buClr>
              <a:buSzPct val="75000"/>
              <a:buFont typeface="Barlow"/>
              <a:buChar char="►"/>
            </a:pPr>
            <a:r>
              <a:rPr lang="en-US" altLang="en-GB" sz="2000" dirty="0">
                <a:solidFill>
                  <a:srgbClr val="000000"/>
                </a:solidFill>
              </a:rPr>
              <a:t>This </a:t>
            </a:r>
            <a:r>
              <a:rPr lang="en-US" altLang="en-GB" sz="2000" dirty="0">
                <a:solidFill>
                  <a:srgbClr val="00B050"/>
                </a:solidFill>
              </a:rPr>
              <a:t>eleminates</a:t>
            </a:r>
            <a:r>
              <a:rPr lang="en-US" altLang="en-GB" sz="2000" dirty="0">
                <a:solidFill>
                  <a:srgbClr val="000000"/>
                </a:solidFill>
              </a:rPr>
              <a:t> any extra effort to compile any glue logic at the top level .</a:t>
            </a:r>
            <a:endParaRPr lang="en-US" altLang="en-GB" sz="20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r>
              <a:rPr sz="2400">
                <a:sym typeface="+mn-ea"/>
              </a:rPr>
              <a:t>5.6</a:t>
            </a:r>
            <a:r>
              <a:rPr altLang="en-GB" sz="2400">
                <a:sym typeface="+mn-ea"/>
              </a:rPr>
              <a:t>.9</a:t>
            </a:r>
            <a:r>
              <a:rPr sz="2400">
                <a:sym typeface="+mn-ea"/>
              </a:rPr>
              <a:t> </a:t>
            </a:r>
            <a:r>
              <a:rPr lang="en-GB" altLang="en-US" sz="2400">
                <a:sym typeface="+mn-ea"/>
              </a:rPr>
              <a:t>Chip-Level Partitioning  **********</a:t>
            </a:r>
            <a:br>
              <a:rPr lang="en-GB" altLang="en-US" sz="2400">
                <a:sym typeface="+mn-ea"/>
              </a:rPr>
            </a:b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pic>
        <p:nvPicPr>
          <p:cNvPr id="7" name="Picture 6"/>
          <p:cNvPicPr>
            <a:picLocks noChangeAspect="1"/>
          </p:cNvPicPr>
          <p:nvPr/>
        </p:nvPicPr>
        <p:blipFill>
          <a:blip r:embed="rId1"/>
          <a:stretch>
            <a:fillRect/>
          </a:stretch>
        </p:blipFill>
        <p:spPr>
          <a:xfrm>
            <a:off x="1014730" y="1967865"/>
            <a:ext cx="4815840" cy="3246120"/>
          </a:xfrm>
          <a:prstGeom prst="rect">
            <a:avLst/>
          </a:prstGeom>
        </p:spPr>
      </p:pic>
      <p:sp>
        <p:nvSpPr>
          <p:cNvPr id="8" name="Text Box 7"/>
          <p:cNvSpPr txBox="1"/>
          <p:nvPr/>
        </p:nvSpPr>
        <p:spPr>
          <a:xfrm>
            <a:off x="6185535" y="2167255"/>
            <a:ext cx="5105400" cy="2769870"/>
          </a:xfrm>
          <a:prstGeom prst="rect">
            <a:avLst/>
          </a:prstGeom>
          <a:noFill/>
        </p:spPr>
        <p:txBody>
          <a:bodyPr wrap="square" lIns="0" tIns="0" rIns="0" bIns="0" rtlCol="0" anchor="t">
            <a:spAutoFit/>
          </a:bodyPr>
          <a:p>
            <a:pPr marL="228600" indent="-228600" defTabSz="457200">
              <a:spcBef>
                <a:spcPts val="1000"/>
              </a:spcBef>
              <a:buClr>
                <a:srgbClr val="1E4056"/>
              </a:buClr>
              <a:buSzPct val="75000"/>
              <a:buFont typeface="Barlow"/>
              <a:buChar char="►"/>
            </a:pPr>
            <a:r>
              <a:rPr lang="en-GB" altLang="en-US" sz="2000" dirty="0">
                <a:solidFill>
                  <a:srgbClr val="000000"/>
                </a:solidFill>
              </a:rPr>
              <a:t>Guideline – Make sure that the top level of the design contains only :</a:t>
            </a:r>
            <a:br>
              <a:rPr lang="en-GB" altLang="en-US" sz="2000" dirty="0">
                <a:solidFill>
                  <a:srgbClr val="000000"/>
                </a:solidFill>
              </a:rPr>
            </a:br>
            <a:r>
              <a:rPr lang="en-GB" altLang="en-US" sz="2000" dirty="0">
                <a:solidFill>
                  <a:srgbClr val="000000"/>
                </a:solidFill>
              </a:rPr>
              <a:t>1)the I/O pad ring </a:t>
            </a:r>
            <a:br>
              <a:rPr lang="en-GB" altLang="en-US" sz="2000" dirty="0">
                <a:solidFill>
                  <a:srgbClr val="000000"/>
                </a:solidFill>
              </a:rPr>
            </a:br>
            <a:r>
              <a:rPr lang="en-GB" altLang="en-US" sz="2000" dirty="0">
                <a:solidFill>
                  <a:srgbClr val="000000"/>
                </a:solidFill>
              </a:rPr>
              <a:t>2)clock generator.</a:t>
            </a:r>
            <a:br>
              <a:rPr lang="en-GB" altLang="en-US" sz="2000" dirty="0">
                <a:solidFill>
                  <a:srgbClr val="000000"/>
                </a:solidFill>
              </a:rPr>
            </a:br>
            <a:r>
              <a:rPr lang="en-GB" altLang="en-US" sz="2000" dirty="0">
                <a:solidFill>
                  <a:srgbClr val="000000"/>
                </a:solidFill>
              </a:rPr>
              <a:t>- The next level of hierarchy contains IEEE 1149.1 boundary scan (JTAG) modules and the core logic. The clock generation circuitry is isolated from the rest of the design as it is normally hand crafted and carefully simulated.</a:t>
            </a:r>
            <a:endParaRPr lang="en-GB" altLang="en-US" sz="20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br>
              <a:rPr lang="en-GB" altLang="en-US" sz="2400">
                <a:sym typeface="+mn-ea"/>
              </a:rPr>
            </a:b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5.7 </a:t>
            </a:r>
            <a:r>
              <a:rPr altLang="en-GB">
                <a:sym typeface="+mn-ea"/>
              </a:rPr>
              <a:t>Designing with Memories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
        <p:nvSpPr>
          <p:cNvPr id="8" name="Text Box 7"/>
          <p:cNvSpPr txBox="1"/>
          <p:nvPr/>
        </p:nvSpPr>
        <p:spPr>
          <a:xfrm>
            <a:off x="6185535" y="2167255"/>
            <a:ext cx="5105400" cy="4129405"/>
          </a:xfrm>
          <a:prstGeom prst="rect">
            <a:avLst/>
          </a:prstGeom>
          <a:noFill/>
        </p:spPr>
        <p:txBody>
          <a:bodyPr wrap="square" lIns="0" tIns="0" rIns="0" bIns="0" rtlCol="0" anchor="t">
            <a:spAutoFit/>
          </a:bodyPr>
          <a:p>
            <a:pPr marL="228600" indent="-228600" defTabSz="457200">
              <a:spcBef>
                <a:spcPts val="1000"/>
              </a:spcBef>
              <a:buClr>
                <a:srgbClr val="1E4056"/>
              </a:buClr>
              <a:buSzPct val="75000"/>
              <a:buFont typeface="Barlow"/>
              <a:buChar char="►"/>
            </a:pPr>
            <a:r>
              <a:rPr lang="en-GB" altLang="en-US" sz="2000" dirty="0">
                <a:solidFill>
                  <a:srgbClr val="000000"/>
                </a:solidFill>
              </a:rPr>
              <a:t>Guideline – Keep memory interface pins at the top level of a macro</a:t>
            </a:r>
            <a:r>
              <a:rPr lang="en-US" altLang="en-GB" sz="2000" dirty="0">
                <a:solidFill>
                  <a:srgbClr val="000000"/>
                </a:solidFill>
              </a:rPr>
              <a:t> </a:t>
            </a:r>
            <a:r>
              <a:rPr lang="en-GB" altLang="en-US" sz="2000" dirty="0">
                <a:solidFill>
                  <a:srgbClr val="000000"/>
                </a:solidFill>
              </a:rPr>
              <a:t>cell to allow user</a:t>
            </a:r>
            <a:r>
              <a:rPr lang="en-US" altLang="en-GB" sz="2000" dirty="0">
                <a:solidFill>
                  <a:srgbClr val="000000"/>
                </a:solidFill>
              </a:rPr>
              <a:t> </a:t>
            </a:r>
            <a:r>
              <a:rPr lang="en-GB" altLang="en-US" sz="2000" dirty="0">
                <a:solidFill>
                  <a:srgbClr val="000000"/>
                </a:solidFill>
              </a:rPr>
              <a:t>choice of memory implementation, interface, and test.</a:t>
            </a:r>
            <a:br>
              <a:rPr lang="en-GB" altLang="en-US" sz="2000" dirty="0">
                <a:solidFill>
                  <a:srgbClr val="000000"/>
                </a:solidFill>
              </a:rPr>
            </a:br>
            <a:endParaRPr lang="en-GB" altLang="en-US" sz="2000" dirty="0">
              <a:solidFill>
                <a:srgbClr val="000000"/>
              </a:solidFill>
            </a:endParaRPr>
          </a:p>
          <a:p>
            <a:pPr marL="228600" indent="-228600" defTabSz="457200">
              <a:spcBef>
                <a:spcPts val="1000"/>
              </a:spcBef>
              <a:buClr>
                <a:srgbClr val="1E4056"/>
              </a:buClr>
              <a:buSzPct val="75000"/>
              <a:buFont typeface="Barlow"/>
              <a:buChar char="►"/>
            </a:pPr>
            <a:r>
              <a:rPr lang="en-US" altLang="en-GB" sz="2000" dirty="0">
                <a:solidFill>
                  <a:srgbClr val="000000"/>
                </a:solidFill>
              </a:rPr>
              <a:t>Note _ Synchronous  Rams are the only </a:t>
            </a:r>
            <a:r>
              <a:rPr lang="en-US" altLang="en-GB" sz="2000" dirty="0">
                <a:solidFill>
                  <a:srgbClr val="00B050"/>
                </a:solidFill>
              </a:rPr>
              <a:t>reliable </a:t>
            </a:r>
            <a:r>
              <a:rPr lang="en-US" altLang="en-GB" sz="2000" dirty="0">
                <a:solidFill>
                  <a:srgbClr val="000000"/>
                </a:solidFill>
              </a:rPr>
              <a:t>memories for SoC because asynchronous memories have </a:t>
            </a:r>
            <a:r>
              <a:rPr lang="en-GB" altLang="en-US" sz="2000" dirty="0">
                <a:solidFill>
                  <a:srgbClr val="000000"/>
                </a:solidFill>
              </a:rPr>
              <a:t>problems generating write enable pulses</a:t>
            </a:r>
            <a:r>
              <a:rPr lang="en-US" altLang="en-GB" sz="2000" dirty="0">
                <a:solidFill>
                  <a:srgbClr val="000000"/>
                </a:solidFill>
              </a:rPr>
              <a:t> since it’s not associated with the system clock .</a:t>
            </a:r>
            <a:br>
              <a:rPr lang="en-US" altLang="en-GB" sz="2000" dirty="0">
                <a:solidFill>
                  <a:srgbClr val="000000"/>
                </a:solidFill>
              </a:rPr>
            </a:br>
            <a:br>
              <a:rPr lang="en-US" altLang="en-GB" sz="2000" dirty="0">
                <a:solidFill>
                  <a:srgbClr val="000000"/>
                </a:solidFill>
              </a:rPr>
            </a:br>
            <a:r>
              <a:rPr lang="en-US" altLang="en-GB" sz="2000" dirty="0">
                <a:solidFill>
                  <a:srgbClr val="000000"/>
                </a:solidFill>
              </a:rPr>
              <a:t>Plus Synchrounous Rams are </a:t>
            </a:r>
            <a:r>
              <a:rPr lang="en-US" altLang="en-GB" sz="2000" dirty="0">
                <a:solidFill>
                  <a:srgbClr val="00B050"/>
                </a:solidFill>
              </a:rPr>
              <a:t>faster </a:t>
            </a:r>
            <a:r>
              <a:rPr lang="en-US" altLang="en-GB" sz="2000" dirty="0">
                <a:solidFill>
                  <a:srgbClr val="000000"/>
                </a:solidFill>
              </a:rPr>
              <a:t>than asynchrounous ones . yet they need more </a:t>
            </a:r>
            <a:r>
              <a:rPr lang="en-US" altLang="en-GB" sz="2000" dirty="0">
                <a:solidFill>
                  <a:srgbClr val="FF0000"/>
                </a:solidFill>
              </a:rPr>
              <a:t>complex </a:t>
            </a:r>
            <a:r>
              <a:rPr lang="en-US" altLang="en-GB" sz="2000" dirty="0">
                <a:solidFill>
                  <a:srgbClr val="000000"/>
                </a:solidFill>
              </a:rPr>
              <a:t>interfaces.</a:t>
            </a:r>
            <a:endParaRPr lang="en-US" altLang="en-GB" sz="2000" dirty="0">
              <a:solidFill>
                <a:srgbClr val="000000"/>
              </a:solidFill>
            </a:endParaRPr>
          </a:p>
        </p:txBody>
      </p:sp>
      <p:pic>
        <p:nvPicPr>
          <p:cNvPr id="9" name="Picture 8"/>
          <p:cNvPicPr>
            <a:picLocks noChangeAspect="1"/>
          </p:cNvPicPr>
          <p:nvPr/>
        </p:nvPicPr>
        <p:blipFill>
          <a:blip r:embed="rId1"/>
          <a:stretch>
            <a:fillRect/>
          </a:stretch>
        </p:blipFill>
        <p:spPr>
          <a:xfrm>
            <a:off x="342900" y="2035810"/>
            <a:ext cx="5360670" cy="30327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20000"/>
          </a:bodyPr>
          <a:lstStyle/>
          <a:p>
            <a:pPr marL="0" indent="0">
              <a:buSzPct val="100000"/>
              <a:buNone/>
            </a:pPr>
            <a:br>
              <a:rPr lang="en-GB" altLang="en-US" sz="2400">
                <a:sym typeface="+mn-ea"/>
              </a:rPr>
            </a:b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5.8</a:t>
            </a:r>
            <a:r>
              <a:rPr altLang="en-GB" dirty="0"/>
              <a:t> Code Profiling</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fld>
            <a:endParaRPr lang="en-US" dirty="0"/>
          </a:p>
        </p:txBody>
      </p:sp>
      <p:sp>
        <p:nvSpPr>
          <p:cNvPr id="8" name="Text Box 7"/>
          <p:cNvSpPr txBox="1"/>
          <p:nvPr/>
        </p:nvSpPr>
        <p:spPr>
          <a:xfrm>
            <a:off x="464820" y="1355725"/>
            <a:ext cx="9314180" cy="1795145"/>
          </a:xfrm>
          <a:prstGeom prst="rect">
            <a:avLst/>
          </a:prstGeom>
          <a:noFill/>
        </p:spPr>
        <p:txBody>
          <a:bodyPr wrap="square" lIns="0" tIns="0" rIns="0" bIns="0" rtlCol="0" anchor="t">
            <a:spAutoFit/>
          </a:bodyPr>
          <a:p>
            <a:pPr marL="228600" indent="-228600" defTabSz="457200">
              <a:spcBef>
                <a:spcPts val="1000"/>
              </a:spcBef>
              <a:buClr>
                <a:srgbClr val="1E4056"/>
              </a:buClr>
              <a:buSzPct val="75000"/>
              <a:buFont typeface="Barlow"/>
              <a:buChar char="►"/>
            </a:pPr>
            <a:r>
              <a:rPr lang="en-GB" altLang="en-US" sz="2000" dirty="0">
                <a:solidFill>
                  <a:srgbClr val="000000"/>
                </a:solidFill>
              </a:rPr>
              <a:t>Guideline – </a:t>
            </a:r>
            <a:r>
              <a:rPr sz="2000" dirty="0">
                <a:solidFill>
                  <a:srgbClr val="000000"/>
                </a:solidFill>
              </a:rPr>
              <a:t> code profiling can assist you in optimizing your code for simulation</a:t>
            </a:r>
            <a:r>
              <a:rPr lang="en-US" sz="2000" dirty="0">
                <a:solidFill>
                  <a:srgbClr val="000000"/>
                </a:solidFill>
              </a:rPr>
              <a:t> speed .</a:t>
            </a:r>
            <a:endParaRPr sz="2000" dirty="0">
              <a:solidFill>
                <a:srgbClr val="000000"/>
              </a:solidFill>
            </a:endParaRPr>
          </a:p>
          <a:p>
            <a:pPr marL="228600" indent="-228600" defTabSz="457200">
              <a:spcBef>
                <a:spcPts val="1000"/>
              </a:spcBef>
              <a:buClr>
                <a:srgbClr val="1E4056"/>
              </a:buClr>
              <a:buSzPct val="75000"/>
              <a:buFont typeface="Barlow"/>
              <a:buChar char="►"/>
            </a:pPr>
            <a:r>
              <a:rPr lang="en-US" altLang="en-GB" sz="2000" dirty="0">
                <a:solidFill>
                  <a:srgbClr val="000000"/>
                </a:solidFill>
                <a:sym typeface="+mn-ea"/>
              </a:rPr>
              <a:t>Note _T</a:t>
            </a:r>
            <a:r>
              <a:rPr sz="2000" dirty="0">
                <a:solidFill>
                  <a:srgbClr val="000000"/>
                </a:solidFill>
                <a:sym typeface="+mn-ea"/>
              </a:rPr>
              <a:t>racking how often each line of code is executed during a given simulation run</a:t>
            </a:r>
            <a:r>
              <a:rPr lang="en-US" sz="2000" dirty="0">
                <a:solidFill>
                  <a:srgbClr val="000000"/>
                </a:solidFill>
                <a:sym typeface="+mn-ea"/>
              </a:rPr>
              <a:t> can reveal bottleneck areas in the model .</a:t>
            </a:r>
            <a:endParaRPr sz="2000" dirty="0">
              <a:solidFill>
                <a:srgbClr val="000000"/>
              </a:solidFill>
              <a:sym typeface="+mn-ea"/>
            </a:endParaRPr>
          </a:p>
          <a:p>
            <a:pPr indent="0" defTabSz="457200">
              <a:spcBef>
                <a:spcPts val="1000"/>
              </a:spcBef>
              <a:buClr>
                <a:srgbClr val="1E4056"/>
              </a:buClr>
              <a:buSzPct val="75000"/>
              <a:buFont typeface="Barlow"/>
              <a:buNone/>
            </a:pPr>
            <a:br>
              <a:rPr sz="2000" dirty="0">
                <a:solidFill>
                  <a:srgbClr val="000000"/>
                </a:solidFill>
              </a:rPr>
            </a:br>
            <a:endParaRPr lang="en-GB" altLang="en-US" sz="20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ADI 2019 16x9 Light</Template>
  <TotalTime>0</TotalTime>
  <Words>13877</Words>
  <Application>WPS Presentation</Application>
  <PresentationFormat>Widescreen</PresentationFormat>
  <Paragraphs>390</Paragraphs>
  <Slides>26</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26</vt:i4>
      </vt:variant>
    </vt:vector>
  </HeadingPairs>
  <TitlesOfParts>
    <vt:vector size="45" baseType="lpstr">
      <vt:lpstr>Arial</vt:lpstr>
      <vt:lpstr>SimSun</vt:lpstr>
      <vt:lpstr>Wingdings</vt:lpstr>
      <vt:lpstr>Barlow</vt:lpstr>
      <vt:lpstr>Segoe Print</vt:lpstr>
      <vt:lpstr>Barlow</vt:lpstr>
      <vt:lpstr>Arial Black</vt:lpstr>
      <vt:lpstr>Arial</vt:lpstr>
      <vt:lpstr>Wingdings 3</vt:lpstr>
      <vt:lpstr>Times New Roman</vt:lpstr>
      <vt:lpstr>Arial-BoldMT</vt:lpstr>
      <vt:lpstr>Times-Roman</vt:lpstr>
      <vt:lpstr>Courier</vt:lpstr>
      <vt:lpstr>Times-Bold</vt:lpstr>
      <vt:lpstr>Microsoft YaHei</vt:lpstr>
      <vt:lpstr>Arial Unicode MS</vt:lpstr>
      <vt:lpstr>Courier-Oblique</vt:lpstr>
      <vt:lpstr>Courier New</vt:lpstr>
      <vt:lpstr>1_ADITemplate</vt:lpstr>
      <vt:lpstr>PowerPoint 演示文稿</vt:lpstr>
      <vt:lpstr>5.5 Coding for synthesis </vt:lpstr>
      <vt:lpstr>5.5 Coding for synthesis</vt:lpstr>
      <vt:lpstr>5.5 Coding for synthesis</vt:lpstr>
      <vt:lpstr>5.5 Coding for synthesis</vt:lpstr>
      <vt:lpstr>5.5 Coding for synthesis </vt:lpstr>
      <vt:lpstr>5.5 Coding for synthesis</vt:lpstr>
      <vt:lpstr>5.5 Coding for synthesis </vt:lpstr>
      <vt:lpstr>5.5 Coding for synthesis</vt:lpstr>
      <vt:lpstr>5.5 Coding for synthesis </vt:lpstr>
      <vt:lpstr>5.5 Coding for synthesis </vt:lpstr>
      <vt:lpstr>5.5 Coding for synthesis </vt:lpstr>
      <vt:lpstr>5.5 Coding for synthesis </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5.7 Designing with Memories</vt:lpstr>
      <vt:lpstr>5.6 Partitioning for Synthesis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Slides: Header Titles (Arial 36 pt.)</dc:title>
  <dc:creator>Mehana, Ahmed</dc:creator>
  <dc:description>ADI PowerPoint v.8 © 1995 - 2019 Analog Devices, Inc. All Rights Reserved</dc:description>
  <cp:lastModifiedBy>ADHM</cp:lastModifiedBy>
  <cp:revision>562</cp:revision>
  <cp:lastPrinted>2015-04-02T14:52:00Z</cp:lastPrinted>
  <dcterms:created xsi:type="dcterms:W3CDTF">2022-01-31T08:24:00Z</dcterms:created>
  <dcterms:modified xsi:type="dcterms:W3CDTF">2022-10-30T07:24:20Z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87A482AE2C7542B39C4D3A3EAFC5F4CB</vt:lpwstr>
  </property>
  <property fmtid="{D5CDD505-2E9C-101B-9397-08002B2CF9AE}" pid="3" name="KSOProductBuildVer">
    <vt:lpwstr>2057-11.2.0.11306</vt:lpwstr>
  </property>
</Properties>
</file>