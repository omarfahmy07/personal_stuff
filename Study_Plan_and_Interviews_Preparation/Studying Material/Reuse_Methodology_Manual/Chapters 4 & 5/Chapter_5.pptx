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12B_9F49C430.xml" ContentType="application/vnd.ms-powerpoint.comments+xml"/>
  <Override PartName="/ppt/comments/modernComment_139_3BE5F483.xml" ContentType="application/vnd.ms-powerpoint.comments+xml"/>
  <Override PartName="/ppt/comments/modernComment_13C_959A3BFF.xml" ContentType="application/vnd.ms-powerpoint.comments+xml"/>
  <Override PartName="/ppt/comments/modernComment_13D_4F84D3B.xml" ContentType="application/vnd.ms-powerpoint.comments+xml"/>
  <Override PartName="/ppt/comments/modernComment_13E_2F4AC41.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1"/>
  </p:sldMasterIdLst>
  <p:notesMasterIdLst>
    <p:notesMasterId r:id="rId58"/>
  </p:notesMasterIdLst>
  <p:handoutMasterIdLst>
    <p:handoutMasterId r:id="rId59"/>
  </p:handoutMasterIdLst>
  <p:sldIdLst>
    <p:sldId id="277" r:id="rId2"/>
    <p:sldId id="283" r:id="rId3"/>
    <p:sldId id="284" r:id="rId4"/>
    <p:sldId id="319" r:id="rId5"/>
    <p:sldId id="299" r:id="rId6"/>
    <p:sldId id="300" r:id="rId7"/>
    <p:sldId id="301" r:id="rId8"/>
    <p:sldId id="302" r:id="rId9"/>
    <p:sldId id="303" r:id="rId10"/>
    <p:sldId id="304" r:id="rId11"/>
    <p:sldId id="306" r:id="rId12"/>
    <p:sldId id="307" r:id="rId13"/>
    <p:sldId id="308" r:id="rId14"/>
    <p:sldId id="312" r:id="rId15"/>
    <p:sldId id="313" r:id="rId16"/>
    <p:sldId id="310" r:id="rId17"/>
    <p:sldId id="314" r:id="rId18"/>
    <p:sldId id="315" r:id="rId19"/>
    <p:sldId id="316" r:id="rId20"/>
    <p:sldId id="317" r:id="rId21"/>
    <p:sldId id="318" r:id="rId22"/>
    <p:sldId id="320" r:id="rId23"/>
    <p:sldId id="321" r:id="rId24"/>
    <p:sldId id="331" r:id="rId25"/>
    <p:sldId id="324" r:id="rId26"/>
    <p:sldId id="325" r:id="rId27"/>
    <p:sldId id="326" r:id="rId28"/>
    <p:sldId id="327" r:id="rId29"/>
    <p:sldId id="328" r:id="rId30"/>
    <p:sldId id="329" r:id="rId31"/>
    <p:sldId id="330" r:id="rId32"/>
    <p:sldId id="332" r:id="rId33"/>
    <p:sldId id="333" r:id="rId34"/>
    <p:sldId id="334" r:id="rId35"/>
    <p:sldId id="364" r:id="rId36"/>
    <p:sldId id="365" r:id="rId37"/>
    <p:sldId id="322" r:id="rId38"/>
    <p:sldId id="366" r:id="rId39"/>
    <p:sldId id="367" r:id="rId40"/>
    <p:sldId id="368" r:id="rId41"/>
    <p:sldId id="351" r:id="rId42"/>
    <p:sldId id="352" r:id="rId43"/>
    <p:sldId id="363" r:id="rId44"/>
    <p:sldId id="335" r:id="rId45"/>
    <p:sldId id="337" r:id="rId46"/>
    <p:sldId id="339" r:id="rId47"/>
    <p:sldId id="343" r:id="rId48"/>
    <p:sldId id="344" r:id="rId49"/>
    <p:sldId id="345" r:id="rId50"/>
    <p:sldId id="384" r:id="rId51"/>
    <p:sldId id="348" r:id="rId52"/>
    <p:sldId id="349" r:id="rId53"/>
    <p:sldId id="341" r:id="rId54"/>
    <p:sldId id="342" r:id="rId55"/>
    <p:sldId id="388" r:id="rId56"/>
    <p:sldId id="386" r:id="rId57"/>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B8359E8-31D4-33EE-549F-7EF2AD87462F}" name="Omar Fahmy" initials="OF" userId="11824ac95cbd284d"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 " initials=" "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7E8EA"/>
    <a:srgbClr val="CBCED2"/>
    <a:srgbClr val="27B34F"/>
    <a:srgbClr val="009FBD"/>
    <a:srgbClr val="009F59"/>
    <a:srgbClr val="003D61"/>
    <a:srgbClr val="3DDCE6"/>
    <a:srgbClr val="7C4A8B"/>
    <a:srgbClr val="1E40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95" autoAdjust="0"/>
  </p:normalViewPr>
  <p:slideViewPr>
    <p:cSldViewPr snapToGrid="0" snapToObjects="1">
      <p:cViewPr varScale="1">
        <p:scale>
          <a:sx n="63" d="100"/>
          <a:sy n="63" d="100"/>
        </p:scale>
        <p:origin x="764" y="56"/>
      </p:cViewPr>
      <p:guideLst/>
    </p:cSldViewPr>
  </p:slideViewPr>
  <p:outlineViewPr>
    <p:cViewPr>
      <p:scale>
        <a:sx n="33" d="100"/>
        <a:sy n="33" d="100"/>
      </p:scale>
      <p:origin x="0" y="1216"/>
    </p:cViewPr>
  </p:outlineViewPr>
  <p:notesTextViewPr>
    <p:cViewPr>
      <p:scale>
        <a:sx n="1" d="1"/>
        <a:sy n="1" d="1"/>
      </p:scale>
      <p:origin x="0" y="0"/>
    </p:cViewPr>
  </p:notesTextViewPr>
  <p:sorterViewPr>
    <p:cViewPr>
      <p:scale>
        <a:sx n="66" d="100"/>
        <a:sy n="66" d="100"/>
      </p:scale>
      <p:origin x="0" y="0"/>
    </p:cViewPr>
  </p:sorterViewPr>
  <p:notesViewPr>
    <p:cSldViewPr snapToGrid="0" snapToObjects="1" showGuides="1">
      <p:cViewPr varScale="1">
        <p:scale>
          <a:sx n="113" d="100"/>
          <a:sy n="113" d="100"/>
        </p:scale>
        <p:origin x="3032" y="17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ommentAuthors" Target="commentAuthors.xml"/><Relationship Id="rId65"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omments/modernComment_12B_9F49C430.xml><?xml version="1.0" encoding="utf-8"?>
<p188:cmLst xmlns:a="http://schemas.openxmlformats.org/drawingml/2006/main" xmlns:r="http://schemas.openxmlformats.org/officeDocument/2006/relationships" xmlns:p188="http://schemas.microsoft.com/office/powerpoint/2018/8/main">
  <p188:cm id="{26F72B34-6D1D-42A4-A5F9-AF01B4CBAA34}" authorId="{0B8359E8-31D4-33EE-549F-7EF2AD87462F}" created="2022-10-22T13:42:48.875">
    <pc:sldMkLst xmlns:pc="http://schemas.microsoft.com/office/powerpoint/2013/main/command">
      <pc:docMk/>
      <pc:sldMk cId="2672411696" sldId="299"/>
    </pc:sldMkLst>
    <p188:txBody>
      <a:bodyPr/>
      <a:lstStyle/>
      <a:p>
        <a:r>
          <a:rPr lang="en-US"/>
          <a:t>The table below is a recommended naming convention.</a:t>
        </a:r>
      </a:p>
    </p188:txBody>
  </p188:cm>
</p188:cmLst>
</file>

<file path=ppt/comments/modernComment_13C_959A3BFF.xml><?xml version="1.0" encoding="utf-8"?>
<p188:cmLst xmlns:a="http://schemas.openxmlformats.org/drawingml/2006/main" xmlns:r="http://schemas.openxmlformats.org/officeDocument/2006/relationships" xmlns:p188="http://schemas.microsoft.com/office/powerpoint/2018/8/main">
  <p188:cm id="{71ED9969-64BF-4D1F-B4CA-442CB2568F96}" authorId="{0B8359E8-31D4-33EE-549F-7EF2AD87462F}" created="2022-10-28T11:32:08.318">
    <pc:sldMkLst xmlns:pc="http://schemas.microsoft.com/office/powerpoint/2013/main/command">
      <pc:docMk/>
      <pc:sldMk cId="2509913087" sldId="316"/>
    </pc:sldMkLst>
    <p188:txBody>
      <a:bodyPr/>
      <a:lstStyle/>
      <a:p>
        <a:r>
          <a:rPr lang="en-US"/>
          <a:t>`ifndef is supported only in Verilog 2005, and the release date of the book was before that. So, I guess this is why they did not recommend using this.</a:t>
        </a:r>
      </a:p>
    </p188:txBody>
  </p188:cm>
</p188:cmLst>
</file>

<file path=ppt/comments/modernComment_13D_4F84D3B.xml><?xml version="1.0" encoding="utf-8"?>
<p188:cmLst xmlns:a="http://schemas.openxmlformats.org/drawingml/2006/main" xmlns:r="http://schemas.openxmlformats.org/officeDocument/2006/relationships" xmlns:p188="http://schemas.microsoft.com/office/powerpoint/2018/8/main">
  <p188:cm id="{1E46EC0D-2405-4347-8068-7F271135B86F}" authorId="{0B8359E8-31D4-33EE-549F-7EF2AD87462F}" created="2022-10-29T10:51:10.066">
    <pc:sldMkLst xmlns:pc="http://schemas.microsoft.com/office/powerpoint/2013/main/command">
      <pc:docMk/>
      <pc:sldMk cId="83381563" sldId="317"/>
    </pc:sldMkLst>
    <p188:txBody>
      <a:bodyPr/>
      <a:lstStyle/>
      <a:p>
        <a:r>
          <a:rPr lang="en-US"/>
          <a:t>DesignWare library is a library in the synthesis tool that contains ready functional modules for some arithmetic operations. The DesignWare library is a good example of reusability since the modules in it can be reused in multiple designs.</a:t>
        </a:r>
      </a:p>
    </p188:txBody>
  </p188:cm>
  <p188:cm id="{344F9E35-F46F-492F-B0B9-CCC137B4AB09}" authorId="{0B8359E8-31D4-33EE-549F-7EF2AD87462F}" created="2022-10-29T10:55:25.630">
    <ac:deMkLst xmlns:ac="http://schemas.microsoft.com/office/drawing/2013/main/command">
      <pc:docMk xmlns:pc="http://schemas.microsoft.com/office/powerpoint/2013/main/command"/>
      <pc:sldMk xmlns:pc="http://schemas.microsoft.com/office/powerpoint/2013/main/command" cId="83381563" sldId="317"/>
      <ac:spMk id="2" creationId="{2FCFB160-04CF-2EFB-9EAA-1FE08AB5F180}"/>
    </ac:deMkLst>
    <p188:txBody>
      <a:bodyPr/>
      <a:lstStyle/>
      <a:p>
        <a:r>
          <a:rPr lang="en-US"/>
          <a:t>We can instantiate modules directly from the technology library we are using. However, this makes the design not portable to other technologies.</a:t>
        </a:r>
      </a:p>
    </p188:txBody>
  </p188:cm>
  <p188:cm id="{EA7B0791-97F8-467E-975C-1B32A0D22F86}" authorId="{0B8359E8-31D4-33EE-549F-7EF2AD87462F}" created="2022-10-29T11:03:32.139">
    <pc:sldMkLst xmlns:pc="http://schemas.microsoft.com/office/powerpoint/2013/main/command">
      <pc:docMk/>
      <pc:sldMk cId="83381563" sldId="317"/>
    </pc:sldMkLst>
    <p188:txBody>
      <a:bodyPr/>
      <a:lstStyle/>
      <a:p>
        <a:r>
          <a:rPr lang="en-US"/>
          <a:t>GTECH is a technology-independent library that contains logical components as well. The first step in synthesis is that the synthesis tool translates the RTL into GTECH cells before mapping it to the used technology.</a:t>
        </a:r>
      </a:p>
    </p188:txBody>
  </p188:cm>
</p188:cmLst>
</file>

<file path=ppt/comments/modernComment_13E_2F4AC41.xml><?xml version="1.0" encoding="utf-8"?>
<p188:cmLst xmlns:a="http://schemas.openxmlformats.org/drawingml/2006/main" xmlns:r="http://schemas.openxmlformats.org/officeDocument/2006/relationships" xmlns:p188="http://schemas.microsoft.com/office/powerpoint/2018/8/main">
  <p188:cm id="{F99169DB-8E9B-426D-83B6-79B9129A5FD4}" authorId="{0B8359E8-31D4-33EE-549F-7EF2AD87462F}" created="2022-10-29T11:49:51.910">
    <pc:sldMkLst xmlns:pc="http://schemas.microsoft.com/office/powerpoint/2013/main/command">
      <pc:docMk/>
      <pc:sldMk cId="49589313" sldId="318"/>
    </pc:sldMkLst>
    <p188:txBody>
      <a:bodyPr/>
      <a:lstStyle/>
      <a:p>
        <a:r>
          <a:rPr lang="en-US"/>
          <a:t>Problem 1: timing becomes challenging la2enena ba2ena 3ayzeen el signal te propagate men flop lel tany fi nos clock cycle bs. Mesh keda w bs, da kaman enena ben2ol eno hayeb2a nos clock cycle da optimistic thinking la2e actually hayeb2a fih setup window abl el edge el gy, wel moshkela el akbar kaman en el duty cycle physically mesh hateb2a 50% bzbt, da hayeb2a function fel clock tree insertion which depends on the technology. Fa fel waqe3 el fadel lel signal 3ashan te propagate hayeb2a a2al kaman men nos clock cycle.</a:t>
        </a:r>
      </a:p>
    </p188:txBody>
  </p188:cm>
</p188:cmLst>
</file>

<file path=ppt/comments/modernComment_139_3BE5F483.xml><?xml version="1.0" encoding="utf-8"?>
<p188:cmLst xmlns:a="http://schemas.openxmlformats.org/drawingml/2006/main" xmlns:r="http://schemas.openxmlformats.org/officeDocument/2006/relationships" xmlns:p188="http://schemas.microsoft.com/office/powerpoint/2018/8/main">
  <p188:cm id="{D8A1CEAA-1EBD-4A31-8A72-BCF5147C03FE}" authorId="{0B8359E8-31D4-33EE-549F-7EF2AD87462F}" created="2022-10-22T19:00:40.525">
    <pc:sldMkLst xmlns:pc="http://schemas.microsoft.com/office/powerpoint/2013/main/command">
      <pc:docMk/>
      <pc:sldMk cId="1004926083" sldId="313"/>
    </pc:sldMkLst>
    <p188:txBody>
      <a:bodyPr/>
      <a:lstStyle/>
      <a:p>
        <a:r>
          <a:rPr lang="en-US"/>
          <a:t>Both methods will lead to the same hardware, it is just matter of simulation time.</a:t>
        </a:r>
      </a:p>
    </p188:txBody>
  </p188:cm>
</p188:cmLst>
</file>

<file path=ppt/handoutMasters/_rels/handoutMaster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ctr"/>
          <a:lstStyle>
            <a:lvl1pPr algn="l">
              <a:defRPr sz="1200"/>
            </a:lvl1pPr>
          </a:lstStyle>
          <a:p>
            <a:endParaRPr lang="en-US" sz="1000">
              <a:solidFill>
                <a:schemeClr val="bg1">
                  <a:lumMod val="50000"/>
                </a:scheme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3"/>
          </p:nvPr>
        </p:nvSpPr>
        <p:spPr>
          <a:xfrm>
            <a:off x="6597444" y="8829967"/>
            <a:ext cx="411333" cy="464820"/>
          </a:xfrm>
          <a:prstGeom prst="rect">
            <a:avLst/>
          </a:prstGeom>
        </p:spPr>
        <p:txBody>
          <a:bodyPr vert="horz" lIns="93177" tIns="46589" rIns="93177" bIns="46589" rtlCol="0" anchor="ctr"/>
          <a:lstStyle>
            <a:lvl1pPr algn="r">
              <a:defRPr sz="1200"/>
            </a:lvl1pPr>
          </a:lstStyle>
          <a:p>
            <a:fld id="{013FF889-DBB5-E540-8E75-47BFCA628842}" type="slidenum">
              <a:rPr lang="en-US" b="1" smtClean="0">
                <a:solidFill>
                  <a:schemeClr val="bg1">
                    <a:lumMod val="50000"/>
                  </a:schemeClr>
                </a:solidFill>
                <a:latin typeface="Arial" panose="020B0604020202020204" pitchFamily="34" charset="0"/>
                <a:cs typeface="Arial" panose="020B0604020202020204" pitchFamily="34" charset="0"/>
              </a:rPr>
              <a:t>‹#›</a:t>
            </a:fld>
            <a:endParaRPr lang="en-US" b="1">
              <a:solidFill>
                <a:schemeClr val="bg1">
                  <a:lumMod val="50000"/>
                </a:schemeClr>
              </a:solidFill>
              <a:latin typeface="Arial" panose="020B0604020202020204" pitchFamily="34" charset="0"/>
              <a:cs typeface="Arial" panose="020B0604020202020204" pitchFamily="34" charset="0"/>
            </a:endParaRPr>
          </a:p>
        </p:txBody>
      </p:sp>
      <p:sp>
        <p:nvSpPr>
          <p:cNvPr id="6" name="Rectangle 5"/>
          <p:cNvSpPr/>
          <p:nvPr/>
        </p:nvSpPr>
        <p:spPr>
          <a:xfrm>
            <a:off x="3037839" y="8829967"/>
            <a:ext cx="3271521" cy="464820"/>
          </a:xfrm>
          <a:prstGeom prst="rect">
            <a:avLst/>
          </a:prstGeom>
        </p:spPr>
        <p:txBody>
          <a:bodyPr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FFFFFF">
                    <a:lumMod val="65000"/>
                  </a:srgbClr>
                </a:solidFill>
                <a:effectLst/>
                <a:uLnTx/>
                <a:uFillTx/>
                <a:latin typeface="Arial" panose="020B0604020202020204" pitchFamily="34" charset="0"/>
                <a:ea typeface="+mn-ea"/>
                <a:cs typeface="Arial" panose="020B0604020202020204" pitchFamily="34" charset="0"/>
              </a:rPr>
              <a:t>Analog Devices Confidential Information</a:t>
            </a:r>
          </a:p>
        </p:txBody>
      </p:sp>
      <p:sp>
        <p:nvSpPr>
          <p:cNvPr id="7" name="Header Placeholder 1"/>
          <p:cNvSpPr>
            <a:spLocks noGrp="1"/>
          </p:cNvSpPr>
          <p:nvPr>
            <p:ph type="hdr" sz="quarter"/>
          </p:nvPr>
        </p:nvSpPr>
        <p:spPr>
          <a:xfrm>
            <a:off x="1676234" y="108612"/>
            <a:ext cx="4282113" cy="464820"/>
          </a:xfrm>
          <a:prstGeom prst="rect">
            <a:avLst/>
          </a:prstGeom>
        </p:spPr>
        <p:txBody>
          <a:bodyPr vert="horz" lIns="93177" tIns="0" rIns="93177" bIns="0" rtlCol="0" anchor="t"/>
          <a:lstStyle>
            <a:lvl1pPr algn="l">
              <a:defRPr sz="1200"/>
            </a:lvl1pPr>
          </a:lstStyle>
          <a:p>
            <a:endParaRPr lang="en-US" sz="1000" b="1" dirty="0">
              <a:solidFill>
                <a:schemeClr val="bg1">
                  <a:lumMod val="50000"/>
                </a:schemeClr>
              </a:solidFill>
              <a:latin typeface="Arial" panose="020B0604020202020204" pitchFamily="34" charset="0"/>
              <a:cs typeface="Arial" panose="020B0604020202020204" pitchFamily="34" charset="0"/>
            </a:endParaRPr>
          </a:p>
        </p:txBody>
      </p:sp>
      <p:sp>
        <p:nvSpPr>
          <p:cNvPr id="8" name="Date Placeholder 2"/>
          <p:cNvSpPr>
            <a:spLocks noGrp="1"/>
          </p:cNvSpPr>
          <p:nvPr>
            <p:ph type="dt" sz="quarter" idx="1"/>
          </p:nvPr>
        </p:nvSpPr>
        <p:spPr>
          <a:xfrm>
            <a:off x="6056670" y="108612"/>
            <a:ext cx="952107" cy="464820"/>
          </a:xfrm>
          <a:prstGeom prst="rect">
            <a:avLst/>
          </a:prstGeom>
        </p:spPr>
        <p:txBody>
          <a:bodyPr vert="horz" lIns="93177" tIns="0" rIns="93177" bIns="0" rtlCol="0" anchor="t"/>
          <a:lstStyle>
            <a:lvl1pPr algn="r">
              <a:defRPr sz="1200"/>
            </a:lvl1pPr>
          </a:lstStyle>
          <a:p>
            <a:fld id="{2C2AD557-2032-D74A-B281-F0540E660787}" type="datetimeFigureOut">
              <a:rPr lang="en-US" sz="1000" smtClean="0">
                <a:solidFill>
                  <a:schemeClr val="bg1">
                    <a:lumMod val="50000"/>
                  </a:schemeClr>
                </a:solidFill>
                <a:latin typeface="Arial" panose="020B0604020202020204" pitchFamily="34" charset="0"/>
                <a:cs typeface="Arial" panose="020B0604020202020204" pitchFamily="34" charset="0"/>
              </a:rPr>
              <a:t>10/30/2022</a:t>
            </a:fld>
            <a:endParaRPr lang="en-US" sz="1000">
              <a:solidFill>
                <a:schemeClr val="bg1">
                  <a:lumMod val="50000"/>
                </a:schemeClr>
              </a:solidFill>
              <a:latin typeface="Arial" panose="020B0604020202020204" pitchFamily="34" charset="0"/>
              <a:cs typeface="Arial" panose="020B0604020202020204" pitchFamily="34" charset="0"/>
            </a:endParaRPr>
          </a:p>
        </p:txBody>
      </p:sp>
      <p:pic>
        <p:nvPicPr>
          <p:cNvPr id="9" name="Picture 8"/>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99551" y="108612"/>
            <a:ext cx="1323726" cy="535440"/>
          </a:xfrm>
          <a:prstGeom prst="rect">
            <a:avLst/>
          </a:prstGeom>
          <a:noFill/>
          <a:ln>
            <a:noFill/>
          </a:ln>
        </p:spPr>
      </p:pic>
    </p:spTree>
    <p:extLst>
      <p:ext uri="{BB962C8B-B14F-4D97-AF65-F5344CB8AC3E}">
        <p14:creationId xmlns:p14="http://schemas.microsoft.com/office/powerpoint/2010/main" val="49313465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06400" y="814897"/>
            <a:ext cx="61976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ctr"/>
          <a:lstStyle>
            <a:lvl1pPr algn="l">
              <a:defRPr sz="1000">
                <a:latin typeface="Arial" panose="020B0604020202020204" pitchFamily="34" charset="0"/>
                <a:cs typeface="Arial" panose="020B0604020202020204" pitchFamily="34" charset="0"/>
              </a:defRPr>
            </a:lvl1pPr>
          </a:lstStyle>
          <a:p>
            <a:r>
              <a:rPr lang="en-US" i="1" dirty="0">
                <a:solidFill>
                  <a:srgbClr val="FFFFFF">
                    <a:lumMod val="65000"/>
                  </a:srgbClr>
                </a:solidFill>
              </a:rPr>
              <a:t>Footer</a:t>
            </a:r>
          </a:p>
        </p:txBody>
      </p:sp>
      <p:sp>
        <p:nvSpPr>
          <p:cNvPr id="7" name="Slide Number Placeholder 6"/>
          <p:cNvSpPr>
            <a:spLocks noGrp="1"/>
          </p:cNvSpPr>
          <p:nvPr>
            <p:ph type="sldNum" sz="quarter" idx="5"/>
          </p:nvPr>
        </p:nvSpPr>
        <p:spPr>
          <a:xfrm>
            <a:off x="6309360" y="8829967"/>
            <a:ext cx="699418" cy="464820"/>
          </a:xfrm>
          <a:prstGeom prst="rect">
            <a:avLst/>
          </a:prstGeom>
        </p:spPr>
        <p:txBody>
          <a:bodyPr vert="horz" lIns="93177" tIns="46589" rIns="93177" bIns="46589" rtlCol="0" anchor="ctr"/>
          <a:lstStyle>
            <a:lvl1pPr algn="r">
              <a:defRPr sz="1000" b="1">
                <a:solidFill>
                  <a:schemeClr val="tx1">
                    <a:lumMod val="50000"/>
                    <a:lumOff val="50000"/>
                  </a:schemeClr>
                </a:solidFill>
                <a:latin typeface="Arial" panose="020B0604020202020204" pitchFamily="34" charset="0"/>
                <a:cs typeface="Arial" panose="020B0604020202020204" pitchFamily="34" charset="0"/>
              </a:defRPr>
            </a:lvl1pPr>
          </a:lstStyle>
          <a:p>
            <a:fld id="{900B8651-D313-4300-801F-836567026953}" type="slidenum">
              <a:rPr lang="en-US" smtClean="0"/>
              <a:pPr/>
              <a:t>‹#›</a:t>
            </a:fld>
            <a:endParaRPr lang="en-US" dirty="0"/>
          </a:p>
        </p:txBody>
      </p:sp>
      <p:sp>
        <p:nvSpPr>
          <p:cNvPr id="12" name="Rectangle 11"/>
          <p:cNvSpPr/>
          <p:nvPr/>
        </p:nvSpPr>
        <p:spPr>
          <a:xfrm>
            <a:off x="3037839" y="8829967"/>
            <a:ext cx="3271521" cy="464820"/>
          </a:xfrm>
          <a:prstGeom prst="rect">
            <a:avLst/>
          </a:prstGeom>
        </p:spPr>
        <p:txBody>
          <a:bodyPr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FFFFFF">
                    <a:lumMod val="65000"/>
                  </a:srgbClr>
                </a:solidFill>
                <a:effectLst/>
                <a:uLnTx/>
                <a:uFillTx/>
                <a:latin typeface="Arial" panose="020B0604020202020204" pitchFamily="34" charset="0"/>
                <a:ea typeface="+mn-ea"/>
                <a:cs typeface="Arial" panose="020B0604020202020204" pitchFamily="34" charset="0"/>
              </a:rPr>
              <a:t>Analog Devices Confidential Information</a:t>
            </a:r>
          </a:p>
        </p:txBody>
      </p:sp>
      <p:sp>
        <p:nvSpPr>
          <p:cNvPr id="9" name="Header Placeholder 1"/>
          <p:cNvSpPr>
            <a:spLocks noGrp="1"/>
          </p:cNvSpPr>
          <p:nvPr>
            <p:ph type="hdr" sz="quarter"/>
          </p:nvPr>
        </p:nvSpPr>
        <p:spPr>
          <a:xfrm>
            <a:off x="1676234" y="108612"/>
            <a:ext cx="4282113" cy="464820"/>
          </a:xfrm>
          <a:prstGeom prst="rect">
            <a:avLst/>
          </a:prstGeom>
        </p:spPr>
        <p:txBody>
          <a:bodyPr vert="horz" lIns="93177" tIns="0" rIns="93177" bIns="0" rtlCol="0" anchor="t"/>
          <a:lstStyle>
            <a:lvl1pPr algn="l">
              <a:defRPr sz="1200"/>
            </a:lvl1pPr>
          </a:lstStyle>
          <a:p>
            <a:endParaRPr lang="en-US" sz="1000" b="1" dirty="0">
              <a:solidFill>
                <a:schemeClr val="bg1">
                  <a:lumMod val="50000"/>
                </a:schemeClr>
              </a:solidFill>
              <a:latin typeface="Arial" panose="020B0604020202020204" pitchFamily="34" charset="0"/>
              <a:cs typeface="Arial" panose="020B0604020202020204" pitchFamily="34" charset="0"/>
            </a:endParaRPr>
          </a:p>
        </p:txBody>
      </p:sp>
      <p:sp>
        <p:nvSpPr>
          <p:cNvPr id="10" name="Date Placeholder 2"/>
          <p:cNvSpPr>
            <a:spLocks noGrp="1"/>
          </p:cNvSpPr>
          <p:nvPr>
            <p:ph type="dt" sz="quarter" idx="1"/>
          </p:nvPr>
        </p:nvSpPr>
        <p:spPr>
          <a:xfrm>
            <a:off x="6056670" y="108612"/>
            <a:ext cx="952107" cy="464820"/>
          </a:xfrm>
          <a:prstGeom prst="rect">
            <a:avLst/>
          </a:prstGeom>
        </p:spPr>
        <p:txBody>
          <a:bodyPr vert="horz" lIns="93177" tIns="0" rIns="93177" bIns="0" rtlCol="0" anchor="t"/>
          <a:lstStyle>
            <a:lvl1pPr algn="r">
              <a:defRPr sz="1200"/>
            </a:lvl1pPr>
          </a:lstStyle>
          <a:p>
            <a:fld id="{2C2AD557-2032-D74A-B281-F0540E660787}" type="datetimeFigureOut">
              <a:rPr lang="en-US" sz="1000" smtClean="0">
                <a:solidFill>
                  <a:schemeClr val="bg1">
                    <a:lumMod val="50000"/>
                  </a:schemeClr>
                </a:solidFill>
                <a:latin typeface="Arial" panose="020B0604020202020204" pitchFamily="34" charset="0"/>
                <a:cs typeface="Arial" panose="020B0604020202020204" pitchFamily="34" charset="0"/>
              </a:rPr>
              <a:t>10/30/2022</a:t>
            </a:fld>
            <a:endParaRPr lang="en-US" sz="1000">
              <a:solidFill>
                <a:schemeClr val="bg1">
                  <a:lumMod val="50000"/>
                </a:schemeClr>
              </a:solidFill>
              <a:latin typeface="Arial" panose="020B0604020202020204" pitchFamily="34" charset="0"/>
              <a:cs typeface="Arial" panose="020B0604020202020204" pitchFamily="34" charset="0"/>
            </a:endParaRP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51" y="108612"/>
            <a:ext cx="1323726" cy="535440"/>
          </a:xfrm>
          <a:prstGeom prst="rect">
            <a:avLst/>
          </a:prstGeom>
          <a:noFill/>
          <a:ln>
            <a:noFill/>
          </a:ln>
        </p:spPr>
      </p:pic>
    </p:spTree>
    <p:extLst>
      <p:ext uri="{BB962C8B-B14F-4D97-AF65-F5344CB8AC3E}">
        <p14:creationId xmlns:p14="http://schemas.microsoft.com/office/powerpoint/2010/main" val="3561389954"/>
      </p:ext>
    </p:extLst>
  </p:cSld>
  <p:clrMap bg1="lt1" tx1="dk1" bg2="lt2" tx2="dk2" accent1="accent1" accent2="accent2" accent3="accent3" accent4="accent4" accent5="accent5" accent6="accent6" hlink="hlink" folHlink="folHlink"/>
  <p:hf hdr="0" ftr="0" dt="0"/>
  <p:notesStyle>
    <a:lvl1pPr marL="171450" indent="-171450" algn="l" defTabSz="914400" rtl="0" eaLnBrk="1" latinLnBrk="0" hangingPunct="1">
      <a:buClr>
        <a:schemeClr val="tx2"/>
      </a:buClr>
      <a:buSzPct val="75000"/>
      <a:buFont typeface="Wingdings 3" panose="05040102010807070707" pitchFamily="18" charset="2"/>
      <a:buChar char="u"/>
      <a:defRPr sz="1200" kern="1200">
        <a:solidFill>
          <a:schemeClr val="tx1">
            <a:lumMod val="50000"/>
            <a:lumOff val="50000"/>
          </a:schemeClr>
        </a:solidFill>
        <a:latin typeface="Arial" panose="020B0604020202020204" pitchFamily="34" charset="0"/>
        <a:ea typeface="+mn-ea"/>
        <a:cs typeface="Arial" panose="020B0604020202020204" pitchFamily="34" charset="0"/>
      </a:defRPr>
    </a:lvl1pPr>
    <a:lvl2pPr marL="344488" indent="-171450" algn="l" defTabSz="914400" rtl="0" eaLnBrk="1" latinLnBrk="0" hangingPunct="1">
      <a:buClr>
        <a:schemeClr val="tx2"/>
      </a:buClr>
      <a:buSzPct val="100000"/>
      <a:buFont typeface="Wingdings" panose="05000000000000000000" pitchFamily="2" charset="2"/>
      <a:buChar char="§"/>
      <a:defRPr sz="1200" kern="1200">
        <a:solidFill>
          <a:schemeClr val="tx1">
            <a:lumMod val="50000"/>
            <a:lumOff val="50000"/>
          </a:schemeClr>
        </a:solidFill>
        <a:latin typeface="Arial" panose="020B0604020202020204" pitchFamily="34" charset="0"/>
        <a:ea typeface="+mn-ea"/>
        <a:cs typeface="Arial" panose="020B0604020202020204" pitchFamily="34" charset="0"/>
      </a:defRPr>
    </a:lvl2pPr>
    <a:lvl3pPr marL="511175" indent="-171450" algn="l" defTabSz="914400" rtl="0" eaLnBrk="1" latinLnBrk="0" hangingPunct="1">
      <a:buClr>
        <a:schemeClr val="tx2"/>
      </a:buClr>
      <a:buSzPct val="100000"/>
      <a:buFont typeface="Wingdings" panose="05000000000000000000" pitchFamily="2" charset="2"/>
      <a:buChar char="§"/>
      <a:defRPr sz="1200" kern="1200">
        <a:solidFill>
          <a:schemeClr val="tx1">
            <a:lumMod val="50000"/>
            <a:lumOff val="50000"/>
          </a:schemeClr>
        </a:solidFill>
        <a:latin typeface="Arial" panose="020B0604020202020204" pitchFamily="34" charset="0"/>
        <a:ea typeface="+mn-ea"/>
        <a:cs typeface="Arial" panose="020B0604020202020204" pitchFamily="34" charset="0"/>
      </a:defRPr>
    </a:lvl3pPr>
    <a:lvl4pPr marL="688975" indent="-171450" algn="l" defTabSz="914400" rtl="0" eaLnBrk="1" latinLnBrk="0" hangingPunct="1">
      <a:buClr>
        <a:schemeClr val="tx2"/>
      </a:buClr>
      <a:buSzPct val="100000"/>
      <a:buFont typeface="Wingdings" panose="05000000000000000000" pitchFamily="2" charset="2"/>
      <a:buChar char="§"/>
      <a:defRPr sz="1200" kern="1200">
        <a:solidFill>
          <a:schemeClr val="tx1">
            <a:lumMod val="50000"/>
            <a:lumOff val="50000"/>
          </a:schemeClr>
        </a:solidFill>
        <a:latin typeface="Arial" panose="020B0604020202020204" pitchFamily="34" charset="0"/>
        <a:ea typeface="+mn-ea"/>
        <a:cs typeface="Arial" panose="020B0604020202020204" pitchFamily="34" charset="0"/>
      </a:defRPr>
    </a:lvl4pPr>
    <a:lvl5pPr marL="855663" indent="-171450" algn="l" defTabSz="914400" rtl="0" eaLnBrk="1" latinLnBrk="0" hangingPunct="1">
      <a:buClr>
        <a:schemeClr val="tx2"/>
      </a:buClr>
      <a:buSzPct val="100000"/>
      <a:buFont typeface="Wingdings" panose="05000000000000000000" pitchFamily="2" charset="2"/>
      <a:buChar char="§"/>
      <a:defRPr sz="1200" kern="1200">
        <a:solidFill>
          <a:schemeClr val="tx1">
            <a:lumMod val="50000"/>
            <a:lumOff val="50000"/>
          </a:schemeClr>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r>
              <a:rPr lang="en-US" dirty="0"/>
              <a:t>This is the light cover slide option. </a:t>
            </a:r>
          </a:p>
        </p:txBody>
      </p:sp>
      <p:sp>
        <p:nvSpPr>
          <p:cNvPr id="4" name="Slide Number Placeholder 3"/>
          <p:cNvSpPr>
            <a:spLocks noGrp="1"/>
          </p:cNvSpPr>
          <p:nvPr>
            <p:ph type="sldNum" sz="quarter" idx="10"/>
          </p:nvPr>
        </p:nvSpPr>
        <p:spPr/>
        <p:txBody>
          <a:bodyPr/>
          <a:lstStyle/>
          <a:p>
            <a:fld id="{900B8651-D313-4300-801F-836567026953}" type="slidenum">
              <a:rPr lang="en-US" smtClean="0"/>
              <a:pPr/>
              <a:t>1</a:t>
            </a:fld>
            <a:endParaRPr lang="en-US" dirty="0"/>
          </a:p>
        </p:txBody>
      </p:sp>
    </p:spTree>
    <p:extLst>
      <p:ext uri="{BB962C8B-B14F-4D97-AF65-F5344CB8AC3E}">
        <p14:creationId xmlns:p14="http://schemas.microsoft.com/office/powerpoint/2010/main" val="29882166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1801A5-8B97-4248-BC1F-30EED1BE8E2A}"/>
              </a:ext>
            </a:extLst>
          </p:cNvPr>
          <p:cNvSpPr txBox="1"/>
          <p:nvPr userDrawn="1"/>
        </p:nvSpPr>
        <p:spPr>
          <a:xfrm>
            <a:off x="2836333" y="-11006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pic>
        <p:nvPicPr>
          <p:cNvPr id="25" name="Graphic 24">
            <a:extLst>
              <a:ext uri="{FF2B5EF4-FFF2-40B4-BE49-F238E27FC236}">
                <a16:creationId xmlns:a16="http://schemas.microsoft.com/office/drawing/2014/main" id="{9C0A6AB0-9BB4-1E43-9F1F-3CEBCAC113FA}"/>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6" name="Rectangle 25">
            <a:extLst>
              <a:ext uri="{FF2B5EF4-FFF2-40B4-BE49-F238E27FC236}">
                <a16:creationId xmlns:a16="http://schemas.microsoft.com/office/drawing/2014/main" id="{91B97B1F-8B2D-7041-9104-AECAAA0D72FD}"/>
              </a:ext>
            </a:extLst>
          </p:cNvPr>
          <p:cNvSpPr/>
          <p:nvPr userDrawn="1"/>
        </p:nvSpPr>
        <p:spPr>
          <a:xfrm>
            <a:off x="0" y="-5204"/>
            <a:ext cx="6281680" cy="6863204"/>
          </a:xfrm>
          <a:prstGeom prst="rect">
            <a:avLst/>
          </a:prstGeom>
          <a:gradFill>
            <a:gsLst>
              <a:gs pos="0">
                <a:schemeClr val="accent2">
                  <a:lumMod val="50000"/>
                  <a:alpha val="0"/>
                </a:schemeClr>
              </a:gs>
              <a:gs pos="100000">
                <a:schemeClr val="accent2">
                  <a:lumMod val="50000"/>
                  <a:alpha val="49901"/>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7" name="Picture 16">
            <a:extLst>
              <a:ext uri="{FF2B5EF4-FFF2-40B4-BE49-F238E27FC236}">
                <a16:creationId xmlns:a16="http://schemas.microsoft.com/office/drawing/2014/main" id="{68BA96D0-D231-8543-9A40-53B148E3E277}"/>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8" name="Text Placeholder 2">
            <a:extLst>
              <a:ext uri="{FF2B5EF4-FFF2-40B4-BE49-F238E27FC236}">
                <a16:creationId xmlns:a16="http://schemas.microsoft.com/office/drawing/2014/main" id="{0BAFA5AC-215B-3841-96C1-5949DA8341F2}"/>
              </a:ext>
            </a:extLst>
          </p:cNvPr>
          <p:cNvSpPr>
            <a:spLocks noGrp="1"/>
          </p:cNvSpPr>
          <p:nvPr>
            <p:ph type="body" idx="1" hasCustomPrompt="1"/>
          </p:nvPr>
        </p:nvSpPr>
        <p:spPr>
          <a:xfrm>
            <a:off x="342900" y="4587041"/>
            <a:ext cx="5570538" cy="276999"/>
          </a:xfrm>
        </p:spPr>
        <p:txBody>
          <a:bodyPr wrap="square" tIns="0" anchor="t">
            <a:spAutoFit/>
          </a:bodyPr>
          <a:lstStyle>
            <a:lvl1pPr marL="0" indent="0">
              <a:lnSpc>
                <a:spcPct val="90000"/>
              </a:lnSpc>
              <a:spcBef>
                <a:spcPts val="0"/>
              </a:spcBef>
              <a:buNone/>
              <a:defRPr lang="en-US" sz="2000" b="0" i="0" kern="1200" cap="none" baseline="0" dirty="0">
                <a:solidFill>
                  <a:schemeClr val="accent1">
                    <a:lumMod val="20000"/>
                    <a:lumOff val="80000"/>
                  </a:schemeClr>
                </a:solidFill>
                <a:latin typeface="Barlow" pitchFamily="2" charset="77"/>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spcBef>
                <a:spcPct val="20000"/>
              </a:spcBef>
              <a:buClr>
                <a:schemeClr val="bg2"/>
              </a:buClr>
              <a:buSzPct val="65000"/>
              <a:buFont typeface="Barlow"/>
              <a:buNone/>
            </a:pPr>
            <a:r>
              <a:rPr lang="en-US" dirty="0"/>
              <a:t>Click to Add Presenter/Subheading</a:t>
            </a:r>
          </a:p>
        </p:txBody>
      </p:sp>
      <p:sp>
        <p:nvSpPr>
          <p:cNvPr id="29" name="Text Placeholder 6">
            <a:extLst>
              <a:ext uri="{FF2B5EF4-FFF2-40B4-BE49-F238E27FC236}">
                <a16:creationId xmlns:a16="http://schemas.microsoft.com/office/drawing/2014/main" id="{07DA987C-20E5-6645-A0B0-F16877035E4C}"/>
              </a:ext>
            </a:extLst>
          </p:cNvPr>
          <p:cNvSpPr>
            <a:spLocks noGrp="1"/>
          </p:cNvSpPr>
          <p:nvPr>
            <p:ph type="body" sz="quarter" idx="12" hasCustomPrompt="1"/>
          </p:nvPr>
        </p:nvSpPr>
        <p:spPr>
          <a:xfrm>
            <a:off x="342900" y="3824707"/>
            <a:ext cx="5570538" cy="664797"/>
          </a:xfrm>
          <a:prstGeom prst="rect">
            <a:avLst/>
          </a:prstGeom>
        </p:spPr>
        <p:txBody>
          <a:bodyPr wrap="square" lIns="0" tIns="0" rIns="0" bIns="0" anchor="b">
            <a:spAutoFit/>
          </a:bodyPr>
          <a:lstStyle>
            <a:lvl1pPr marL="0" indent="0">
              <a:lnSpc>
                <a:spcPct val="90000"/>
              </a:lnSpc>
              <a:buNone/>
              <a:defRPr lang="en-US" sz="4800" b="0" i="0" kern="1200" baseline="0" dirty="0">
                <a:solidFill>
                  <a:schemeClr val="bg1"/>
                </a:solidFill>
                <a:latin typeface="Barlow" pitchFamily="2" charset="77"/>
                <a:ea typeface="+mj-ea"/>
                <a:cs typeface="+mj-cs"/>
              </a:defRPr>
            </a:lvl1pPr>
          </a:lstStyle>
          <a:p>
            <a:pPr marL="0" lvl="0" indent="0" algn="l" defTabSz="457200" rtl="0" eaLnBrk="1" latinLnBrk="0" hangingPunct="1">
              <a:spcBef>
                <a:spcPts val="1000"/>
              </a:spcBef>
              <a:buClr>
                <a:schemeClr val="bg2"/>
              </a:buClr>
              <a:buSzPct val="75000"/>
              <a:buFont typeface="Barlow"/>
              <a:buNone/>
            </a:pPr>
            <a:r>
              <a:rPr lang="en-US" dirty="0"/>
              <a:t>Click to Edit</a:t>
            </a:r>
          </a:p>
        </p:txBody>
      </p:sp>
      <p:sp>
        <p:nvSpPr>
          <p:cNvPr id="30" name="Rectangle 29">
            <a:extLst>
              <a:ext uri="{FF2B5EF4-FFF2-40B4-BE49-F238E27FC236}">
                <a16:creationId xmlns:a16="http://schemas.microsoft.com/office/drawing/2014/main" id="{C11C654B-FE14-FB45-8249-7D9D92995BA2}"/>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084A994-876E-774C-A507-104A2FF008FC}"/>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©2022 Analog Devices, Inc. </a:t>
            </a:r>
            <a:endParaRPr lang="en-US" dirty="0"/>
          </a:p>
        </p:txBody>
      </p:sp>
      <p:sp>
        <p:nvSpPr>
          <p:cNvPr id="14" name="Slide Number Placeholder 3">
            <a:extLst>
              <a:ext uri="{FF2B5EF4-FFF2-40B4-BE49-F238E27FC236}">
                <a16:creationId xmlns:a16="http://schemas.microsoft.com/office/drawing/2014/main" id="{DFC1328E-D267-9B45-9570-96B12FEA03CE}"/>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bg1"/>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5" name="Date Placeholder 3">
            <a:extLst>
              <a:ext uri="{FF2B5EF4-FFF2-40B4-BE49-F238E27FC236}">
                <a16:creationId xmlns:a16="http://schemas.microsoft.com/office/drawing/2014/main" id="{EA1B3B0B-FCA0-194C-BBF9-5976E2040531}"/>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FE7A9806-8D44-470F-A42A-B0BB34D8E567}" type="datetime3">
              <a:rPr lang="en-US" smtClean="0"/>
              <a:t>30 October 2022</a:t>
            </a:fld>
            <a:endParaRPr lang="en-US" dirty="0"/>
          </a:p>
        </p:txBody>
      </p:sp>
    </p:spTree>
    <p:extLst>
      <p:ext uri="{BB962C8B-B14F-4D97-AF65-F5344CB8AC3E}">
        <p14:creationId xmlns:p14="http://schemas.microsoft.com/office/powerpoint/2010/main" val="1944391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blipFill dpi="0" rotWithShape="1">
          <a:blip r:embed="rId2"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6EEBE8-797C-CF45-BCEA-46B6F8BDF2A6}"/>
              </a:ext>
            </a:extLst>
          </p:cNvPr>
          <p:cNvSpPr txBox="1"/>
          <p:nvPr userDrawn="1"/>
        </p:nvSpPr>
        <p:spPr>
          <a:xfrm>
            <a:off x="23045738" y="1928813"/>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pic>
        <p:nvPicPr>
          <p:cNvPr id="21" name="Graphic 20">
            <a:extLst>
              <a:ext uri="{FF2B5EF4-FFF2-40B4-BE49-F238E27FC236}">
                <a16:creationId xmlns:a16="http://schemas.microsoft.com/office/drawing/2014/main" id="{8AC56CD1-FBEE-0E42-B197-B760B74435A1}"/>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2" name="Rectangle 21">
            <a:extLst>
              <a:ext uri="{FF2B5EF4-FFF2-40B4-BE49-F238E27FC236}">
                <a16:creationId xmlns:a16="http://schemas.microsoft.com/office/drawing/2014/main" id="{8364CBD1-C300-DD47-9E62-DB8A672B2069}"/>
              </a:ext>
            </a:extLst>
          </p:cNvPr>
          <p:cNvSpPr/>
          <p:nvPr userDrawn="1"/>
        </p:nvSpPr>
        <p:spPr>
          <a:xfrm>
            <a:off x="0" y="-5204"/>
            <a:ext cx="6095999" cy="6863204"/>
          </a:xfrm>
          <a:prstGeom prst="rect">
            <a:avLst/>
          </a:prstGeom>
          <a:gradFill>
            <a:gsLst>
              <a:gs pos="0">
                <a:schemeClr val="bg1">
                  <a:alpha val="0"/>
                </a:schemeClr>
              </a:gs>
              <a:gs pos="100000">
                <a:schemeClr val="bg1">
                  <a:alpha val="50000"/>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91BC8680-FDB5-4F4B-8DFD-CE546990D5D4}"/>
              </a:ext>
            </a:extLst>
          </p:cNvPr>
          <p:cNvSpPr txBox="1"/>
          <p:nvPr userDrawn="1"/>
        </p:nvSpPr>
        <p:spPr>
          <a:xfrm>
            <a:off x="9300117" y="412595"/>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pic>
        <p:nvPicPr>
          <p:cNvPr id="24" name="Picture 16">
            <a:extLst>
              <a:ext uri="{FF2B5EF4-FFF2-40B4-BE49-F238E27FC236}">
                <a16:creationId xmlns:a16="http://schemas.microsoft.com/office/drawing/2014/main" id="{38DD1F27-AFE8-9E47-9C20-1F88A4CD777E}"/>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5" name="Text Placeholder 8">
            <a:extLst>
              <a:ext uri="{FF2B5EF4-FFF2-40B4-BE49-F238E27FC236}">
                <a16:creationId xmlns:a16="http://schemas.microsoft.com/office/drawing/2014/main" id="{846AB6BC-FF23-D64E-A9A3-50A9B18219C9}"/>
              </a:ext>
            </a:extLst>
          </p:cNvPr>
          <p:cNvSpPr>
            <a:spLocks noGrp="1"/>
          </p:cNvSpPr>
          <p:nvPr>
            <p:ph type="body" sz="quarter" idx="13" hasCustomPrompt="1"/>
          </p:nvPr>
        </p:nvSpPr>
        <p:spPr>
          <a:xfrm>
            <a:off x="347472" y="4590288"/>
            <a:ext cx="5565966" cy="246221"/>
          </a:xfrm>
          <a:prstGeom prst="rect">
            <a:avLst/>
          </a:prstGeom>
        </p:spPr>
        <p:txBody>
          <a:bodyPr wrap="square" lIns="0" tIns="0" rIns="0" bIns="0" anchor="t" anchorCtr="0">
            <a:spAutoFit/>
          </a:bodyPr>
          <a:lstStyle>
            <a:lvl1pPr marL="342900" indent="-342900">
              <a:spcBef>
                <a:spcPts val="0"/>
              </a:spcBef>
              <a:buNone/>
              <a:defRPr lang="en-US" sz="2000" b="0" i="0" kern="1200" cap="none" baseline="0" dirty="0" smtClean="0">
                <a:solidFill>
                  <a:schemeClr val="accent2"/>
                </a:solidFill>
                <a:latin typeface="Barlow" pitchFamily="2" charset="77"/>
                <a:ea typeface="+mn-ea"/>
                <a:cs typeface="+mn-cs"/>
              </a:defRPr>
            </a:lvl1pPr>
            <a:lvl2pPr marL="0" indent="0">
              <a:buFont typeface="Arial" panose="020B0604020202020204" pitchFamily="34" charset="0"/>
              <a:buNone/>
              <a:defRPr lang="en-US" sz="1500" i="1" kern="1200" dirty="0" smtClean="0">
                <a:solidFill>
                  <a:schemeClr val="accent2">
                    <a:lumMod val="10000"/>
                    <a:lumOff val="90000"/>
                  </a:schemeClr>
                </a:solidFill>
                <a:latin typeface="+mn-lt"/>
                <a:ea typeface="+mn-ea"/>
                <a:cs typeface="+mn-cs"/>
              </a:defRPr>
            </a:lvl2pPr>
          </a:lstStyle>
          <a:p>
            <a:pPr marL="0" lvl="0" indent="0" algn="l" defTabSz="457200" rtl="0" eaLnBrk="1" latinLnBrk="0" hangingPunct="1">
              <a:spcBef>
                <a:spcPct val="20000"/>
              </a:spcBef>
            </a:pPr>
            <a:r>
              <a:rPr lang="en-US" dirty="0"/>
              <a:t>Click To Add Presenter/Subheading</a:t>
            </a:r>
          </a:p>
        </p:txBody>
      </p:sp>
      <p:sp>
        <p:nvSpPr>
          <p:cNvPr id="26" name="Title Placeholder 2">
            <a:extLst>
              <a:ext uri="{FF2B5EF4-FFF2-40B4-BE49-F238E27FC236}">
                <a16:creationId xmlns:a16="http://schemas.microsoft.com/office/drawing/2014/main" id="{D37A55A4-1BD2-674A-9626-60AB1AEE3D5B}"/>
              </a:ext>
            </a:extLst>
          </p:cNvPr>
          <p:cNvSpPr>
            <a:spLocks noGrp="1"/>
          </p:cNvSpPr>
          <p:nvPr>
            <p:ph type="title" hasCustomPrompt="1"/>
          </p:nvPr>
        </p:nvSpPr>
        <p:spPr>
          <a:xfrm>
            <a:off x="347472" y="3827812"/>
            <a:ext cx="5565966" cy="664797"/>
          </a:xfrm>
          <a:prstGeom prst="rect">
            <a:avLst/>
          </a:prstGeom>
          <a:noFill/>
        </p:spPr>
        <p:txBody>
          <a:bodyPr vert="horz" wrap="square" lIns="0" tIns="0" rIns="0" bIns="0" rtlCol="0" anchor="b">
            <a:spAutoFit/>
          </a:bodyPr>
          <a:lstStyle>
            <a:lvl1pPr>
              <a:lnSpc>
                <a:spcPct val="90000"/>
              </a:lnSpc>
              <a:spcBef>
                <a:spcPts val="0"/>
              </a:spcBef>
              <a:defRPr lang="en-US" sz="4800" i="0" dirty="0">
                <a:solidFill>
                  <a:schemeClr val="tx2"/>
                </a:solidFill>
              </a:defRPr>
            </a:lvl1pPr>
          </a:lstStyle>
          <a:p>
            <a:pPr lvl="0">
              <a:spcBef>
                <a:spcPts val="1000"/>
              </a:spcBef>
              <a:buClr>
                <a:schemeClr val="bg2"/>
              </a:buClr>
              <a:buSzPct val="75000"/>
              <a:buFont typeface="Barlow"/>
            </a:pPr>
            <a:r>
              <a:rPr lang="en-US" dirty="0"/>
              <a:t>Click to Edit</a:t>
            </a:r>
          </a:p>
        </p:txBody>
      </p:sp>
      <p:sp>
        <p:nvSpPr>
          <p:cNvPr id="27" name="Rectangle 26">
            <a:extLst>
              <a:ext uri="{FF2B5EF4-FFF2-40B4-BE49-F238E27FC236}">
                <a16:creationId xmlns:a16="http://schemas.microsoft.com/office/drawing/2014/main" id="{544C4FA3-E45E-424A-9BD3-1455471E946D}"/>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A06C9D6-1966-FF45-88E4-859637CF1FF0}"/>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©2022 Analog Devices, Inc. </a:t>
            </a:r>
            <a:endParaRPr lang="en-US" dirty="0"/>
          </a:p>
        </p:txBody>
      </p:sp>
      <p:sp>
        <p:nvSpPr>
          <p:cNvPr id="14" name="Slide Number Placeholder 3">
            <a:extLst>
              <a:ext uri="{FF2B5EF4-FFF2-40B4-BE49-F238E27FC236}">
                <a16:creationId xmlns:a16="http://schemas.microsoft.com/office/drawing/2014/main" id="{348A6DA5-3CBE-2540-889B-02D2E0478F93}"/>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5" name="Date Placeholder 3">
            <a:extLst>
              <a:ext uri="{FF2B5EF4-FFF2-40B4-BE49-F238E27FC236}">
                <a16:creationId xmlns:a16="http://schemas.microsoft.com/office/drawing/2014/main" id="{76272179-8E7E-FC4E-9269-CB6734C0C570}"/>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75E1FC71-41A5-4707-AA2A-6D924C0000AC}" type="datetime3">
              <a:rPr lang="en-US" smtClean="0"/>
              <a:t>30 October 2022</a:t>
            </a:fld>
            <a:endParaRPr lang="en-US" dirty="0"/>
          </a:p>
        </p:txBody>
      </p:sp>
    </p:spTree>
    <p:extLst>
      <p:ext uri="{BB962C8B-B14F-4D97-AF65-F5344CB8AC3E}">
        <p14:creationId xmlns:p14="http://schemas.microsoft.com/office/powerpoint/2010/main" val="361500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355600" y="1066800"/>
            <a:ext cx="10274300" cy="4914900"/>
          </a:xfrm>
        </p:spPr>
        <p:txBody>
          <a:bodyPr lIns="0" tIns="0" rIns="0" bIns="0" anchor="t" anchorCtr="0"/>
          <a:lstStyle>
            <a:lvl1pPr marL="228600" indent="-228600">
              <a:buFont typeface="Arial" panose="020B0604020202020204" pitchFamily="34" charset="0"/>
              <a:buChar cha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Box 1">
            <a:extLst>
              <a:ext uri="{FF2B5EF4-FFF2-40B4-BE49-F238E27FC236}">
                <a16:creationId xmlns:a16="http://schemas.microsoft.com/office/drawing/2014/main" id="{1F21C2DA-52B1-DD43-A3B6-C3CA586AC7A6}"/>
              </a:ext>
            </a:extLst>
          </p:cNvPr>
          <p:cNvSpPr txBox="1"/>
          <p:nvPr userDrawn="1"/>
        </p:nvSpPr>
        <p:spPr>
          <a:xfrm>
            <a:off x="12056533" y="15578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sp>
        <p:nvSpPr>
          <p:cNvPr id="11" name="Title 5">
            <a:extLst>
              <a:ext uri="{FF2B5EF4-FFF2-40B4-BE49-F238E27FC236}">
                <a16:creationId xmlns:a16="http://schemas.microsoft.com/office/drawing/2014/main" id="{DFAA90AC-9B0A-AB4E-ABA9-347CBDC29714}"/>
              </a:ext>
            </a:extLst>
          </p:cNvPr>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dirty="0"/>
              <a:t>Click to Edit</a:t>
            </a:r>
          </a:p>
        </p:txBody>
      </p:sp>
      <p:sp>
        <p:nvSpPr>
          <p:cNvPr id="9" name="Footer Placeholder 1">
            <a:extLst>
              <a:ext uri="{FF2B5EF4-FFF2-40B4-BE49-F238E27FC236}">
                <a16:creationId xmlns:a16="http://schemas.microsoft.com/office/drawing/2014/main" id="{6814554B-F7E7-D444-A874-1C7C087F2F6F}"/>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©2022 Analog Devices, Inc. </a:t>
            </a:r>
            <a:endParaRPr lang="en-US" dirty="0"/>
          </a:p>
        </p:txBody>
      </p:sp>
      <p:sp>
        <p:nvSpPr>
          <p:cNvPr id="10" name="Slide Number Placeholder 3">
            <a:extLst>
              <a:ext uri="{FF2B5EF4-FFF2-40B4-BE49-F238E27FC236}">
                <a16:creationId xmlns:a16="http://schemas.microsoft.com/office/drawing/2014/main" id="{EDE1375A-B2FA-C741-B6ED-A8569C3278C6}"/>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2" name="Date Placeholder 3">
            <a:extLst>
              <a:ext uri="{FF2B5EF4-FFF2-40B4-BE49-F238E27FC236}">
                <a16:creationId xmlns:a16="http://schemas.microsoft.com/office/drawing/2014/main" id="{67561257-280D-EC46-BB4D-FCABCCE29F81}"/>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EAFD7BB1-AB7F-4336-A8B3-6627E5D36FE4}" type="datetime3">
              <a:rPr lang="en-US" smtClean="0"/>
              <a:t>30 October 2022</a:t>
            </a:fld>
            <a:endParaRPr lang="en-US" dirty="0"/>
          </a:p>
        </p:txBody>
      </p:sp>
    </p:spTree>
    <p:extLst>
      <p:ext uri="{BB962C8B-B14F-4D97-AF65-F5344CB8AC3E}">
        <p14:creationId xmlns:p14="http://schemas.microsoft.com/office/powerpoint/2010/main" val="1854730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emf"/><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342900" y="218135"/>
            <a:ext cx="10299699" cy="470898"/>
          </a:xfrm>
          <a:prstGeom prst="rect">
            <a:avLst/>
          </a:prstGeom>
          <a:noFill/>
        </p:spPr>
        <p:txBody>
          <a:bodyPr vert="horz" wrap="square" lIns="0" tIns="0" rIns="0" bIns="27432" rtlCol="0" anchor="t" anchorCtr="0">
            <a:spAutoFit/>
          </a:bodyPr>
          <a:lstStyle/>
          <a:p>
            <a:r>
              <a:rPr lang="en-US" dirty="0"/>
              <a:t>Click to Edit</a:t>
            </a:r>
          </a:p>
        </p:txBody>
      </p:sp>
      <p:sp>
        <p:nvSpPr>
          <p:cNvPr id="11" name="Text Placeholder 2"/>
          <p:cNvSpPr>
            <a:spLocks noGrp="1"/>
          </p:cNvSpPr>
          <p:nvPr>
            <p:ph type="body" idx="1"/>
          </p:nvPr>
        </p:nvSpPr>
        <p:spPr>
          <a:xfrm>
            <a:off x="355600" y="1066800"/>
            <a:ext cx="10286999" cy="4914900"/>
          </a:xfrm>
          <a:prstGeom prst="rect">
            <a:avLst/>
          </a:prstGeom>
        </p:spPr>
        <p:txBody>
          <a:bodyPr vert="horz" lIns="0" tIns="228600" rIns="0" bIns="0" rtlCol="0" anchor="ctr" anchorCtr="0">
            <a:normAutofit/>
          </a:bodyPr>
          <a:lstStyle/>
          <a:p>
            <a:pPr lvl="0"/>
            <a:r>
              <a:rPr lang="en-US" dirty="0"/>
              <a:t>Click to edit</a:t>
            </a:r>
          </a:p>
          <a:p>
            <a:pPr marL="457200" lvl="1" indent="-228600" algn="l" defTabSz="457200" rtl="0" eaLnBrk="1" latinLnBrk="0" hangingPunct="1">
              <a:spcBef>
                <a:spcPct val="20000"/>
              </a:spcBef>
              <a:buClr>
                <a:srgbClr val="1E4056"/>
              </a:buClr>
              <a:buFont typeface="Wingdings" charset="2"/>
              <a:buChar char="§"/>
            </a:pPr>
            <a:r>
              <a:rPr lang="en-US" dirty="0"/>
              <a:t>Second level</a:t>
            </a:r>
          </a:p>
          <a:p>
            <a:pPr marL="685800" lvl="2" indent="-228600" algn="l" defTabSz="457200" rtl="0" eaLnBrk="1" latinLnBrk="0" hangingPunct="1">
              <a:spcBef>
                <a:spcPct val="20000"/>
              </a:spcBef>
              <a:buClr>
                <a:srgbClr val="1E4056"/>
              </a:buClr>
              <a:buSzPct val="100000"/>
              <a:buFont typeface="Wingdings" panose="05000000000000000000" pitchFamily="2" charset="2"/>
              <a:buChar char="§"/>
            </a:pPr>
            <a:r>
              <a:rPr lang="en-US" dirty="0"/>
              <a:t>Third level</a:t>
            </a:r>
          </a:p>
          <a:p>
            <a:pPr marL="914400" lvl="3"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Fourth level</a:t>
            </a:r>
          </a:p>
          <a:p>
            <a:pPr marL="1143000" lvl="4"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Fifth level</a:t>
            </a:r>
          </a:p>
        </p:txBody>
      </p:sp>
      <p:pic>
        <p:nvPicPr>
          <p:cNvPr id="12" name="Picture 11"/>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0919678" y="236303"/>
            <a:ext cx="991639" cy="398355"/>
          </a:xfrm>
          <a:prstGeom prst="rect">
            <a:avLst/>
          </a:prstGeom>
          <a:noFill/>
          <a:ln>
            <a:noFill/>
          </a:ln>
        </p:spPr>
      </p:pic>
      <p:sp>
        <p:nvSpPr>
          <p:cNvPr id="20" name="Rectangle 19">
            <a:extLst>
              <a:ext uri="{FF2B5EF4-FFF2-40B4-BE49-F238E27FC236}">
                <a16:creationId xmlns:a16="http://schemas.microsoft.com/office/drawing/2014/main" id="{C82B608A-8973-E74F-9000-3CD5D7893E6F}"/>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2" name="Footer Placeholder 1">
            <a:extLst>
              <a:ext uri="{FF2B5EF4-FFF2-40B4-BE49-F238E27FC236}">
                <a16:creationId xmlns:a16="http://schemas.microsoft.com/office/drawing/2014/main" id="{C8A8D3E2-8096-4AF5-B142-B8C380533715}"/>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©2022 Analog Devices, Inc. </a:t>
            </a:r>
            <a:endParaRPr lang="en-US" dirty="0"/>
          </a:p>
        </p:txBody>
      </p:sp>
      <p:sp>
        <p:nvSpPr>
          <p:cNvPr id="4" name="Slide Number Placeholder 3">
            <a:extLst>
              <a:ext uri="{FF2B5EF4-FFF2-40B4-BE49-F238E27FC236}">
                <a16:creationId xmlns:a16="http://schemas.microsoft.com/office/drawing/2014/main" id="{3F975B83-C1F8-4E53-8C02-280E1ED424B7}"/>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9" name="Date Placeholder 3">
            <a:extLst>
              <a:ext uri="{FF2B5EF4-FFF2-40B4-BE49-F238E27FC236}">
                <a16:creationId xmlns:a16="http://schemas.microsoft.com/office/drawing/2014/main" id="{4CE817F5-DA59-4CF8-A065-2F8C60D2ECF4}"/>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B7E9607F-8B9B-4283-A10B-E032341A492F}" type="datetime3">
              <a:rPr lang="en-US" smtClean="0"/>
              <a:t>30 October 2022</a:t>
            </a:fld>
            <a:endParaRPr lang="en-US" dirty="0"/>
          </a:p>
        </p:txBody>
      </p:sp>
      <p:sp>
        <p:nvSpPr>
          <p:cNvPr id="5" name="TextBox 4">
            <a:extLst>
              <a:ext uri="{FF2B5EF4-FFF2-40B4-BE49-F238E27FC236}">
                <a16:creationId xmlns:a16="http://schemas.microsoft.com/office/drawing/2014/main" id="{D4D93659-4415-8C41-805C-01463B0FE599}"/>
              </a:ext>
            </a:extLst>
          </p:cNvPr>
          <p:cNvSpPr txBox="1"/>
          <p:nvPr userDrawn="1"/>
        </p:nvSpPr>
        <p:spPr>
          <a:xfrm>
            <a:off x="2193324" y="2860589"/>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spTree>
    <p:extLst>
      <p:ext uri="{BB962C8B-B14F-4D97-AF65-F5344CB8AC3E}">
        <p14:creationId xmlns:p14="http://schemas.microsoft.com/office/powerpoint/2010/main" val="2485717151"/>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marL="0" indent="0" algn="l" defTabSz="457200" rtl="0" eaLnBrk="1" latinLnBrk="0" hangingPunct="1">
        <a:lnSpc>
          <a:spcPct val="80000"/>
        </a:lnSpc>
        <a:spcBef>
          <a:spcPct val="0"/>
        </a:spcBef>
        <a:buNone/>
        <a:defRPr sz="3600" b="0" i="0" kern="1200" spc="-100" baseline="0">
          <a:solidFill>
            <a:schemeClr val="accent2"/>
          </a:solidFill>
          <a:latin typeface="Barlow" pitchFamily="2" charset="77"/>
          <a:ea typeface="+mj-ea"/>
          <a:cs typeface="+mj-cs"/>
        </a:defRPr>
      </a:lvl1pPr>
    </p:titleStyle>
    <p:body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949">
          <p15:clr>
            <a:srgbClr val="F26B43"/>
          </p15:clr>
        </p15:guide>
        <p15:guide id="1" orient="horz" pos="3768">
          <p15:clr>
            <a:srgbClr val="F26B43"/>
          </p15:clr>
        </p15:guide>
        <p15:guide id="2" pos="216">
          <p15:clr>
            <a:srgbClr val="F26B43"/>
          </p15:clr>
        </p15:guide>
        <p15:guide id="3" pos="7464">
          <p15:clr>
            <a:srgbClr val="F26B43"/>
          </p15:clr>
        </p15:guide>
        <p15:guide id="4" orient="horz" pos="528">
          <p15:clr>
            <a:srgbClr val="F26B43"/>
          </p15:clr>
        </p15:guide>
        <p15:guide id="5" pos="3725">
          <p15:clr>
            <a:srgbClr val="F26B43"/>
          </p15:clr>
        </p15:guide>
        <p15:guide id="6" orient="horz" pos="672">
          <p15:clr>
            <a:srgbClr val="F26B43"/>
          </p15:clr>
        </p15:guide>
        <p15:guide id="7" pos="669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microsoft.com/office/2018/10/relationships/comments" Target="../comments/modernComment_12B_9F49C430.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microsoft.com/office/2018/10/relationships/comments" Target="../comments/modernComment_139_3BE5F48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microsoft.com/office/2018/10/relationships/comments" Target="../comments/modernComment_13C_959A3BFF.xml"/><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2" Type="http://schemas.microsoft.com/office/2018/10/relationships/comments" Target="../comments/modernComment_13D_4F84D3B.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microsoft.com/office/2018/10/relationships/comments" Target="../comments/modernComment_13E_2F4AC4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3.xml"/><Relationship Id="rId4" Type="http://schemas.openxmlformats.org/officeDocument/2006/relationships/image" Target="../media/image47.png"/></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3.xml"/><Relationship Id="rId5" Type="http://schemas.openxmlformats.org/officeDocument/2006/relationships/image" Target="../media/image59.png"/><Relationship Id="rId4" Type="http://schemas.openxmlformats.org/officeDocument/2006/relationships/image" Target="../media/image58.png"/></Relationships>
</file>

<file path=ppt/slides/_rels/slide4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3.xml"/><Relationship Id="rId4" Type="http://schemas.openxmlformats.org/officeDocument/2006/relationships/image" Target="../media/image66.png"/></Relationships>
</file>

<file path=ppt/slides/_rels/slide4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3.xml"/><Relationship Id="rId4" Type="http://schemas.openxmlformats.org/officeDocument/2006/relationships/image" Target="../media/image7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438D909-D066-2449-B22A-2B1EEA3D2FFD}"/>
              </a:ext>
            </a:extLst>
          </p:cNvPr>
          <p:cNvSpPr>
            <a:spLocks noGrp="1"/>
          </p:cNvSpPr>
          <p:nvPr>
            <p:ph type="body" idx="1"/>
          </p:nvPr>
        </p:nvSpPr>
        <p:spPr>
          <a:xfrm>
            <a:off x="342900" y="4587041"/>
            <a:ext cx="6470276" cy="553998"/>
          </a:xfrm>
        </p:spPr>
        <p:txBody>
          <a:bodyPr/>
          <a:lstStyle/>
          <a:p>
            <a:r>
              <a:rPr lang="en-US" dirty="0"/>
              <a:t>Reuse Methodology Manual for System-On-Chip Designs</a:t>
            </a:r>
          </a:p>
        </p:txBody>
      </p:sp>
      <p:sp>
        <p:nvSpPr>
          <p:cNvPr id="7" name="Text Placeholder 6">
            <a:extLst>
              <a:ext uri="{FF2B5EF4-FFF2-40B4-BE49-F238E27FC236}">
                <a16:creationId xmlns:a16="http://schemas.microsoft.com/office/drawing/2014/main" id="{550F983F-8671-C045-8D77-8BA3DBF89922}"/>
              </a:ext>
            </a:extLst>
          </p:cNvPr>
          <p:cNvSpPr>
            <a:spLocks noGrp="1"/>
          </p:cNvSpPr>
          <p:nvPr>
            <p:ph type="body" sz="quarter" idx="12"/>
          </p:nvPr>
        </p:nvSpPr>
        <p:spPr>
          <a:xfrm>
            <a:off x="342899" y="3159909"/>
            <a:ext cx="7015843" cy="1329595"/>
          </a:xfrm>
        </p:spPr>
        <p:txBody>
          <a:bodyPr/>
          <a:lstStyle/>
          <a:p>
            <a:r>
              <a:rPr lang="en-US" dirty="0"/>
              <a:t>Chapter 5: RTL Coding Guidelines</a:t>
            </a:r>
          </a:p>
        </p:txBody>
      </p:sp>
      <p:sp>
        <p:nvSpPr>
          <p:cNvPr id="3" name="Footer Placeholder 2">
            <a:extLst>
              <a:ext uri="{FF2B5EF4-FFF2-40B4-BE49-F238E27FC236}">
                <a16:creationId xmlns:a16="http://schemas.microsoft.com/office/drawing/2014/main" id="{26A78CC7-C0D2-AC43-BD98-28E9A2C31B6B}"/>
              </a:ext>
            </a:extLst>
          </p:cNvPr>
          <p:cNvSpPr>
            <a:spLocks noGrp="1"/>
          </p:cNvSpPr>
          <p:nvPr>
            <p:ph type="ftr" sz="quarter" idx="3"/>
          </p:nvPr>
        </p:nvSpPr>
        <p:spPr/>
        <p:txBody>
          <a:bodyPr>
            <a:normAutofit/>
          </a:bodyPr>
          <a:lstStyle/>
          <a:p>
            <a:r>
              <a:rPr lang="en-US"/>
              <a:t>©2022 Analog Devices, Inc. </a:t>
            </a:r>
            <a:endParaRPr lang="en-US" dirty="0"/>
          </a:p>
        </p:txBody>
      </p:sp>
      <p:sp>
        <p:nvSpPr>
          <p:cNvPr id="2" name="Date Placeholder 1">
            <a:extLst>
              <a:ext uri="{FF2B5EF4-FFF2-40B4-BE49-F238E27FC236}">
                <a16:creationId xmlns:a16="http://schemas.microsoft.com/office/drawing/2014/main" id="{3AEFC6CC-B436-497C-85D7-DBAEA1EB28CB}"/>
              </a:ext>
            </a:extLst>
          </p:cNvPr>
          <p:cNvSpPr>
            <a:spLocks noGrp="1"/>
          </p:cNvSpPr>
          <p:nvPr>
            <p:ph type="dt" sz="half" idx="2"/>
          </p:nvPr>
        </p:nvSpPr>
        <p:spPr/>
        <p:txBody>
          <a:bodyPr/>
          <a:lstStyle/>
          <a:p>
            <a:fld id="{430F8550-9198-4116-B655-9B08CBD80A03}" type="datetime3">
              <a:rPr lang="en-US" smtClean="0"/>
              <a:t>30 October 2022</a:t>
            </a:fld>
            <a:endParaRPr lang="en-US" dirty="0"/>
          </a:p>
        </p:txBody>
      </p:sp>
      <p:sp>
        <p:nvSpPr>
          <p:cNvPr id="4" name="Slide Number Placeholder 3">
            <a:extLst>
              <a:ext uri="{FF2B5EF4-FFF2-40B4-BE49-F238E27FC236}">
                <a16:creationId xmlns:a16="http://schemas.microsoft.com/office/drawing/2014/main" id="{A58A6B8A-2262-46A8-863B-A6AB13D75060}"/>
              </a:ext>
            </a:extLst>
          </p:cNvPr>
          <p:cNvSpPr>
            <a:spLocks noGrp="1"/>
          </p:cNvSpPr>
          <p:nvPr>
            <p:ph type="sldNum" sz="quarter" idx="4"/>
          </p:nvPr>
        </p:nvSpPr>
        <p:spPr/>
        <p:txBody>
          <a:bodyPr/>
          <a:lstStyle/>
          <a:p>
            <a:pPr>
              <a:defRPr/>
            </a:pPr>
            <a:fld id="{A9CE67A1-BA7F-A74E-B5D7-615746DEEC2B}" type="slidenum">
              <a:rPr lang="en-US" smtClean="0"/>
              <a:pPr>
                <a:defRPr/>
              </a:pPr>
              <a:t>1</a:t>
            </a:fld>
            <a:endParaRPr lang="en-US" baseline="-11000" dirty="0"/>
          </a:p>
        </p:txBody>
      </p:sp>
    </p:spTree>
    <p:extLst>
      <p:ext uri="{BB962C8B-B14F-4D97-AF65-F5344CB8AC3E}">
        <p14:creationId xmlns:p14="http://schemas.microsoft.com/office/powerpoint/2010/main" val="1343313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7F650F-E93C-4F7D-8AAD-C095630BE456}"/>
              </a:ext>
            </a:extLst>
          </p:cNvPr>
          <p:cNvSpPr>
            <a:spLocks noGrp="1"/>
          </p:cNvSpPr>
          <p:nvPr>
            <p:ph idx="1"/>
          </p:nvPr>
        </p:nvSpPr>
        <p:spPr/>
        <p:txBody>
          <a:bodyPr/>
          <a:lstStyle/>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Basic Coding Practices.</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Coding for Portability.</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Guidelines for Clocks and Resets.</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Coding for Synthesis.</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Partitioning for Synthesis.</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Designing with Memories.</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Code Profiling.</a:t>
            </a:r>
          </a:p>
          <a:p>
            <a:pPr lvl="1"/>
            <a:endParaRPr lang="en-US"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4A3B9023-179E-4AA0-A65F-CD08E3CA7504}"/>
              </a:ext>
            </a:extLst>
          </p:cNvPr>
          <p:cNvSpPr>
            <a:spLocks noGrp="1"/>
          </p:cNvSpPr>
          <p:nvPr>
            <p:ph type="title"/>
          </p:nvPr>
        </p:nvSpPr>
        <p:spPr/>
        <p:txBody>
          <a:bodyPr/>
          <a:lstStyle/>
          <a:p>
            <a:r>
              <a:rPr lang="en-US" dirty="0"/>
              <a:t>Chapter content</a:t>
            </a:r>
          </a:p>
        </p:txBody>
      </p:sp>
      <p:sp>
        <p:nvSpPr>
          <p:cNvPr id="4" name="Footer Placeholder 3">
            <a:extLst>
              <a:ext uri="{FF2B5EF4-FFF2-40B4-BE49-F238E27FC236}">
                <a16:creationId xmlns:a16="http://schemas.microsoft.com/office/drawing/2014/main" id="{C76F1DB5-D534-4952-AABB-629A085FA61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FD74343D-D99B-4878-8A48-F64276F0691C}"/>
              </a:ext>
            </a:extLst>
          </p:cNvPr>
          <p:cNvSpPr>
            <a:spLocks noGrp="1"/>
          </p:cNvSpPr>
          <p:nvPr>
            <p:ph type="sldNum" sz="quarter" idx="4"/>
          </p:nvPr>
        </p:nvSpPr>
        <p:spPr/>
        <p:txBody>
          <a:bodyPr/>
          <a:lstStyle/>
          <a:p>
            <a:pPr>
              <a:defRPr/>
            </a:pPr>
            <a:fld id="{A9CE67A1-BA7F-A74E-B5D7-615746DEEC2B}" type="slidenum">
              <a:rPr lang="en-US" smtClean="0"/>
              <a:pPr>
                <a:defRPr/>
              </a:pPr>
              <a:t>2</a:t>
            </a:fld>
            <a:endParaRPr lang="en-US" baseline="-11000" dirty="0"/>
          </a:p>
        </p:txBody>
      </p:sp>
      <p:sp>
        <p:nvSpPr>
          <p:cNvPr id="6" name="Date Placeholder 5">
            <a:extLst>
              <a:ext uri="{FF2B5EF4-FFF2-40B4-BE49-F238E27FC236}">
                <a16:creationId xmlns:a16="http://schemas.microsoft.com/office/drawing/2014/main" id="{EE37DA8C-4E6D-4F89-890E-48684285BBF5}"/>
              </a:ext>
            </a:extLst>
          </p:cNvPr>
          <p:cNvSpPr>
            <a:spLocks noGrp="1"/>
          </p:cNvSpPr>
          <p:nvPr>
            <p:ph type="dt" sz="half" idx="2"/>
          </p:nvPr>
        </p:nvSpPr>
        <p:spPr/>
        <p:txBody>
          <a:bodyPr/>
          <a:lstStyle/>
          <a:p>
            <a:fld id="{4F68034E-5448-46F8-9344-AFA6D74952E0}" type="datetime3">
              <a:rPr lang="en-US" smtClean="0"/>
              <a:t>30 October 2022</a:t>
            </a:fld>
            <a:endParaRPr lang="en-US" dirty="0"/>
          </a:p>
        </p:txBody>
      </p:sp>
    </p:spTree>
    <p:extLst>
      <p:ext uri="{BB962C8B-B14F-4D97-AF65-F5344CB8AC3E}">
        <p14:creationId xmlns:p14="http://schemas.microsoft.com/office/powerpoint/2010/main" val="1703455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5543218"/>
          </a:xfrm>
        </p:spPr>
        <p:txBody>
          <a:bodyPr>
            <a:normAutofit/>
          </a:bodyPr>
          <a:lstStyle/>
          <a:p>
            <a:pPr marL="0" indent="0">
              <a:buSzPct val="100000"/>
              <a:buNone/>
            </a:pPr>
            <a:r>
              <a:rPr lang="en-US" sz="2300" b="1" dirty="0">
                <a:latin typeface="Times New Roman" panose="02020603050405020304" pitchFamily="18" charset="0"/>
                <a:cs typeface="Times New Roman" panose="02020603050405020304" pitchFamily="18" charset="0"/>
              </a:rPr>
              <a:t>5.2.1 General Naming Conventions</a:t>
            </a:r>
          </a:p>
          <a:p>
            <a:pPr marL="0" indent="0" algn="just">
              <a:buSzPct val="100000"/>
              <a:buNone/>
            </a:pPr>
            <a:r>
              <a:rPr lang="en-GB" sz="2300" b="1" i="0" dirty="0">
                <a:solidFill>
                  <a:srgbClr val="000000"/>
                </a:solidFill>
                <a:effectLst/>
                <a:latin typeface="Arial-BoldMT"/>
              </a:rPr>
              <a:t>Rule – </a:t>
            </a:r>
            <a:r>
              <a:rPr lang="en-GB" sz="2300" b="0" i="0" dirty="0">
                <a:solidFill>
                  <a:srgbClr val="000000"/>
                </a:solidFill>
                <a:effectLst/>
                <a:latin typeface="Times-Roman"/>
              </a:rPr>
              <a:t>Develop a naming convention for the design. Document it and use it consistently throughout the design.</a:t>
            </a:r>
            <a:r>
              <a:rPr lang="en-GB" sz="1800" dirty="0"/>
              <a:t> </a:t>
            </a:r>
          </a:p>
          <a:p>
            <a:pPr algn="just">
              <a:buSzPct val="100000"/>
              <a:buFont typeface="Arial" panose="020B0604020202020204" pitchFamily="34" charset="0"/>
              <a:buChar char="•"/>
            </a:pPr>
            <a:r>
              <a:rPr lang="en-GB" sz="2300" b="1" i="0" dirty="0">
                <a:solidFill>
                  <a:srgbClr val="000000"/>
                </a:solidFill>
                <a:effectLst/>
                <a:latin typeface="Arial-BoldMT"/>
              </a:rPr>
              <a:t>Guideline – </a:t>
            </a:r>
            <a:r>
              <a:rPr lang="en-GB" sz="2300" b="0" i="0" dirty="0">
                <a:solidFill>
                  <a:srgbClr val="000000"/>
                </a:solidFill>
                <a:effectLst/>
                <a:latin typeface="Times-Roman"/>
              </a:rPr>
              <a:t>Use lowercase letters for all signal names, variable names, and port names.</a:t>
            </a:r>
          </a:p>
          <a:p>
            <a:pPr algn="just">
              <a:buSzPct val="100000"/>
              <a:buFont typeface="Arial" panose="020B0604020202020204" pitchFamily="34" charset="0"/>
              <a:buChar char="•"/>
            </a:pPr>
            <a:r>
              <a:rPr lang="en-GB" sz="2300" b="1" i="0" dirty="0">
                <a:solidFill>
                  <a:srgbClr val="000000"/>
                </a:solidFill>
                <a:effectLst/>
                <a:latin typeface="Arial-BoldMT"/>
              </a:rPr>
              <a:t>Guideline – </a:t>
            </a:r>
            <a:r>
              <a:rPr lang="en-GB" sz="2300" b="0" i="0" dirty="0">
                <a:solidFill>
                  <a:srgbClr val="000000"/>
                </a:solidFill>
                <a:effectLst/>
                <a:latin typeface="Times-Roman"/>
              </a:rPr>
              <a:t>Use uppercase letters for names of constants and user-defined types.</a:t>
            </a:r>
          </a:p>
          <a:p>
            <a:pPr algn="just">
              <a:buSzPct val="100000"/>
              <a:buFont typeface="Arial" panose="020B0604020202020204" pitchFamily="34" charset="0"/>
              <a:buChar char="•"/>
            </a:pPr>
            <a:r>
              <a:rPr lang="en-GB" sz="2300" b="1" i="0" dirty="0">
                <a:solidFill>
                  <a:srgbClr val="000000"/>
                </a:solidFill>
                <a:effectLst/>
                <a:latin typeface="Arial-BoldMT"/>
              </a:rPr>
              <a:t>Guideline –</a:t>
            </a:r>
            <a:r>
              <a:rPr lang="en-GB" sz="2300" b="0" i="0" dirty="0">
                <a:solidFill>
                  <a:srgbClr val="000000"/>
                </a:solidFill>
                <a:effectLst/>
                <a:latin typeface="Times-Roman"/>
              </a:rPr>
              <a:t>Use meaningful names for signals, ports, functions, and parameters. For example, do not use </a:t>
            </a:r>
            <a:r>
              <a:rPr lang="en-GB" sz="2300" b="0" i="0" dirty="0" err="1">
                <a:solidFill>
                  <a:srgbClr val="000000"/>
                </a:solidFill>
                <a:effectLst/>
                <a:latin typeface="Courier"/>
              </a:rPr>
              <a:t>ra</a:t>
            </a:r>
            <a:r>
              <a:rPr lang="en-GB" sz="2300" b="0" i="0" dirty="0">
                <a:solidFill>
                  <a:srgbClr val="000000"/>
                </a:solidFill>
                <a:effectLst/>
                <a:latin typeface="Courier"/>
              </a:rPr>
              <a:t> </a:t>
            </a:r>
            <a:r>
              <a:rPr lang="en-GB" sz="2300" b="0" i="0" dirty="0">
                <a:solidFill>
                  <a:srgbClr val="000000"/>
                </a:solidFill>
                <a:effectLst/>
                <a:latin typeface="Times-Roman"/>
              </a:rPr>
              <a:t>for a RAM address bus. Instead, use </a:t>
            </a:r>
            <a:r>
              <a:rPr lang="en-GB" sz="2300" b="0" i="0" dirty="0" err="1">
                <a:solidFill>
                  <a:srgbClr val="000000"/>
                </a:solidFill>
                <a:effectLst/>
                <a:latin typeface="Courier"/>
              </a:rPr>
              <a:t>ram_addr</a:t>
            </a:r>
            <a:r>
              <a:rPr lang="en-GB" sz="2300" b="0" i="0" dirty="0">
                <a:solidFill>
                  <a:srgbClr val="000000"/>
                </a:solidFill>
                <a:effectLst/>
                <a:latin typeface="Courier"/>
              </a:rPr>
              <a:t>.</a:t>
            </a:r>
            <a:r>
              <a:rPr lang="en-GB" sz="1800" dirty="0"/>
              <a:t> </a:t>
            </a:r>
          </a:p>
          <a:p>
            <a:pPr algn="just">
              <a:buSzPct val="100000"/>
              <a:buFont typeface="Arial" panose="020B0604020202020204" pitchFamily="34" charset="0"/>
              <a:buChar char="•"/>
            </a:pPr>
            <a:r>
              <a:rPr lang="en-GB" sz="2300" b="1" i="0" dirty="0">
                <a:solidFill>
                  <a:srgbClr val="000000"/>
                </a:solidFill>
                <a:effectLst/>
                <a:latin typeface="Arial-BoldMT"/>
              </a:rPr>
              <a:t>Guideline – </a:t>
            </a:r>
            <a:r>
              <a:rPr lang="en-GB" sz="2300" b="0" i="0" dirty="0">
                <a:solidFill>
                  <a:srgbClr val="000000"/>
                </a:solidFill>
                <a:effectLst/>
                <a:latin typeface="Times-Roman"/>
              </a:rPr>
              <a:t>If your design uses several parameters, use short but descriptive names. During elaboration, the synthesis tool concatenates the module’s name, parameter names, and parameter values to form the design unit name. Thus, lengthy parameter names can cause excessively long design unit names when you elaborate the design with synthesis tools.</a:t>
            </a:r>
            <a:r>
              <a:rPr lang="en-GB" sz="1800" dirty="0"/>
              <a:t> </a:t>
            </a:r>
          </a:p>
          <a:p>
            <a:pPr algn="just">
              <a:buSzPct val="100000"/>
              <a:buFont typeface="Arial" panose="020B0604020202020204" pitchFamily="34" charset="0"/>
              <a:buChar char="•"/>
            </a:pPr>
            <a:br>
              <a:rPr lang="en-GB" sz="800" dirty="0"/>
            </a:br>
            <a:br>
              <a:rPr lang="en-GB" sz="1000" dirty="0"/>
            </a:br>
            <a:br>
              <a:rPr lang="en-GB" sz="1200" dirty="0"/>
            </a:br>
            <a:endParaRPr lang="en-US" sz="1800" dirty="0">
              <a:latin typeface="+mn-lt"/>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3</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spTree>
    <p:extLst>
      <p:ext uri="{BB962C8B-B14F-4D97-AF65-F5344CB8AC3E}">
        <p14:creationId xmlns:p14="http://schemas.microsoft.com/office/powerpoint/2010/main" val="3997350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5543218"/>
          </a:xfrm>
        </p:spPr>
        <p:txBody>
          <a:bodyPr>
            <a:normAutofit/>
          </a:bodyPr>
          <a:lstStyle/>
          <a:p>
            <a:pPr marL="228600" marR="0" lvl="0" indent="-228600" algn="just" defTabSz="457200" rtl="0" eaLnBrk="1" fontAlgn="auto" latinLnBrk="0" hangingPunct="1">
              <a:lnSpc>
                <a:spcPct val="90000"/>
              </a:lnSpc>
              <a:spcBef>
                <a:spcPts val="1000"/>
              </a:spcBef>
              <a:spcAft>
                <a:spcPts val="400"/>
              </a:spcAft>
              <a:buClr>
                <a:srgbClr val="B1B3B3"/>
              </a:buClr>
              <a:buSzPct val="100000"/>
              <a:buFont typeface="Arial" panose="020B0604020202020204" pitchFamily="34" charset="0"/>
              <a:buChar char="•"/>
              <a:tabLst/>
              <a:defRPr/>
            </a:pPr>
            <a:r>
              <a:rPr kumimoji="0" lang="en-GB" sz="2300" b="1" i="0" u="none" strike="noStrike" kern="1200" cap="none" spc="0" normalizeH="0" baseline="0" noProof="0" dirty="0">
                <a:ln>
                  <a:noFill/>
                </a:ln>
                <a:solidFill>
                  <a:srgbClr val="000000"/>
                </a:solidFill>
                <a:effectLst/>
                <a:uLnTx/>
                <a:uFillTx/>
                <a:latin typeface="Arial-BoldMT"/>
                <a:ea typeface="+mn-ea"/>
                <a:cs typeface="+mn-cs"/>
              </a:rPr>
              <a:t>Guideline – </a:t>
            </a:r>
            <a:r>
              <a:rPr kumimoji="0" lang="en-GB" sz="2300" b="0" i="0" u="none" strike="noStrike" kern="1200" cap="none" spc="0" normalizeH="0" baseline="0" noProof="0" dirty="0">
                <a:ln>
                  <a:noFill/>
                </a:ln>
                <a:solidFill>
                  <a:srgbClr val="000000"/>
                </a:solidFill>
                <a:effectLst/>
                <a:uLnTx/>
                <a:uFillTx/>
                <a:latin typeface="Times-Roman"/>
                <a:ea typeface="+mn-ea"/>
                <a:cs typeface="+mn-cs"/>
              </a:rPr>
              <a:t>Use a consistent name for the clock signal, such as </a:t>
            </a:r>
            <a:r>
              <a:rPr kumimoji="0" lang="en-GB" sz="2300" b="0" i="0" u="none" strike="noStrike" kern="1200" cap="none" spc="0" normalizeH="0" baseline="0" noProof="0" dirty="0">
                <a:ln>
                  <a:noFill/>
                </a:ln>
                <a:solidFill>
                  <a:srgbClr val="000000"/>
                </a:solidFill>
                <a:effectLst/>
                <a:uLnTx/>
                <a:uFillTx/>
                <a:latin typeface="Courier"/>
                <a:ea typeface="+mn-ea"/>
                <a:cs typeface="+mn-cs"/>
              </a:rPr>
              <a:t>clk</a:t>
            </a:r>
            <a:r>
              <a:rPr kumimoji="0" lang="en-GB" sz="2300" b="0" i="0" u="none" strike="noStrike" kern="1200" cap="none" spc="0" normalizeH="0" baseline="0" noProof="0" dirty="0">
                <a:ln>
                  <a:noFill/>
                </a:ln>
                <a:solidFill>
                  <a:srgbClr val="000000"/>
                </a:solidFill>
                <a:effectLst/>
                <a:uLnTx/>
                <a:uFillTx/>
                <a:latin typeface="Times-Roman"/>
                <a:ea typeface="+mn-ea"/>
                <a:cs typeface="+mn-cs"/>
              </a:rPr>
              <a:t>. If there is more than one clock in the design, use </a:t>
            </a:r>
            <a:r>
              <a:rPr kumimoji="0" lang="en-GB" sz="2300" b="0" i="0" u="none" strike="noStrike" kern="1200" cap="none" spc="0" normalizeH="0" baseline="0" noProof="0" dirty="0" err="1">
                <a:ln>
                  <a:noFill/>
                </a:ln>
                <a:solidFill>
                  <a:srgbClr val="000000"/>
                </a:solidFill>
                <a:effectLst/>
                <a:uLnTx/>
                <a:uFillTx/>
                <a:latin typeface="Courier"/>
                <a:ea typeface="+mn-ea"/>
                <a:cs typeface="+mn-cs"/>
              </a:rPr>
              <a:t>clk</a:t>
            </a:r>
            <a:r>
              <a:rPr kumimoji="0" lang="en-GB" sz="2300" b="0" i="0" u="none" strike="noStrike" kern="1200" cap="none" spc="0" normalizeH="0" baseline="0" noProof="0" dirty="0">
                <a:ln>
                  <a:noFill/>
                </a:ln>
                <a:solidFill>
                  <a:srgbClr val="000000"/>
                </a:solidFill>
                <a:effectLst/>
                <a:uLnTx/>
                <a:uFillTx/>
                <a:latin typeface="Courier"/>
                <a:ea typeface="+mn-ea"/>
                <a:cs typeface="+mn-cs"/>
              </a:rPr>
              <a:t> </a:t>
            </a:r>
            <a:r>
              <a:rPr kumimoji="0" lang="en-GB" sz="2300" b="0" i="0" u="none" strike="noStrike" kern="1200" cap="none" spc="0" normalizeH="0" baseline="0" noProof="0" dirty="0">
                <a:ln>
                  <a:noFill/>
                </a:ln>
                <a:solidFill>
                  <a:srgbClr val="000000"/>
                </a:solidFill>
                <a:effectLst/>
                <a:uLnTx/>
                <a:uFillTx/>
                <a:latin typeface="Times-Roman"/>
                <a:ea typeface="+mn-ea"/>
                <a:cs typeface="+mn-cs"/>
              </a:rPr>
              <a:t>as the prefix for all clock signals (for example, </a:t>
            </a:r>
            <a:r>
              <a:rPr kumimoji="0" lang="en-GB" sz="2300" b="0" i="0" u="none" strike="noStrike" kern="1200" cap="none" spc="0" normalizeH="0" baseline="0" noProof="0" dirty="0" err="1">
                <a:ln>
                  <a:noFill/>
                </a:ln>
                <a:solidFill>
                  <a:srgbClr val="000000"/>
                </a:solidFill>
                <a:effectLst/>
                <a:uLnTx/>
                <a:uFillTx/>
                <a:latin typeface="Courier"/>
                <a:ea typeface="+mn-ea"/>
                <a:cs typeface="+mn-cs"/>
              </a:rPr>
              <a:t>clkl</a:t>
            </a:r>
            <a:r>
              <a:rPr kumimoji="0" lang="en-GB" sz="2300" b="0" i="0" u="none" strike="noStrike" kern="1200" cap="none" spc="0" normalizeH="0" baseline="0" noProof="0" dirty="0">
                <a:ln>
                  <a:noFill/>
                </a:ln>
                <a:solidFill>
                  <a:srgbClr val="000000"/>
                </a:solidFill>
                <a:effectLst/>
                <a:uLnTx/>
                <a:uFillTx/>
                <a:latin typeface="Times-Roman"/>
                <a:ea typeface="+mn-ea"/>
                <a:cs typeface="+mn-cs"/>
              </a:rPr>
              <a:t>, </a:t>
            </a:r>
            <a:r>
              <a:rPr kumimoji="0" lang="en-GB" sz="2300" b="0" i="0" u="none" strike="noStrike" kern="1200" cap="none" spc="0" normalizeH="0" baseline="0" noProof="0" dirty="0">
                <a:ln>
                  <a:noFill/>
                </a:ln>
                <a:solidFill>
                  <a:srgbClr val="000000"/>
                </a:solidFill>
                <a:effectLst/>
                <a:uLnTx/>
                <a:uFillTx/>
                <a:latin typeface="Courier"/>
                <a:ea typeface="+mn-ea"/>
                <a:cs typeface="+mn-cs"/>
              </a:rPr>
              <a:t>clk2</a:t>
            </a:r>
            <a:r>
              <a:rPr kumimoji="0" lang="en-GB" sz="2300" b="0" i="0" u="none" strike="noStrike" kern="1200" cap="none" spc="0" normalizeH="0" baseline="0" noProof="0" dirty="0">
                <a:ln>
                  <a:noFill/>
                </a:ln>
                <a:solidFill>
                  <a:srgbClr val="000000"/>
                </a:solidFill>
                <a:effectLst/>
                <a:uLnTx/>
                <a:uFillTx/>
                <a:latin typeface="Times-Roman"/>
                <a:ea typeface="+mn-ea"/>
                <a:cs typeface="+mn-cs"/>
              </a:rPr>
              <a:t>, or </a:t>
            </a:r>
            <a:r>
              <a:rPr kumimoji="0" lang="en-GB" sz="2300" b="0" i="0" u="none" strike="noStrike" kern="1200" cap="none" spc="0" normalizeH="0" baseline="0" noProof="0" dirty="0" err="1">
                <a:ln>
                  <a:noFill/>
                </a:ln>
                <a:solidFill>
                  <a:srgbClr val="000000"/>
                </a:solidFill>
                <a:effectLst/>
                <a:uLnTx/>
                <a:uFillTx/>
                <a:latin typeface="Courier"/>
                <a:ea typeface="+mn-ea"/>
                <a:cs typeface="+mn-cs"/>
              </a:rPr>
              <a:t>clk_interface</a:t>
            </a:r>
            <a:r>
              <a:rPr kumimoji="0" lang="en-GB" sz="2300" b="0" i="0" u="none" strike="noStrike" kern="1200" cap="none" spc="0" normalizeH="0" baseline="0" noProof="0" dirty="0">
                <a:ln>
                  <a:noFill/>
                </a:ln>
                <a:solidFill>
                  <a:srgbClr val="000000"/>
                </a:solidFill>
                <a:effectLst/>
                <a:uLnTx/>
                <a:uFillTx/>
                <a:latin typeface="Times-Roman"/>
                <a:ea typeface="+mn-ea"/>
                <a:cs typeface="+mn-cs"/>
              </a:rPr>
              <a:t>).</a:t>
            </a:r>
            <a:r>
              <a:rPr kumimoji="0" lang="en-GB" sz="2300" b="0" i="0" u="none" strike="noStrike" kern="1200" cap="none" spc="0" normalizeH="0" baseline="0" noProof="0" dirty="0">
                <a:ln>
                  <a:noFill/>
                </a:ln>
                <a:solidFill>
                  <a:srgbClr val="000000"/>
                </a:solidFill>
                <a:effectLst/>
                <a:uLnTx/>
                <a:uFillTx/>
                <a:latin typeface="Barlow" pitchFamily="2" charset="77"/>
                <a:ea typeface="+mn-ea"/>
                <a:cs typeface="+mn-cs"/>
              </a:rPr>
              <a:t> </a:t>
            </a:r>
          </a:p>
          <a:p>
            <a:pPr marL="228600" marR="0" lvl="0" indent="-228600" algn="just" defTabSz="457200" rtl="0" eaLnBrk="1" fontAlgn="auto" latinLnBrk="0" hangingPunct="1">
              <a:lnSpc>
                <a:spcPct val="90000"/>
              </a:lnSpc>
              <a:spcBef>
                <a:spcPts val="1000"/>
              </a:spcBef>
              <a:spcAft>
                <a:spcPts val="400"/>
              </a:spcAft>
              <a:buClr>
                <a:srgbClr val="B1B3B3"/>
              </a:buClr>
              <a:buSzPct val="100000"/>
              <a:buFont typeface="Arial" panose="020B0604020202020204" pitchFamily="34" charset="0"/>
              <a:buChar char="•"/>
              <a:tabLst/>
              <a:defRPr/>
            </a:pPr>
            <a:r>
              <a:rPr kumimoji="0" lang="en-GB" sz="2300" b="1" i="0" u="none" strike="noStrike" kern="1200" cap="none" spc="0" normalizeH="0" baseline="0" noProof="0" dirty="0">
                <a:ln>
                  <a:noFill/>
                </a:ln>
                <a:solidFill>
                  <a:srgbClr val="000000"/>
                </a:solidFill>
                <a:effectLst/>
                <a:uLnTx/>
                <a:uFillTx/>
                <a:latin typeface="Arial-BoldMT"/>
                <a:ea typeface="+mn-ea"/>
                <a:cs typeface="+mn-cs"/>
              </a:rPr>
              <a:t>Guideline – </a:t>
            </a:r>
            <a:r>
              <a:rPr kumimoji="0" lang="en-GB" sz="2300" b="0" i="0" u="none" strike="noStrike" kern="1200" cap="none" spc="0" normalizeH="0" baseline="0" noProof="0" dirty="0">
                <a:ln>
                  <a:noFill/>
                </a:ln>
                <a:solidFill>
                  <a:srgbClr val="000000"/>
                </a:solidFill>
                <a:effectLst/>
                <a:uLnTx/>
                <a:uFillTx/>
                <a:latin typeface="Times-Roman"/>
                <a:ea typeface="+mn-ea"/>
                <a:cs typeface="+mn-cs"/>
              </a:rPr>
              <a:t>Use the same name for all clock signals that are driven from the same source.</a:t>
            </a:r>
            <a:r>
              <a:rPr kumimoji="0" lang="en-GB" sz="2300" b="0" i="0" u="none" strike="noStrike" kern="1200" cap="none" spc="0" normalizeH="0" baseline="0" noProof="0" dirty="0">
                <a:ln>
                  <a:noFill/>
                </a:ln>
                <a:solidFill>
                  <a:srgbClr val="000000"/>
                </a:solidFill>
                <a:effectLst/>
                <a:uLnTx/>
                <a:uFillTx/>
                <a:latin typeface="Barlow" pitchFamily="2" charset="77"/>
                <a:ea typeface="+mn-ea"/>
                <a:cs typeface="+mn-cs"/>
              </a:rPr>
              <a:t> </a:t>
            </a:r>
          </a:p>
          <a:p>
            <a:pPr marL="228600" marR="0" lvl="0" indent="-228600" algn="just" defTabSz="457200" rtl="0" eaLnBrk="1" fontAlgn="auto" latinLnBrk="0" hangingPunct="1">
              <a:lnSpc>
                <a:spcPct val="90000"/>
              </a:lnSpc>
              <a:spcBef>
                <a:spcPts val="1000"/>
              </a:spcBef>
              <a:spcAft>
                <a:spcPts val="400"/>
              </a:spcAft>
              <a:buClr>
                <a:srgbClr val="B1B3B3"/>
              </a:buClr>
              <a:buSzPct val="100000"/>
              <a:buFont typeface="Arial" panose="020B0604020202020204" pitchFamily="34" charset="0"/>
              <a:buChar char="•"/>
              <a:tabLst/>
              <a:defRPr/>
            </a:pPr>
            <a:r>
              <a:rPr kumimoji="0" lang="en-GB" sz="2300" b="1" i="0" u="none" strike="noStrike" kern="1200" cap="none" spc="0" normalizeH="0" baseline="0" noProof="0" dirty="0">
                <a:ln>
                  <a:noFill/>
                </a:ln>
                <a:solidFill>
                  <a:srgbClr val="000000"/>
                </a:solidFill>
                <a:effectLst/>
                <a:uLnTx/>
                <a:uFillTx/>
                <a:latin typeface="Arial-BoldMT"/>
                <a:ea typeface="+mn-ea"/>
                <a:cs typeface="+mn-cs"/>
              </a:rPr>
              <a:t>Guideline – </a:t>
            </a:r>
            <a:r>
              <a:rPr kumimoji="0" lang="en-GB" sz="2300" b="0" i="0" u="none" strike="noStrike" kern="1200" cap="none" spc="0" normalizeH="0" baseline="0" noProof="0" dirty="0">
                <a:ln>
                  <a:noFill/>
                </a:ln>
                <a:solidFill>
                  <a:srgbClr val="000000"/>
                </a:solidFill>
                <a:effectLst/>
                <a:uLnTx/>
                <a:uFillTx/>
                <a:latin typeface="Times-Roman"/>
                <a:ea typeface="+mn-ea"/>
                <a:cs typeface="+mn-cs"/>
              </a:rPr>
              <a:t>For active-low signals, end the signal name with an underscore followed by a lowercase character (for example, </a:t>
            </a:r>
            <a:r>
              <a:rPr kumimoji="0" lang="en-GB" sz="2300" b="0" i="0" u="none" strike="noStrike" kern="1200" cap="none" spc="0" normalizeH="0" baseline="0" noProof="0" dirty="0">
                <a:ln>
                  <a:noFill/>
                </a:ln>
                <a:solidFill>
                  <a:srgbClr val="000000"/>
                </a:solidFill>
                <a:effectLst/>
                <a:uLnTx/>
                <a:uFillTx/>
                <a:latin typeface="Courier"/>
                <a:ea typeface="+mn-ea"/>
                <a:cs typeface="+mn-cs"/>
              </a:rPr>
              <a:t>_b </a:t>
            </a:r>
            <a:r>
              <a:rPr kumimoji="0" lang="en-GB" sz="2300" b="0" i="0" u="none" strike="noStrike" kern="1200" cap="none" spc="0" normalizeH="0" baseline="0" noProof="0" dirty="0">
                <a:ln>
                  <a:noFill/>
                </a:ln>
                <a:solidFill>
                  <a:srgbClr val="000000"/>
                </a:solidFill>
                <a:effectLst/>
                <a:uLnTx/>
                <a:uFillTx/>
                <a:latin typeface="Times-Roman"/>
                <a:ea typeface="+mn-ea"/>
                <a:cs typeface="+mn-cs"/>
              </a:rPr>
              <a:t>or </a:t>
            </a:r>
            <a:r>
              <a:rPr kumimoji="0" lang="en-GB" sz="2300" b="0" i="0" u="none" strike="noStrike" kern="1200" cap="none" spc="0" normalizeH="0" baseline="0" noProof="0" dirty="0">
                <a:ln>
                  <a:noFill/>
                </a:ln>
                <a:solidFill>
                  <a:srgbClr val="000000"/>
                </a:solidFill>
                <a:effectLst/>
                <a:uLnTx/>
                <a:uFillTx/>
                <a:latin typeface="Courier"/>
                <a:ea typeface="+mn-ea"/>
                <a:cs typeface="+mn-cs"/>
              </a:rPr>
              <a:t>_n</a:t>
            </a:r>
            <a:r>
              <a:rPr kumimoji="0" lang="en-GB" sz="2300" b="0" i="0" u="none" strike="noStrike" kern="1200" cap="none" spc="0" normalizeH="0" baseline="0" noProof="0" dirty="0">
                <a:ln>
                  <a:noFill/>
                </a:ln>
                <a:solidFill>
                  <a:srgbClr val="000000"/>
                </a:solidFill>
                <a:effectLst/>
                <a:uLnTx/>
                <a:uFillTx/>
                <a:latin typeface="Times-Roman"/>
                <a:ea typeface="+mn-ea"/>
                <a:cs typeface="+mn-cs"/>
              </a:rPr>
              <a:t>).Use the same lowercase character consistently to indicate active-low signals throughout the design.</a:t>
            </a:r>
            <a:r>
              <a:rPr kumimoji="0" lang="en-GB" sz="2300" b="0" i="0" u="none" strike="noStrike" kern="1200" cap="none" spc="0" normalizeH="0" baseline="0" noProof="0" dirty="0">
                <a:ln>
                  <a:noFill/>
                </a:ln>
                <a:solidFill>
                  <a:srgbClr val="000000"/>
                </a:solidFill>
                <a:effectLst/>
                <a:uLnTx/>
                <a:uFillTx/>
                <a:latin typeface="Barlow" pitchFamily="2" charset="77"/>
                <a:ea typeface="+mn-ea"/>
                <a:cs typeface="+mn-cs"/>
              </a:rPr>
              <a:t> </a:t>
            </a:r>
          </a:p>
          <a:p>
            <a:pPr marL="228600" marR="0" lvl="0" indent="-228600" algn="l" defTabSz="457200" rtl="0" eaLnBrk="1" fontAlgn="auto" latinLnBrk="0" hangingPunct="1">
              <a:lnSpc>
                <a:spcPct val="90000"/>
              </a:lnSpc>
              <a:spcBef>
                <a:spcPts val="1000"/>
              </a:spcBef>
              <a:spcAft>
                <a:spcPts val="400"/>
              </a:spcAft>
              <a:buClr>
                <a:srgbClr val="B1B3B3"/>
              </a:buClr>
              <a:buSzPct val="100000"/>
              <a:buFont typeface="Arial" panose="020B0604020202020204" pitchFamily="34" charset="0"/>
              <a:buChar char="•"/>
              <a:tabLst/>
              <a:defRPr/>
            </a:pPr>
            <a:r>
              <a:rPr kumimoji="0" lang="en-GB" sz="2300" b="1" i="0" u="none" strike="noStrike" kern="1200" cap="none" spc="0" normalizeH="0" baseline="0" noProof="0" dirty="0">
                <a:ln>
                  <a:noFill/>
                </a:ln>
                <a:solidFill>
                  <a:srgbClr val="000000"/>
                </a:solidFill>
                <a:effectLst/>
                <a:uLnTx/>
                <a:uFillTx/>
                <a:latin typeface="Arial-BoldMT"/>
                <a:ea typeface="+mn-ea"/>
                <a:cs typeface="+mn-cs"/>
              </a:rPr>
              <a:t>Guideline – </a:t>
            </a:r>
            <a:r>
              <a:rPr kumimoji="0" lang="en-GB" sz="2300" b="0" i="0" u="none" strike="noStrike" kern="1200" cap="none" spc="0" normalizeH="0" baseline="0" noProof="0" dirty="0">
                <a:ln>
                  <a:noFill/>
                </a:ln>
                <a:solidFill>
                  <a:srgbClr val="000000"/>
                </a:solidFill>
                <a:effectLst/>
                <a:uLnTx/>
                <a:uFillTx/>
                <a:latin typeface="Times-Roman"/>
                <a:ea typeface="+mn-ea"/>
                <a:cs typeface="+mn-cs"/>
              </a:rPr>
              <a:t>Use a consistent name for reset signals, such as </a:t>
            </a:r>
            <a:r>
              <a:rPr kumimoji="0" lang="en-GB" sz="2300" b="0" i="0" u="none" strike="noStrike" kern="1200" cap="none" spc="0" normalizeH="0" baseline="0" noProof="0" dirty="0" err="1">
                <a:ln>
                  <a:noFill/>
                </a:ln>
                <a:solidFill>
                  <a:srgbClr val="000000"/>
                </a:solidFill>
                <a:effectLst/>
                <a:uLnTx/>
                <a:uFillTx/>
                <a:latin typeface="Courier"/>
                <a:ea typeface="+mn-ea"/>
                <a:cs typeface="+mn-cs"/>
              </a:rPr>
              <a:t>rst</a:t>
            </a:r>
            <a:r>
              <a:rPr kumimoji="0" lang="en-GB" sz="2300" b="0" i="0" u="none" strike="noStrike" kern="1200" cap="none" spc="0" normalizeH="0" baseline="0" noProof="0" dirty="0">
                <a:ln>
                  <a:noFill/>
                </a:ln>
                <a:solidFill>
                  <a:srgbClr val="000000"/>
                </a:solidFill>
                <a:effectLst/>
                <a:uLnTx/>
                <a:uFillTx/>
                <a:latin typeface="Courier"/>
                <a:ea typeface="+mn-ea"/>
                <a:cs typeface="+mn-cs"/>
              </a:rPr>
              <a:t>. </a:t>
            </a:r>
            <a:r>
              <a:rPr kumimoji="0" lang="en-GB" sz="2300" b="0" i="0" u="none" strike="noStrike" kern="1200" cap="none" spc="0" normalizeH="0" baseline="0" noProof="0" dirty="0">
                <a:ln>
                  <a:noFill/>
                </a:ln>
                <a:solidFill>
                  <a:srgbClr val="000000"/>
                </a:solidFill>
                <a:effectLst/>
                <a:uLnTx/>
                <a:uFillTx/>
                <a:latin typeface="Times-Roman"/>
                <a:ea typeface="+mn-ea"/>
                <a:cs typeface="+mn-cs"/>
              </a:rPr>
              <a:t>If the reset signal is active low, use a name like </a:t>
            </a:r>
            <a:r>
              <a:rPr kumimoji="0" lang="en-GB" sz="2300" b="0" i="0" u="none" strike="noStrike" kern="1200" cap="none" spc="0" normalizeH="0" baseline="0" noProof="0" dirty="0" err="1">
                <a:ln>
                  <a:noFill/>
                </a:ln>
                <a:solidFill>
                  <a:srgbClr val="000000"/>
                </a:solidFill>
                <a:effectLst/>
                <a:uLnTx/>
                <a:uFillTx/>
                <a:latin typeface="Courier"/>
                <a:ea typeface="+mn-ea"/>
                <a:cs typeface="+mn-cs"/>
              </a:rPr>
              <a:t>rst_n</a:t>
            </a:r>
            <a:r>
              <a:rPr kumimoji="0" lang="en-GB" sz="2300" b="0" i="0" u="none" strike="noStrike" kern="1200" cap="none" spc="0" normalizeH="0" baseline="0" noProof="0" dirty="0">
                <a:ln>
                  <a:noFill/>
                </a:ln>
                <a:solidFill>
                  <a:srgbClr val="000000"/>
                </a:solidFill>
                <a:effectLst/>
                <a:uLnTx/>
                <a:uFillTx/>
                <a:latin typeface="Courier"/>
                <a:ea typeface="+mn-ea"/>
                <a:cs typeface="+mn-cs"/>
              </a:rPr>
              <a:t> </a:t>
            </a:r>
            <a:r>
              <a:rPr kumimoji="0" lang="en-GB" sz="2300" b="0" i="0" u="none" strike="noStrike" kern="1200" cap="none" spc="0" normalizeH="0" baseline="0" noProof="0" dirty="0">
                <a:ln>
                  <a:noFill/>
                </a:ln>
                <a:solidFill>
                  <a:srgbClr val="000000"/>
                </a:solidFill>
                <a:effectLst/>
                <a:uLnTx/>
                <a:uFillTx/>
                <a:latin typeface="Times-Roman"/>
                <a:ea typeface="+mn-ea"/>
                <a:cs typeface="+mn-cs"/>
              </a:rPr>
              <a:t>(or substitute </a:t>
            </a:r>
            <a:r>
              <a:rPr kumimoji="0" lang="en-GB" sz="2300" b="0" i="0" u="none" strike="noStrike" kern="1200" cap="none" spc="0" normalizeH="0" baseline="0" noProof="0" dirty="0">
                <a:ln>
                  <a:noFill/>
                </a:ln>
                <a:solidFill>
                  <a:srgbClr val="000000"/>
                </a:solidFill>
                <a:effectLst/>
                <a:uLnTx/>
                <a:uFillTx/>
                <a:latin typeface="Courier"/>
                <a:ea typeface="+mn-ea"/>
                <a:cs typeface="+mn-cs"/>
              </a:rPr>
              <a:t>n </a:t>
            </a:r>
            <a:r>
              <a:rPr kumimoji="0" lang="en-GB" sz="2300" b="0" i="0" u="none" strike="noStrike" kern="1200" cap="none" spc="0" normalizeH="0" baseline="0" noProof="0" dirty="0">
                <a:ln>
                  <a:noFill/>
                </a:ln>
                <a:solidFill>
                  <a:srgbClr val="000000"/>
                </a:solidFill>
                <a:effectLst/>
                <a:uLnTx/>
                <a:uFillTx/>
                <a:latin typeface="Times-Roman"/>
                <a:ea typeface="+mn-ea"/>
                <a:cs typeface="+mn-cs"/>
              </a:rPr>
              <a:t>with whatever lowercase character you are using to indicate active-low signals).</a:t>
            </a:r>
            <a:endParaRPr lang="en-US" sz="2300" dirty="0">
              <a:latin typeface="+mn-lt"/>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4</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spTree>
    <p:extLst>
      <p:ext uri="{BB962C8B-B14F-4D97-AF65-F5344CB8AC3E}">
        <p14:creationId xmlns:p14="http://schemas.microsoft.com/office/powerpoint/2010/main" val="2736119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4914900"/>
          </a:xfrm>
        </p:spPr>
        <p:txBody>
          <a:bodyPr>
            <a:normAutofit/>
          </a:bodyPr>
          <a:lstStyle/>
          <a:p>
            <a:pPr marL="0" indent="0">
              <a:buSzPct val="100000"/>
              <a:buNone/>
            </a:pPr>
            <a:r>
              <a:rPr lang="en-US" sz="1800" b="1" dirty="0">
                <a:latin typeface="Times New Roman" panose="02020603050405020304" pitchFamily="18" charset="0"/>
                <a:cs typeface="Times New Roman" panose="02020603050405020304" pitchFamily="18" charset="0"/>
              </a:rPr>
              <a:t>5.2.1 General Naming Conventions</a:t>
            </a:r>
          </a:p>
          <a:p>
            <a:pPr marL="0" indent="0" algn="just">
              <a:buSzPct val="100000"/>
              <a:buNone/>
            </a:pPr>
            <a:r>
              <a:rPr lang="en-GB" sz="1800" b="1" i="0" dirty="0">
                <a:solidFill>
                  <a:srgbClr val="000000"/>
                </a:solidFill>
                <a:effectLst/>
                <a:latin typeface="Arial-BoldMT"/>
              </a:rPr>
              <a:t>Rule – </a:t>
            </a:r>
            <a:r>
              <a:rPr lang="en-GB" sz="1800" b="0" i="0" dirty="0">
                <a:solidFill>
                  <a:srgbClr val="000000"/>
                </a:solidFill>
                <a:effectLst/>
                <a:latin typeface="Times-Roman"/>
              </a:rPr>
              <a:t>When describing multibit buses, use a consistent ordering of bits. For VHDL, use either </a:t>
            </a:r>
            <a:r>
              <a:rPr lang="en-GB" sz="1800" b="0" i="0" dirty="0">
                <a:solidFill>
                  <a:srgbClr val="000000"/>
                </a:solidFill>
                <a:effectLst/>
                <a:latin typeface="Courier"/>
              </a:rPr>
              <a:t>(x </a:t>
            </a:r>
            <a:r>
              <a:rPr lang="en-GB" sz="1800" b="0" i="0" dirty="0" err="1">
                <a:solidFill>
                  <a:srgbClr val="000000"/>
                </a:solidFill>
                <a:effectLst/>
                <a:latin typeface="Courier"/>
              </a:rPr>
              <a:t>downto</a:t>
            </a:r>
            <a:r>
              <a:rPr lang="en-GB" sz="1800" b="0" i="0" dirty="0">
                <a:solidFill>
                  <a:srgbClr val="000000"/>
                </a:solidFill>
                <a:effectLst/>
                <a:latin typeface="Courier"/>
              </a:rPr>
              <a:t> 0) </a:t>
            </a:r>
            <a:r>
              <a:rPr lang="en-GB" sz="1800" b="0" i="0" dirty="0">
                <a:solidFill>
                  <a:srgbClr val="000000"/>
                </a:solidFill>
                <a:effectLst/>
                <a:latin typeface="Times-Roman"/>
              </a:rPr>
              <a:t>or   </a:t>
            </a:r>
            <a:r>
              <a:rPr lang="en-GB" sz="1800" b="0" i="0" dirty="0">
                <a:solidFill>
                  <a:srgbClr val="000000"/>
                </a:solidFill>
                <a:effectLst/>
                <a:latin typeface="Courier"/>
              </a:rPr>
              <a:t>(0 to x). </a:t>
            </a:r>
            <a:r>
              <a:rPr lang="en-GB" sz="1800" b="0" i="0" dirty="0">
                <a:solidFill>
                  <a:srgbClr val="000000"/>
                </a:solidFill>
                <a:effectLst/>
                <a:latin typeface="Times-Roman"/>
              </a:rPr>
              <a:t>For Verilog, use </a:t>
            </a:r>
            <a:r>
              <a:rPr lang="en-GB" sz="1800" b="0" i="0" dirty="0">
                <a:solidFill>
                  <a:srgbClr val="000000"/>
                </a:solidFill>
                <a:effectLst/>
                <a:latin typeface="Courier"/>
              </a:rPr>
              <a:t>[x:0] </a:t>
            </a:r>
            <a:r>
              <a:rPr lang="en-GB" sz="1800" b="0" i="0" dirty="0">
                <a:solidFill>
                  <a:srgbClr val="000000"/>
                </a:solidFill>
                <a:effectLst/>
                <a:latin typeface="Times-Roman"/>
              </a:rPr>
              <a:t>or </a:t>
            </a:r>
            <a:r>
              <a:rPr lang="en-GB" sz="1800" b="0" i="0" dirty="0">
                <a:solidFill>
                  <a:srgbClr val="000000"/>
                </a:solidFill>
                <a:effectLst/>
                <a:latin typeface="Courier"/>
              </a:rPr>
              <a:t>[0:x]. </a:t>
            </a:r>
            <a:r>
              <a:rPr lang="en-GB" sz="1800" b="0" i="0" dirty="0">
                <a:solidFill>
                  <a:srgbClr val="000000"/>
                </a:solidFill>
                <a:effectLst/>
                <a:latin typeface="Times-Roman"/>
              </a:rPr>
              <a:t>Using a consistent ordering helps improve the readability of the code and reduces the chance of accidently swapping order between connected buses.</a:t>
            </a:r>
            <a:r>
              <a:rPr lang="en-GB" sz="1200" dirty="0"/>
              <a:t> </a:t>
            </a:r>
            <a:br>
              <a:rPr lang="en-GB" sz="1200" dirty="0"/>
            </a:br>
            <a:endParaRPr lang="en-GB" sz="1200" dirty="0"/>
          </a:p>
          <a:p>
            <a:pPr algn="just">
              <a:buSzPct val="100000"/>
              <a:buFont typeface="Arial" panose="020B0604020202020204" pitchFamily="34" charset="0"/>
              <a:buChar char="•"/>
            </a:pPr>
            <a:r>
              <a:rPr lang="en-GB" sz="1800" b="1" i="0" dirty="0">
                <a:solidFill>
                  <a:srgbClr val="000000"/>
                </a:solidFill>
                <a:effectLst/>
                <a:latin typeface="Arial-BoldMT"/>
              </a:rPr>
              <a:t>Guideline – </a:t>
            </a:r>
            <a:r>
              <a:rPr lang="en-GB" sz="1800" b="0" i="0" dirty="0">
                <a:solidFill>
                  <a:srgbClr val="000000"/>
                </a:solidFill>
                <a:effectLst/>
                <a:latin typeface="Times-Roman"/>
              </a:rPr>
              <a:t>Use</a:t>
            </a:r>
            <a:r>
              <a:rPr lang="en-GB" sz="1800" b="0" i="0" dirty="0">
                <a:solidFill>
                  <a:srgbClr val="000000"/>
                </a:solidFill>
                <a:effectLst/>
                <a:latin typeface="Courier"/>
              </a:rPr>
              <a:t>[x:0]</a:t>
            </a:r>
            <a:r>
              <a:rPr lang="en-GB" sz="1800" b="0" i="0" dirty="0">
                <a:solidFill>
                  <a:srgbClr val="000000"/>
                </a:solidFill>
                <a:effectLst/>
                <a:latin typeface="Times-Roman"/>
              </a:rPr>
              <a:t>for multibit signals in Verilog and </a:t>
            </a:r>
            <a:r>
              <a:rPr lang="en-GB" sz="1800" b="0" i="0" dirty="0">
                <a:solidFill>
                  <a:srgbClr val="000000"/>
                </a:solidFill>
                <a:effectLst/>
                <a:latin typeface="Courier"/>
              </a:rPr>
              <a:t>(x </a:t>
            </a:r>
            <a:r>
              <a:rPr lang="en-GB" sz="1800" b="0" i="0" dirty="0" err="1">
                <a:solidFill>
                  <a:srgbClr val="000000"/>
                </a:solidFill>
                <a:effectLst/>
                <a:latin typeface="Courier"/>
              </a:rPr>
              <a:t>downto</a:t>
            </a:r>
            <a:r>
              <a:rPr lang="en-GB" sz="1800" b="0" i="0" dirty="0">
                <a:solidFill>
                  <a:srgbClr val="000000"/>
                </a:solidFill>
                <a:effectLst/>
                <a:latin typeface="Courier"/>
              </a:rPr>
              <a:t> 0) </a:t>
            </a:r>
            <a:r>
              <a:rPr lang="en-GB" sz="1800" b="0" i="0" dirty="0">
                <a:solidFill>
                  <a:srgbClr val="000000"/>
                </a:solidFill>
                <a:effectLst/>
                <a:latin typeface="Times-Roman"/>
              </a:rPr>
              <a:t>for multibit signals in VHDL. We make this recommendation to establish a standard, and thus achieve some consistency across multiple designs and design teams.</a:t>
            </a:r>
          </a:p>
          <a:p>
            <a:pPr>
              <a:buSzPct val="100000"/>
              <a:buFont typeface="Arial" panose="020B0604020202020204" pitchFamily="34" charset="0"/>
              <a:buChar char="•"/>
            </a:pPr>
            <a:r>
              <a:rPr lang="en-GB" sz="1800" b="1" i="0" dirty="0">
                <a:solidFill>
                  <a:srgbClr val="000000"/>
                </a:solidFill>
                <a:effectLst/>
                <a:latin typeface="Arial-BoldMT"/>
              </a:rPr>
              <a:t>Guideline – </a:t>
            </a:r>
            <a:r>
              <a:rPr lang="en-GB" sz="1800" b="0" i="0" dirty="0">
                <a:solidFill>
                  <a:srgbClr val="000000"/>
                </a:solidFill>
                <a:effectLst/>
                <a:latin typeface="Times-Roman"/>
              </a:rPr>
              <a:t>When possible, use the same name or similar names for ports and signals that are connected (for example, </a:t>
            </a:r>
            <a:r>
              <a:rPr lang="en-GB" sz="1800" b="0" i="0" dirty="0">
                <a:solidFill>
                  <a:srgbClr val="000000"/>
                </a:solidFill>
                <a:effectLst/>
                <a:latin typeface="Courier"/>
              </a:rPr>
              <a:t>a =&gt; a; </a:t>
            </a:r>
            <a:r>
              <a:rPr lang="en-GB" sz="1800" b="0" i="0" dirty="0">
                <a:solidFill>
                  <a:srgbClr val="000000"/>
                </a:solidFill>
                <a:effectLst/>
                <a:latin typeface="Times-Roman"/>
              </a:rPr>
              <a:t>or </a:t>
            </a:r>
            <a:r>
              <a:rPr lang="en-GB" sz="1800" b="0" i="0" dirty="0">
                <a:solidFill>
                  <a:srgbClr val="000000"/>
                </a:solidFill>
                <a:effectLst/>
                <a:latin typeface="Courier"/>
              </a:rPr>
              <a:t>a =&gt; </a:t>
            </a:r>
            <a:r>
              <a:rPr lang="en-GB" sz="1800" b="0" i="0" dirty="0" err="1">
                <a:solidFill>
                  <a:srgbClr val="000000"/>
                </a:solidFill>
                <a:effectLst/>
                <a:latin typeface="Courier"/>
              </a:rPr>
              <a:t>a_int</a:t>
            </a:r>
            <a:r>
              <a:rPr lang="en-GB" sz="1800" b="0" i="0" dirty="0">
                <a:solidFill>
                  <a:srgbClr val="000000"/>
                </a:solidFill>
                <a:effectLst/>
                <a:latin typeface="Courier"/>
              </a:rPr>
              <a:t>;</a:t>
            </a:r>
            <a:r>
              <a:rPr lang="en-GB" sz="1800" b="0" i="0" dirty="0">
                <a:solidFill>
                  <a:srgbClr val="000000"/>
                </a:solidFill>
                <a:effectLst/>
                <a:latin typeface="Times-Roman"/>
              </a:rPr>
              <a:t>).</a:t>
            </a:r>
            <a:r>
              <a:rPr lang="en-GB" sz="1000" dirty="0"/>
              <a:t> </a:t>
            </a:r>
            <a:br>
              <a:rPr lang="en-GB" sz="1000" dirty="0"/>
            </a:br>
            <a:r>
              <a:rPr lang="en-GB" sz="1200" dirty="0"/>
              <a:t> </a:t>
            </a:r>
            <a:br>
              <a:rPr lang="en-GB" sz="1200" dirty="0"/>
            </a:br>
            <a:br>
              <a:rPr lang="en-GB" sz="800" dirty="0"/>
            </a:br>
            <a:br>
              <a:rPr lang="en-GB" sz="1000" dirty="0"/>
            </a:br>
            <a:br>
              <a:rPr lang="en-GB" sz="1200" dirty="0"/>
            </a:br>
            <a:endParaRPr lang="en-US" sz="1800" dirty="0">
              <a:latin typeface="+mn-lt"/>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5</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10" name="Picture 9">
            <a:extLst>
              <a:ext uri="{FF2B5EF4-FFF2-40B4-BE49-F238E27FC236}">
                <a16:creationId xmlns:a16="http://schemas.microsoft.com/office/drawing/2014/main" id="{DC2BD9CC-CEB0-A262-E9B4-0E7BBC5964E7}"/>
              </a:ext>
            </a:extLst>
          </p:cNvPr>
          <p:cNvPicPr>
            <a:picLocks noChangeAspect="1"/>
          </p:cNvPicPr>
          <p:nvPr/>
        </p:nvPicPr>
        <p:blipFill>
          <a:blip r:embed="rId3"/>
          <a:stretch>
            <a:fillRect/>
          </a:stretch>
        </p:blipFill>
        <p:spPr>
          <a:xfrm>
            <a:off x="2344249" y="4138248"/>
            <a:ext cx="6629741" cy="2159111"/>
          </a:xfrm>
          <a:prstGeom prst="rect">
            <a:avLst/>
          </a:prstGeom>
        </p:spPr>
      </p:pic>
    </p:spTree>
    <p:extLst>
      <p:ext uri="{BB962C8B-B14F-4D97-AF65-F5344CB8AC3E}">
        <p14:creationId xmlns:p14="http://schemas.microsoft.com/office/powerpoint/2010/main" val="2672411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5571744"/>
          </a:xfrm>
        </p:spPr>
        <p:txBody>
          <a:bodyPr>
            <a:normAutofit/>
          </a:bodyPr>
          <a:lstStyle/>
          <a:p>
            <a:pPr marL="0" indent="0">
              <a:buSzPct val="100000"/>
              <a:buNone/>
            </a:pPr>
            <a:r>
              <a:rPr lang="en-US" sz="1800" b="1" dirty="0">
                <a:latin typeface="Times New Roman" panose="02020603050405020304" pitchFamily="18" charset="0"/>
                <a:cs typeface="Times New Roman" panose="02020603050405020304" pitchFamily="18" charset="0"/>
              </a:rPr>
              <a:t>5.2.3 State Variable Names</a:t>
            </a:r>
          </a:p>
          <a:p>
            <a:pPr marL="0" indent="0">
              <a:buSzPct val="100000"/>
              <a:buNone/>
            </a:pPr>
            <a:r>
              <a:rPr lang="en-GB" sz="1800" b="1" i="0" dirty="0">
                <a:solidFill>
                  <a:srgbClr val="000000"/>
                </a:solidFill>
                <a:effectLst/>
                <a:latin typeface="Arial-BoldMT"/>
              </a:rPr>
              <a:t>Rule – </a:t>
            </a:r>
            <a:r>
              <a:rPr lang="en-GB" sz="1800" b="0" i="0" dirty="0">
                <a:solidFill>
                  <a:srgbClr val="000000"/>
                </a:solidFill>
                <a:effectLst/>
                <a:latin typeface="Times-Roman"/>
              </a:rPr>
              <a:t>Use a distinctive suffix for state variable names. Recommended names are </a:t>
            </a:r>
            <a:r>
              <a:rPr lang="en-GB" sz="1800" b="0" i="0" dirty="0">
                <a:solidFill>
                  <a:srgbClr val="000000"/>
                </a:solidFill>
                <a:effectLst/>
                <a:latin typeface="Courier"/>
              </a:rPr>
              <a:t>&lt;name&gt;_cs </a:t>
            </a:r>
            <a:r>
              <a:rPr lang="en-GB" sz="1800" b="0" i="0" dirty="0">
                <a:solidFill>
                  <a:srgbClr val="000000"/>
                </a:solidFill>
                <a:effectLst/>
                <a:latin typeface="Times-Roman"/>
              </a:rPr>
              <a:t>for the current state, and </a:t>
            </a:r>
            <a:r>
              <a:rPr lang="en-GB" sz="1800" b="0" i="0" dirty="0">
                <a:solidFill>
                  <a:srgbClr val="000000"/>
                </a:solidFill>
                <a:effectLst/>
                <a:latin typeface="Courier"/>
              </a:rPr>
              <a:t>&lt;name&gt;_ns </a:t>
            </a:r>
            <a:r>
              <a:rPr lang="en-GB" sz="1800" b="0" i="0" dirty="0">
                <a:solidFill>
                  <a:srgbClr val="000000"/>
                </a:solidFill>
                <a:effectLst/>
                <a:latin typeface="Times-Roman"/>
              </a:rPr>
              <a:t>for the next state.</a:t>
            </a:r>
            <a:r>
              <a:rPr lang="en-GB" sz="1200" dirty="0"/>
              <a:t> </a:t>
            </a:r>
          </a:p>
          <a:p>
            <a:pPr marL="0" indent="0">
              <a:buSzPct val="100000"/>
              <a:buNone/>
            </a:pPr>
            <a:endParaRPr lang="en-GB" sz="1200" dirty="0"/>
          </a:p>
          <a:p>
            <a:pPr marL="0" marR="0" lvl="0" indent="0" algn="l" defTabSz="457200" rtl="0" eaLnBrk="1" fontAlgn="auto" latinLnBrk="0" hangingPunct="1">
              <a:lnSpc>
                <a:spcPct val="90000"/>
              </a:lnSpc>
              <a:spcBef>
                <a:spcPts val="1000"/>
              </a:spcBef>
              <a:spcAft>
                <a:spcPts val="400"/>
              </a:spcAft>
              <a:buClr>
                <a:srgbClr val="B1B3B3"/>
              </a:buClr>
              <a:buSzPct val="100000"/>
              <a:buFont typeface="Arial" panose="020B0604020202020204" pitchFamily="34" charset="0"/>
              <a:buNone/>
              <a:tabLst/>
              <a:defRPr/>
            </a:pPr>
            <a:r>
              <a:rPr kumimoji="0" lang="en-US" sz="1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5.2.4 Include Informational Headers in Source Files</a:t>
            </a:r>
          </a:p>
          <a:p>
            <a:pPr marL="0" lvl="0" indent="0">
              <a:buClr>
                <a:srgbClr val="B1B3B3"/>
              </a:buClr>
              <a:buSzPct val="100000"/>
              <a:buNone/>
              <a:defRPr/>
            </a:pPr>
            <a:r>
              <a:rPr lang="en-GB" sz="1800" b="1" dirty="0">
                <a:latin typeface="Arial-BoldMT"/>
              </a:rPr>
              <a:t>Rule – </a:t>
            </a:r>
            <a:r>
              <a:rPr lang="en-GB" sz="1800" dirty="0">
                <a:latin typeface="Times-Roman"/>
              </a:rPr>
              <a:t>Include a commented, informational header at the top of every source file, including scripts. The header must contain:</a:t>
            </a:r>
          </a:p>
          <a:p>
            <a:pPr>
              <a:buClr>
                <a:srgbClr val="B1B3B3"/>
              </a:buClr>
              <a:buSzPct val="100000"/>
              <a:buFont typeface="Arial" panose="020B0604020202020204" pitchFamily="34" charset="0"/>
              <a:buChar char="•"/>
              <a:defRPr/>
            </a:pPr>
            <a:r>
              <a:rPr lang="en-GB" sz="1800" dirty="0">
                <a:latin typeface="Times-Roman"/>
              </a:rPr>
              <a:t>Legal statement: confidentiality, copyright, restrictions on reproduction.</a:t>
            </a:r>
          </a:p>
          <a:p>
            <a:pPr>
              <a:buClr>
                <a:srgbClr val="B1B3B3"/>
              </a:buClr>
              <a:buSzPct val="100000"/>
              <a:buFont typeface="Arial" panose="020B0604020202020204" pitchFamily="34" charset="0"/>
              <a:buChar char="•"/>
              <a:defRPr/>
            </a:pPr>
            <a:r>
              <a:rPr lang="en-GB" sz="1800" dirty="0">
                <a:latin typeface="Times-Roman"/>
              </a:rPr>
              <a:t>Filename.</a:t>
            </a:r>
          </a:p>
          <a:p>
            <a:pPr>
              <a:buClr>
                <a:srgbClr val="B1B3B3"/>
              </a:buClr>
              <a:buSzPct val="100000"/>
              <a:buFont typeface="Arial" panose="020B0604020202020204" pitchFamily="34" charset="0"/>
              <a:buChar char="•"/>
              <a:defRPr/>
            </a:pPr>
            <a:r>
              <a:rPr lang="en-GB" sz="1800" dirty="0">
                <a:latin typeface="Times-Roman"/>
              </a:rPr>
              <a:t>Author.</a:t>
            </a:r>
          </a:p>
          <a:p>
            <a:pPr>
              <a:buClr>
                <a:srgbClr val="B1B3B3"/>
              </a:buClr>
              <a:buSzPct val="100000"/>
              <a:buFont typeface="Arial" panose="020B0604020202020204" pitchFamily="34" charset="0"/>
              <a:buChar char="•"/>
              <a:defRPr/>
            </a:pPr>
            <a:r>
              <a:rPr lang="en-GB" sz="1800" dirty="0">
                <a:latin typeface="Times-Roman"/>
              </a:rPr>
              <a:t>Description of function and list of key features of the module.</a:t>
            </a:r>
          </a:p>
          <a:p>
            <a:pPr>
              <a:buClr>
                <a:srgbClr val="B1B3B3"/>
              </a:buClr>
              <a:buSzPct val="100000"/>
              <a:buFont typeface="Arial" panose="020B0604020202020204" pitchFamily="34" charset="0"/>
              <a:buChar char="•"/>
              <a:defRPr/>
            </a:pPr>
            <a:r>
              <a:rPr lang="en-GB" sz="1800" dirty="0">
                <a:latin typeface="Times-Roman"/>
              </a:rPr>
              <a:t>Date the file was created.</a:t>
            </a:r>
          </a:p>
          <a:p>
            <a:pPr>
              <a:buClr>
                <a:srgbClr val="B1B3B3"/>
              </a:buClr>
              <a:buSzPct val="100000"/>
              <a:buFont typeface="Arial" panose="020B0604020202020204" pitchFamily="34" charset="0"/>
              <a:buChar char="•"/>
              <a:defRPr/>
            </a:pPr>
            <a:r>
              <a:rPr lang="en-GB" sz="1800" dirty="0">
                <a:latin typeface="Times-Roman"/>
              </a:rPr>
              <a:t>Modification history including date, name of modifier, and description of the change.</a:t>
            </a:r>
            <a:br>
              <a:rPr lang="en-GB" sz="1800" dirty="0">
                <a:latin typeface="Times-Roman"/>
              </a:rPr>
            </a:br>
            <a:br>
              <a:rPr lang="en-GB" sz="1200" dirty="0"/>
            </a:br>
            <a:endParaRPr lang="en-US" sz="1800" dirty="0">
              <a:latin typeface="+mn-lt"/>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6</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spTree>
    <p:extLst>
      <p:ext uri="{BB962C8B-B14F-4D97-AF65-F5344CB8AC3E}">
        <p14:creationId xmlns:p14="http://schemas.microsoft.com/office/powerpoint/2010/main" val="3994332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fade">
                                      <p:cBhvr>
                                        <p:cTn id="7" dur="500"/>
                                        <p:tgtEl>
                                          <p:spTgt spid="2">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fade">
                                      <p:cBhvr>
                                        <p:cTn id="10" dur="500"/>
                                        <p:tgtEl>
                                          <p:spTgt spid="2">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animEffect transition="in" filter="fade">
                                      <p:cBhvr>
                                        <p:cTn id="13" dur="500"/>
                                        <p:tgtEl>
                                          <p:spTgt spid="2">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6" end="6"/>
                                            </p:txEl>
                                          </p:spTgt>
                                        </p:tgtEl>
                                        <p:attrNameLst>
                                          <p:attrName>style.visibility</p:attrName>
                                        </p:attrNameLst>
                                      </p:cBhvr>
                                      <p:to>
                                        <p:strVal val="visible"/>
                                      </p:to>
                                    </p:set>
                                    <p:animEffect transition="in" filter="fade">
                                      <p:cBhvr>
                                        <p:cTn id="16" dur="500"/>
                                        <p:tgtEl>
                                          <p:spTgt spid="2">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animEffect transition="in" filter="fade">
                                      <p:cBhvr>
                                        <p:cTn id="19" dur="500"/>
                                        <p:tgtEl>
                                          <p:spTgt spid="2">
                                            <p:txEl>
                                              <p:pRg st="7" end="7"/>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
                                            <p:txEl>
                                              <p:pRg st="8" end="8"/>
                                            </p:txEl>
                                          </p:spTgt>
                                        </p:tgtEl>
                                        <p:attrNameLst>
                                          <p:attrName>style.visibility</p:attrName>
                                        </p:attrNameLst>
                                      </p:cBhvr>
                                      <p:to>
                                        <p:strVal val="visible"/>
                                      </p:to>
                                    </p:set>
                                    <p:animEffect transition="in" filter="fade">
                                      <p:cBhvr>
                                        <p:cTn id="22" dur="500"/>
                                        <p:tgtEl>
                                          <p:spTgt spid="2">
                                            <p:txEl>
                                              <p:pRg st="8" end="8"/>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
                                            <p:txEl>
                                              <p:pRg st="9" end="9"/>
                                            </p:txEl>
                                          </p:spTgt>
                                        </p:tgtEl>
                                        <p:attrNameLst>
                                          <p:attrName>style.visibility</p:attrName>
                                        </p:attrNameLst>
                                      </p:cBhvr>
                                      <p:to>
                                        <p:strVal val="visible"/>
                                      </p:to>
                                    </p:set>
                                    <p:animEffect transition="in" filter="fade">
                                      <p:cBhvr>
                                        <p:cTn id="25" dur="500"/>
                                        <p:tgtEl>
                                          <p:spTgt spid="2">
                                            <p:txEl>
                                              <p:pRg st="9" end="9"/>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
                                            <p:txEl>
                                              <p:pRg st="10" end="10"/>
                                            </p:txEl>
                                          </p:spTgt>
                                        </p:tgtEl>
                                        <p:attrNameLst>
                                          <p:attrName>style.visibility</p:attrName>
                                        </p:attrNameLst>
                                      </p:cBhvr>
                                      <p:to>
                                        <p:strVal val="visible"/>
                                      </p:to>
                                    </p:set>
                                    <p:animEffect transition="in" filter="fade">
                                      <p:cBhvr>
                                        <p:cTn id="28"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7</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10" name="Picture 9">
            <a:extLst>
              <a:ext uri="{FF2B5EF4-FFF2-40B4-BE49-F238E27FC236}">
                <a16:creationId xmlns:a16="http://schemas.microsoft.com/office/drawing/2014/main" id="{45A85038-4497-2493-EF3D-7A8E6BC314E7}"/>
              </a:ext>
            </a:extLst>
          </p:cNvPr>
          <p:cNvPicPr>
            <a:picLocks noChangeAspect="1"/>
          </p:cNvPicPr>
          <p:nvPr/>
        </p:nvPicPr>
        <p:blipFill>
          <a:blip r:embed="rId2"/>
          <a:stretch>
            <a:fillRect/>
          </a:stretch>
        </p:blipFill>
        <p:spPr>
          <a:xfrm>
            <a:off x="3606801" y="817666"/>
            <a:ext cx="4597508" cy="5795352"/>
          </a:xfrm>
          <a:prstGeom prst="rect">
            <a:avLst/>
          </a:prstGeom>
        </p:spPr>
      </p:pic>
    </p:spTree>
    <p:extLst>
      <p:ext uri="{BB962C8B-B14F-4D97-AF65-F5344CB8AC3E}">
        <p14:creationId xmlns:p14="http://schemas.microsoft.com/office/powerpoint/2010/main" val="128544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6075680"/>
          </a:xfrm>
        </p:spPr>
        <p:txBody>
          <a:bodyPr>
            <a:normAutofit/>
          </a:bodyPr>
          <a:lstStyle/>
          <a:p>
            <a:pPr marL="0" indent="0">
              <a:buSzPct val="100000"/>
              <a:buNone/>
            </a:pPr>
            <a:r>
              <a:rPr lang="en-US" sz="1800" b="1" dirty="0">
                <a:latin typeface="Times New Roman" panose="02020603050405020304" pitchFamily="18" charset="0"/>
                <a:cs typeface="Times New Roman" panose="02020603050405020304" pitchFamily="18" charset="0"/>
              </a:rPr>
              <a:t>5.2.5 Use Comments</a:t>
            </a:r>
          </a:p>
          <a:p>
            <a:pPr marL="0" indent="0">
              <a:buSzPct val="100000"/>
              <a:buNone/>
            </a:pPr>
            <a:r>
              <a:rPr lang="en-GB" sz="1800" b="1" dirty="0">
                <a:latin typeface="Arial-BoldMT"/>
              </a:rPr>
              <a:t>Rule – </a:t>
            </a:r>
            <a:r>
              <a:rPr lang="en-GB" sz="1800" dirty="0">
                <a:latin typeface="Times-Roman"/>
              </a:rPr>
              <a:t>Use comments appropriately to explain processes, functions, and declarations of types and subtypes.</a:t>
            </a:r>
            <a:r>
              <a:rPr lang="en-GB" sz="1800" dirty="0"/>
              <a:t> </a:t>
            </a:r>
          </a:p>
          <a:p>
            <a:pPr>
              <a:buSzPct val="100000"/>
              <a:buFont typeface="Arial" panose="020B0604020202020204" pitchFamily="34" charset="0"/>
              <a:buChar char="•"/>
            </a:pPr>
            <a:r>
              <a:rPr lang="en-GB" sz="1800" dirty="0">
                <a:latin typeface="Times-Roman"/>
              </a:rPr>
              <a:t>Comments should be placed logically, near the code that they describe. </a:t>
            </a:r>
          </a:p>
          <a:p>
            <a:pPr>
              <a:buSzPct val="100000"/>
              <a:buFont typeface="Arial" panose="020B0604020202020204" pitchFamily="34" charset="0"/>
              <a:buChar char="•"/>
            </a:pPr>
            <a:r>
              <a:rPr lang="en-GB" sz="1800" dirty="0">
                <a:latin typeface="Times-Roman"/>
              </a:rPr>
              <a:t>Comments should be brief, concise, and explanatory. </a:t>
            </a:r>
          </a:p>
          <a:p>
            <a:pPr>
              <a:buSzPct val="100000"/>
              <a:buFont typeface="Arial" panose="020B0604020202020204" pitchFamily="34" charset="0"/>
              <a:buChar char="•"/>
            </a:pPr>
            <a:r>
              <a:rPr lang="en-GB" sz="1800" dirty="0">
                <a:latin typeface="Times-Roman"/>
              </a:rPr>
              <a:t>Avoid “comment clutter”; obvious functionality does not need to be commented.</a:t>
            </a:r>
            <a:r>
              <a:rPr lang="en-GB" sz="1800" dirty="0"/>
              <a:t> </a:t>
            </a:r>
          </a:p>
          <a:p>
            <a:pPr marL="0" indent="0">
              <a:buSzPct val="100000"/>
              <a:buNone/>
            </a:pPr>
            <a:endParaRPr lang="en-GB" sz="1200" dirty="0"/>
          </a:p>
          <a:p>
            <a:pPr marL="0" marR="0" lvl="0" indent="0" algn="l" defTabSz="457200" rtl="0" eaLnBrk="1" fontAlgn="auto" latinLnBrk="0" hangingPunct="1">
              <a:lnSpc>
                <a:spcPct val="90000"/>
              </a:lnSpc>
              <a:spcBef>
                <a:spcPts val="1000"/>
              </a:spcBef>
              <a:spcAft>
                <a:spcPts val="400"/>
              </a:spcAft>
              <a:buClr>
                <a:srgbClr val="B1B3B3"/>
              </a:buClr>
              <a:buSzPct val="100000"/>
              <a:buFont typeface="Arial" panose="020B0604020202020204" pitchFamily="34" charset="0"/>
              <a:buNone/>
              <a:tabLst/>
              <a:defRPr/>
            </a:pPr>
            <a:r>
              <a:rPr kumimoji="0" lang="en-US" sz="1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5.2.6 Keep Commands on Separate</a:t>
            </a:r>
            <a:r>
              <a:rPr kumimoji="0" lang="en-US" sz="1800" b="1" i="0" u="none" strike="noStrike" kern="1200" cap="none" spc="0" normalizeH="0" noProof="0" dirty="0">
                <a:ln>
                  <a:noFill/>
                </a:ln>
                <a:solidFill>
                  <a:srgbClr val="000000"/>
                </a:solidFill>
                <a:effectLst/>
                <a:uLnTx/>
                <a:uFillTx/>
                <a:latin typeface="Times New Roman" panose="02020603050405020304" pitchFamily="18" charset="0"/>
                <a:cs typeface="Times New Roman" panose="02020603050405020304" pitchFamily="18" charset="0"/>
              </a:rPr>
              <a:t> Lines</a:t>
            </a:r>
            <a:endParaRPr kumimoji="0" lang="en-US" sz="1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lvl="0" indent="0">
              <a:buClr>
                <a:srgbClr val="B1B3B3"/>
              </a:buClr>
              <a:buSzPct val="100000"/>
              <a:buNone/>
              <a:defRPr/>
            </a:pPr>
            <a:r>
              <a:rPr lang="en-GB" sz="1800" b="1" dirty="0">
                <a:latin typeface="Arial-BoldMT"/>
              </a:rPr>
              <a:t>Rule – </a:t>
            </a:r>
            <a:r>
              <a:rPr lang="en-GB" sz="1800" dirty="0">
                <a:latin typeface="Times-Roman"/>
              </a:rPr>
              <a:t>Use a separate line for each HDL statement. Although both VHDL and Verilog allow more than one statement per line, the code is more readable and maintainable if each statement or command is on a separate line.</a:t>
            </a:r>
            <a:r>
              <a:rPr lang="en-GB" sz="1800" dirty="0"/>
              <a:t> </a:t>
            </a:r>
            <a:br>
              <a:rPr lang="en-GB" sz="1800" dirty="0"/>
            </a:br>
            <a:endParaRPr lang="en-GB" sz="1800" dirty="0">
              <a:latin typeface="Times-Roman"/>
            </a:endParaRPr>
          </a:p>
          <a:p>
            <a:pPr marL="0" lvl="0" indent="0">
              <a:buClr>
                <a:srgbClr val="B1B3B3"/>
              </a:buClr>
              <a:buSzPct val="100000"/>
              <a:buNone/>
              <a:defRPr/>
            </a:pPr>
            <a:br>
              <a:rPr lang="en-GB" sz="1200" dirty="0"/>
            </a:br>
            <a:r>
              <a:rPr lang="en-GB" sz="1800" b="1" dirty="0">
                <a:latin typeface="Times New Roman" panose="02020603050405020304" pitchFamily="18" charset="0"/>
                <a:cs typeface="Times New Roman" panose="02020603050405020304" pitchFamily="18" charset="0"/>
              </a:rPr>
              <a:t>5.2.7 Line Length</a:t>
            </a:r>
            <a:br>
              <a:rPr lang="en-GB" sz="2800" b="1" dirty="0">
                <a:latin typeface="Times-Bold"/>
              </a:rPr>
            </a:br>
            <a:r>
              <a:rPr lang="en-GB" sz="1800" b="1" dirty="0">
                <a:latin typeface="Arial-BoldMT"/>
              </a:rPr>
              <a:t>Guideline – </a:t>
            </a:r>
            <a:r>
              <a:rPr lang="en-GB" sz="1800" dirty="0">
                <a:latin typeface="Times-Roman"/>
              </a:rPr>
              <a:t>Keep the line length to 72 characters or less.</a:t>
            </a:r>
            <a:r>
              <a:rPr lang="en-GB" sz="1800" dirty="0"/>
              <a:t> </a:t>
            </a:r>
            <a:br>
              <a:rPr lang="en-GB" sz="1800" dirty="0"/>
            </a:br>
            <a:endParaRPr lang="en-US" sz="1800" dirty="0">
              <a:latin typeface="+mn-lt"/>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8</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spTree>
    <p:extLst>
      <p:ext uri="{BB962C8B-B14F-4D97-AF65-F5344CB8AC3E}">
        <p14:creationId xmlns:p14="http://schemas.microsoft.com/office/powerpoint/2010/main" val="3033772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500"/>
                                        <p:tgtEl>
                                          <p:spTgt spid="2">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xEl>
                                              <p:pRg st="6" end="6"/>
                                            </p:txEl>
                                          </p:spTgt>
                                        </p:tgtEl>
                                        <p:attrNameLst>
                                          <p:attrName>style.visibility</p:attrName>
                                        </p:attrNameLst>
                                      </p:cBhvr>
                                      <p:to>
                                        <p:strVal val="visible"/>
                                      </p:to>
                                    </p:set>
                                    <p:animEffect transition="in" filter="fade">
                                      <p:cBhvr>
                                        <p:cTn id="24" dur="500"/>
                                        <p:tgtEl>
                                          <p:spTgt spid="2">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animEffect transition="in" filter="fade">
                                      <p:cBhvr>
                                        <p:cTn id="27" dur="500"/>
                                        <p:tgtEl>
                                          <p:spTgt spid="2">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8" end="8"/>
                                            </p:txEl>
                                          </p:spTgt>
                                        </p:tgtEl>
                                        <p:attrNameLst>
                                          <p:attrName>style.visibility</p:attrName>
                                        </p:attrNameLst>
                                      </p:cBhvr>
                                      <p:to>
                                        <p:strVal val="visible"/>
                                      </p:to>
                                    </p:set>
                                    <p:animEffect transition="in" filter="fade">
                                      <p:cBhvr>
                                        <p:cTn id="32"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4914900"/>
          </a:xfrm>
        </p:spPr>
        <p:txBody>
          <a:bodyPr>
            <a:normAutofit/>
          </a:bodyPr>
          <a:lstStyle/>
          <a:p>
            <a:pPr marL="0" indent="0">
              <a:buSzPct val="100000"/>
              <a:buNone/>
            </a:pPr>
            <a:r>
              <a:rPr lang="en-GB" sz="1800" b="1" i="0" dirty="0">
                <a:solidFill>
                  <a:srgbClr val="000000"/>
                </a:solidFill>
                <a:effectLst/>
                <a:latin typeface="Times-Bold"/>
              </a:rPr>
              <a:t>5.2.8 Indentation</a:t>
            </a:r>
            <a:br>
              <a:rPr lang="en-GB" sz="1800" b="1" i="0" dirty="0">
                <a:solidFill>
                  <a:srgbClr val="000000"/>
                </a:solidFill>
                <a:effectLst/>
                <a:latin typeface="Times-Bold"/>
              </a:rPr>
            </a:br>
            <a:r>
              <a:rPr lang="en-GB" sz="1800" b="1" i="0" dirty="0">
                <a:solidFill>
                  <a:srgbClr val="000000"/>
                </a:solidFill>
                <a:effectLst/>
                <a:latin typeface="Arial-BoldMT"/>
              </a:rPr>
              <a:t>Rule – </a:t>
            </a:r>
            <a:r>
              <a:rPr lang="en-GB" sz="1800" b="0" i="0" dirty="0">
                <a:solidFill>
                  <a:srgbClr val="000000"/>
                </a:solidFill>
                <a:effectLst/>
                <a:latin typeface="Times-Roman"/>
              </a:rPr>
              <a:t>Use indentation to improve the readability of continued code lines and nested loops.</a:t>
            </a:r>
            <a:r>
              <a:rPr lang="en-GB" sz="1200" dirty="0"/>
              <a:t> </a:t>
            </a:r>
          </a:p>
          <a:p>
            <a:pPr>
              <a:buSzPct val="100000"/>
              <a:buFont typeface="Arial" panose="020B0604020202020204" pitchFamily="34" charset="0"/>
              <a:buChar char="•"/>
            </a:pPr>
            <a:r>
              <a:rPr lang="en-GB" sz="1800" b="1" i="0" dirty="0">
                <a:solidFill>
                  <a:srgbClr val="000000"/>
                </a:solidFill>
                <a:effectLst/>
                <a:latin typeface="Arial-BoldMT"/>
              </a:rPr>
              <a:t>Guideline – </a:t>
            </a:r>
            <a:r>
              <a:rPr lang="en-GB" sz="1800" b="0" i="0" dirty="0">
                <a:solidFill>
                  <a:srgbClr val="000000"/>
                </a:solidFill>
                <a:effectLst/>
                <a:latin typeface="Times-Roman"/>
              </a:rPr>
              <a:t>Use indentation of 2 spaces. Larger indentation (for example, 8 spaces) restricts line length when there are several levels of nesting.</a:t>
            </a:r>
          </a:p>
          <a:p>
            <a:pPr>
              <a:buSzPct val="100000"/>
              <a:buFont typeface="Arial" panose="020B0604020202020204" pitchFamily="34" charset="0"/>
              <a:buChar char="•"/>
            </a:pPr>
            <a:r>
              <a:rPr lang="en-GB" sz="1800" b="1" i="0" dirty="0">
                <a:solidFill>
                  <a:srgbClr val="000000"/>
                </a:solidFill>
                <a:effectLst/>
                <a:latin typeface="Arial-BoldMT"/>
              </a:rPr>
              <a:t>Guideline – </a:t>
            </a:r>
            <a:r>
              <a:rPr lang="en-GB" sz="1800" b="0" i="0" dirty="0">
                <a:solidFill>
                  <a:srgbClr val="000000"/>
                </a:solidFill>
                <a:effectLst/>
                <a:latin typeface="Times-Roman"/>
              </a:rPr>
              <a:t>Avoid using tabs. Differences in editors and user setups make the positioning of tabs unpredictable and can corrupt the intended indentation. There are programs available, including language-specific versions of emacs, that will replace tabs with spaces.</a:t>
            </a:r>
            <a:r>
              <a:rPr lang="en-GB" sz="1000" dirty="0"/>
              <a:t> </a:t>
            </a:r>
            <a:br>
              <a:rPr lang="en-GB" sz="1000" dirty="0"/>
            </a:br>
            <a:br>
              <a:rPr lang="en-GB" sz="1200" dirty="0"/>
            </a:br>
            <a:br>
              <a:rPr lang="en-GB" sz="1000" dirty="0"/>
            </a:br>
            <a:r>
              <a:rPr lang="en-GB" sz="1200" dirty="0"/>
              <a:t> </a:t>
            </a:r>
            <a:br>
              <a:rPr lang="en-GB" sz="1200" dirty="0"/>
            </a:br>
            <a:br>
              <a:rPr lang="en-GB" sz="800" dirty="0"/>
            </a:br>
            <a:br>
              <a:rPr lang="en-GB" sz="1000" dirty="0"/>
            </a:br>
            <a:br>
              <a:rPr lang="en-GB" sz="1200" dirty="0"/>
            </a:br>
            <a:endParaRPr lang="en-US" sz="1800" dirty="0">
              <a:latin typeface="+mn-lt"/>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9</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spTree>
    <p:extLst>
      <p:ext uri="{BB962C8B-B14F-4D97-AF65-F5344CB8AC3E}">
        <p14:creationId xmlns:p14="http://schemas.microsoft.com/office/powerpoint/2010/main" val="3758041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10</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sp>
        <p:nvSpPr>
          <p:cNvPr id="9" name="Content Placeholder 8">
            <a:extLst>
              <a:ext uri="{FF2B5EF4-FFF2-40B4-BE49-F238E27FC236}">
                <a16:creationId xmlns:a16="http://schemas.microsoft.com/office/drawing/2014/main" id="{86771531-0489-43BF-68D6-8E8F9D53C4AD}"/>
              </a:ext>
            </a:extLst>
          </p:cNvPr>
          <p:cNvSpPr>
            <a:spLocks noGrp="1"/>
          </p:cNvSpPr>
          <p:nvPr>
            <p:ph idx="1"/>
          </p:nvPr>
        </p:nvSpPr>
        <p:spPr/>
        <p:txBody>
          <a:bodyPr/>
          <a:lstStyle/>
          <a:p>
            <a:endParaRPr lang="en-US"/>
          </a:p>
        </p:txBody>
      </p:sp>
      <p:pic>
        <p:nvPicPr>
          <p:cNvPr id="11" name="Picture 10">
            <a:extLst>
              <a:ext uri="{FF2B5EF4-FFF2-40B4-BE49-F238E27FC236}">
                <a16:creationId xmlns:a16="http://schemas.microsoft.com/office/drawing/2014/main" id="{72D264E6-8CF1-DD23-BB76-56FA2D3A8147}"/>
              </a:ext>
            </a:extLst>
          </p:cNvPr>
          <p:cNvPicPr>
            <a:picLocks noChangeAspect="1"/>
          </p:cNvPicPr>
          <p:nvPr/>
        </p:nvPicPr>
        <p:blipFill>
          <a:blip r:embed="rId2"/>
          <a:stretch>
            <a:fillRect/>
          </a:stretch>
        </p:blipFill>
        <p:spPr>
          <a:xfrm>
            <a:off x="2507109" y="876300"/>
            <a:ext cx="5971282" cy="5556710"/>
          </a:xfrm>
          <a:prstGeom prst="rect">
            <a:avLst/>
          </a:prstGeom>
        </p:spPr>
      </p:pic>
    </p:spTree>
    <p:extLst>
      <p:ext uri="{BB962C8B-B14F-4D97-AF65-F5344CB8AC3E}">
        <p14:creationId xmlns:p14="http://schemas.microsoft.com/office/powerpoint/2010/main" val="1424661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6289040"/>
          </a:xfrm>
        </p:spPr>
        <p:txBody>
          <a:bodyPr>
            <a:normAutofit/>
          </a:bodyPr>
          <a:lstStyle/>
          <a:p>
            <a:pPr marL="0" indent="0">
              <a:buSzPct val="100000"/>
              <a:buNone/>
            </a:pPr>
            <a:r>
              <a:rPr lang="en-GB" sz="1800" b="1" dirty="0">
                <a:latin typeface="Times New Roman" panose="02020603050405020304" pitchFamily="18" charset="0"/>
                <a:cs typeface="Times New Roman" panose="02020603050405020304" pitchFamily="18" charset="0"/>
              </a:rPr>
              <a:t>5.2.9 Do Not Use HDL Reserved Words</a:t>
            </a:r>
          </a:p>
          <a:p>
            <a:pPr marL="0" indent="0">
              <a:buSzPct val="100000"/>
              <a:buNone/>
            </a:pPr>
            <a:br>
              <a:rPr lang="en-GB" sz="100" b="1" dirty="0">
                <a:latin typeface="Times New Roman" panose="02020603050405020304" pitchFamily="18" charset="0"/>
                <a:cs typeface="Times New Roman" panose="02020603050405020304" pitchFamily="18" charset="0"/>
              </a:rPr>
            </a:br>
            <a:r>
              <a:rPr lang="en-GB" sz="1800" b="1" dirty="0">
                <a:latin typeface="Arial-BoldMT"/>
              </a:rPr>
              <a:t>Rule – </a:t>
            </a:r>
            <a:r>
              <a:rPr lang="en-GB" sz="1800" dirty="0">
                <a:latin typeface="Times-Roman"/>
              </a:rPr>
              <a:t>Do not use VHDL or Verilog reserved words for names of any elements in your RTL source files. Because macro designs must be translatable from VHDL to Verilog and from Verilog to VHDL, it is important not to use VHDL reserved words in Verilog code, and not to use Verilog reserved words in VHDL code.</a:t>
            </a:r>
            <a:r>
              <a:rPr lang="en-GB" sz="1800" dirty="0"/>
              <a:t> </a:t>
            </a:r>
            <a:endParaRPr lang="en-GB" sz="1050" dirty="0"/>
          </a:p>
          <a:p>
            <a:pPr marL="0" indent="0">
              <a:buSzPct val="100000"/>
              <a:buNone/>
            </a:pPr>
            <a:r>
              <a:rPr lang="en-GB" sz="1800" b="1" dirty="0">
                <a:latin typeface="Times New Roman" panose="02020603050405020304" pitchFamily="18" charset="0"/>
                <a:cs typeface="Times New Roman" panose="02020603050405020304" pitchFamily="18" charset="0"/>
              </a:rPr>
              <a:t>5.2.10 Port Ordering</a:t>
            </a:r>
          </a:p>
          <a:p>
            <a:pPr marL="0" indent="0">
              <a:buSzPct val="100000"/>
              <a:buNone/>
            </a:pPr>
            <a:r>
              <a:rPr lang="en-GB" sz="1800" b="1" dirty="0">
                <a:latin typeface="Arial-BoldMT"/>
              </a:rPr>
              <a:t>Rule– </a:t>
            </a:r>
            <a:r>
              <a:rPr lang="en-GB" sz="1800" dirty="0">
                <a:latin typeface="Times-Roman"/>
              </a:rPr>
              <a:t>Declare ports in a logical order, and keep this order consistent throughout the design.</a:t>
            </a:r>
            <a:endParaRPr lang="en-GB" sz="1800" dirty="0"/>
          </a:p>
          <a:p>
            <a:pPr>
              <a:buSzPct val="100000"/>
              <a:buFont typeface="Arial" panose="020B0604020202020204" pitchFamily="34" charset="0"/>
              <a:buChar char="•"/>
            </a:pPr>
            <a:r>
              <a:rPr lang="en-GB" sz="1800" b="1" dirty="0">
                <a:latin typeface="Arial-BoldMT"/>
              </a:rPr>
              <a:t>Guideline – </a:t>
            </a:r>
            <a:r>
              <a:rPr lang="en-GB" sz="1800" dirty="0">
                <a:latin typeface="Times-Roman"/>
              </a:rPr>
              <a:t>Declare one port per line, with a comment following it (preferably on the same line).</a:t>
            </a:r>
          </a:p>
          <a:p>
            <a:pPr>
              <a:buSzPct val="100000"/>
              <a:buFont typeface="Arial" panose="020B0604020202020204" pitchFamily="34" charset="0"/>
              <a:buChar char="•"/>
            </a:pPr>
            <a:r>
              <a:rPr lang="en-GB" sz="1800" b="1" dirty="0">
                <a:latin typeface="Arial-BoldMT"/>
              </a:rPr>
              <a:t>Guideline – </a:t>
            </a:r>
            <a:r>
              <a:rPr lang="en-GB" sz="1800" dirty="0">
                <a:latin typeface="Times-Roman"/>
              </a:rPr>
              <a:t>For each interface, declare the ports in the following order:</a:t>
            </a:r>
            <a:r>
              <a:rPr lang="en-GB" sz="1800" dirty="0"/>
              <a:t> </a:t>
            </a:r>
            <a:br>
              <a:rPr lang="en-GB" sz="1800" dirty="0"/>
            </a:br>
            <a:br>
              <a:rPr lang="en-GB" sz="1800" dirty="0"/>
            </a:br>
            <a:br>
              <a:rPr lang="en-GB" sz="1800" dirty="0"/>
            </a:br>
            <a:r>
              <a:rPr lang="en-GB" sz="1800" dirty="0"/>
              <a:t> </a:t>
            </a:r>
          </a:p>
          <a:p>
            <a:pPr marL="0" indent="0">
              <a:buSzPct val="100000"/>
              <a:buNone/>
            </a:pPr>
            <a:br>
              <a:rPr lang="en-GB" sz="1800" dirty="0"/>
            </a:br>
            <a:endParaRPr lang="en-GB" sz="1800" dirty="0"/>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11</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8" name="Picture 7">
            <a:extLst>
              <a:ext uri="{FF2B5EF4-FFF2-40B4-BE49-F238E27FC236}">
                <a16:creationId xmlns:a16="http://schemas.microsoft.com/office/drawing/2014/main" id="{EFEE1843-387F-9B13-C2C9-85257C949F71}"/>
              </a:ext>
            </a:extLst>
          </p:cNvPr>
          <p:cNvPicPr>
            <a:picLocks noChangeAspect="1"/>
          </p:cNvPicPr>
          <p:nvPr/>
        </p:nvPicPr>
        <p:blipFill>
          <a:blip r:embed="rId2"/>
          <a:stretch>
            <a:fillRect/>
          </a:stretch>
        </p:blipFill>
        <p:spPr>
          <a:xfrm>
            <a:off x="1107390" y="4175760"/>
            <a:ext cx="2855010" cy="2056734"/>
          </a:xfrm>
          <a:prstGeom prst="rect">
            <a:avLst/>
          </a:prstGeom>
        </p:spPr>
      </p:pic>
      <p:pic>
        <p:nvPicPr>
          <p:cNvPr id="10" name="Picture 9">
            <a:extLst>
              <a:ext uri="{FF2B5EF4-FFF2-40B4-BE49-F238E27FC236}">
                <a16:creationId xmlns:a16="http://schemas.microsoft.com/office/drawing/2014/main" id="{2AC1981C-7C8E-144F-5AF2-B8A3033C2D83}"/>
              </a:ext>
            </a:extLst>
          </p:cNvPr>
          <p:cNvPicPr>
            <a:picLocks noChangeAspect="1"/>
          </p:cNvPicPr>
          <p:nvPr/>
        </p:nvPicPr>
        <p:blipFill>
          <a:blip r:embed="rId3"/>
          <a:stretch>
            <a:fillRect/>
          </a:stretch>
        </p:blipFill>
        <p:spPr>
          <a:xfrm>
            <a:off x="5631261" y="4175760"/>
            <a:ext cx="2771280" cy="2056734"/>
          </a:xfrm>
          <a:prstGeom prst="rect">
            <a:avLst/>
          </a:prstGeom>
        </p:spPr>
      </p:pic>
    </p:spTree>
    <p:extLst>
      <p:ext uri="{BB962C8B-B14F-4D97-AF65-F5344CB8AC3E}">
        <p14:creationId xmlns:p14="http://schemas.microsoft.com/office/powerpoint/2010/main" val="102216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fade">
                                      <p:cBhvr>
                                        <p:cTn id="10" dur="500"/>
                                        <p:tgtEl>
                                          <p:spTgt spid="2">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fade">
                                      <p:cBhvr>
                                        <p:cTn id="13" dur="500"/>
                                        <p:tgtEl>
                                          <p:spTgt spid="2">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5" end="5"/>
                                            </p:txEl>
                                          </p:spTgt>
                                        </p:tgtEl>
                                        <p:attrNameLst>
                                          <p:attrName>style.visibility</p:attrName>
                                        </p:attrNameLst>
                                      </p:cBhvr>
                                      <p:to>
                                        <p:strVal val="visible"/>
                                      </p:to>
                                    </p:set>
                                    <p:animEffect transition="in" filter="fade">
                                      <p:cBhvr>
                                        <p:cTn id="16" dur="500"/>
                                        <p:tgtEl>
                                          <p:spTgt spid="2">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5543218"/>
          </a:xfrm>
        </p:spPr>
        <p:txBody>
          <a:bodyPr>
            <a:normAutofit/>
          </a:bodyPr>
          <a:lstStyle/>
          <a:p>
            <a:pPr marL="0" indent="0">
              <a:buSzPct val="100000"/>
              <a:buNone/>
            </a:pPr>
            <a:r>
              <a:rPr lang="en-GB" sz="2400" b="1" i="0" dirty="0">
                <a:solidFill>
                  <a:srgbClr val="000000"/>
                </a:solidFill>
                <a:effectLst/>
                <a:latin typeface="Times-Bold"/>
              </a:rPr>
              <a:t>5.2.11 Port Maps and Generic Maps</a:t>
            </a:r>
            <a:r>
              <a:rPr lang="en-GB" sz="1600" dirty="0"/>
              <a:t> </a:t>
            </a:r>
            <a:br>
              <a:rPr lang="en-GB" sz="1600" dirty="0"/>
            </a:br>
            <a:endParaRPr lang="en-US" sz="100" b="1" dirty="0">
              <a:latin typeface="Times New Roman" panose="02020603050405020304" pitchFamily="18" charset="0"/>
              <a:cs typeface="Times New Roman" panose="02020603050405020304" pitchFamily="18" charset="0"/>
            </a:endParaRPr>
          </a:p>
          <a:p>
            <a:pPr marL="0" indent="0">
              <a:buSzPct val="100000"/>
              <a:buNone/>
            </a:pPr>
            <a:r>
              <a:rPr lang="en-GB" sz="2400" b="1" i="0" dirty="0">
                <a:solidFill>
                  <a:srgbClr val="000000"/>
                </a:solidFill>
                <a:effectLst/>
                <a:latin typeface="Arial-BoldMT"/>
              </a:rPr>
              <a:t>Rule – </a:t>
            </a:r>
            <a:r>
              <a:rPr lang="en-GB" sz="2400" b="0" i="0" dirty="0">
                <a:solidFill>
                  <a:srgbClr val="000000"/>
                </a:solidFill>
                <a:effectLst/>
                <a:latin typeface="Times-Roman"/>
              </a:rPr>
              <a:t>Always use explicit mapping for ports and generics, using named association</a:t>
            </a:r>
            <a:br>
              <a:rPr lang="en-GB" sz="2400" b="0" i="0" dirty="0">
                <a:solidFill>
                  <a:srgbClr val="000000"/>
                </a:solidFill>
                <a:effectLst/>
                <a:latin typeface="Times-Roman"/>
              </a:rPr>
            </a:br>
            <a:r>
              <a:rPr lang="en-GB" sz="2400" b="0" i="0" dirty="0">
                <a:solidFill>
                  <a:srgbClr val="000000"/>
                </a:solidFill>
                <a:effectLst/>
                <a:latin typeface="Times-Roman"/>
              </a:rPr>
              <a:t>rather than positional association.</a:t>
            </a:r>
            <a:r>
              <a:rPr lang="en-GB" sz="1600" dirty="0"/>
              <a:t> </a:t>
            </a:r>
            <a:br>
              <a:rPr lang="en-GB" sz="1200" dirty="0"/>
            </a:br>
            <a:endParaRPr lang="en-US" sz="1800" dirty="0">
              <a:latin typeface="+mn-lt"/>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12</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8" name="Picture 7">
            <a:extLst>
              <a:ext uri="{FF2B5EF4-FFF2-40B4-BE49-F238E27FC236}">
                <a16:creationId xmlns:a16="http://schemas.microsoft.com/office/drawing/2014/main" id="{E061382E-504D-4AF1-340E-90EA228E9F94}"/>
              </a:ext>
            </a:extLst>
          </p:cNvPr>
          <p:cNvPicPr>
            <a:picLocks noChangeAspect="1"/>
          </p:cNvPicPr>
          <p:nvPr/>
        </p:nvPicPr>
        <p:blipFill>
          <a:blip r:embed="rId2"/>
          <a:stretch>
            <a:fillRect/>
          </a:stretch>
        </p:blipFill>
        <p:spPr>
          <a:xfrm>
            <a:off x="3071942" y="2377625"/>
            <a:ext cx="6048116" cy="4057719"/>
          </a:xfrm>
          <a:prstGeom prst="rect">
            <a:avLst/>
          </a:prstGeom>
        </p:spPr>
      </p:pic>
    </p:spTree>
    <p:extLst>
      <p:ext uri="{BB962C8B-B14F-4D97-AF65-F5344CB8AC3E}">
        <p14:creationId xmlns:p14="http://schemas.microsoft.com/office/powerpoint/2010/main" val="1913427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5543218"/>
          </a:xfrm>
        </p:spPr>
        <p:txBody>
          <a:bodyPr>
            <a:normAutofit/>
          </a:bodyPr>
          <a:lstStyle/>
          <a:p>
            <a:pPr marL="0" indent="0">
              <a:buSzPct val="100000"/>
              <a:buNone/>
            </a:pPr>
            <a:r>
              <a:rPr lang="en-US" sz="2400" b="1" i="0" dirty="0">
                <a:solidFill>
                  <a:srgbClr val="000000"/>
                </a:solidFill>
                <a:effectLst/>
                <a:latin typeface="Times-Bold"/>
              </a:rPr>
              <a:t>5.2.13 Use Functions</a:t>
            </a:r>
            <a:r>
              <a:rPr lang="en-US" sz="1600" dirty="0"/>
              <a:t> </a:t>
            </a:r>
          </a:p>
          <a:p>
            <a:pPr marL="0" indent="0">
              <a:buSzPct val="100000"/>
              <a:buNone/>
            </a:pPr>
            <a:r>
              <a:rPr lang="en-GB" sz="2400" b="1" i="0" dirty="0">
                <a:solidFill>
                  <a:srgbClr val="000000"/>
                </a:solidFill>
                <a:effectLst/>
                <a:latin typeface="Arial-BoldMT"/>
              </a:rPr>
              <a:t>Guideline – </a:t>
            </a:r>
            <a:r>
              <a:rPr lang="en-GB" sz="2400" b="0" i="0" dirty="0">
                <a:solidFill>
                  <a:srgbClr val="000000"/>
                </a:solidFill>
                <a:effectLst/>
                <a:latin typeface="Times-Roman"/>
              </a:rPr>
              <a:t>Use functions, when possible, instead of repeating the same sections of</a:t>
            </a:r>
            <a:br>
              <a:rPr lang="en-GB" sz="2400" b="0" i="0" dirty="0">
                <a:solidFill>
                  <a:srgbClr val="000000"/>
                </a:solidFill>
                <a:effectLst/>
                <a:latin typeface="Times-Roman"/>
              </a:rPr>
            </a:br>
            <a:r>
              <a:rPr lang="en-GB" sz="2400" b="0" i="0" dirty="0">
                <a:solidFill>
                  <a:srgbClr val="000000"/>
                </a:solidFill>
                <a:effectLst/>
                <a:latin typeface="Times-Roman"/>
              </a:rPr>
              <a:t>code. If possible, generalize the function to make it reusable.</a:t>
            </a:r>
            <a:r>
              <a:rPr lang="en-GB" sz="1600" dirty="0"/>
              <a:t> </a:t>
            </a:r>
          </a:p>
          <a:p>
            <a:pPr>
              <a:buSzPct val="100000"/>
              <a:buFont typeface="Arial" panose="020B0604020202020204" pitchFamily="34" charset="0"/>
              <a:buChar char="•"/>
            </a:pPr>
            <a:endParaRPr lang="en-GB" sz="1600" dirty="0"/>
          </a:p>
          <a:p>
            <a:pPr marL="0" marR="0" lvl="0" indent="0" algn="l" defTabSz="457200" rtl="0" eaLnBrk="1" fontAlgn="auto" latinLnBrk="0" hangingPunct="1">
              <a:lnSpc>
                <a:spcPct val="90000"/>
              </a:lnSpc>
              <a:spcBef>
                <a:spcPts val="1000"/>
              </a:spcBef>
              <a:spcAft>
                <a:spcPts val="400"/>
              </a:spcAft>
              <a:buClr>
                <a:srgbClr val="B1B3B3"/>
              </a:buClr>
              <a:buSzPct val="100000"/>
              <a:buFont typeface="Arial" panose="020B0604020202020204" pitchFamily="34" charset="0"/>
              <a:buNone/>
              <a:tabLst/>
              <a:defRPr/>
            </a:pPr>
            <a:r>
              <a:rPr kumimoji="0" lang="en-US" sz="2400" b="1" i="0" u="none" strike="noStrike" kern="1200" cap="none" spc="0" normalizeH="0" baseline="0" noProof="0" dirty="0">
                <a:ln>
                  <a:noFill/>
                </a:ln>
                <a:solidFill>
                  <a:srgbClr val="000000"/>
                </a:solidFill>
                <a:effectLst/>
                <a:uLnTx/>
                <a:uFillTx/>
                <a:latin typeface="Times-Bold"/>
                <a:ea typeface="+mn-ea"/>
                <a:cs typeface="+mn-cs"/>
              </a:rPr>
              <a:t>5.2.14 Use Loops and Arrays</a:t>
            </a:r>
            <a:r>
              <a:rPr kumimoji="0" lang="en-US" sz="1600" b="0" i="0" u="none" strike="noStrike" kern="1200" cap="none" spc="0" normalizeH="0" baseline="0" noProof="0" dirty="0">
                <a:ln>
                  <a:noFill/>
                </a:ln>
                <a:solidFill>
                  <a:srgbClr val="000000"/>
                </a:solidFill>
                <a:effectLst/>
                <a:uLnTx/>
                <a:uFillTx/>
                <a:latin typeface="Barlow" pitchFamily="2" charset="77"/>
                <a:ea typeface="+mn-ea"/>
                <a:cs typeface="+mn-cs"/>
              </a:rPr>
              <a:t> </a:t>
            </a:r>
            <a:endParaRPr kumimoji="0" lang="en-US" sz="23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defTabSz="457200" rtl="0" eaLnBrk="1" fontAlgn="auto" latinLnBrk="0" hangingPunct="1">
              <a:lnSpc>
                <a:spcPct val="90000"/>
              </a:lnSpc>
              <a:spcBef>
                <a:spcPts val="1000"/>
              </a:spcBef>
              <a:spcAft>
                <a:spcPts val="400"/>
              </a:spcAft>
              <a:buClr>
                <a:srgbClr val="B1B3B3"/>
              </a:buClr>
              <a:buSzPct val="100000"/>
              <a:buNone/>
              <a:tabLst/>
              <a:defRPr/>
            </a:pPr>
            <a:r>
              <a:rPr lang="en-GB" sz="2400" b="1" i="0" dirty="0">
                <a:solidFill>
                  <a:srgbClr val="000000"/>
                </a:solidFill>
                <a:effectLst/>
                <a:latin typeface="Arial-BoldMT"/>
              </a:rPr>
              <a:t>Guideline – </a:t>
            </a:r>
            <a:r>
              <a:rPr lang="en-GB" sz="2400" b="0" i="0" dirty="0">
                <a:solidFill>
                  <a:srgbClr val="000000"/>
                </a:solidFill>
                <a:effectLst/>
                <a:latin typeface="Times-Roman"/>
              </a:rPr>
              <a:t>Use loops and arrays for improved readability of the source code. For example, describing a shift register, PN-sequence generator, or Johnson counter with a  </a:t>
            </a:r>
            <a:r>
              <a:rPr lang="en-GB" sz="2000" b="0" i="0" dirty="0">
                <a:solidFill>
                  <a:srgbClr val="000000"/>
                </a:solidFill>
                <a:effectLst/>
                <a:latin typeface="Courier"/>
              </a:rPr>
              <a:t>loop </a:t>
            </a:r>
            <a:r>
              <a:rPr lang="en-GB" sz="2400" b="0" i="0" dirty="0">
                <a:solidFill>
                  <a:srgbClr val="000000"/>
                </a:solidFill>
                <a:effectLst/>
                <a:latin typeface="Times-Roman"/>
              </a:rPr>
              <a:t>construct can greatly reduce the number of lines of source code while still retaining excellent readability.</a:t>
            </a:r>
            <a:r>
              <a:rPr lang="en-GB" sz="1600" dirty="0"/>
              <a:t> </a:t>
            </a:r>
            <a:br>
              <a:rPr lang="en-GB" sz="1600" dirty="0"/>
            </a:br>
            <a:br>
              <a:rPr lang="en-GB" sz="1200" dirty="0"/>
            </a:br>
            <a:endParaRPr lang="en-US" sz="1800" dirty="0">
              <a:latin typeface="+mn-lt"/>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13</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spTree>
    <p:extLst>
      <p:ext uri="{BB962C8B-B14F-4D97-AF65-F5344CB8AC3E}">
        <p14:creationId xmlns:p14="http://schemas.microsoft.com/office/powerpoint/2010/main" val="209032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fade">
                                      <p:cBhvr>
                                        <p:cTn id="7" dur="500"/>
                                        <p:tgtEl>
                                          <p:spTgt spid="2">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fade">
                                      <p:cBhvr>
                                        <p:cTn id="10"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14</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18" name="Picture 17">
            <a:extLst>
              <a:ext uri="{FF2B5EF4-FFF2-40B4-BE49-F238E27FC236}">
                <a16:creationId xmlns:a16="http://schemas.microsoft.com/office/drawing/2014/main" id="{280B0C47-04FB-39B3-F777-763C002E3E9F}"/>
              </a:ext>
            </a:extLst>
          </p:cNvPr>
          <p:cNvPicPr>
            <a:picLocks noChangeAspect="1"/>
          </p:cNvPicPr>
          <p:nvPr/>
        </p:nvPicPr>
        <p:blipFill>
          <a:blip r:embed="rId2"/>
          <a:stretch>
            <a:fillRect/>
          </a:stretch>
        </p:blipFill>
        <p:spPr>
          <a:xfrm>
            <a:off x="342900" y="782812"/>
            <a:ext cx="3137061" cy="5556536"/>
          </a:xfrm>
          <a:prstGeom prst="rect">
            <a:avLst/>
          </a:prstGeom>
        </p:spPr>
      </p:pic>
      <p:pic>
        <p:nvPicPr>
          <p:cNvPr id="20" name="Picture 19">
            <a:extLst>
              <a:ext uri="{FF2B5EF4-FFF2-40B4-BE49-F238E27FC236}">
                <a16:creationId xmlns:a16="http://schemas.microsoft.com/office/drawing/2014/main" id="{D4F8D3C7-1A1D-F3AA-9312-DB8C3F4C8BA5}"/>
              </a:ext>
            </a:extLst>
          </p:cNvPr>
          <p:cNvPicPr>
            <a:picLocks noChangeAspect="1"/>
          </p:cNvPicPr>
          <p:nvPr/>
        </p:nvPicPr>
        <p:blipFill>
          <a:blip r:embed="rId3"/>
          <a:stretch>
            <a:fillRect/>
          </a:stretch>
        </p:blipFill>
        <p:spPr>
          <a:xfrm>
            <a:off x="3694772" y="782812"/>
            <a:ext cx="3650989" cy="3982228"/>
          </a:xfrm>
          <a:prstGeom prst="rect">
            <a:avLst/>
          </a:prstGeom>
        </p:spPr>
      </p:pic>
      <p:pic>
        <p:nvPicPr>
          <p:cNvPr id="22" name="Picture 21">
            <a:extLst>
              <a:ext uri="{FF2B5EF4-FFF2-40B4-BE49-F238E27FC236}">
                <a16:creationId xmlns:a16="http://schemas.microsoft.com/office/drawing/2014/main" id="{5607B9AA-A5AE-530D-DDAF-1CD77151C464}"/>
              </a:ext>
            </a:extLst>
          </p:cNvPr>
          <p:cNvPicPr>
            <a:picLocks noChangeAspect="1"/>
          </p:cNvPicPr>
          <p:nvPr/>
        </p:nvPicPr>
        <p:blipFill>
          <a:blip r:embed="rId4"/>
          <a:stretch>
            <a:fillRect/>
          </a:stretch>
        </p:blipFill>
        <p:spPr>
          <a:xfrm>
            <a:off x="7772400" y="782812"/>
            <a:ext cx="3827868" cy="3019763"/>
          </a:xfrm>
          <a:prstGeom prst="rect">
            <a:avLst/>
          </a:prstGeom>
        </p:spPr>
      </p:pic>
    </p:spTree>
    <p:extLst>
      <p:ext uri="{BB962C8B-B14F-4D97-AF65-F5344CB8AC3E}">
        <p14:creationId xmlns:p14="http://schemas.microsoft.com/office/powerpoint/2010/main" val="3226399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5543218"/>
          </a:xfrm>
        </p:spPr>
        <p:txBody>
          <a:bodyPr>
            <a:normAutofit/>
          </a:bodyPr>
          <a:lstStyle/>
          <a:p>
            <a:pPr marL="0" indent="0">
              <a:buSzPct val="100000"/>
              <a:buNone/>
            </a:pPr>
            <a:r>
              <a:rPr lang="en-GB" sz="2400" b="1" i="0" dirty="0">
                <a:solidFill>
                  <a:srgbClr val="000000"/>
                </a:solidFill>
                <a:effectLst/>
                <a:latin typeface="Arial-BoldMT"/>
              </a:rPr>
              <a:t>Guideline – </a:t>
            </a:r>
            <a:r>
              <a:rPr lang="en-GB" sz="2400" b="0" i="0" dirty="0">
                <a:solidFill>
                  <a:srgbClr val="000000"/>
                </a:solidFill>
                <a:effectLst/>
                <a:latin typeface="Times-Roman"/>
              </a:rPr>
              <a:t>Arrays are significantly faster to simulate than </a:t>
            </a:r>
            <a:r>
              <a:rPr lang="en-GB" sz="2000" b="0" i="0" dirty="0">
                <a:solidFill>
                  <a:srgbClr val="000000"/>
                </a:solidFill>
                <a:effectLst/>
                <a:latin typeface="Courier"/>
              </a:rPr>
              <a:t>for </a:t>
            </a:r>
            <a:r>
              <a:rPr lang="en-GB" sz="2400" b="0" i="0" dirty="0">
                <a:solidFill>
                  <a:srgbClr val="000000"/>
                </a:solidFill>
                <a:effectLst/>
                <a:latin typeface="Times-Roman"/>
              </a:rPr>
              <a:t>loops. To improve</a:t>
            </a:r>
            <a:br>
              <a:rPr lang="en-GB" sz="2400" b="0" i="0" dirty="0">
                <a:solidFill>
                  <a:srgbClr val="000000"/>
                </a:solidFill>
                <a:effectLst/>
                <a:latin typeface="Times-Roman"/>
              </a:rPr>
            </a:br>
            <a:r>
              <a:rPr lang="en-GB" sz="2400" b="0" i="0" dirty="0">
                <a:solidFill>
                  <a:srgbClr val="000000"/>
                </a:solidFill>
                <a:effectLst/>
                <a:latin typeface="Times-Roman"/>
              </a:rPr>
              <a:t>simulation performance, use vector operations on arrays rather than </a:t>
            </a:r>
            <a:r>
              <a:rPr lang="en-GB" sz="2000" b="0" i="0" dirty="0">
                <a:solidFill>
                  <a:srgbClr val="000000"/>
                </a:solidFill>
                <a:effectLst/>
                <a:latin typeface="Courier"/>
              </a:rPr>
              <a:t>for </a:t>
            </a:r>
            <a:r>
              <a:rPr lang="en-GB" sz="2400" b="0" i="0" dirty="0">
                <a:solidFill>
                  <a:srgbClr val="000000"/>
                </a:solidFill>
                <a:effectLst/>
                <a:latin typeface="Times-Roman"/>
              </a:rPr>
              <a:t>loops whenever possible.</a:t>
            </a:r>
            <a:r>
              <a:rPr lang="en-GB" sz="1600" dirty="0"/>
              <a:t> </a:t>
            </a:r>
            <a:br>
              <a:rPr lang="en-GB" sz="1600" dirty="0"/>
            </a:br>
            <a:endParaRPr lang="en-US" sz="1800" dirty="0">
              <a:latin typeface="+mn-lt"/>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15</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9" name="Picture 8">
            <a:extLst>
              <a:ext uri="{FF2B5EF4-FFF2-40B4-BE49-F238E27FC236}">
                <a16:creationId xmlns:a16="http://schemas.microsoft.com/office/drawing/2014/main" id="{5EAEB1AA-4E3D-2488-2257-340CC56B2701}"/>
              </a:ext>
            </a:extLst>
          </p:cNvPr>
          <p:cNvPicPr>
            <a:picLocks noChangeAspect="1"/>
          </p:cNvPicPr>
          <p:nvPr/>
        </p:nvPicPr>
        <p:blipFill>
          <a:blip r:embed="rId3"/>
          <a:stretch>
            <a:fillRect/>
          </a:stretch>
        </p:blipFill>
        <p:spPr>
          <a:xfrm>
            <a:off x="4039483" y="2146878"/>
            <a:ext cx="4113034" cy="3985227"/>
          </a:xfrm>
          <a:prstGeom prst="rect">
            <a:avLst/>
          </a:prstGeom>
        </p:spPr>
      </p:pic>
    </p:spTree>
    <p:extLst>
      <p:ext uri="{BB962C8B-B14F-4D97-AF65-F5344CB8AC3E}">
        <p14:creationId xmlns:p14="http://schemas.microsoft.com/office/powerpoint/2010/main" val="1004926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5543218"/>
          </a:xfrm>
        </p:spPr>
        <p:txBody>
          <a:bodyPr>
            <a:normAutofit/>
          </a:bodyPr>
          <a:lstStyle/>
          <a:p>
            <a:pPr marL="0" indent="0">
              <a:buSzPct val="100000"/>
              <a:buNone/>
            </a:pPr>
            <a:r>
              <a:rPr lang="en-US" sz="2400" b="1" i="0" dirty="0">
                <a:solidFill>
                  <a:srgbClr val="000000"/>
                </a:solidFill>
                <a:effectLst/>
                <a:latin typeface="Times-Bold"/>
              </a:rPr>
              <a:t>5.2.15 Use Meaningful Labels</a:t>
            </a:r>
            <a:r>
              <a:rPr lang="en-US" sz="1600" dirty="0"/>
              <a:t> </a:t>
            </a:r>
            <a:br>
              <a:rPr lang="en-US" sz="1600" dirty="0"/>
            </a:br>
            <a:endParaRPr lang="en-US" sz="100" dirty="0"/>
          </a:p>
          <a:p>
            <a:pPr marL="0" indent="0">
              <a:buSzPct val="100000"/>
              <a:buNone/>
            </a:pPr>
            <a:r>
              <a:rPr lang="en-GB" sz="2400" b="1" i="0" dirty="0">
                <a:solidFill>
                  <a:srgbClr val="000000"/>
                </a:solidFill>
                <a:effectLst/>
                <a:latin typeface="Arial-BoldMT"/>
              </a:rPr>
              <a:t>Rule – </a:t>
            </a:r>
            <a:r>
              <a:rPr lang="en-GB" sz="2400" b="0" i="0" dirty="0">
                <a:solidFill>
                  <a:srgbClr val="000000"/>
                </a:solidFill>
                <a:effectLst/>
                <a:latin typeface="Times-Roman"/>
              </a:rPr>
              <a:t>Label each process block with a meaningful name. This is very helpful for debug. For example, you can set a breakpoint by referencing the process label.</a:t>
            </a:r>
            <a:r>
              <a:rPr lang="en-GB" sz="1600" dirty="0"/>
              <a:t> </a:t>
            </a:r>
          </a:p>
          <a:p>
            <a:pPr>
              <a:buSzPct val="100000"/>
              <a:buFont typeface="Arial" panose="020B0604020202020204" pitchFamily="34" charset="0"/>
              <a:buChar char="•"/>
            </a:pPr>
            <a:r>
              <a:rPr lang="en-GB" sz="2400" b="1" i="0" dirty="0">
                <a:solidFill>
                  <a:srgbClr val="000000"/>
                </a:solidFill>
                <a:effectLst/>
                <a:latin typeface="Arial-BoldMT"/>
              </a:rPr>
              <a:t>Guideline – </a:t>
            </a:r>
            <a:r>
              <a:rPr lang="en-GB" sz="2400" b="0" i="0" dirty="0">
                <a:solidFill>
                  <a:srgbClr val="000000"/>
                </a:solidFill>
                <a:effectLst/>
                <a:latin typeface="Times-Roman"/>
              </a:rPr>
              <a:t>Label each process block </a:t>
            </a:r>
            <a:r>
              <a:rPr lang="en-GB" sz="2000" b="0" i="1" dirty="0">
                <a:solidFill>
                  <a:srgbClr val="000000"/>
                </a:solidFill>
                <a:effectLst/>
                <a:latin typeface="Courier-Oblique"/>
              </a:rPr>
              <a:t>&lt;name&gt;</a:t>
            </a:r>
            <a:r>
              <a:rPr lang="en-GB" sz="2000" b="0" i="0" dirty="0">
                <a:solidFill>
                  <a:srgbClr val="000000"/>
                </a:solidFill>
                <a:effectLst/>
                <a:latin typeface="Courier"/>
              </a:rPr>
              <a:t>_PROC</a:t>
            </a:r>
            <a:r>
              <a:rPr lang="en-GB" sz="2400" b="0" i="0" dirty="0">
                <a:solidFill>
                  <a:srgbClr val="000000"/>
                </a:solidFill>
                <a:effectLst/>
                <a:latin typeface="Times-Roman"/>
              </a:rPr>
              <a:t>.</a:t>
            </a:r>
            <a:r>
              <a:rPr lang="en-GB" sz="1600" dirty="0"/>
              <a:t> </a:t>
            </a:r>
          </a:p>
          <a:p>
            <a:pPr marL="0" indent="0">
              <a:buSzPct val="100000"/>
              <a:buNone/>
            </a:pPr>
            <a:endParaRPr lang="en-GB" sz="800" dirty="0"/>
          </a:p>
          <a:p>
            <a:pPr marL="0" indent="0">
              <a:buSzPct val="100000"/>
              <a:buNone/>
            </a:pPr>
            <a:r>
              <a:rPr lang="en-GB" sz="2400" b="1" dirty="0">
                <a:latin typeface="Arial-BoldMT"/>
              </a:rPr>
              <a:t>Rule – </a:t>
            </a:r>
            <a:r>
              <a:rPr lang="en-GB" sz="2400" dirty="0">
                <a:latin typeface="Times-Roman"/>
              </a:rPr>
              <a:t>Label each instance with a meaningful name</a:t>
            </a:r>
            <a:r>
              <a:rPr lang="en-GB" sz="1800" b="0" i="0" dirty="0">
                <a:solidFill>
                  <a:srgbClr val="000000"/>
                </a:solidFill>
                <a:effectLst/>
                <a:latin typeface="Times-Roman"/>
              </a:rPr>
              <a:t>.</a:t>
            </a:r>
            <a:endParaRPr lang="en-GB" sz="1800" dirty="0">
              <a:latin typeface="Times-Roman"/>
            </a:endParaRPr>
          </a:p>
          <a:p>
            <a:pPr>
              <a:buSzPct val="100000"/>
              <a:buFont typeface="Arial" panose="020B0604020202020204" pitchFamily="34" charset="0"/>
              <a:buChar char="•"/>
            </a:pPr>
            <a:r>
              <a:rPr lang="en-GB" sz="2400" b="1" dirty="0">
                <a:latin typeface="Arial-BoldMT"/>
              </a:rPr>
              <a:t>Guideline – </a:t>
            </a:r>
            <a:r>
              <a:rPr lang="en-GB" sz="2400" b="0" i="0" dirty="0">
                <a:solidFill>
                  <a:srgbClr val="000000"/>
                </a:solidFill>
                <a:effectLst/>
                <a:latin typeface="Times-Roman"/>
              </a:rPr>
              <a:t>Label each instance </a:t>
            </a:r>
            <a:r>
              <a:rPr lang="en-GB" sz="2400" b="0" i="0" dirty="0">
                <a:solidFill>
                  <a:srgbClr val="000000"/>
                </a:solidFill>
                <a:effectLst/>
                <a:latin typeface="Courier"/>
              </a:rPr>
              <a:t>U_</a:t>
            </a:r>
            <a:r>
              <a:rPr lang="en-GB" sz="2400" b="0" i="1" dirty="0">
                <a:solidFill>
                  <a:srgbClr val="000000"/>
                </a:solidFill>
                <a:effectLst/>
                <a:latin typeface="Courier-Oblique"/>
              </a:rPr>
              <a:t>&lt;name&gt;</a:t>
            </a:r>
            <a:r>
              <a:rPr lang="en-GB" sz="2400" b="0" i="0" dirty="0">
                <a:solidFill>
                  <a:srgbClr val="000000"/>
                </a:solidFill>
                <a:effectLst/>
                <a:latin typeface="Times-Roman"/>
              </a:rPr>
              <a:t>.</a:t>
            </a:r>
            <a:r>
              <a:rPr lang="en-GB" sz="2400" dirty="0"/>
              <a:t> </a:t>
            </a:r>
            <a:br>
              <a:rPr lang="en-GB" sz="1100" dirty="0"/>
            </a:br>
            <a:endParaRPr lang="en-GB" sz="1600" dirty="0"/>
          </a:p>
          <a:p>
            <a:pPr marL="0" indent="0">
              <a:buSzPct val="100000"/>
              <a:buNone/>
            </a:pPr>
            <a:endParaRPr lang="en-US" sz="1800" dirty="0">
              <a:latin typeface="+mn-lt"/>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5.2 Basic Coding Practices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16</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spTree>
    <p:extLst>
      <p:ext uri="{BB962C8B-B14F-4D97-AF65-F5344CB8AC3E}">
        <p14:creationId xmlns:p14="http://schemas.microsoft.com/office/powerpoint/2010/main" val="1256502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6156960"/>
          </a:xfrm>
        </p:spPr>
        <p:txBody>
          <a:bodyPr>
            <a:normAutofit/>
          </a:bodyPr>
          <a:lstStyle/>
          <a:p>
            <a:pPr marL="0" indent="0">
              <a:buSzPct val="100000"/>
              <a:buNone/>
            </a:pPr>
            <a:r>
              <a:rPr lang="en-US" sz="2400" b="1" i="0" dirty="0">
                <a:solidFill>
                  <a:srgbClr val="000000"/>
                </a:solidFill>
                <a:effectLst/>
                <a:latin typeface="Times-Bold"/>
              </a:rPr>
              <a:t>5.3.2 Do Not Use Hard-Coded Numeric Values</a:t>
            </a:r>
            <a:br>
              <a:rPr lang="en-US" sz="1600" dirty="0"/>
            </a:br>
            <a:endParaRPr lang="en-US" sz="100" dirty="0"/>
          </a:p>
          <a:p>
            <a:pPr>
              <a:buSzPct val="100000"/>
              <a:buFont typeface="Arial" panose="020B0604020202020204" pitchFamily="34" charset="0"/>
              <a:buChar char="•"/>
            </a:pPr>
            <a:r>
              <a:rPr lang="en-GB" sz="2400" b="1" i="0" dirty="0">
                <a:solidFill>
                  <a:srgbClr val="000000"/>
                </a:solidFill>
                <a:effectLst/>
                <a:latin typeface="Arial-BoldMT"/>
              </a:rPr>
              <a:t>Guideline – </a:t>
            </a:r>
            <a:r>
              <a:rPr lang="en-GB" sz="2400" b="0" i="0" dirty="0">
                <a:solidFill>
                  <a:srgbClr val="000000"/>
                </a:solidFill>
                <a:effectLst/>
                <a:latin typeface="Times-Roman"/>
              </a:rPr>
              <a:t>Use </a:t>
            </a:r>
            <a:r>
              <a:rPr lang="en-GB" sz="2400" dirty="0">
                <a:latin typeface="Times-Roman"/>
              </a:rPr>
              <a:t>constants instead of hard-coded numeric values.</a:t>
            </a:r>
            <a:r>
              <a:rPr lang="en-GB" sz="1600" dirty="0"/>
              <a:t> </a:t>
            </a:r>
          </a:p>
          <a:p>
            <a:pPr marL="0" indent="0">
              <a:buSzPct val="100000"/>
              <a:buNone/>
            </a:pPr>
            <a:r>
              <a:rPr lang="en-GB" sz="1600" dirty="0">
                <a:latin typeface="Times-Roman"/>
              </a:rPr>
              <a:t>	</a:t>
            </a:r>
            <a:r>
              <a:rPr lang="en-GB" sz="2400" dirty="0">
                <a:latin typeface="Times-Roman"/>
              </a:rPr>
              <a:t>Using constants has the following advantages:</a:t>
            </a:r>
          </a:p>
          <a:p>
            <a:pPr marL="342900" indent="-342900">
              <a:buSzPct val="100000"/>
              <a:buFont typeface="+mj-lt"/>
              <a:buAutoNum type="arabicPeriod"/>
            </a:pPr>
            <a:r>
              <a:rPr lang="en-GB" sz="2400" dirty="0">
                <a:latin typeface="Times-Roman"/>
              </a:rPr>
              <a:t>Constants are more intelligible as they associate a design intention with the value.</a:t>
            </a:r>
          </a:p>
          <a:p>
            <a:pPr marL="342900" indent="-342900">
              <a:buSzPct val="100000"/>
              <a:buFont typeface="+mj-lt"/>
              <a:buAutoNum type="arabicPeriod"/>
            </a:pPr>
            <a:r>
              <a:rPr lang="en-GB" sz="2400" dirty="0">
                <a:latin typeface="Times-Roman"/>
              </a:rPr>
              <a:t>Constant values can be changed in one place.</a:t>
            </a:r>
          </a:p>
          <a:p>
            <a:pPr marL="342900" indent="-342900">
              <a:buSzPct val="100000"/>
              <a:buFont typeface="+mj-lt"/>
              <a:buAutoNum type="arabicPeriod"/>
            </a:pPr>
            <a:r>
              <a:rPr lang="en-GB" sz="2400" dirty="0">
                <a:latin typeface="Times-Roman"/>
              </a:rPr>
              <a:t>Compilers can spot typos in constants but not in hard-coded values. For example, if MY_BUS_LENGTH is misspelled MY_BUS_LEGTH, the error will be flagged; however, if the intended value 0x100001 is given as 0x10001, the error will not be caught. </a:t>
            </a:r>
            <a:br>
              <a:rPr lang="en-GB" sz="300" dirty="0"/>
            </a:br>
            <a:br>
              <a:rPr lang="en-GB" sz="500" dirty="0"/>
            </a:br>
            <a:endParaRPr lang="en-GB" sz="1000" dirty="0"/>
          </a:p>
          <a:p>
            <a:pPr marL="0" indent="0">
              <a:buSzPct val="100000"/>
              <a:buNone/>
            </a:pPr>
            <a:endParaRPr lang="en-US" sz="1800" dirty="0">
              <a:latin typeface="+mn-lt"/>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5.3 Coding for Portability</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17</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spTree>
    <p:extLst>
      <p:ext uri="{BB962C8B-B14F-4D97-AF65-F5344CB8AC3E}">
        <p14:creationId xmlns:p14="http://schemas.microsoft.com/office/powerpoint/2010/main" val="540882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5543218"/>
          </a:xfrm>
        </p:spPr>
        <p:txBody>
          <a:bodyPr>
            <a:normAutofit/>
          </a:bodyPr>
          <a:lstStyle/>
          <a:p>
            <a:pPr marL="0" indent="0">
              <a:buSzPct val="100000"/>
              <a:buNone/>
            </a:pPr>
            <a:endParaRPr lang="en-US" sz="1800" dirty="0">
              <a:latin typeface="+mn-lt"/>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5.3 Coding for Portability</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18</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8" name="Picture 7">
            <a:extLst>
              <a:ext uri="{FF2B5EF4-FFF2-40B4-BE49-F238E27FC236}">
                <a16:creationId xmlns:a16="http://schemas.microsoft.com/office/drawing/2014/main" id="{32FCC54F-55C9-2818-54C1-4C4643E9AEFA}"/>
              </a:ext>
            </a:extLst>
          </p:cNvPr>
          <p:cNvPicPr>
            <a:picLocks noChangeAspect="1"/>
          </p:cNvPicPr>
          <p:nvPr/>
        </p:nvPicPr>
        <p:blipFill>
          <a:blip r:embed="rId2"/>
          <a:stretch>
            <a:fillRect/>
          </a:stretch>
        </p:blipFill>
        <p:spPr>
          <a:xfrm>
            <a:off x="1539450" y="1421186"/>
            <a:ext cx="8774477" cy="4015627"/>
          </a:xfrm>
          <a:prstGeom prst="rect">
            <a:avLst/>
          </a:prstGeom>
        </p:spPr>
      </p:pic>
    </p:spTree>
    <p:extLst>
      <p:ext uri="{BB962C8B-B14F-4D97-AF65-F5344CB8AC3E}">
        <p14:creationId xmlns:p14="http://schemas.microsoft.com/office/powerpoint/2010/main" val="1964750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11236960" cy="6156960"/>
          </a:xfrm>
        </p:spPr>
        <p:txBody>
          <a:bodyPr>
            <a:normAutofit/>
          </a:bodyPr>
          <a:lstStyle/>
          <a:p>
            <a:pPr marL="0" indent="0">
              <a:buSzPct val="100000"/>
              <a:buNone/>
            </a:pPr>
            <a:r>
              <a:rPr lang="en-US" sz="2400" b="1" i="0" dirty="0">
                <a:solidFill>
                  <a:srgbClr val="000000"/>
                </a:solidFill>
                <a:effectLst/>
                <a:latin typeface="Times-Bold"/>
              </a:rPr>
              <a:t>5.3.4 Constant Definition Files</a:t>
            </a:r>
            <a:br>
              <a:rPr lang="en-US" sz="1600" dirty="0"/>
            </a:br>
            <a:endParaRPr lang="en-US" sz="100" dirty="0"/>
          </a:p>
          <a:p>
            <a:pPr>
              <a:buSzPct val="100000"/>
              <a:buFont typeface="Arial" panose="020B0604020202020204" pitchFamily="34" charset="0"/>
              <a:buChar char="•"/>
            </a:pPr>
            <a:r>
              <a:rPr lang="en-GB" sz="2400" b="1" i="0" dirty="0">
                <a:solidFill>
                  <a:srgbClr val="000000"/>
                </a:solidFill>
                <a:effectLst/>
                <a:latin typeface="Arial-BoldMT"/>
              </a:rPr>
              <a:t>Guideline – </a:t>
            </a:r>
            <a:r>
              <a:rPr lang="en-GB" sz="2400" b="0" i="0" dirty="0">
                <a:solidFill>
                  <a:srgbClr val="000000"/>
                </a:solidFill>
                <a:effectLst/>
                <a:latin typeface="Times-Roman"/>
              </a:rPr>
              <a:t>Keep constant and parameter definitions in one or a small number of files with names such as </a:t>
            </a:r>
            <a:r>
              <a:rPr lang="en-GB" sz="2400" b="0" i="1" dirty="0" err="1">
                <a:solidFill>
                  <a:srgbClr val="000000"/>
                </a:solidFill>
                <a:effectLst/>
                <a:latin typeface="Courier-Oblique"/>
              </a:rPr>
              <a:t>DesignName</a:t>
            </a:r>
            <a:r>
              <a:rPr lang="en-GB" sz="2000" b="0" i="0" dirty="0" err="1">
                <a:solidFill>
                  <a:srgbClr val="000000"/>
                </a:solidFill>
                <a:effectLst/>
                <a:latin typeface="Courier"/>
              </a:rPr>
              <a:t>_constants.v</a:t>
            </a:r>
            <a:r>
              <a:rPr lang="en-GB" sz="2000" b="0" i="0" dirty="0">
                <a:solidFill>
                  <a:srgbClr val="000000"/>
                </a:solidFill>
                <a:effectLst/>
                <a:latin typeface="Courier"/>
              </a:rPr>
              <a:t> </a:t>
            </a:r>
            <a:r>
              <a:rPr lang="en-GB" sz="2400" b="0" i="0" dirty="0">
                <a:solidFill>
                  <a:srgbClr val="000000"/>
                </a:solidFill>
                <a:effectLst/>
                <a:latin typeface="Times-Roman"/>
              </a:rPr>
              <a:t>or </a:t>
            </a:r>
            <a:r>
              <a:rPr lang="en-GB" sz="2000" b="0" i="1" dirty="0" err="1">
                <a:solidFill>
                  <a:srgbClr val="000000"/>
                </a:solidFill>
                <a:effectLst/>
                <a:latin typeface="Courier-Oblique"/>
              </a:rPr>
              <a:t>DesignName</a:t>
            </a:r>
            <a:r>
              <a:rPr lang="en-GB" sz="2000" b="0" i="0" dirty="0" err="1">
                <a:solidFill>
                  <a:srgbClr val="000000"/>
                </a:solidFill>
                <a:effectLst/>
                <a:latin typeface="Courier"/>
              </a:rPr>
              <a:t>_parameters.v</a:t>
            </a:r>
            <a:r>
              <a:rPr lang="en-GB" sz="1600" dirty="0"/>
              <a:t> </a:t>
            </a:r>
            <a:br>
              <a:rPr lang="en-GB" sz="1600" dirty="0"/>
            </a:br>
            <a:endParaRPr lang="en-GB" sz="1600" dirty="0"/>
          </a:p>
          <a:p>
            <a:pPr lvl="1">
              <a:buSzPct val="100000"/>
              <a:buFont typeface="Arial" panose="020B0604020202020204" pitchFamily="34" charset="0"/>
              <a:buChar char="•"/>
            </a:pPr>
            <a:r>
              <a:rPr lang="en-GB" sz="2400" dirty="0">
                <a:latin typeface="Times-Roman"/>
              </a:rPr>
              <a:t>Source files should not make references to constant definition files with the include statement, since this will cause problems if the core is instantiated multiple times in the design, but with different constant values. We recommend that constant definition files be specified only on tool command lines. </a:t>
            </a:r>
            <a:endParaRPr lang="en-US" sz="2400" dirty="0">
              <a:latin typeface="Times-Roman"/>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5.3 Coding for Portability</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19</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8" name="Picture 7">
            <a:extLst>
              <a:ext uri="{FF2B5EF4-FFF2-40B4-BE49-F238E27FC236}">
                <a16:creationId xmlns:a16="http://schemas.microsoft.com/office/drawing/2014/main" id="{7E567C8C-A83F-8495-3646-D8206FA1947D}"/>
              </a:ext>
            </a:extLst>
          </p:cNvPr>
          <p:cNvPicPr>
            <a:picLocks noChangeAspect="1"/>
          </p:cNvPicPr>
          <p:nvPr/>
        </p:nvPicPr>
        <p:blipFill>
          <a:blip r:embed="rId3"/>
          <a:stretch>
            <a:fillRect/>
          </a:stretch>
        </p:blipFill>
        <p:spPr>
          <a:xfrm>
            <a:off x="756861" y="4443142"/>
            <a:ext cx="2967259" cy="1244600"/>
          </a:xfrm>
          <a:prstGeom prst="rect">
            <a:avLst/>
          </a:prstGeom>
        </p:spPr>
      </p:pic>
      <p:pic>
        <p:nvPicPr>
          <p:cNvPr id="10" name="Picture 9">
            <a:extLst>
              <a:ext uri="{FF2B5EF4-FFF2-40B4-BE49-F238E27FC236}">
                <a16:creationId xmlns:a16="http://schemas.microsoft.com/office/drawing/2014/main" id="{83726177-A648-FDFB-FF16-BAAC6CB38160}"/>
              </a:ext>
            </a:extLst>
          </p:cNvPr>
          <p:cNvPicPr>
            <a:picLocks noChangeAspect="1"/>
          </p:cNvPicPr>
          <p:nvPr/>
        </p:nvPicPr>
        <p:blipFill>
          <a:blip r:embed="rId4"/>
          <a:stretch>
            <a:fillRect/>
          </a:stretch>
        </p:blipFill>
        <p:spPr>
          <a:xfrm>
            <a:off x="4655399" y="4443142"/>
            <a:ext cx="2881202" cy="1244600"/>
          </a:xfrm>
          <a:prstGeom prst="rect">
            <a:avLst/>
          </a:prstGeom>
        </p:spPr>
      </p:pic>
      <p:pic>
        <p:nvPicPr>
          <p:cNvPr id="12" name="Picture 11">
            <a:extLst>
              <a:ext uri="{FF2B5EF4-FFF2-40B4-BE49-F238E27FC236}">
                <a16:creationId xmlns:a16="http://schemas.microsoft.com/office/drawing/2014/main" id="{6B02FE3F-14AE-57AE-CC34-DDB2BB5D1DA6}"/>
              </a:ext>
            </a:extLst>
          </p:cNvPr>
          <p:cNvPicPr>
            <a:picLocks noChangeAspect="1"/>
          </p:cNvPicPr>
          <p:nvPr/>
        </p:nvPicPr>
        <p:blipFill>
          <a:blip r:embed="rId5"/>
          <a:stretch>
            <a:fillRect/>
          </a:stretch>
        </p:blipFill>
        <p:spPr>
          <a:xfrm>
            <a:off x="8334899" y="4443142"/>
            <a:ext cx="2634670" cy="1211792"/>
          </a:xfrm>
          <a:prstGeom prst="rect">
            <a:avLst/>
          </a:prstGeom>
        </p:spPr>
      </p:pic>
    </p:spTree>
    <p:extLst>
      <p:ext uri="{BB962C8B-B14F-4D97-AF65-F5344CB8AC3E}">
        <p14:creationId xmlns:p14="http://schemas.microsoft.com/office/powerpoint/2010/main" val="2509913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255181" y="875413"/>
            <a:ext cx="11337379" cy="7045843"/>
          </a:xfrm>
        </p:spPr>
        <p:txBody>
          <a:bodyPr>
            <a:normAutofit fontScale="92500"/>
          </a:bodyPr>
          <a:lstStyle/>
          <a:p>
            <a:pPr marL="0" indent="0">
              <a:buSzPct val="100000"/>
              <a:buNone/>
            </a:pPr>
            <a:r>
              <a:rPr lang="en-US" sz="2400" b="1" i="0" dirty="0">
                <a:solidFill>
                  <a:srgbClr val="000000"/>
                </a:solidFill>
                <a:effectLst/>
                <a:latin typeface="Times-Bold"/>
              </a:rPr>
              <a:t>5.3.5 Avoid Embedding Synthesis Commands</a:t>
            </a:r>
            <a:br>
              <a:rPr lang="en-US" sz="1600" dirty="0"/>
            </a:br>
            <a:endParaRPr lang="en-US" sz="100" dirty="0"/>
          </a:p>
          <a:p>
            <a:pPr>
              <a:buSzPct val="100000"/>
              <a:buFont typeface="Arial" panose="020B0604020202020204" pitchFamily="34" charset="0"/>
              <a:buChar char="•"/>
            </a:pPr>
            <a:r>
              <a:rPr lang="en-GB" sz="2400" b="0" i="0" dirty="0">
                <a:solidFill>
                  <a:srgbClr val="000000"/>
                </a:solidFill>
                <a:effectLst/>
                <a:latin typeface="Times-Roman"/>
              </a:rPr>
              <a:t>Although it is possible to embed synthesis commands directly in the source code, this practice is not recommended. Others who synthesize the code may not be aware of the hidden commands, which may cause their synthesis scripts to produce poor results. If the design is reused in a new application, the synthesis goals may be different, such as a higher-speed version</a:t>
            </a:r>
            <a:r>
              <a:rPr lang="en-GB" sz="1600" dirty="0"/>
              <a:t> </a:t>
            </a:r>
            <a:br>
              <a:rPr lang="en-GB" sz="1600" dirty="0"/>
            </a:br>
            <a:r>
              <a:rPr lang="en-GB" sz="1100" dirty="0">
                <a:latin typeface="Times-Roman"/>
              </a:rPr>
              <a:t> </a:t>
            </a:r>
            <a:endParaRPr lang="en-GB" sz="2400" dirty="0">
              <a:latin typeface="Times-Roman"/>
            </a:endParaRPr>
          </a:p>
          <a:p>
            <a:pPr marL="0" indent="0">
              <a:buSzPct val="100000"/>
              <a:buNone/>
            </a:pPr>
            <a:r>
              <a:rPr lang="en-US" sz="2400" b="1" i="0" dirty="0">
                <a:solidFill>
                  <a:srgbClr val="000000"/>
                </a:solidFill>
                <a:effectLst/>
                <a:latin typeface="Times-Bold"/>
              </a:rPr>
              <a:t>5.3.6 Use Technology-Independent Libraries</a:t>
            </a:r>
            <a:r>
              <a:rPr lang="en-US" sz="1600" dirty="0"/>
              <a:t> </a:t>
            </a:r>
          </a:p>
          <a:p>
            <a:pPr>
              <a:buSzPct val="100000"/>
              <a:buFont typeface="Arial" panose="020B0604020202020204" pitchFamily="34" charset="0"/>
              <a:buChar char="•"/>
            </a:pPr>
            <a:r>
              <a:rPr lang="en-GB" sz="2400" b="1" i="0" dirty="0">
                <a:solidFill>
                  <a:srgbClr val="000000"/>
                </a:solidFill>
                <a:effectLst/>
                <a:latin typeface="Arial-BoldMT"/>
              </a:rPr>
              <a:t>Guideline – </a:t>
            </a:r>
            <a:r>
              <a:rPr lang="en-GB" sz="2400" b="0" i="0" dirty="0">
                <a:solidFill>
                  <a:srgbClr val="000000"/>
                </a:solidFill>
                <a:effectLst/>
                <a:latin typeface="Times-Roman"/>
              </a:rPr>
              <a:t>For arithmetic components, use the </a:t>
            </a:r>
            <a:r>
              <a:rPr lang="en-GB" sz="2400" b="0" i="0" dirty="0" err="1">
                <a:solidFill>
                  <a:srgbClr val="000000"/>
                </a:solidFill>
                <a:effectLst/>
                <a:latin typeface="Times-Roman"/>
              </a:rPr>
              <a:t>DesignWare</a:t>
            </a:r>
            <a:r>
              <a:rPr lang="en-GB" sz="2400" b="0" i="0" dirty="0">
                <a:solidFill>
                  <a:srgbClr val="000000"/>
                </a:solidFill>
                <a:effectLst/>
                <a:latin typeface="Times-Roman"/>
              </a:rPr>
              <a:t> Foundation Library.</a:t>
            </a:r>
            <a:r>
              <a:rPr lang="en-GB" sz="1600" dirty="0"/>
              <a:t> </a:t>
            </a:r>
          </a:p>
          <a:p>
            <a:pPr>
              <a:buSzPct val="100000"/>
              <a:buFont typeface="Arial" panose="020B0604020202020204" pitchFamily="34" charset="0"/>
              <a:buChar char="•"/>
            </a:pPr>
            <a:r>
              <a:rPr lang="en-GB" sz="2400" b="1" dirty="0">
                <a:latin typeface="Arial-BoldMT"/>
              </a:rPr>
              <a:t>Guideline – </a:t>
            </a:r>
            <a:r>
              <a:rPr lang="en-GB" sz="2400" dirty="0">
                <a:latin typeface="Times-Roman"/>
              </a:rPr>
              <a:t>Avoid instantiating gates in the design. Gate-level designs are very hard to read, and thus difficult to maintain and reuse. If technology-specific gates are used, then the design is not portable to other technologies. </a:t>
            </a:r>
          </a:p>
          <a:p>
            <a:pPr marL="228600" marR="0" lvl="0" indent="-228600" algn="l" defTabSz="457200" rtl="0" eaLnBrk="1" fontAlgn="auto" latinLnBrk="0" hangingPunct="1">
              <a:lnSpc>
                <a:spcPct val="90000"/>
              </a:lnSpc>
              <a:spcBef>
                <a:spcPts val="1000"/>
              </a:spcBef>
              <a:spcAft>
                <a:spcPts val="400"/>
              </a:spcAft>
              <a:buClr>
                <a:srgbClr val="B1B3B3"/>
              </a:buClr>
              <a:buSzPct val="100000"/>
              <a:buFont typeface="Arial" panose="020B0604020202020204" pitchFamily="34" charset="0"/>
              <a:buChar char="•"/>
              <a:tabLst/>
              <a:defRPr/>
            </a:pPr>
            <a:r>
              <a:rPr kumimoji="0" lang="en-GB" sz="2400" b="1" i="0" u="none" strike="noStrike" kern="1200" cap="none" spc="0" normalizeH="0" baseline="0" noProof="0" dirty="0">
                <a:ln>
                  <a:noFill/>
                </a:ln>
                <a:solidFill>
                  <a:srgbClr val="000000"/>
                </a:solidFill>
                <a:effectLst/>
                <a:uLnTx/>
                <a:uFillTx/>
                <a:latin typeface="Arial-BoldMT"/>
                <a:ea typeface="+mn-ea"/>
                <a:cs typeface="+mn-cs"/>
              </a:rPr>
              <a:t>Guideline – </a:t>
            </a:r>
            <a:r>
              <a:rPr kumimoji="0" lang="en-GB" sz="2400" b="0" i="0" u="none" strike="noStrike" kern="1200" cap="none" spc="0" normalizeH="0" baseline="0" noProof="0" dirty="0">
                <a:ln>
                  <a:noFill/>
                </a:ln>
                <a:solidFill>
                  <a:srgbClr val="000000"/>
                </a:solidFill>
                <a:effectLst/>
                <a:uLnTx/>
                <a:uFillTx/>
                <a:latin typeface="Times-Roman"/>
                <a:ea typeface="+mn-ea"/>
                <a:cs typeface="+mn-cs"/>
              </a:rPr>
              <a:t>If you must use technology-specific gates, then isolate these gates in a separate module. This will make it easier to modify these gates as needed for different technologies.</a:t>
            </a:r>
            <a:r>
              <a:rPr kumimoji="0" lang="en-GB" sz="1600" b="0" i="0" u="none" strike="noStrike" kern="1200" cap="none" spc="0" normalizeH="0" baseline="0" noProof="0" dirty="0">
                <a:ln>
                  <a:noFill/>
                </a:ln>
                <a:solidFill>
                  <a:srgbClr val="000000"/>
                </a:solidFill>
                <a:effectLst/>
                <a:uLnTx/>
                <a:uFillTx/>
                <a:latin typeface="Barlow" pitchFamily="2" charset="77"/>
                <a:ea typeface="+mn-ea"/>
                <a:cs typeface="+mn-cs"/>
              </a:rPr>
              <a:t> </a:t>
            </a:r>
          </a:p>
          <a:p>
            <a:pPr marL="228600" marR="0" lvl="0" indent="-228600" algn="l" defTabSz="457200" rtl="0" eaLnBrk="1" fontAlgn="auto" latinLnBrk="0" hangingPunct="1">
              <a:lnSpc>
                <a:spcPct val="90000"/>
              </a:lnSpc>
              <a:spcBef>
                <a:spcPts val="1000"/>
              </a:spcBef>
              <a:spcAft>
                <a:spcPts val="400"/>
              </a:spcAft>
              <a:buClr>
                <a:srgbClr val="B1B3B3"/>
              </a:buClr>
              <a:buSzPct val="100000"/>
              <a:buFont typeface="Arial" panose="020B0604020202020204" pitchFamily="34" charset="0"/>
              <a:buChar char="•"/>
              <a:tabLst/>
              <a:defRPr/>
            </a:pPr>
            <a:r>
              <a:rPr kumimoji="0" lang="en-GB" sz="2400" b="1" i="0" u="none" strike="noStrike" kern="1200" cap="none" spc="0" normalizeH="0" baseline="0" noProof="0" dirty="0">
                <a:ln>
                  <a:noFill/>
                </a:ln>
                <a:solidFill>
                  <a:srgbClr val="000000"/>
                </a:solidFill>
                <a:effectLst/>
                <a:uLnTx/>
                <a:uFillTx/>
                <a:latin typeface="Arial-BoldMT"/>
                <a:ea typeface="+mn-ea"/>
                <a:cs typeface="+mn-cs"/>
              </a:rPr>
              <a:t>Guideline – </a:t>
            </a:r>
            <a:r>
              <a:rPr kumimoji="0" lang="en-GB" sz="2400" b="0" i="0" u="none" strike="noStrike" kern="1200" cap="none" spc="0" normalizeH="0" baseline="0" noProof="0" dirty="0">
                <a:ln>
                  <a:noFill/>
                </a:ln>
                <a:solidFill>
                  <a:srgbClr val="000000"/>
                </a:solidFill>
                <a:effectLst/>
                <a:uLnTx/>
                <a:uFillTx/>
                <a:latin typeface="Times-Roman"/>
                <a:ea typeface="+mn-ea"/>
                <a:cs typeface="+mn-cs"/>
              </a:rPr>
              <a:t>If you must instantiate a gate, use the Synopsys generic technology library, GTECH. </a:t>
            </a:r>
            <a:br>
              <a:rPr kumimoji="0" lang="en-GB" sz="1100" b="0" i="0" u="none" strike="noStrike" kern="1200" cap="none" spc="0" normalizeH="0" baseline="0" noProof="0" dirty="0">
                <a:ln>
                  <a:noFill/>
                </a:ln>
                <a:solidFill>
                  <a:srgbClr val="000000"/>
                </a:solidFill>
                <a:effectLst/>
                <a:uLnTx/>
                <a:uFillTx/>
                <a:latin typeface="Barlow" pitchFamily="2" charset="77"/>
                <a:ea typeface="+mn-ea"/>
                <a:cs typeface="+mn-cs"/>
              </a:rPr>
            </a:br>
            <a:br>
              <a:rPr kumimoji="0" lang="en-GB" sz="1600" b="0" i="0" u="none" strike="noStrike" kern="1200" cap="none" spc="0" normalizeH="0" baseline="0" noProof="0" dirty="0">
                <a:ln>
                  <a:noFill/>
                </a:ln>
                <a:solidFill>
                  <a:srgbClr val="000000"/>
                </a:solidFill>
                <a:effectLst/>
                <a:uLnTx/>
                <a:uFillTx/>
                <a:latin typeface="Barlow" pitchFamily="2" charset="77"/>
                <a:ea typeface="+mn-ea"/>
                <a:cs typeface="+mn-cs"/>
              </a:rPr>
            </a:br>
            <a:endParaRPr kumimoji="0" lang="en-US" sz="2400" b="0" i="0" u="none" strike="noStrike" kern="1200" cap="none" spc="0" normalizeH="0" baseline="0" noProof="0" dirty="0">
              <a:ln>
                <a:noFill/>
              </a:ln>
              <a:solidFill>
                <a:srgbClr val="000000"/>
              </a:solidFill>
              <a:effectLst/>
              <a:uLnTx/>
              <a:uFillTx/>
              <a:latin typeface="Times-Roman"/>
              <a:ea typeface="+mn-ea"/>
              <a:cs typeface="+mn-cs"/>
            </a:endParaRPr>
          </a:p>
          <a:p>
            <a:pPr>
              <a:buSzPct val="100000"/>
              <a:buFont typeface="Arial" panose="020B0604020202020204" pitchFamily="34" charset="0"/>
              <a:buChar char="•"/>
            </a:pPr>
            <a:br>
              <a:rPr lang="en-GB" sz="1100" dirty="0"/>
            </a:br>
            <a:br>
              <a:rPr lang="en-GB" sz="1600" dirty="0"/>
            </a:br>
            <a:endParaRPr lang="en-US" sz="2400" dirty="0">
              <a:latin typeface="Times-Roman"/>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5.3 Coding for Portability</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20</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spTree>
    <p:extLst>
      <p:ext uri="{BB962C8B-B14F-4D97-AF65-F5344CB8AC3E}">
        <p14:creationId xmlns:p14="http://schemas.microsoft.com/office/powerpoint/2010/main" val="83381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fade">
                                      <p:cBhvr>
                                        <p:cTn id="10" dur="500"/>
                                        <p:tgtEl>
                                          <p:spTgt spid="2">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fade">
                                      <p:cBhvr>
                                        <p:cTn id="13" dur="500"/>
                                        <p:tgtEl>
                                          <p:spTgt spid="2">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5" end="5"/>
                                            </p:txEl>
                                          </p:spTgt>
                                        </p:tgtEl>
                                        <p:attrNameLst>
                                          <p:attrName>style.visibility</p:attrName>
                                        </p:attrNameLst>
                                      </p:cBhvr>
                                      <p:to>
                                        <p:strVal val="visible"/>
                                      </p:to>
                                    </p:set>
                                    <p:animEffect transition="in" filter="fade">
                                      <p:cBhvr>
                                        <p:cTn id="16" dur="500"/>
                                        <p:tgtEl>
                                          <p:spTgt spid="2">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animEffect transition="in" filter="fade">
                                      <p:cBhvr>
                                        <p:cTn id="19"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255181" y="875413"/>
            <a:ext cx="11337379" cy="5763131"/>
          </a:xfrm>
        </p:spPr>
        <p:txBody>
          <a:bodyPr>
            <a:noAutofit/>
          </a:bodyPr>
          <a:lstStyle/>
          <a:p>
            <a:pPr marL="0" indent="0">
              <a:buSzPct val="100000"/>
              <a:buNone/>
            </a:pPr>
            <a:r>
              <a:rPr lang="en-US" sz="2200" b="1" i="0" dirty="0">
                <a:solidFill>
                  <a:srgbClr val="000000"/>
                </a:solidFill>
                <a:effectLst/>
                <a:latin typeface="Times-Bold"/>
              </a:rPr>
              <a:t>5.4.1 Avoid Mixed Clock Edges</a:t>
            </a:r>
            <a:endParaRPr lang="en-US" sz="2200" dirty="0"/>
          </a:p>
          <a:p>
            <a:pPr>
              <a:buSzPct val="100000"/>
              <a:buFont typeface="Arial" panose="020B0604020202020204" pitchFamily="34" charset="0"/>
              <a:buChar char="•"/>
            </a:pPr>
            <a:r>
              <a:rPr lang="en-GB" sz="2200" b="1" i="0" dirty="0">
                <a:solidFill>
                  <a:srgbClr val="000000"/>
                </a:solidFill>
                <a:effectLst/>
                <a:latin typeface="Arial-BoldMT"/>
              </a:rPr>
              <a:t>Guideline – </a:t>
            </a:r>
            <a:r>
              <a:rPr lang="en-GB" sz="2200" dirty="0">
                <a:latin typeface="Times-Roman"/>
              </a:rPr>
              <a:t>Avoid using both positive-edge and negative-edge triggered flip-flops in your design.</a:t>
            </a:r>
            <a:r>
              <a:rPr lang="en-GB" sz="2200" dirty="0"/>
              <a:t> </a:t>
            </a:r>
          </a:p>
          <a:p>
            <a:pPr>
              <a:buSzPct val="100000"/>
              <a:buFont typeface="Arial" panose="020B0604020202020204" pitchFamily="34" charset="0"/>
              <a:buChar char="•"/>
            </a:pPr>
            <a:r>
              <a:rPr lang="en-GB" sz="2200" dirty="0">
                <a:latin typeface="Times-Roman"/>
              </a:rPr>
              <a:t>Clocking on both edges creates several problems:</a:t>
            </a:r>
          </a:p>
          <a:p>
            <a:pPr marL="0" indent="0">
              <a:buSzPct val="100000"/>
              <a:buNone/>
            </a:pPr>
            <a:r>
              <a:rPr lang="en-GB" sz="2200" dirty="0">
                <a:latin typeface="Times-Roman"/>
              </a:rPr>
              <a:t>	1) Timing closure becomes challenging.</a:t>
            </a:r>
          </a:p>
          <a:p>
            <a:pPr marL="0" indent="0">
              <a:buSzPct val="100000"/>
              <a:buNone/>
            </a:pPr>
            <a:r>
              <a:rPr lang="en-GB" sz="2200" dirty="0">
                <a:latin typeface="Times-Roman"/>
              </a:rPr>
              <a:t>	2) Most scan-based testing methodologies require separate handling of positive and       	negative-edge triggered flops. </a:t>
            </a:r>
          </a:p>
          <a:p>
            <a:pPr marL="0" indent="0">
              <a:buSzPct val="100000"/>
              <a:buNone/>
            </a:pPr>
            <a:br>
              <a:rPr lang="en-GB" sz="500" dirty="0"/>
            </a:br>
            <a:r>
              <a:rPr lang="en-GB" sz="2200" b="1" dirty="0">
                <a:latin typeface="Arial-BoldMT"/>
              </a:rPr>
              <a:t>Rule – </a:t>
            </a:r>
            <a:r>
              <a:rPr lang="en-GB" sz="2200" dirty="0">
                <a:latin typeface="Times-Roman"/>
              </a:rPr>
              <a:t>If you must use both positive-edge and negative-edge triggered flip-flops in your design, be sure to model the worst-case duty cycle of the clock accurately in synthesis and timing analysis.</a:t>
            </a:r>
            <a:r>
              <a:rPr lang="en-GB" sz="2200" dirty="0"/>
              <a:t> </a:t>
            </a:r>
          </a:p>
          <a:p>
            <a:pPr marL="0" indent="0">
              <a:buSzPct val="100000"/>
              <a:buNone/>
            </a:pPr>
            <a:r>
              <a:rPr lang="en-GB" sz="2200" b="1" dirty="0">
                <a:latin typeface="Arial-BoldMT"/>
              </a:rPr>
              <a:t>Guideline – </a:t>
            </a:r>
            <a:r>
              <a:rPr lang="en-GB" sz="2200" dirty="0">
                <a:latin typeface="Times-Roman"/>
              </a:rPr>
              <a:t>If you must use a large number of both positive-edge and negative-edge triggered flip-flops in your design, it may be useful to separate them into different modules. This makes it easier to identify the negative-edge flops, and thus to put them in different scan chains.</a:t>
            </a:r>
            <a:r>
              <a:rPr lang="en-GB" sz="2200" dirty="0"/>
              <a:t> </a:t>
            </a:r>
            <a:br>
              <a:rPr lang="en-GB" sz="2200" dirty="0"/>
            </a:br>
            <a:endParaRPr lang="en-GB" sz="2200" dirty="0"/>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5.4 Guidelines for Clocks and Resets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21</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spTree>
    <p:extLst>
      <p:ext uri="{BB962C8B-B14F-4D97-AF65-F5344CB8AC3E}">
        <p14:creationId xmlns:p14="http://schemas.microsoft.com/office/powerpoint/2010/main" val="49589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255181" y="875413"/>
            <a:ext cx="11337379" cy="5763131"/>
          </a:xfrm>
        </p:spPr>
        <p:txBody>
          <a:bodyPr>
            <a:noAutofit/>
          </a:bodyPr>
          <a:lstStyle/>
          <a:p>
            <a:pPr marL="0" indent="0">
              <a:buSzPct val="100000"/>
              <a:buNone/>
            </a:pPr>
            <a:r>
              <a:rPr lang="en-US" sz="2400" b="1" i="0" dirty="0">
                <a:solidFill>
                  <a:srgbClr val="000000"/>
                </a:solidFill>
                <a:effectLst/>
                <a:latin typeface="Times-Bold"/>
              </a:rPr>
              <a:t>5.4.2 Avoid Clock Buffers</a:t>
            </a:r>
            <a:endParaRPr lang="en-US" sz="2400" dirty="0"/>
          </a:p>
          <a:p>
            <a:pPr>
              <a:buSzPct val="100000"/>
              <a:buFont typeface="Arial" panose="020B0604020202020204" pitchFamily="34" charset="0"/>
              <a:buChar char="•"/>
            </a:pPr>
            <a:r>
              <a:rPr lang="en-GB" sz="2200" b="1" i="0" dirty="0">
                <a:solidFill>
                  <a:srgbClr val="000000"/>
                </a:solidFill>
                <a:effectLst/>
                <a:latin typeface="Arial-BoldMT"/>
              </a:rPr>
              <a:t>Guideline – </a:t>
            </a:r>
            <a:r>
              <a:rPr lang="en-GB" sz="2400" b="0" i="0" dirty="0">
                <a:solidFill>
                  <a:srgbClr val="000000"/>
                </a:solidFill>
                <a:effectLst/>
                <a:latin typeface="+mn-lt"/>
              </a:rPr>
              <a:t>Avoid hand instantiating clock buffers in RTL code. Clock buffers are</a:t>
            </a:r>
            <a:br>
              <a:rPr lang="en-GB" sz="2400" b="0" i="0" dirty="0">
                <a:solidFill>
                  <a:srgbClr val="000000"/>
                </a:solidFill>
                <a:effectLst/>
                <a:latin typeface="+mn-lt"/>
              </a:rPr>
            </a:br>
            <a:r>
              <a:rPr lang="en-GB" sz="2400" b="0" i="0" dirty="0">
                <a:solidFill>
                  <a:srgbClr val="000000"/>
                </a:solidFill>
                <a:effectLst/>
                <a:latin typeface="+mn-lt"/>
              </a:rPr>
              <a:t>normally inserted after synthesis as part of the physical design.</a:t>
            </a:r>
            <a:r>
              <a:rPr lang="en-GB" sz="2400" dirty="0">
                <a:latin typeface="+mn-lt"/>
              </a:rPr>
              <a:t> </a:t>
            </a:r>
          </a:p>
          <a:p>
            <a:pPr marL="0" indent="0">
              <a:buSzPct val="100000"/>
              <a:buNone/>
            </a:pPr>
            <a:r>
              <a:rPr lang="en-US" sz="2400" b="1" i="0" dirty="0">
                <a:solidFill>
                  <a:srgbClr val="000000"/>
                </a:solidFill>
                <a:effectLst/>
                <a:latin typeface="Times-Bold"/>
              </a:rPr>
              <a:t>5.4.3 Avoid Gated Clocks</a:t>
            </a:r>
            <a:endParaRPr lang="en-US" sz="2400" dirty="0"/>
          </a:p>
          <a:p>
            <a:pPr>
              <a:buSzPct val="100000"/>
              <a:buFont typeface="Arial" panose="020B0604020202020204" pitchFamily="34" charset="0"/>
              <a:buChar char="•"/>
            </a:pPr>
            <a:r>
              <a:rPr lang="en-GB" sz="2200" b="1" i="0" dirty="0">
                <a:solidFill>
                  <a:srgbClr val="000000"/>
                </a:solidFill>
                <a:effectLst/>
                <a:latin typeface="Arial-BoldMT"/>
              </a:rPr>
              <a:t>Guideline – </a:t>
            </a:r>
            <a:r>
              <a:rPr lang="en-GB" sz="2400" b="0" i="0" dirty="0">
                <a:solidFill>
                  <a:srgbClr val="000000"/>
                </a:solidFill>
                <a:effectLst/>
                <a:latin typeface="Times-Roman"/>
              </a:rPr>
              <a:t>Avoid coding gated clocks in your RTL because:</a:t>
            </a:r>
            <a:r>
              <a:rPr lang="en-GB" sz="2400" dirty="0">
                <a:latin typeface="+mn-lt"/>
              </a:rPr>
              <a:t> </a:t>
            </a:r>
          </a:p>
          <a:p>
            <a:pPr marL="0" indent="0">
              <a:buSzPct val="100000"/>
              <a:buNone/>
            </a:pPr>
            <a:r>
              <a:rPr lang="en-GB" sz="2400" dirty="0">
                <a:latin typeface="+mn-lt"/>
              </a:rPr>
              <a:t>	1) </a:t>
            </a:r>
            <a:r>
              <a:rPr lang="en-GB" sz="2400" b="0" i="0" dirty="0">
                <a:solidFill>
                  <a:srgbClr val="000000"/>
                </a:solidFill>
                <a:effectLst/>
                <a:latin typeface="Times-Roman"/>
              </a:rPr>
              <a:t>Improper timing of a gated clock can generate a false clock or glitch, causing a flip-	flop to clock in the wrong data.</a:t>
            </a:r>
            <a:r>
              <a:rPr lang="en-GB" sz="1600" dirty="0"/>
              <a:t> </a:t>
            </a:r>
          </a:p>
          <a:p>
            <a:pPr marL="0" indent="0">
              <a:buSzPct val="100000"/>
              <a:buNone/>
            </a:pPr>
            <a:r>
              <a:rPr kumimoji="0" lang="en-GB" sz="2400" b="0" i="0" u="none" strike="noStrike" kern="1200" cap="none" spc="0" normalizeH="0" baseline="0" noProof="0" dirty="0">
                <a:ln>
                  <a:noFill/>
                </a:ln>
                <a:solidFill>
                  <a:srgbClr val="000000"/>
                </a:solidFill>
                <a:effectLst/>
                <a:uLnTx/>
                <a:uFillTx/>
                <a:latin typeface="Times-Roman"/>
                <a:ea typeface="+mn-ea"/>
                <a:cs typeface="+mn-cs"/>
              </a:rPr>
              <a:t>	2) </a:t>
            </a:r>
            <a:r>
              <a:rPr lang="en-GB" sz="2400" dirty="0">
                <a:latin typeface="Times-Roman"/>
              </a:rPr>
              <a:t>Gated clocks cause limited testability because the logic clocked by a gated clock</a:t>
            </a:r>
            <a:br>
              <a:rPr lang="en-GB" sz="2400" dirty="0">
                <a:latin typeface="Times-Roman"/>
              </a:rPr>
            </a:br>
            <a:r>
              <a:rPr lang="en-GB" sz="2400" dirty="0">
                <a:latin typeface="Times-Roman"/>
              </a:rPr>
              <a:t>	cannot be made part of a scan chain. </a:t>
            </a:r>
            <a:br>
              <a:rPr lang="en-GB" sz="1100" dirty="0"/>
            </a:br>
            <a:br>
              <a:rPr lang="en-GB" sz="1600" dirty="0"/>
            </a:br>
            <a:endParaRPr lang="en-GB" sz="2400" dirty="0">
              <a:latin typeface="+mn-lt"/>
            </a:endParaRPr>
          </a:p>
          <a:p>
            <a:pPr>
              <a:buSzPct val="100000"/>
              <a:buFont typeface="Arial" panose="020B0604020202020204" pitchFamily="34" charset="0"/>
              <a:buChar char="•"/>
            </a:pPr>
            <a:endParaRPr lang="en-GB" sz="2400" dirty="0">
              <a:latin typeface="+mn-lt"/>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5.4 Guidelines for Clocks and Resets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22</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spTree>
    <p:extLst>
      <p:ext uri="{BB962C8B-B14F-4D97-AF65-F5344CB8AC3E}">
        <p14:creationId xmlns:p14="http://schemas.microsoft.com/office/powerpoint/2010/main" val="2923660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255181" y="875413"/>
            <a:ext cx="11337379" cy="5763131"/>
          </a:xfrm>
        </p:spPr>
        <p:txBody>
          <a:bodyPr>
            <a:noAutofit/>
          </a:bodyPr>
          <a:lstStyle/>
          <a:p>
            <a:pPr marL="0" indent="0">
              <a:buSzPct val="100000"/>
              <a:buNone/>
            </a:pPr>
            <a:endParaRPr lang="en-GB" sz="2400" dirty="0">
              <a:latin typeface="+mn-lt"/>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5.4 Guidelines for Clocks and Resets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23</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8" name="Picture 7">
            <a:extLst>
              <a:ext uri="{FF2B5EF4-FFF2-40B4-BE49-F238E27FC236}">
                <a16:creationId xmlns:a16="http://schemas.microsoft.com/office/drawing/2014/main" id="{E3116203-9FF0-9533-CFA4-84496113DC67}"/>
              </a:ext>
            </a:extLst>
          </p:cNvPr>
          <p:cNvPicPr>
            <a:picLocks noChangeAspect="1"/>
          </p:cNvPicPr>
          <p:nvPr/>
        </p:nvPicPr>
        <p:blipFill>
          <a:blip r:embed="rId2"/>
          <a:stretch>
            <a:fillRect/>
          </a:stretch>
        </p:blipFill>
        <p:spPr>
          <a:xfrm>
            <a:off x="1966393" y="1352762"/>
            <a:ext cx="8259214" cy="4335118"/>
          </a:xfrm>
          <a:prstGeom prst="rect">
            <a:avLst/>
          </a:prstGeom>
        </p:spPr>
      </p:pic>
      <p:sp>
        <p:nvSpPr>
          <p:cNvPr id="9" name="Rectangle 8">
            <a:extLst>
              <a:ext uri="{FF2B5EF4-FFF2-40B4-BE49-F238E27FC236}">
                <a16:creationId xmlns:a16="http://schemas.microsoft.com/office/drawing/2014/main" id="{4FC1C79D-7466-7F93-55E7-51919CF8D01D}"/>
              </a:ext>
            </a:extLst>
          </p:cNvPr>
          <p:cNvSpPr/>
          <p:nvPr/>
        </p:nvSpPr>
        <p:spPr>
          <a:xfrm>
            <a:off x="6736080" y="1270000"/>
            <a:ext cx="2854960" cy="1899920"/>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TextBox 9">
            <a:extLst>
              <a:ext uri="{FF2B5EF4-FFF2-40B4-BE49-F238E27FC236}">
                <a16:creationId xmlns:a16="http://schemas.microsoft.com/office/drawing/2014/main" id="{A37005C6-9DBB-66FF-0425-5FC62F79B147}"/>
              </a:ext>
            </a:extLst>
          </p:cNvPr>
          <p:cNvSpPr txBox="1"/>
          <p:nvPr/>
        </p:nvSpPr>
        <p:spPr>
          <a:xfrm>
            <a:off x="6365461" y="895562"/>
            <a:ext cx="4074160" cy="914400"/>
          </a:xfrm>
          <a:prstGeom prst="rect">
            <a:avLst/>
          </a:prstGeom>
          <a:noFill/>
        </p:spPr>
        <p:txBody>
          <a:bodyPr wrap="none" lIns="0" tIns="0" rIns="0" bIns="0" rtlCol="0">
            <a:noAutofit/>
          </a:bodyPr>
          <a:lstStyle/>
          <a:p>
            <a:pPr defTabSz="457200">
              <a:spcBef>
                <a:spcPts val="1000"/>
              </a:spcBef>
              <a:buClr>
                <a:srgbClr val="1E4056"/>
              </a:buClr>
              <a:buSzPct val="75000"/>
            </a:pPr>
            <a:r>
              <a:rPr lang="en-US" sz="2000" dirty="0">
                <a:solidFill>
                  <a:srgbClr val="000000"/>
                </a:solidFill>
              </a:rPr>
              <a:t>Integrated Clock Gating (ICG) Cell</a:t>
            </a:r>
          </a:p>
        </p:txBody>
      </p:sp>
    </p:spTree>
    <p:extLst>
      <p:ext uri="{BB962C8B-B14F-4D97-AF65-F5344CB8AC3E}">
        <p14:creationId xmlns:p14="http://schemas.microsoft.com/office/powerpoint/2010/main" val="1992338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255181" y="875413"/>
            <a:ext cx="11337379" cy="5763131"/>
          </a:xfrm>
        </p:spPr>
        <p:txBody>
          <a:bodyPr>
            <a:noAutofit/>
          </a:bodyPr>
          <a:lstStyle/>
          <a:p>
            <a:pPr marL="0" indent="0">
              <a:buSzPct val="100000"/>
              <a:buNone/>
            </a:pPr>
            <a:endParaRPr lang="en-GB" sz="2400" dirty="0">
              <a:latin typeface="+mn-lt"/>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5.4 Guidelines for Clocks and Resets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24</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7" name="Picture 6">
            <a:extLst>
              <a:ext uri="{FF2B5EF4-FFF2-40B4-BE49-F238E27FC236}">
                <a16:creationId xmlns:a16="http://schemas.microsoft.com/office/drawing/2014/main" id="{7D3F0046-D148-6893-090A-FC5865BE2D5E}"/>
              </a:ext>
            </a:extLst>
          </p:cNvPr>
          <p:cNvPicPr>
            <a:picLocks noChangeAspect="1"/>
          </p:cNvPicPr>
          <p:nvPr/>
        </p:nvPicPr>
        <p:blipFill>
          <a:blip r:embed="rId2"/>
          <a:stretch>
            <a:fillRect/>
          </a:stretch>
        </p:blipFill>
        <p:spPr>
          <a:xfrm>
            <a:off x="342900" y="910220"/>
            <a:ext cx="3283919" cy="3745877"/>
          </a:xfrm>
          <a:prstGeom prst="rect">
            <a:avLst/>
          </a:prstGeom>
        </p:spPr>
      </p:pic>
      <p:pic>
        <p:nvPicPr>
          <p:cNvPr id="11" name="Content Placeholder 7">
            <a:extLst>
              <a:ext uri="{FF2B5EF4-FFF2-40B4-BE49-F238E27FC236}">
                <a16:creationId xmlns:a16="http://schemas.microsoft.com/office/drawing/2014/main" id="{9B644D00-46D8-E51F-8F4C-9525C076E10A}"/>
              </a:ext>
            </a:extLst>
          </p:cNvPr>
          <p:cNvPicPr>
            <a:picLocks noChangeAspect="1"/>
          </p:cNvPicPr>
          <p:nvPr/>
        </p:nvPicPr>
        <p:blipFill>
          <a:blip r:embed="rId3"/>
          <a:stretch>
            <a:fillRect/>
          </a:stretch>
        </p:blipFill>
        <p:spPr>
          <a:xfrm>
            <a:off x="8687778" y="828119"/>
            <a:ext cx="2765240" cy="4290312"/>
          </a:xfrm>
          <a:prstGeom prst="rect">
            <a:avLst/>
          </a:prstGeom>
        </p:spPr>
      </p:pic>
      <p:pic>
        <p:nvPicPr>
          <p:cNvPr id="12" name="Picture 11">
            <a:extLst>
              <a:ext uri="{FF2B5EF4-FFF2-40B4-BE49-F238E27FC236}">
                <a16:creationId xmlns:a16="http://schemas.microsoft.com/office/drawing/2014/main" id="{5881C2A7-94BA-1CCC-DFFE-F856990843AB}"/>
              </a:ext>
            </a:extLst>
          </p:cNvPr>
          <p:cNvPicPr>
            <a:picLocks noChangeAspect="1"/>
          </p:cNvPicPr>
          <p:nvPr/>
        </p:nvPicPr>
        <p:blipFill>
          <a:blip r:embed="rId4"/>
          <a:stretch>
            <a:fillRect/>
          </a:stretch>
        </p:blipFill>
        <p:spPr>
          <a:xfrm>
            <a:off x="3210560" y="4452075"/>
            <a:ext cx="5049520" cy="2085565"/>
          </a:xfrm>
          <a:prstGeom prst="rect">
            <a:avLst/>
          </a:prstGeom>
        </p:spPr>
      </p:pic>
    </p:spTree>
    <p:extLst>
      <p:ext uri="{BB962C8B-B14F-4D97-AF65-F5344CB8AC3E}">
        <p14:creationId xmlns:p14="http://schemas.microsoft.com/office/powerpoint/2010/main" val="3383169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B94CEDFA-9E94-D22B-89CC-E31A2D86A79D}"/>
              </a:ext>
            </a:extLst>
          </p:cNvPr>
          <p:cNvPicPr>
            <a:picLocks noGrp="1" noChangeAspect="1"/>
          </p:cNvPicPr>
          <p:nvPr>
            <p:ph idx="1"/>
          </p:nvPr>
        </p:nvPicPr>
        <p:blipFill>
          <a:blip r:embed="rId2"/>
          <a:stretch>
            <a:fillRect/>
          </a:stretch>
        </p:blipFill>
        <p:spPr>
          <a:xfrm>
            <a:off x="802641" y="1197399"/>
            <a:ext cx="5169488" cy="4413716"/>
          </a:xfrm>
        </p:spPr>
      </p:pic>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5.4 Guidelines for Clocks and Resets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25</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1026" name="Picture 2" descr="No description available.">
            <a:extLst>
              <a:ext uri="{FF2B5EF4-FFF2-40B4-BE49-F238E27FC236}">
                <a16:creationId xmlns:a16="http://schemas.microsoft.com/office/drawing/2014/main" id="{0C7362F6-5543-6C84-E85A-3C38B9EE1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1760" y="1084521"/>
            <a:ext cx="5088890" cy="222214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o description available.">
            <a:extLst>
              <a:ext uri="{FF2B5EF4-FFF2-40B4-BE49-F238E27FC236}">
                <a16:creationId xmlns:a16="http://schemas.microsoft.com/office/drawing/2014/main" id="{AC6C0D40-8432-5181-50DF-88BE9E199B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8477" y="3429000"/>
            <a:ext cx="4275455" cy="2546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1663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8"/>
                                        </p:tgtEl>
                                        <p:attrNameLst>
                                          <p:attrName>style.visibility</p:attrName>
                                        </p:attrNameLst>
                                      </p:cBhvr>
                                      <p:to>
                                        <p:strVal val="visible"/>
                                      </p:to>
                                    </p:set>
                                    <p:animEffect transition="in" filter="fade">
                                      <p:cBhvr>
                                        <p:cTn id="12"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5.4 Guidelines for Clocks and Resets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26</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10" name="Content Placeholder 9">
            <a:extLst>
              <a:ext uri="{FF2B5EF4-FFF2-40B4-BE49-F238E27FC236}">
                <a16:creationId xmlns:a16="http://schemas.microsoft.com/office/drawing/2014/main" id="{0B4DDDE6-3229-329D-86EB-4B6142B1483F}"/>
              </a:ext>
            </a:extLst>
          </p:cNvPr>
          <p:cNvPicPr>
            <a:picLocks noGrp="1" noChangeAspect="1"/>
          </p:cNvPicPr>
          <p:nvPr>
            <p:ph idx="1"/>
          </p:nvPr>
        </p:nvPicPr>
        <p:blipFill>
          <a:blip r:embed="rId2"/>
          <a:stretch>
            <a:fillRect/>
          </a:stretch>
        </p:blipFill>
        <p:spPr>
          <a:xfrm>
            <a:off x="2656568" y="1133641"/>
            <a:ext cx="6577730" cy="2522433"/>
          </a:xfrm>
        </p:spPr>
      </p:pic>
      <p:sp>
        <p:nvSpPr>
          <p:cNvPr id="11" name="Rectangle 10">
            <a:extLst>
              <a:ext uri="{FF2B5EF4-FFF2-40B4-BE49-F238E27FC236}">
                <a16:creationId xmlns:a16="http://schemas.microsoft.com/office/drawing/2014/main" id="{C6FEDA9E-9498-503A-4703-3A59BB9AD3A9}"/>
              </a:ext>
            </a:extLst>
          </p:cNvPr>
          <p:cNvSpPr/>
          <p:nvPr/>
        </p:nvSpPr>
        <p:spPr>
          <a:xfrm>
            <a:off x="3911600" y="1029359"/>
            <a:ext cx="3515360" cy="2022958"/>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3" name="Picture 12">
            <a:extLst>
              <a:ext uri="{FF2B5EF4-FFF2-40B4-BE49-F238E27FC236}">
                <a16:creationId xmlns:a16="http://schemas.microsoft.com/office/drawing/2014/main" id="{469AADC3-4DE1-52E6-B20C-0348E829B3C5}"/>
              </a:ext>
            </a:extLst>
          </p:cNvPr>
          <p:cNvPicPr>
            <a:picLocks noChangeAspect="1"/>
          </p:cNvPicPr>
          <p:nvPr/>
        </p:nvPicPr>
        <p:blipFill>
          <a:blip r:embed="rId3"/>
          <a:stretch>
            <a:fillRect/>
          </a:stretch>
        </p:blipFill>
        <p:spPr>
          <a:xfrm>
            <a:off x="3180651" y="4121909"/>
            <a:ext cx="5830698" cy="2305160"/>
          </a:xfrm>
          <a:prstGeom prst="rect">
            <a:avLst/>
          </a:prstGeom>
        </p:spPr>
      </p:pic>
    </p:spTree>
    <p:extLst>
      <p:ext uri="{BB962C8B-B14F-4D97-AF65-F5344CB8AC3E}">
        <p14:creationId xmlns:p14="http://schemas.microsoft.com/office/powerpoint/2010/main" val="249583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255181" y="875413"/>
            <a:ext cx="11337379" cy="5763131"/>
          </a:xfrm>
        </p:spPr>
        <p:txBody>
          <a:bodyPr>
            <a:noAutofit/>
          </a:bodyPr>
          <a:lstStyle/>
          <a:p>
            <a:pPr marL="0" indent="0">
              <a:buSzPct val="100000"/>
              <a:buNone/>
            </a:pPr>
            <a:r>
              <a:rPr lang="en-US" sz="2400" b="1" i="0" dirty="0">
                <a:solidFill>
                  <a:srgbClr val="000000"/>
                </a:solidFill>
                <a:effectLst/>
                <a:latin typeface="Times-Bold"/>
              </a:rPr>
              <a:t>5.4.4 Avoid </a:t>
            </a:r>
            <a:r>
              <a:rPr lang="en-US" sz="2400" b="1" dirty="0">
                <a:latin typeface="Times-Bold"/>
              </a:rPr>
              <a:t>Internally Generated Clocks</a:t>
            </a:r>
            <a:endParaRPr lang="en-US" sz="2400" dirty="0"/>
          </a:p>
          <a:p>
            <a:pPr>
              <a:buSzPct val="100000"/>
              <a:buFont typeface="Arial" panose="020B0604020202020204" pitchFamily="34" charset="0"/>
              <a:buChar char="•"/>
            </a:pPr>
            <a:r>
              <a:rPr lang="en-GB" sz="2400" b="1" i="0" dirty="0">
                <a:solidFill>
                  <a:srgbClr val="000000"/>
                </a:solidFill>
                <a:effectLst/>
                <a:latin typeface="Arial-BoldMT"/>
              </a:rPr>
              <a:t>Guideline – </a:t>
            </a:r>
            <a:r>
              <a:rPr lang="en-GB" sz="2400" b="0" i="0" dirty="0">
                <a:solidFill>
                  <a:srgbClr val="000000"/>
                </a:solidFill>
                <a:effectLst/>
                <a:latin typeface="Times-Roman"/>
              </a:rPr>
              <a:t>Avoid using internally generated clocks in your design as they cause limited testability because logic driven by them cannot be made part of a scan chain.</a:t>
            </a:r>
            <a:r>
              <a:rPr lang="en-GB" sz="1600" dirty="0"/>
              <a:t> </a:t>
            </a:r>
          </a:p>
          <a:p>
            <a:pPr marL="0" indent="0">
              <a:buSzPct val="100000"/>
              <a:buNone/>
            </a:pPr>
            <a:endParaRPr lang="en-GB" sz="2400" dirty="0">
              <a:latin typeface="+mn-lt"/>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5.4 Guidelines for Clocks and Resets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27</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2052" name="Picture 4" descr="No description available.">
            <a:extLst>
              <a:ext uri="{FF2B5EF4-FFF2-40B4-BE49-F238E27FC236}">
                <a16:creationId xmlns:a16="http://schemas.microsoft.com/office/drawing/2014/main" id="{0B78D9CB-3F14-7489-7169-400ED76DCE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4598" y="2112306"/>
            <a:ext cx="5227942" cy="227156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E02ABA89-B676-BDA3-54C1-8681037A2453}"/>
              </a:ext>
            </a:extLst>
          </p:cNvPr>
          <p:cNvPicPr>
            <a:picLocks noChangeAspect="1"/>
          </p:cNvPicPr>
          <p:nvPr/>
        </p:nvPicPr>
        <p:blipFill>
          <a:blip r:embed="rId3"/>
          <a:stretch>
            <a:fillRect/>
          </a:stretch>
        </p:blipFill>
        <p:spPr>
          <a:xfrm>
            <a:off x="6645081" y="4443589"/>
            <a:ext cx="3812540" cy="2172429"/>
          </a:xfrm>
          <a:prstGeom prst="rect">
            <a:avLst/>
          </a:prstGeom>
        </p:spPr>
      </p:pic>
      <p:pic>
        <p:nvPicPr>
          <p:cNvPr id="12" name="Picture 11">
            <a:extLst>
              <a:ext uri="{FF2B5EF4-FFF2-40B4-BE49-F238E27FC236}">
                <a16:creationId xmlns:a16="http://schemas.microsoft.com/office/drawing/2014/main" id="{FF252F47-4933-E4F7-8971-E35C04450EB2}"/>
              </a:ext>
            </a:extLst>
          </p:cNvPr>
          <p:cNvPicPr>
            <a:picLocks noChangeAspect="1"/>
          </p:cNvPicPr>
          <p:nvPr/>
        </p:nvPicPr>
        <p:blipFill>
          <a:blip r:embed="rId4"/>
          <a:stretch>
            <a:fillRect/>
          </a:stretch>
        </p:blipFill>
        <p:spPr>
          <a:xfrm>
            <a:off x="1076960" y="4443589"/>
            <a:ext cx="3569455" cy="2071224"/>
          </a:xfrm>
          <a:prstGeom prst="rect">
            <a:avLst/>
          </a:prstGeom>
        </p:spPr>
      </p:pic>
      <p:sp>
        <p:nvSpPr>
          <p:cNvPr id="13" name="Arrow: Right 12">
            <a:extLst>
              <a:ext uri="{FF2B5EF4-FFF2-40B4-BE49-F238E27FC236}">
                <a16:creationId xmlns:a16="http://schemas.microsoft.com/office/drawing/2014/main" id="{8F4C0195-C9C4-E62D-286E-2A535532E830}"/>
              </a:ext>
            </a:extLst>
          </p:cNvPr>
          <p:cNvSpPr/>
          <p:nvPr/>
        </p:nvSpPr>
        <p:spPr>
          <a:xfrm>
            <a:off x="4849237" y="5151120"/>
            <a:ext cx="1593021" cy="721360"/>
          </a:xfrm>
          <a:prstGeom prst="rightArrow">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6702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fade">
                                      <p:cBhvr>
                                        <p:cTn id="7" dur="500"/>
                                        <p:tgtEl>
                                          <p:spTgt spid="20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255181" y="875413"/>
            <a:ext cx="11337379" cy="5763131"/>
          </a:xfrm>
        </p:spPr>
        <p:txBody>
          <a:bodyPr>
            <a:noAutofit/>
          </a:bodyPr>
          <a:lstStyle/>
          <a:p>
            <a:pPr marL="0" indent="0">
              <a:buSzPct val="100000"/>
              <a:buNone/>
            </a:pPr>
            <a:r>
              <a:rPr lang="en-GB" sz="2400" b="1" i="0" dirty="0">
                <a:solidFill>
                  <a:srgbClr val="000000"/>
                </a:solidFill>
                <a:effectLst/>
                <a:latin typeface="Times-Bold"/>
              </a:rPr>
              <a:t>5.4.5 Gated Clocks and Low-Power Designs</a:t>
            </a:r>
            <a:r>
              <a:rPr lang="en-GB" sz="1600" dirty="0"/>
              <a:t> </a:t>
            </a:r>
          </a:p>
          <a:p>
            <a:pPr>
              <a:buSzPct val="100000"/>
              <a:buFont typeface="Arial" panose="020B0604020202020204" pitchFamily="34" charset="0"/>
              <a:buChar char="•"/>
            </a:pPr>
            <a:r>
              <a:rPr lang="en-GB" sz="2400" b="1" i="0" dirty="0">
                <a:solidFill>
                  <a:srgbClr val="000000"/>
                </a:solidFill>
                <a:effectLst/>
                <a:latin typeface="Arial-BoldMT"/>
              </a:rPr>
              <a:t>Guideline – </a:t>
            </a:r>
            <a:r>
              <a:rPr lang="en-GB" sz="2400" b="0" i="0" dirty="0">
                <a:solidFill>
                  <a:srgbClr val="000000"/>
                </a:solidFill>
                <a:effectLst/>
                <a:latin typeface="Times-Roman"/>
              </a:rPr>
              <a:t>keep the clock and/or reset generation circuitry as a separate module at the top level of the design.</a:t>
            </a:r>
            <a:r>
              <a:rPr lang="en-GB" sz="1600" dirty="0"/>
              <a:t> </a:t>
            </a:r>
            <a:br>
              <a:rPr lang="en-GB" sz="1600" dirty="0"/>
            </a:br>
            <a:r>
              <a:rPr lang="en-GB" sz="1600" dirty="0"/>
              <a:t> </a:t>
            </a:r>
          </a:p>
          <a:p>
            <a:pPr marL="0" indent="0">
              <a:buSzPct val="100000"/>
              <a:buNone/>
            </a:pPr>
            <a:endParaRPr lang="en-GB" sz="2400" dirty="0">
              <a:latin typeface="+mn-lt"/>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5.4 Guidelines for Clocks and Resets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28</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8" name="Picture 7">
            <a:extLst>
              <a:ext uri="{FF2B5EF4-FFF2-40B4-BE49-F238E27FC236}">
                <a16:creationId xmlns:a16="http://schemas.microsoft.com/office/drawing/2014/main" id="{59453DEE-EF91-9396-37A5-91F1B895A0CE}"/>
              </a:ext>
            </a:extLst>
          </p:cNvPr>
          <p:cNvPicPr>
            <a:picLocks noChangeAspect="1"/>
          </p:cNvPicPr>
          <p:nvPr/>
        </p:nvPicPr>
        <p:blipFill>
          <a:blip r:embed="rId2"/>
          <a:stretch>
            <a:fillRect/>
          </a:stretch>
        </p:blipFill>
        <p:spPr>
          <a:xfrm>
            <a:off x="2761407" y="2391312"/>
            <a:ext cx="6324925" cy="3822896"/>
          </a:xfrm>
          <a:prstGeom prst="rect">
            <a:avLst/>
          </a:prstGeom>
        </p:spPr>
      </p:pic>
    </p:spTree>
    <p:extLst>
      <p:ext uri="{BB962C8B-B14F-4D97-AF65-F5344CB8AC3E}">
        <p14:creationId xmlns:p14="http://schemas.microsoft.com/office/powerpoint/2010/main" val="4079338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255181" y="875413"/>
            <a:ext cx="11337379" cy="5763131"/>
          </a:xfrm>
        </p:spPr>
        <p:txBody>
          <a:bodyPr>
            <a:noAutofit/>
          </a:bodyPr>
          <a:lstStyle/>
          <a:p>
            <a:pPr marL="0" indent="0">
              <a:buSzPct val="100000"/>
              <a:buNone/>
            </a:pPr>
            <a:r>
              <a:rPr lang="en-GB" sz="2400" b="1" i="0" dirty="0">
                <a:solidFill>
                  <a:srgbClr val="000000"/>
                </a:solidFill>
                <a:effectLst/>
                <a:latin typeface="Times-Bold"/>
              </a:rPr>
              <a:t>5.4.6 Avoid Internally Generated Resets</a:t>
            </a:r>
            <a:br>
              <a:rPr lang="en-GB" sz="2400" b="1" i="0" dirty="0">
                <a:solidFill>
                  <a:srgbClr val="000000"/>
                </a:solidFill>
                <a:effectLst/>
                <a:latin typeface="Times-Bold"/>
              </a:rPr>
            </a:br>
            <a:endParaRPr lang="en-GB" sz="1050" b="1" i="0" dirty="0">
              <a:solidFill>
                <a:srgbClr val="000000"/>
              </a:solidFill>
              <a:effectLst/>
              <a:latin typeface="Times-Bold"/>
            </a:endParaRPr>
          </a:p>
          <a:p>
            <a:pPr>
              <a:buSzPct val="100000"/>
              <a:buFont typeface="Arial" panose="020B0604020202020204" pitchFamily="34" charset="0"/>
              <a:buChar char="•"/>
            </a:pPr>
            <a:r>
              <a:rPr lang="en-GB" sz="2400" b="1" i="0" dirty="0">
                <a:solidFill>
                  <a:srgbClr val="000000"/>
                </a:solidFill>
                <a:effectLst/>
                <a:latin typeface="Arial-BoldMT"/>
              </a:rPr>
              <a:t>Guideline – </a:t>
            </a:r>
            <a:r>
              <a:rPr lang="en-GB" sz="2400" b="0" i="0" dirty="0">
                <a:solidFill>
                  <a:srgbClr val="000000"/>
                </a:solidFill>
                <a:effectLst/>
                <a:latin typeface="Times-Roman"/>
              </a:rPr>
              <a:t>Avoid internally generated, conditional resets if possible. Generally, all the registers in the macro should be reset at the same time. If a conditional reset is required, create a separate signal for the reset signal, and isolate the conditional reset logic in a separate module.</a:t>
            </a:r>
            <a:r>
              <a:rPr lang="en-GB" sz="2400" dirty="0"/>
              <a:t> </a:t>
            </a:r>
            <a:br>
              <a:rPr lang="en-GB" sz="2400" dirty="0"/>
            </a:br>
            <a:endParaRPr lang="en-GB" sz="2400" dirty="0">
              <a:latin typeface="+mn-lt"/>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5.4 Guidelines for Clocks and Resets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29</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9" name="Picture 8">
            <a:extLst>
              <a:ext uri="{FF2B5EF4-FFF2-40B4-BE49-F238E27FC236}">
                <a16:creationId xmlns:a16="http://schemas.microsoft.com/office/drawing/2014/main" id="{8D3437A0-24BF-B239-AA2D-19D247FFA1E2}"/>
              </a:ext>
            </a:extLst>
          </p:cNvPr>
          <p:cNvPicPr>
            <a:picLocks noChangeAspect="1"/>
          </p:cNvPicPr>
          <p:nvPr/>
        </p:nvPicPr>
        <p:blipFill>
          <a:blip r:embed="rId2"/>
          <a:stretch>
            <a:fillRect/>
          </a:stretch>
        </p:blipFill>
        <p:spPr>
          <a:xfrm>
            <a:off x="255181" y="3337500"/>
            <a:ext cx="6502734" cy="2336920"/>
          </a:xfrm>
          <a:prstGeom prst="rect">
            <a:avLst/>
          </a:prstGeom>
        </p:spPr>
      </p:pic>
      <p:pic>
        <p:nvPicPr>
          <p:cNvPr id="11" name="Picture 10">
            <a:extLst>
              <a:ext uri="{FF2B5EF4-FFF2-40B4-BE49-F238E27FC236}">
                <a16:creationId xmlns:a16="http://schemas.microsoft.com/office/drawing/2014/main" id="{4B81A93F-383B-F256-6EDC-0E81F0E2D019}"/>
              </a:ext>
            </a:extLst>
          </p:cNvPr>
          <p:cNvPicPr>
            <a:picLocks noChangeAspect="1"/>
          </p:cNvPicPr>
          <p:nvPr/>
        </p:nvPicPr>
        <p:blipFill>
          <a:blip r:embed="rId3"/>
          <a:stretch>
            <a:fillRect/>
          </a:stretch>
        </p:blipFill>
        <p:spPr>
          <a:xfrm>
            <a:off x="7568147" y="2926080"/>
            <a:ext cx="4368672" cy="3237957"/>
          </a:xfrm>
          <a:prstGeom prst="rect">
            <a:avLst/>
          </a:prstGeom>
        </p:spPr>
      </p:pic>
    </p:spTree>
    <p:extLst>
      <p:ext uri="{BB962C8B-B14F-4D97-AF65-F5344CB8AC3E}">
        <p14:creationId xmlns:p14="http://schemas.microsoft.com/office/powerpoint/2010/main" val="2804659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255181" y="875413"/>
            <a:ext cx="11337379" cy="5763131"/>
          </a:xfrm>
        </p:spPr>
        <p:txBody>
          <a:bodyPr>
            <a:noAutofit/>
          </a:bodyPr>
          <a:lstStyle/>
          <a:p>
            <a:pPr marL="0" indent="0">
              <a:buSzPct val="100000"/>
              <a:buNone/>
            </a:pPr>
            <a:r>
              <a:rPr lang="en-GB" sz="2400" b="1" i="0" dirty="0">
                <a:solidFill>
                  <a:srgbClr val="000000"/>
                </a:solidFill>
                <a:effectLst/>
                <a:latin typeface="Times-Bold"/>
              </a:rPr>
              <a:t>5.4.7 Reset Logic Function</a:t>
            </a:r>
          </a:p>
          <a:p>
            <a:pPr>
              <a:buSzPct val="100000"/>
              <a:buFont typeface="Arial" panose="020B0604020202020204" pitchFamily="34" charset="0"/>
              <a:buChar char="•"/>
            </a:pPr>
            <a:r>
              <a:rPr lang="en-GB" sz="2400" b="1" i="0" dirty="0">
                <a:solidFill>
                  <a:srgbClr val="000000"/>
                </a:solidFill>
                <a:effectLst/>
                <a:latin typeface="Arial-BoldMT"/>
              </a:rPr>
              <a:t>Guideline – </a:t>
            </a:r>
            <a:r>
              <a:rPr lang="en-GB" sz="2400" b="0" i="0" dirty="0">
                <a:solidFill>
                  <a:srgbClr val="000000"/>
                </a:solidFill>
                <a:effectLst/>
                <a:latin typeface="Times-Roman"/>
              </a:rPr>
              <a:t>The </a:t>
            </a:r>
            <a:r>
              <a:rPr lang="en-GB" sz="2400" b="0" i="1" dirty="0">
                <a:solidFill>
                  <a:srgbClr val="000000"/>
                </a:solidFill>
                <a:effectLst/>
                <a:latin typeface="Times-Italic"/>
              </a:rPr>
              <a:t>only </a:t>
            </a:r>
            <a:r>
              <a:rPr lang="en-GB" sz="2400" b="0" i="0" dirty="0">
                <a:solidFill>
                  <a:srgbClr val="000000"/>
                </a:solidFill>
                <a:effectLst/>
                <a:latin typeface="Times-Roman"/>
              </a:rPr>
              <a:t>logic function for the reset signal should be a direct clear of all</a:t>
            </a:r>
            <a:br>
              <a:rPr lang="en-GB" sz="2400" b="0" i="0" dirty="0">
                <a:solidFill>
                  <a:srgbClr val="000000"/>
                </a:solidFill>
                <a:effectLst/>
                <a:latin typeface="Times-Roman"/>
              </a:rPr>
            </a:br>
            <a:r>
              <a:rPr lang="en-GB" sz="2400" b="0" i="0" dirty="0">
                <a:solidFill>
                  <a:srgbClr val="000000"/>
                </a:solidFill>
                <a:effectLst/>
                <a:latin typeface="Times-Roman"/>
              </a:rPr>
              <a:t>flip-flops. Never use the reset inputs of a flop to implement state machine functionality. Reserving reset pins on flops for reset only makes it easier to generate buffer trees for resets.</a:t>
            </a:r>
            <a:r>
              <a:rPr lang="en-GB" sz="2400" dirty="0"/>
              <a:t> </a:t>
            </a:r>
            <a:br>
              <a:rPr lang="en-GB" sz="2400" dirty="0"/>
            </a:br>
            <a:endParaRPr lang="en-GB" sz="2400" dirty="0">
              <a:latin typeface="+mn-lt"/>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5.4 Guidelines for Clocks and Resets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30</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8" name="Picture 7">
            <a:extLst>
              <a:ext uri="{FF2B5EF4-FFF2-40B4-BE49-F238E27FC236}">
                <a16:creationId xmlns:a16="http://schemas.microsoft.com/office/drawing/2014/main" id="{FEFAE7C4-2D54-D206-0A52-9DDE66036A2B}"/>
              </a:ext>
            </a:extLst>
          </p:cNvPr>
          <p:cNvPicPr>
            <a:picLocks noChangeAspect="1"/>
          </p:cNvPicPr>
          <p:nvPr/>
        </p:nvPicPr>
        <p:blipFill>
          <a:blip r:embed="rId2"/>
          <a:stretch>
            <a:fillRect/>
          </a:stretch>
        </p:blipFill>
        <p:spPr>
          <a:xfrm>
            <a:off x="6585517" y="2866452"/>
            <a:ext cx="4653983" cy="3527110"/>
          </a:xfrm>
          <a:prstGeom prst="rect">
            <a:avLst/>
          </a:prstGeom>
        </p:spPr>
      </p:pic>
      <p:pic>
        <p:nvPicPr>
          <p:cNvPr id="12" name="Picture 11">
            <a:extLst>
              <a:ext uri="{FF2B5EF4-FFF2-40B4-BE49-F238E27FC236}">
                <a16:creationId xmlns:a16="http://schemas.microsoft.com/office/drawing/2014/main" id="{34E08EDA-F64C-689A-DF27-1DDDFEACBD7C}"/>
              </a:ext>
            </a:extLst>
          </p:cNvPr>
          <p:cNvPicPr>
            <a:picLocks noChangeAspect="1"/>
          </p:cNvPicPr>
          <p:nvPr/>
        </p:nvPicPr>
        <p:blipFill>
          <a:blip r:embed="rId3"/>
          <a:stretch>
            <a:fillRect/>
          </a:stretch>
        </p:blipFill>
        <p:spPr>
          <a:xfrm>
            <a:off x="342900" y="2866452"/>
            <a:ext cx="4653983" cy="3482036"/>
          </a:xfrm>
          <a:prstGeom prst="rect">
            <a:avLst/>
          </a:prstGeom>
        </p:spPr>
      </p:pic>
      <p:sp>
        <p:nvSpPr>
          <p:cNvPr id="13" name="Arrow: Right 12">
            <a:extLst>
              <a:ext uri="{FF2B5EF4-FFF2-40B4-BE49-F238E27FC236}">
                <a16:creationId xmlns:a16="http://schemas.microsoft.com/office/drawing/2014/main" id="{16DA8C0C-F858-EC5E-2998-3DF629537FBC}"/>
              </a:ext>
            </a:extLst>
          </p:cNvPr>
          <p:cNvSpPr/>
          <p:nvPr/>
        </p:nvSpPr>
        <p:spPr>
          <a:xfrm>
            <a:off x="5084602" y="4175760"/>
            <a:ext cx="1500915" cy="955040"/>
          </a:xfrm>
          <a:prstGeom prst="rightArrow">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1027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255181" y="875413"/>
            <a:ext cx="11337379" cy="5763131"/>
          </a:xfrm>
        </p:spPr>
        <p:txBody>
          <a:bodyPr>
            <a:noAutofit/>
          </a:bodyPr>
          <a:lstStyle/>
          <a:p>
            <a:pPr marL="0" indent="0">
              <a:buSzPct val="100000"/>
              <a:buNone/>
            </a:pPr>
            <a:r>
              <a:rPr lang="en-US" sz="2400" b="1" i="0" dirty="0">
                <a:solidFill>
                  <a:srgbClr val="000000"/>
                </a:solidFill>
                <a:effectLst/>
                <a:latin typeface="Times-Bold"/>
              </a:rPr>
              <a:t>5.4.8 Single-Bit Synchronizer</a:t>
            </a:r>
            <a:r>
              <a:rPr lang="en-US" sz="1600" dirty="0"/>
              <a:t> </a:t>
            </a:r>
          </a:p>
          <a:p>
            <a:pPr>
              <a:buSzPct val="100000"/>
              <a:buFont typeface="Arial" panose="020B0604020202020204" pitchFamily="34" charset="0"/>
              <a:buChar char="•"/>
            </a:pPr>
            <a:r>
              <a:rPr lang="en-GB" sz="2400" b="1" i="0" dirty="0">
                <a:solidFill>
                  <a:srgbClr val="000000"/>
                </a:solidFill>
                <a:effectLst/>
                <a:latin typeface="Arial-BoldMT"/>
              </a:rPr>
              <a:t>Guideline – </a:t>
            </a:r>
            <a:r>
              <a:rPr lang="en-GB" sz="2400" b="0" i="0" dirty="0">
                <a:solidFill>
                  <a:srgbClr val="000000"/>
                </a:solidFill>
                <a:effectLst/>
                <a:latin typeface="Times-Roman"/>
              </a:rPr>
              <a:t>Use two flip-flop stages to transfer single bits between clock domains</a:t>
            </a:r>
            <a:r>
              <a:rPr lang="en-GB" sz="1600" b="0" i="0" dirty="0">
                <a:solidFill>
                  <a:srgbClr val="000000"/>
                </a:solidFill>
                <a:effectLst/>
                <a:latin typeface="Times-Roman"/>
              </a:rPr>
              <a:t>. </a:t>
            </a:r>
            <a:r>
              <a:rPr lang="en-GB" sz="2400" dirty="0">
                <a:latin typeface="Times-Roman"/>
              </a:rPr>
              <a:t>To prevent transfer of glitches, do not connect combinatorial logic from one clock domain to another. </a:t>
            </a:r>
          </a:p>
          <a:p>
            <a:pPr marL="0" indent="0">
              <a:buSzPct val="100000"/>
              <a:buNone/>
            </a:pPr>
            <a:r>
              <a:rPr lang="en-US" sz="2400" b="1" i="0" dirty="0">
                <a:solidFill>
                  <a:srgbClr val="000000"/>
                </a:solidFill>
                <a:effectLst/>
                <a:latin typeface="Times-Bold"/>
              </a:rPr>
              <a:t>5.4.9 Multi-Bit Synchronizers</a:t>
            </a:r>
            <a:r>
              <a:rPr lang="en-US" sz="1600" dirty="0"/>
              <a:t> </a:t>
            </a:r>
          </a:p>
          <a:p>
            <a:pPr>
              <a:buSzPct val="100000"/>
              <a:buFont typeface="Arial" panose="020B0604020202020204" pitchFamily="34" charset="0"/>
              <a:buChar char="•"/>
            </a:pPr>
            <a:r>
              <a:rPr lang="en-GB" sz="2400" b="1" i="0" dirty="0">
                <a:solidFill>
                  <a:srgbClr val="000000"/>
                </a:solidFill>
                <a:effectLst/>
                <a:latin typeface="Arial-BoldMT"/>
              </a:rPr>
              <a:t>Guideline – </a:t>
            </a:r>
            <a:r>
              <a:rPr lang="en-GB" sz="2400" b="0" i="1" dirty="0">
                <a:solidFill>
                  <a:srgbClr val="000000"/>
                </a:solidFill>
                <a:effectLst/>
                <a:latin typeface="Times-Italic"/>
              </a:rPr>
              <a:t>Do not </a:t>
            </a:r>
            <a:r>
              <a:rPr lang="en-GB" sz="2400" b="0" i="0" dirty="0">
                <a:solidFill>
                  <a:srgbClr val="000000"/>
                </a:solidFill>
                <a:effectLst/>
                <a:latin typeface="Times-Roman"/>
              </a:rPr>
              <a:t>use multiple copies of a single-bit synchronizer between</a:t>
            </a:r>
            <a:r>
              <a:rPr lang="en-GB" sz="2400" dirty="0">
                <a:latin typeface="Times-Roman"/>
              </a:rPr>
              <a:t> </a:t>
            </a:r>
            <a:r>
              <a:rPr lang="en-GB" sz="2400" b="0" i="0" dirty="0">
                <a:solidFill>
                  <a:srgbClr val="000000"/>
                </a:solidFill>
                <a:effectLst/>
                <a:latin typeface="Times-Roman"/>
              </a:rPr>
              <a:t>domains. Instead, use a reliable handshake circuit or multibit coding scheme such as </a:t>
            </a:r>
            <a:r>
              <a:rPr lang="en-GB" sz="2400" b="0" i="1" dirty="0">
                <a:solidFill>
                  <a:srgbClr val="000000"/>
                </a:solidFill>
                <a:effectLst/>
                <a:latin typeface="Times-Roman"/>
              </a:rPr>
              <a:t>Gray code.</a:t>
            </a:r>
            <a:r>
              <a:rPr lang="en-GB" sz="1600" dirty="0"/>
              <a:t> </a:t>
            </a:r>
            <a:br>
              <a:rPr lang="en-GB" sz="1600" dirty="0"/>
            </a:br>
            <a:endParaRPr lang="en-GB" sz="2400" dirty="0">
              <a:latin typeface="+mn-lt"/>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5.4 Guidelines for Clocks and Resets</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31</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9" name="Picture 8">
            <a:extLst>
              <a:ext uri="{FF2B5EF4-FFF2-40B4-BE49-F238E27FC236}">
                <a16:creationId xmlns:a16="http://schemas.microsoft.com/office/drawing/2014/main" id="{F68DF3D0-35D0-BE8B-904D-A6AB9DB6F847}"/>
              </a:ext>
            </a:extLst>
          </p:cNvPr>
          <p:cNvPicPr>
            <a:picLocks noChangeAspect="1"/>
          </p:cNvPicPr>
          <p:nvPr/>
        </p:nvPicPr>
        <p:blipFill>
          <a:blip r:embed="rId2"/>
          <a:stretch>
            <a:fillRect/>
          </a:stretch>
        </p:blipFill>
        <p:spPr>
          <a:xfrm>
            <a:off x="2865120" y="3923173"/>
            <a:ext cx="6065520" cy="2605862"/>
          </a:xfrm>
          <a:prstGeom prst="rect">
            <a:avLst/>
          </a:prstGeom>
        </p:spPr>
      </p:pic>
    </p:spTree>
    <p:extLst>
      <p:ext uri="{BB962C8B-B14F-4D97-AF65-F5344CB8AC3E}">
        <p14:creationId xmlns:p14="http://schemas.microsoft.com/office/powerpoint/2010/main" val="2548699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a:bodyPr>
          <a:lstStyle/>
          <a:p>
            <a:pPr marL="0" indent="0">
              <a:buSzPct val="100000"/>
              <a:buNone/>
            </a:pPr>
            <a:r>
              <a:rPr lang="en-GB" altLang="en-US" sz="2400" b="1" i="0" dirty="0">
                <a:solidFill>
                  <a:srgbClr val="000000"/>
                </a:solidFill>
                <a:effectLst/>
                <a:latin typeface="Times-Bold"/>
              </a:rPr>
              <a:t>The following guidelines aim to achieve </a:t>
            </a:r>
            <a:r>
              <a:rPr altLang="en-GB" sz="2400" b="1" i="0" dirty="0">
                <a:solidFill>
                  <a:srgbClr val="000000"/>
                </a:solidFill>
                <a:effectLst/>
                <a:latin typeface="Times-Bold"/>
              </a:rPr>
              <a:t>The following : </a:t>
            </a:r>
            <a:endParaRPr lang="en-GB" sz="1600" dirty="0"/>
          </a:p>
          <a:p>
            <a:pPr marL="0" indent="0">
              <a:lnSpc>
                <a:spcPct val="100000"/>
              </a:lnSpc>
              <a:buSzPct val="100000"/>
              <a:buNone/>
            </a:pPr>
            <a:r>
              <a:rPr altLang="en-GB" sz="2400" b="1" dirty="0">
                <a:latin typeface="Arial-BoldMT"/>
              </a:rPr>
              <a:t>  </a:t>
            </a:r>
            <a:br>
              <a:rPr altLang="en-GB" sz="2400" b="1" dirty="0">
                <a:latin typeface="Arial-BoldMT"/>
              </a:rPr>
            </a:br>
            <a:r>
              <a:rPr altLang="en-GB" sz="2400" b="1" dirty="0">
                <a:latin typeface="Arial-BoldMT"/>
              </a:rPr>
              <a:t>  </a:t>
            </a:r>
            <a:r>
              <a:rPr lang="en-GB" sz="2400" b="1" dirty="0">
                <a:latin typeface="Arial-BoldMT"/>
              </a:rPr>
              <a:t>– </a:t>
            </a:r>
            <a:r>
              <a:rPr altLang="en-GB" sz="2400" dirty="0">
                <a:latin typeface="+mn-lt"/>
                <a:cs typeface="+mn-lt"/>
              </a:rPr>
              <a:t>Performance </a:t>
            </a:r>
            <a:r>
              <a:rPr lang="en-GB" sz="1800" b="0" i="0" dirty="0">
                <a:solidFill>
                  <a:srgbClr val="000000"/>
                </a:solidFill>
                <a:effectLst/>
                <a:latin typeface="Times-Roman"/>
              </a:rPr>
              <a:t>.</a:t>
            </a:r>
            <a:br>
              <a:rPr lang="en-GB" sz="1800" b="0" i="0" dirty="0">
                <a:solidFill>
                  <a:srgbClr val="000000"/>
                </a:solidFill>
                <a:effectLst/>
                <a:latin typeface="Times-Roman"/>
              </a:rPr>
            </a:br>
            <a:r>
              <a:rPr altLang="en-GB" sz="1800" b="0" i="0" dirty="0">
                <a:solidFill>
                  <a:srgbClr val="000000"/>
                </a:solidFill>
                <a:effectLst/>
                <a:latin typeface="Times-Roman"/>
              </a:rPr>
              <a:t>    </a:t>
            </a:r>
            <a:r>
              <a:rPr lang="en-GB" sz="2400" b="1">
                <a:latin typeface="Arial-BoldMT"/>
                <a:sym typeface="+mn-ea"/>
              </a:rPr>
              <a:t>–</a:t>
            </a:r>
            <a:r>
              <a:rPr lang="en-GB" sz="2400" dirty="0">
                <a:latin typeface="Times New Roman" panose="02020603050405020304" pitchFamily="18" charset="0"/>
                <a:cs typeface="Times New Roman" panose="02020603050405020304" pitchFamily="18" charset="0"/>
              </a:rPr>
              <a:t>Simplification for static timing analysis</a:t>
            </a:r>
            <a:r>
              <a:rPr lang="en-GB" sz="2400" i="0" dirty="0">
                <a:solidFill>
                  <a:srgbClr val="000000"/>
                </a:solidFill>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 </a:t>
            </a:r>
            <a:br>
              <a:rPr lang="en-GB" sz="2400" dirty="0">
                <a:latin typeface="Times New Roman" panose="02020603050405020304" pitchFamily="18" charset="0"/>
                <a:cs typeface="Times New Roman" panose="02020603050405020304" pitchFamily="18" charset="0"/>
              </a:rPr>
            </a:br>
            <a:r>
              <a:rPr altLang="en-GB" sz="2400" dirty="0">
                <a:latin typeface="Times New Roman" panose="02020603050405020304" pitchFamily="18" charset="0"/>
                <a:cs typeface="Times New Roman" panose="02020603050405020304" pitchFamily="18" charset="0"/>
              </a:rPr>
              <a:t>   </a:t>
            </a:r>
            <a:r>
              <a:rPr lang="en-GB" sz="2400" b="1">
                <a:latin typeface="Arial-BoldMT"/>
                <a:sym typeface="+mn-ea"/>
              </a:rPr>
              <a:t>–</a:t>
            </a:r>
            <a:r>
              <a:rPr lang="en-GB" sz="2400" dirty="0">
                <a:latin typeface="Times New Roman" panose="02020603050405020304" pitchFamily="18" charset="0"/>
                <a:cs typeface="Times New Roman" panose="02020603050405020304" pitchFamily="18" charset="0"/>
              </a:rPr>
              <a:t>Gate Level behavior that matches the original RTL</a:t>
            </a:r>
            <a:r>
              <a:rPr altLang="en-GB" sz="2400" dirty="0">
                <a:latin typeface="Times New Roman" panose="02020603050405020304" pitchFamily="18" charset="0"/>
                <a:cs typeface="Times New Roman" panose="02020603050405020304" pitchFamily="18" charset="0"/>
              </a:rPr>
              <a:t> </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 </a:t>
            </a:r>
            <a:r>
              <a:rPr altLang="en-GB" sz="2400" dirty="0">
                <a:latin typeface="Times New Roman" panose="02020603050405020304" pitchFamily="18" charset="0"/>
                <a:cs typeface="Times New Roman" panose="02020603050405020304" pitchFamily="18" charset="0"/>
              </a:rPr>
              <a:t>   </a:t>
            </a:r>
            <a:r>
              <a:rPr lang="en-GB" sz="2400">
                <a:latin typeface="Times New Roman" panose="02020603050405020304" pitchFamily="18" charset="0"/>
                <a:cs typeface="Times New Roman" panose="02020603050405020304" pitchFamily="18" charset="0"/>
                <a:sym typeface="+mn-ea"/>
              </a:rPr>
              <a:t>–</a:t>
            </a:r>
            <a:r>
              <a:rPr altLang="en-GB" sz="2400">
                <a:latin typeface="Times New Roman" panose="02020603050405020304" pitchFamily="18" charset="0"/>
                <a:cs typeface="Times New Roman" panose="02020603050405020304" pitchFamily="18" charset="0"/>
                <a:sym typeface="+mn-ea"/>
              </a:rPr>
              <a:t>  Testability</a:t>
            </a:r>
            <a:r>
              <a:rPr altLang="en-GB" sz="2400" b="1">
                <a:latin typeface="Times New Roman" panose="02020603050405020304" pitchFamily="18" charset="0"/>
                <a:cs typeface="Times New Roman" panose="02020603050405020304" pitchFamily="18" charset="0"/>
                <a:sym typeface="+mn-ea"/>
              </a:rPr>
              <a:t> </a:t>
            </a:r>
            <a:br>
              <a:rPr lang="en-GB" sz="1100" dirty="0"/>
            </a:br>
            <a:endParaRPr lang="en-GB" sz="1600" dirty="0"/>
          </a:p>
          <a:p>
            <a:pPr marL="0" indent="0">
              <a:buSzPct val="100000"/>
              <a:buNone/>
            </a:pP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19456"/>
            <a:ext cx="10287000" cy="469899"/>
          </a:xfrm>
        </p:spPr>
        <p:txBody>
          <a:bodyPr/>
          <a:lstStyle/>
          <a:p>
            <a:r>
              <a:rPr lang="en-US" dirty="0"/>
              <a:t>5.</a:t>
            </a:r>
            <a:r>
              <a:rPr lang="en-GB" altLang="en-US" dirty="0"/>
              <a:t>5</a:t>
            </a:r>
            <a:r>
              <a:rPr lang="en-US" dirty="0"/>
              <a:t> Coding</a:t>
            </a:r>
            <a:r>
              <a:rPr lang="en-GB" altLang="en-US" dirty="0"/>
              <a:t> for synthesis</a:t>
            </a:r>
            <a:r>
              <a:rPr lang="en-US" dirty="0"/>
              <a:t> </a:t>
            </a:r>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32</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fontScale="92500"/>
          </a:bodyPr>
          <a:lstStyle/>
          <a:p>
            <a:pPr marL="0" indent="0">
              <a:buSzPct val="100000"/>
              <a:buNone/>
            </a:pPr>
            <a:r>
              <a:rPr sz="2400">
                <a:sym typeface="+mn-ea"/>
              </a:rPr>
              <a:t>5.</a:t>
            </a:r>
            <a:r>
              <a:rPr lang="en-GB" altLang="en-US" sz="2400">
                <a:sym typeface="+mn-ea"/>
              </a:rPr>
              <a:t>5</a:t>
            </a:r>
            <a:r>
              <a:rPr altLang="en-GB" sz="2400">
                <a:sym typeface="+mn-ea"/>
              </a:rPr>
              <a:t>.1</a:t>
            </a:r>
            <a:r>
              <a:rPr sz="2400">
                <a:sym typeface="+mn-ea"/>
              </a:rPr>
              <a:t> Infer Registers </a:t>
            </a:r>
            <a:endParaRPr lang="en-US" sz="2400" dirty="0"/>
          </a:p>
          <a:p>
            <a:pPr marL="0" indent="0">
              <a:buSzPct val="100000"/>
              <a:buNone/>
            </a:pPr>
            <a:r>
              <a:rPr altLang="en-GB" sz="2400" b="1" i="0" dirty="0">
                <a:solidFill>
                  <a:srgbClr val="000000"/>
                </a:solidFill>
                <a:effectLst/>
                <a:latin typeface="Times-Bold"/>
              </a:rPr>
              <a:t>For Sequential Logic :</a:t>
            </a:r>
            <a:br>
              <a:rPr altLang="en-GB" sz="2400" b="1" i="0" dirty="0">
                <a:solidFill>
                  <a:srgbClr val="000000"/>
                </a:solidFill>
                <a:effectLst/>
                <a:latin typeface="Times-Bold"/>
              </a:rPr>
            </a:br>
            <a:r>
              <a:rPr altLang="en-GB" sz="2400" b="1" i="0" dirty="0">
                <a:solidFill>
                  <a:srgbClr val="000000"/>
                </a:solidFill>
                <a:effectLst/>
                <a:latin typeface="Times-Bold"/>
              </a:rPr>
              <a:t> </a:t>
            </a:r>
            <a:endParaRPr lang="en-GB" sz="1600" dirty="0"/>
          </a:p>
          <a:p>
            <a:pPr marL="0" indent="0">
              <a:lnSpc>
                <a:spcPct val="100000"/>
              </a:lnSpc>
              <a:buSzPct val="100000"/>
              <a:buNone/>
            </a:pPr>
            <a:r>
              <a:rPr altLang="en-GB" sz="2400" b="1" dirty="0">
                <a:latin typeface="Arial-BoldMT"/>
              </a:rPr>
              <a:t>  </a:t>
            </a:r>
            <a:r>
              <a:rPr lang="en-GB" sz="2400" b="1">
                <a:effectLst/>
                <a:latin typeface="Arial-BoldMT"/>
                <a:sym typeface="+mn-ea"/>
              </a:rPr>
              <a:t>Guideline –</a:t>
            </a:r>
            <a:r>
              <a:rPr altLang="en-GB" sz="2400" b="1">
                <a:effectLst/>
                <a:latin typeface="Arial-BoldMT"/>
                <a:sym typeface="+mn-ea"/>
              </a:rPr>
              <a:t> </a:t>
            </a:r>
            <a:r>
              <a:rPr altLang="en-GB" sz="2400">
                <a:effectLst/>
                <a:latin typeface="Times New Roman" panose="02020603050405020304" pitchFamily="18" charset="0"/>
                <a:cs typeface="Times New Roman" panose="02020603050405020304" pitchFamily="18" charset="0"/>
                <a:sym typeface="+mn-ea"/>
              </a:rPr>
              <a:t>Using flip-flops helps to achieve consistency of design .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r>
              <a:rPr lang="en-GB" sz="2400" b="1">
                <a:effectLst/>
                <a:latin typeface="Arial-BoldMT"/>
                <a:sym typeface="+mn-ea"/>
              </a:rPr>
              <a:t>–</a:t>
            </a:r>
            <a:r>
              <a:rPr altLang="en-GB" sz="2400" b="1">
                <a:effectLst/>
                <a:latin typeface="Arial-BoldMT"/>
                <a:sym typeface="+mn-ea"/>
              </a:rPr>
              <a:t> </a:t>
            </a:r>
            <a:r>
              <a:rPr altLang="en-GB" sz="2400">
                <a:effectLst/>
                <a:latin typeface="Times New Roman" panose="02020603050405020304" pitchFamily="18" charset="0"/>
                <a:cs typeface="Times New Roman" panose="02020603050405020304" pitchFamily="18" charset="0"/>
                <a:sym typeface="+mn-ea"/>
              </a:rPr>
              <a:t>For initializing The registered signal,</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-Use reset signal rather than using ‘Inital Statement’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As it causes mismatches between pre &amp; post synthesis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It’s </a:t>
            </a:r>
            <a:r>
              <a:rPr altLang="en-GB" sz="2400">
                <a:solidFill>
                  <a:srgbClr val="FF0000"/>
                </a:solidFill>
                <a:effectLst/>
                <a:latin typeface="Times New Roman" panose="02020603050405020304" pitchFamily="18" charset="0"/>
                <a:cs typeface="Times New Roman" panose="02020603050405020304" pitchFamily="18" charset="0"/>
                <a:sym typeface="+mn-ea"/>
              </a:rPr>
              <a:t>not synthesizible</a:t>
            </a:r>
            <a:r>
              <a:rPr altLang="en-GB" sz="2400">
                <a:effectLst/>
                <a:latin typeface="Times New Roman" panose="02020603050405020304" pitchFamily="18" charset="0"/>
                <a:cs typeface="Times New Roman" panose="02020603050405020304" pitchFamily="18" charset="0"/>
                <a:sym typeface="+mn-ea"/>
              </a:rPr>
              <a:t> for ASIC flow , and sometimes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Sometimes It’s </a:t>
            </a:r>
            <a:r>
              <a:rPr altLang="en-GB" sz="2400">
                <a:solidFill>
                  <a:srgbClr val="00B050"/>
                </a:solidFill>
                <a:effectLst/>
                <a:latin typeface="Times New Roman" panose="02020603050405020304" pitchFamily="18" charset="0"/>
                <a:cs typeface="Times New Roman" panose="02020603050405020304" pitchFamily="18" charset="0"/>
                <a:sym typeface="+mn-ea"/>
              </a:rPr>
              <a:t>synthesizible</a:t>
            </a:r>
            <a:r>
              <a:rPr altLang="en-GB" sz="2400">
                <a:effectLst/>
                <a:latin typeface="Times New Roman" panose="02020603050405020304" pitchFamily="18" charset="0"/>
                <a:cs typeface="Times New Roman" panose="02020603050405020304" pitchFamily="18" charset="0"/>
                <a:sym typeface="+mn-ea"/>
              </a:rPr>
              <a:t> for FPGA flow tools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(Ex. initializing memories)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br>
              <a:rPr altLang="en-GB" sz="2400" b="1" dirty="0">
                <a:latin typeface="Arial-BoldMT"/>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19456"/>
            <a:ext cx="10287000" cy="469899"/>
          </a:xfrm>
        </p:spPr>
        <p:txBody>
          <a:bodyPr/>
          <a:lstStyle/>
          <a:p>
            <a:r>
              <a:rPr>
                <a:sym typeface="+mn-ea"/>
              </a:rPr>
              <a:t>5.</a:t>
            </a:r>
            <a:r>
              <a:rPr lang="en-GB" altLang="en-US">
                <a:sym typeface="+mn-ea"/>
              </a:rPr>
              <a:t>5</a:t>
            </a:r>
            <a:r>
              <a:rPr>
                <a:sym typeface="+mn-ea"/>
              </a:rPr>
              <a:t> Coding</a:t>
            </a:r>
            <a:r>
              <a:rPr lang="en-GB" altLang="en-US">
                <a:sym typeface="+mn-ea"/>
              </a:rPr>
              <a:t> for synthesis</a:t>
            </a:r>
            <a:endParaRPr lang="en-US"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33</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8" name="Picture 7"/>
          <p:cNvPicPr>
            <a:picLocks noChangeAspect="1"/>
          </p:cNvPicPr>
          <p:nvPr/>
        </p:nvPicPr>
        <p:blipFill>
          <a:blip r:embed="rId2"/>
          <a:stretch>
            <a:fillRect/>
          </a:stretch>
        </p:blipFill>
        <p:spPr>
          <a:xfrm>
            <a:off x="3273425" y="4484370"/>
            <a:ext cx="4853940" cy="16078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fontScale="92500"/>
          </a:bodyPr>
          <a:lstStyle/>
          <a:p>
            <a:pPr marL="0" indent="0">
              <a:buSzPct val="100000"/>
              <a:buNone/>
            </a:pPr>
            <a:r>
              <a:rPr sz="2400">
                <a:sym typeface="+mn-ea"/>
              </a:rPr>
              <a:t>5.</a:t>
            </a:r>
            <a:r>
              <a:rPr lang="en-GB" altLang="en-US" sz="2400">
                <a:sym typeface="+mn-ea"/>
              </a:rPr>
              <a:t>5</a:t>
            </a:r>
            <a:r>
              <a:rPr altLang="en-GB" sz="2400">
                <a:sym typeface="+mn-ea"/>
              </a:rPr>
              <a:t>.2</a:t>
            </a:r>
            <a:r>
              <a:rPr sz="2400">
                <a:sym typeface="+mn-ea"/>
              </a:rPr>
              <a:t> Avoid Lathes</a:t>
            </a:r>
            <a:endParaRPr lang="en-US" sz="2400" dirty="0"/>
          </a:p>
          <a:p>
            <a:pPr marL="0" indent="0">
              <a:buSzPct val="100000"/>
              <a:buNone/>
            </a:pPr>
            <a:br>
              <a:rPr altLang="en-GB" sz="2400" b="1">
                <a:effectLst/>
                <a:latin typeface="Arial-BoldMT"/>
                <a:sym typeface="+mn-ea"/>
              </a:rPr>
            </a:br>
            <a:r>
              <a:rPr altLang="en-GB" sz="2400" b="1">
                <a:effectLst/>
                <a:latin typeface="Arial-BoldMT"/>
                <a:sym typeface="+mn-ea"/>
              </a:rPr>
              <a:t>Rule </a:t>
            </a:r>
            <a:r>
              <a:rPr lang="en-GB" sz="2400" b="1">
                <a:effectLst/>
                <a:latin typeface="Arial-BoldMT"/>
                <a:sym typeface="+mn-ea"/>
              </a:rPr>
              <a:t>–</a:t>
            </a:r>
            <a:r>
              <a:rPr altLang="en-GB" sz="2400" b="1">
                <a:effectLst/>
                <a:latin typeface="Arial-BoldMT"/>
                <a:sym typeface="+mn-ea"/>
              </a:rPr>
              <a:t> </a:t>
            </a:r>
            <a:r>
              <a:rPr altLang="en-GB" sz="2400">
                <a:solidFill>
                  <a:srgbClr val="FF0000"/>
                </a:solidFill>
                <a:effectLst/>
                <a:latin typeface="Times New Roman" panose="02020603050405020304" pitchFamily="18" charset="0"/>
                <a:cs typeface="Times New Roman" panose="02020603050405020304" pitchFamily="18" charset="0"/>
                <a:sym typeface="+mn-ea"/>
              </a:rPr>
              <a:t>Avoid </a:t>
            </a:r>
            <a:r>
              <a:rPr altLang="en-GB" sz="2400">
                <a:effectLst/>
                <a:latin typeface="Times New Roman" panose="02020603050405020304" pitchFamily="18" charset="0"/>
                <a:cs typeface="Times New Roman" panose="02020603050405020304" pitchFamily="18" charset="0"/>
                <a:sym typeface="+mn-ea"/>
              </a:rPr>
              <a:t>using any latches in your design  [They are more susceptible to noise as they are level sensitive]</a:t>
            </a:r>
            <a:br>
              <a:rPr altLang="en-GB" sz="2400">
                <a:effectLst/>
                <a:latin typeface="Times New Roman" panose="02020603050405020304" pitchFamily="18" charset="0"/>
                <a:cs typeface="Times New Roman" panose="02020603050405020304" pitchFamily="18" charset="0"/>
                <a:sym typeface="+mn-ea"/>
              </a:rPr>
            </a:br>
            <a:r>
              <a:rPr altLang="en-GB" sz="2400" b="1">
                <a:effectLst/>
                <a:latin typeface="Times New Roman" panose="02020603050405020304" pitchFamily="18" charset="0"/>
                <a:cs typeface="Times New Roman" panose="02020603050405020304" pitchFamily="18" charset="0"/>
                <a:sym typeface="+mn-ea"/>
              </a:rPr>
              <a:t>Note </a:t>
            </a:r>
            <a:r>
              <a:rPr lang="en-GB" altLang="en-US" sz="2400" b="1">
                <a:effectLst/>
                <a:latin typeface="Times New Roman" panose="02020603050405020304" pitchFamily="18" charset="0"/>
                <a:cs typeface="Times New Roman" panose="02020603050405020304" pitchFamily="18" charset="0"/>
                <a:sym typeface="+mn-ea"/>
              </a:rPr>
              <a:t>  </a:t>
            </a:r>
            <a:r>
              <a:rPr altLang="en-GB" sz="2400">
                <a:effectLst/>
                <a:latin typeface="Times New Roman" panose="02020603050405020304" pitchFamily="18" charset="0"/>
                <a:cs typeface="Times New Roman" panose="02020603050405020304" pitchFamily="18" charset="0"/>
                <a:sym typeface="+mn-ea"/>
              </a:rPr>
              <a:t>– </a:t>
            </a:r>
            <a:r>
              <a:rPr altLang="en-GB" sz="2400">
                <a:solidFill>
                  <a:srgbClr val="00B050"/>
                </a:solidFill>
                <a:effectLst/>
                <a:latin typeface="Times New Roman" panose="02020603050405020304" pitchFamily="18" charset="0"/>
                <a:cs typeface="Times New Roman" panose="02020603050405020304" pitchFamily="18" charset="0"/>
                <a:sym typeface="+mn-ea"/>
              </a:rPr>
              <a:t>Use </a:t>
            </a:r>
            <a:r>
              <a:rPr altLang="en-GB" sz="2400">
                <a:effectLst/>
                <a:latin typeface="Times New Roman" panose="02020603050405020304" pitchFamily="18" charset="0"/>
                <a:cs typeface="Times New Roman" panose="02020603050405020304" pitchFamily="18" charset="0"/>
                <a:sym typeface="+mn-ea"/>
              </a:rPr>
              <a:t>a design checking tool to check for latches in your design</a:t>
            </a:r>
          </a:p>
          <a:p>
            <a:pPr marL="0" indent="0">
              <a:buSzPct val="100000"/>
              <a:buNone/>
            </a:pPr>
            <a:r>
              <a:rPr lang="en-GB" altLang="en-US" sz="2400">
                <a:effectLst/>
                <a:latin typeface="Times New Roman" panose="02020603050405020304" pitchFamily="18" charset="0"/>
                <a:cs typeface="Times New Roman" panose="02020603050405020304" pitchFamily="18" charset="0"/>
                <a:sym typeface="+mn-ea"/>
              </a:rPr>
              <a:t>A</a:t>
            </a:r>
            <a:r>
              <a:rPr altLang="en-GB" sz="2400">
                <a:effectLst/>
                <a:latin typeface="Times New Roman" panose="02020603050405020304" pitchFamily="18" charset="0"/>
                <a:cs typeface="Times New Roman" panose="02020603050405020304" pitchFamily="18" charset="0"/>
                <a:sym typeface="+mn-ea"/>
              </a:rPr>
              <a:t>ll latches must be instantiated and you must provide documentation that</a:t>
            </a:r>
          </a:p>
          <a:p>
            <a:pPr marL="0" indent="0">
              <a:buSzPct val="100000"/>
              <a:buNone/>
            </a:pPr>
            <a:r>
              <a:rPr altLang="en-GB" sz="2400">
                <a:effectLst/>
                <a:latin typeface="Times New Roman" panose="02020603050405020304" pitchFamily="18" charset="0"/>
                <a:cs typeface="Times New Roman" panose="02020603050405020304" pitchFamily="18" charset="0"/>
                <a:sym typeface="+mn-ea"/>
              </a:rPr>
              <a:t>lists each latch and describes any special timing requirements that result from the</a:t>
            </a:r>
          </a:p>
          <a:p>
            <a:pPr marL="0" indent="0">
              <a:buSzPct val="100000"/>
              <a:buNone/>
            </a:pPr>
            <a:r>
              <a:rPr altLang="en-GB" sz="2400">
                <a:effectLst/>
                <a:latin typeface="Times New Roman" panose="02020603050405020304" pitchFamily="18" charset="0"/>
                <a:cs typeface="Times New Roman" panose="02020603050405020304" pitchFamily="18" charset="0"/>
                <a:sym typeface="+mn-ea"/>
              </a:rPr>
              <a:t>latch.</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br>
              <a:rPr altLang="en-GB" sz="2400" b="1" dirty="0">
                <a:latin typeface="Arial-BoldMT"/>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19456"/>
            <a:ext cx="10287000" cy="469899"/>
          </a:xfrm>
        </p:spPr>
        <p:txBody>
          <a:bodyPr/>
          <a:lstStyle/>
          <a:p>
            <a:r>
              <a:rPr>
                <a:sym typeface="+mn-ea"/>
              </a:rPr>
              <a:t>5.</a:t>
            </a:r>
            <a:r>
              <a:rPr lang="en-GB" altLang="en-US">
                <a:sym typeface="+mn-ea"/>
              </a:rPr>
              <a:t>5</a:t>
            </a:r>
            <a:r>
              <a:rPr>
                <a:sym typeface="+mn-ea"/>
              </a:rPr>
              <a:t> Coding</a:t>
            </a:r>
            <a:r>
              <a:rPr lang="en-GB" altLang="en-US">
                <a:sym typeface="+mn-ea"/>
              </a:rPr>
              <a:t> for synthesis</a:t>
            </a:r>
            <a:endParaRPr lang="en-US"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34</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8" name="Picture 7"/>
          <p:cNvPicPr>
            <a:picLocks noChangeAspect="1"/>
          </p:cNvPicPr>
          <p:nvPr/>
        </p:nvPicPr>
        <p:blipFill>
          <a:blip r:embed="rId2"/>
          <a:stretch>
            <a:fillRect/>
          </a:stretch>
        </p:blipFill>
        <p:spPr>
          <a:xfrm>
            <a:off x="6184265" y="4398010"/>
            <a:ext cx="2712720" cy="1607820"/>
          </a:xfrm>
          <a:prstGeom prst="rect">
            <a:avLst/>
          </a:prstGeom>
        </p:spPr>
      </p:pic>
      <p:pic>
        <p:nvPicPr>
          <p:cNvPr id="7" name="Picture 6"/>
          <p:cNvPicPr>
            <a:picLocks noChangeAspect="1"/>
          </p:cNvPicPr>
          <p:nvPr/>
        </p:nvPicPr>
        <p:blipFill>
          <a:blip r:embed="rId3"/>
          <a:stretch>
            <a:fillRect/>
          </a:stretch>
        </p:blipFill>
        <p:spPr>
          <a:xfrm>
            <a:off x="1571625" y="4443730"/>
            <a:ext cx="2790825" cy="1562100"/>
          </a:xfrm>
          <a:prstGeom prst="rect">
            <a:avLst/>
          </a:prstGeom>
        </p:spPr>
      </p:pic>
      <p:graphicFrame>
        <p:nvGraphicFramePr>
          <p:cNvPr id="9" name="Table 8"/>
          <p:cNvGraphicFramePr/>
          <p:nvPr/>
        </p:nvGraphicFramePr>
        <p:xfrm>
          <a:off x="1219835" y="3804285"/>
          <a:ext cx="8533130" cy="2591435"/>
        </p:xfrm>
        <a:graphic>
          <a:graphicData uri="http://schemas.openxmlformats.org/drawingml/2006/table">
            <a:tbl>
              <a:tblPr firstRow="1" bandRow="1">
                <a:tableStyleId>{21E4AEA4-8DFA-4A89-87EB-49C32662AFE0}</a:tableStyleId>
              </a:tblPr>
              <a:tblGrid>
                <a:gridCol w="4266565">
                  <a:extLst>
                    <a:ext uri="{9D8B030D-6E8A-4147-A177-3AD203B41FA5}">
                      <a16:colId xmlns:a16="http://schemas.microsoft.com/office/drawing/2014/main" val="20000"/>
                    </a:ext>
                  </a:extLst>
                </a:gridCol>
                <a:gridCol w="4266565">
                  <a:extLst>
                    <a:ext uri="{9D8B030D-6E8A-4147-A177-3AD203B41FA5}">
                      <a16:colId xmlns:a16="http://schemas.microsoft.com/office/drawing/2014/main" val="20001"/>
                    </a:ext>
                  </a:extLst>
                </a:gridCol>
              </a:tblGrid>
              <a:tr h="2591435">
                <a:tc>
                  <a:txBody>
                    <a:bodyPr/>
                    <a:lstStyle/>
                    <a:p>
                      <a:pPr>
                        <a:buNone/>
                      </a:pPr>
                      <a:r>
                        <a:rPr lang="en-GB" altLang="en-US">
                          <a:solidFill>
                            <a:schemeClr val="tx1"/>
                          </a:solidFill>
                        </a:rPr>
                        <a:t>A latch is infered of missing else statement:</a:t>
                      </a: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GB" altLang="en-US">
                          <a:solidFill>
                            <a:schemeClr val="tx1"/>
                          </a:solidFill>
                        </a:rPr>
                        <a:t>A latch is infered of assigments and conditions _case 2’b11_</a:t>
                      </a:r>
                      <a:r>
                        <a:rPr lang="en-US" altLang="en-GB">
                          <a:solidFill>
                            <a:schemeClr val="tx1"/>
                          </a:solidFill>
                        </a:rPr>
                        <a:t> .</a:t>
                      </a: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0"/>
                  </a:ext>
                </a:extLst>
              </a:tr>
            </a:tbl>
          </a:graphicData>
        </a:graphic>
      </p:graphicFrame>
      <p:pic>
        <p:nvPicPr>
          <p:cNvPr id="10" name="Picture 9"/>
          <p:cNvPicPr>
            <a:picLocks noChangeAspect="1"/>
          </p:cNvPicPr>
          <p:nvPr/>
        </p:nvPicPr>
        <p:blipFill>
          <a:blip r:embed="rId4"/>
          <a:stretch>
            <a:fillRect/>
          </a:stretch>
        </p:blipFill>
        <p:spPr>
          <a:xfrm>
            <a:off x="6157595" y="4398010"/>
            <a:ext cx="3128645" cy="19621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a:bodyPr>
          <a:lstStyle/>
          <a:p>
            <a:pPr marL="0" indent="0">
              <a:buSzPct val="100000"/>
              <a:buNone/>
            </a:pPr>
            <a:r>
              <a:rPr sz="2400">
                <a:sym typeface="+mn-ea"/>
              </a:rPr>
              <a:t>5.</a:t>
            </a:r>
            <a:r>
              <a:rPr lang="en-GB" altLang="en-US" sz="2400">
                <a:sym typeface="+mn-ea"/>
              </a:rPr>
              <a:t>5</a:t>
            </a:r>
            <a:r>
              <a:rPr altLang="en-GB" sz="2400">
                <a:sym typeface="+mn-ea"/>
              </a:rPr>
              <a:t>.2</a:t>
            </a:r>
            <a:r>
              <a:rPr sz="2400">
                <a:sym typeface="+mn-ea"/>
              </a:rPr>
              <a:t> Avoid Lathes</a:t>
            </a:r>
            <a:endParaRPr lang="en-US" sz="2400" dirty="0"/>
          </a:p>
          <a:p>
            <a:pPr marL="0" indent="0">
              <a:buSzPct val="100000"/>
              <a:buNone/>
            </a:pPr>
            <a:r>
              <a:rPr lang="en-GB" altLang="en-US" sz="2400">
                <a:effectLst/>
                <a:latin typeface="Times New Roman" panose="02020603050405020304" pitchFamily="18" charset="0"/>
                <a:cs typeface="Times New Roman" panose="02020603050405020304" pitchFamily="18" charset="0"/>
                <a:sym typeface="+mn-ea"/>
              </a:rPr>
              <a:t>Avoiding Latches can be done as follows : </a:t>
            </a:r>
            <a:br>
              <a:rPr lang="en-GB" altLang="en-US" sz="2400">
                <a:effectLst/>
                <a:latin typeface="Times New Roman" panose="02020603050405020304" pitchFamily="18" charset="0"/>
                <a:cs typeface="Times New Roman" panose="02020603050405020304" pitchFamily="18" charset="0"/>
                <a:sym typeface="+mn-ea"/>
              </a:rPr>
            </a:br>
            <a:r>
              <a:rPr lang="en-GB" altLang="en-US" sz="2400">
                <a:effectLst/>
                <a:latin typeface="Times New Roman" panose="02020603050405020304" pitchFamily="18" charset="0"/>
                <a:cs typeface="Times New Roman" panose="02020603050405020304" pitchFamily="18" charset="0"/>
                <a:sym typeface="+mn-ea"/>
              </a:rPr>
              <a:t>1)</a:t>
            </a:r>
            <a:r>
              <a:rPr lang="en-GB" altLang="en-US" sz="2000">
                <a:solidFill>
                  <a:srgbClr val="00B050"/>
                </a:solidFill>
                <a:effectLst/>
                <a:latin typeface="Times New Roman" panose="02020603050405020304" pitchFamily="18" charset="0"/>
                <a:cs typeface="Times New Roman" panose="02020603050405020304" pitchFamily="18" charset="0"/>
                <a:sym typeface="+mn-ea"/>
              </a:rPr>
              <a:t>Assign </a:t>
            </a:r>
            <a:r>
              <a:rPr lang="en-GB" altLang="en-US" sz="2000">
                <a:effectLst/>
                <a:latin typeface="Times New Roman" panose="02020603050405020304" pitchFamily="18" charset="0"/>
                <a:cs typeface="Times New Roman" panose="02020603050405020304" pitchFamily="18" charset="0"/>
                <a:sym typeface="+mn-ea"/>
              </a:rPr>
              <a:t>default values at the beginning of combinational always_block .</a:t>
            </a:r>
            <a:br>
              <a:rPr lang="en-GB" altLang="en-US" sz="2000">
                <a:effectLst/>
                <a:latin typeface="Times New Roman" panose="02020603050405020304" pitchFamily="18" charset="0"/>
                <a:cs typeface="Times New Roman" panose="02020603050405020304" pitchFamily="18" charset="0"/>
                <a:sym typeface="+mn-ea"/>
              </a:rPr>
            </a:br>
            <a:r>
              <a:rPr lang="en-GB" altLang="en-US" sz="2000">
                <a:effectLst/>
                <a:latin typeface="Times New Roman" panose="02020603050405020304" pitchFamily="18" charset="0"/>
                <a:cs typeface="Times New Roman" panose="02020603050405020304" pitchFamily="18" charset="0"/>
                <a:sym typeface="+mn-ea"/>
              </a:rPr>
              <a:t>2)</a:t>
            </a:r>
            <a:r>
              <a:rPr altLang="en-GB" sz="2000">
                <a:solidFill>
                  <a:srgbClr val="00B050"/>
                </a:solidFill>
                <a:effectLst/>
                <a:latin typeface="Times New Roman" panose="02020603050405020304" pitchFamily="18" charset="0"/>
                <a:cs typeface="Times New Roman" panose="02020603050405020304" pitchFamily="18" charset="0"/>
                <a:sym typeface="+mn-ea"/>
              </a:rPr>
              <a:t>Assign </a:t>
            </a:r>
            <a:r>
              <a:rPr altLang="en-GB" sz="2000">
                <a:effectLst/>
                <a:latin typeface="Times New Roman" panose="02020603050405020304" pitchFamily="18" charset="0"/>
                <a:cs typeface="Times New Roman" panose="02020603050405020304" pitchFamily="18" charset="0"/>
                <a:sym typeface="+mn-ea"/>
              </a:rPr>
              <a:t>outputs for all input conditions</a:t>
            </a:r>
            <a:r>
              <a:rPr lang="en-GB" altLang="en-US" sz="2000">
                <a:effectLst/>
                <a:latin typeface="Times New Roman" panose="02020603050405020304" pitchFamily="18" charset="0"/>
                <a:cs typeface="Times New Roman" panose="02020603050405020304" pitchFamily="18" charset="0"/>
                <a:sym typeface="+mn-ea"/>
              </a:rPr>
              <a:t> .</a:t>
            </a:r>
            <a:br>
              <a:rPr lang="en-GB" altLang="en-US" sz="2000">
                <a:effectLst/>
                <a:latin typeface="Times New Roman" panose="02020603050405020304" pitchFamily="18" charset="0"/>
                <a:cs typeface="Times New Roman" panose="02020603050405020304" pitchFamily="18" charset="0"/>
                <a:sym typeface="+mn-ea"/>
              </a:rPr>
            </a:br>
            <a:r>
              <a:rPr lang="en-GB" altLang="en-US" sz="2000">
                <a:effectLst/>
                <a:latin typeface="Times New Roman" panose="02020603050405020304" pitchFamily="18" charset="0"/>
                <a:cs typeface="Times New Roman" panose="02020603050405020304" pitchFamily="18" charset="0"/>
                <a:sym typeface="+mn-ea"/>
              </a:rPr>
              <a:t>3)</a:t>
            </a:r>
            <a:r>
              <a:rPr lang="en-GB" altLang="en-US" sz="2000">
                <a:solidFill>
                  <a:srgbClr val="00B050"/>
                </a:solidFill>
                <a:effectLst/>
                <a:latin typeface="Times New Roman" panose="02020603050405020304" pitchFamily="18" charset="0"/>
                <a:cs typeface="Times New Roman" panose="02020603050405020304" pitchFamily="18" charset="0"/>
                <a:sym typeface="+mn-ea"/>
              </a:rPr>
              <a:t>U</a:t>
            </a:r>
            <a:r>
              <a:rPr altLang="en-GB" sz="2000">
                <a:solidFill>
                  <a:srgbClr val="00B050"/>
                </a:solidFill>
                <a:effectLst/>
                <a:latin typeface="Times New Roman" panose="02020603050405020304" pitchFamily="18" charset="0"/>
                <a:cs typeface="Times New Roman" panose="02020603050405020304" pitchFamily="18" charset="0"/>
                <a:sym typeface="+mn-ea"/>
              </a:rPr>
              <a:t>se </a:t>
            </a:r>
            <a:r>
              <a:rPr altLang="en-GB" sz="2000">
                <a:effectLst/>
                <a:latin typeface="Times New Roman" panose="02020603050405020304" pitchFamily="18" charset="0"/>
                <a:cs typeface="Times New Roman" panose="02020603050405020304" pitchFamily="18" charset="0"/>
                <a:sym typeface="+mn-ea"/>
              </a:rPr>
              <a:t>else (instead of elsif) for the final priority branch</a:t>
            </a:r>
            <a:r>
              <a:rPr lang="en-GB" altLang="en-US" sz="20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19456"/>
            <a:ext cx="10287000" cy="469899"/>
          </a:xfrm>
        </p:spPr>
        <p:txBody>
          <a:bodyPr/>
          <a:lstStyle/>
          <a:p>
            <a:r>
              <a:rPr>
                <a:sym typeface="+mn-ea"/>
              </a:rPr>
              <a:t>5.</a:t>
            </a:r>
            <a:r>
              <a:rPr lang="en-GB" altLang="en-US">
                <a:sym typeface="+mn-ea"/>
              </a:rPr>
              <a:t>5</a:t>
            </a:r>
            <a:r>
              <a:rPr>
                <a:sym typeface="+mn-ea"/>
              </a:rPr>
              <a:t> Coding</a:t>
            </a:r>
            <a:r>
              <a:rPr lang="en-GB" altLang="en-US">
                <a:sym typeface="+mn-ea"/>
              </a:rPr>
              <a:t> for synthesis</a:t>
            </a:r>
            <a:endParaRPr lang="en-US"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35</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graphicFrame>
        <p:nvGraphicFramePr>
          <p:cNvPr id="11" name="Table 10"/>
          <p:cNvGraphicFramePr/>
          <p:nvPr/>
        </p:nvGraphicFramePr>
        <p:xfrm>
          <a:off x="1828800" y="3238500"/>
          <a:ext cx="8533130" cy="2348230"/>
        </p:xfrm>
        <a:graphic>
          <a:graphicData uri="http://schemas.openxmlformats.org/drawingml/2006/table">
            <a:tbl>
              <a:tblPr firstRow="1" bandRow="1">
                <a:tableStyleId>{21E4AEA4-8DFA-4A89-87EB-49C32662AFE0}</a:tableStyleId>
              </a:tblPr>
              <a:tblGrid>
                <a:gridCol w="4266565">
                  <a:extLst>
                    <a:ext uri="{9D8B030D-6E8A-4147-A177-3AD203B41FA5}">
                      <a16:colId xmlns:a16="http://schemas.microsoft.com/office/drawing/2014/main" val="20000"/>
                    </a:ext>
                  </a:extLst>
                </a:gridCol>
                <a:gridCol w="4266565">
                  <a:extLst>
                    <a:ext uri="{9D8B030D-6E8A-4147-A177-3AD203B41FA5}">
                      <a16:colId xmlns:a16="http://schemas.microsoft.com/office/drawing/2014/main" val="20001"/>
                    </a:ext>
                  </a:extLst>
                </a:gridCol>
              </a:tblGrid>
              <a:tr h="2348230">
                <a:tc>
                  <a:txBody>
                    <a:bodyPr/>
                    <a:lstStyle/>
                    <a:p>
                      <a:pPr>
                        <a:buNone/>
                      </a:pPr>
                      <a:r>
                        <a:rPr lang="en-GB" altLang="en-US">
                          <a:solidFill>
                            <a:schemeClr val="tx1"/>
                          </a:solidFill>
                        </a:rPr>
                        <a:t>Poor style of coding :</a:t>
                      </a:r>
                    </a:p>
                    <a:p>
                      <a:pPr>
                        <a:buNone/>
                      </a:pPr>
                      <a:r>
                        <a:rPr lang="en-GB" altLang="en-US">
                          <a:solidFill>
                            <a:schemeClr val="tx1"/>
                          </a:solidFill>
                        </a:rPr>
                        <a:t>Output is assigning output for all inputs coditions . </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GB" altLang="en-US" sz="1800">
                          <a:solidFill>
                            <a:schemeClr val="tx1"/>
                          </a:solidFill>
                          <a:sym typeface="+mn-ea"/>
                        </a:rPr>
                        <a:t>Recommended style :</a:t>
                      </a:r>
                    </a:p>
                    <a:p>
                      <a:pPr>
                        <a:buNone/>
                      </a:pPr>
                      <a:r>
                        <a:rPr lang="en-GB" altLang="en-US" sz="1800">
                          <a:solidFill>
                            <a:schemeClr val="tx1"/>
                          </a:solidFill>
                          <a:sym typeface="+mn-ea"/>
                        </a:rPr>
                        <a:t>Output has a default value .</a:t>
                      </a:r>
                      <a:endParaRPr lang="en-GB" altLang="en-US">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0"/>
                  </a:ext>
                </a:extLst>
              </a:tr>
            </a:tbl>
          </a:graphicData>
        </a:graphic>
      </p:graphicFrame>
      <p:pic>
        <p:nvPicPr>
          <p:cNvPr id="12" name="Picture 11"/>
          <p:cNvPicPr>
            <a:picLocks noChangeAspect="1"/>
          </p:cNvPicPr>
          <p:nvPr/>
        </p:nvPicPr>
        <p:blipFill>
          <a:blip r:embed="rId2"/>
          <a:stretch>
            <a:fillRect/>
          </a:stretch>
        </p:blipFill>
        <p:spPr>
          <a:xfrm>
            <a:off x="2056765" y="4091940"/>
            <a:ext cx="3472180" cy="1311910"/>
          </a:xfrm>
          <a:prstGeom prst="rect">
            <a:avLst/>
          </a:prstGeom>
        </p:spPr>
      </p:pic>
      <p:pic>
        <p:nvPicPr>
          <p:cNvPr id="13" name="Picture 12"/>
          <p:cNvPicPr>
            <a:picLocks noChangeAspect="1"/>
          </p:cNvPicPr>
          <p:nvPr/>
        </p:nvPicPr>
        <p:blipFill>
          <a:blip r:embed="rId3"/>
          <a:stretch>
            <a:fillRect/>
          </a:stretch>
        </p:blipFill>
        <p:spPr>
          <a:xfrm>
            <a:off x="6275705" y="3910965"/>
            <a:ext cx="3787775" cy="1492885"/>
          </a:xfrm>
          <a:prstGeom prst="rect">
            <a:avLst/>
          </a:prstGeom>
        </p:spPr>
      </p:pic>
      <p:sp>
        <p:nvSpPr>
          <p:cNvPr id="14" name="Rectangles 13"/>
          <p:cNvSpPr/>
          <p:nvPr/>
        </p:nvSpPr>
        <p:spPr>
          <a:xfrm>
            <a:off x="6283960" y="4300220"/>
            <a:ext cx="2273300" cy="173355"/>
          </a:xfrm>
          <a:prstGeom prst="rect">
            <a:avLst/>
          </a:prstGeom>
          <a:noFill/>
          <a:ln>
            <a:solidFill>
              <a:srgbClr val="FF0000"/>
            </a:solidFill>
          </a:ln>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rtlCol="0" anchor="ctr"/>
          <a:lstStyle/>
          <a:p>
            <a:pPr algn="ctr"/>
            <a:endParaRPr lang="en-GB"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482725"/>
            <a:ext cx="11236960" cy="5126990"/>
          </a:xfrm>
        </p:spPr>
        <p:txBody>
          <a:bodyPr>
            <a:normAutofit lnSpcReduction="10000"/>
          </a:bodyPr>
          <a:lstStyle/>
          <a:p>
            <a:pPr marL="0" indent="0">
              <a:buSzPct val="100000"/>
              <a:buNone/>
            </a:pPr>
            <a:r>
              <a:rPr sz="2400">
                <a:sym typeface="+mn-ea"/>
              </a:rPr>
              <a:t>5.</a:t>
            </a:r>
            <a:r>
              <a:rPr lang="en-GB" altLang="en-US" sz="2400">
                <a:sym typeface="+mn-ea"/>
              </a:rPr>
              <a:t>5</a:t>
            </a:r>
            <a:r>
              <a:rPr altLang="en-GB" sz="2400">
                <a:sym typeface="+mn-ea"/>
              </a:rPr>
              <a:t>.3</a:t>
            </a:r>
            <a:r>
              <a:rPr sz="2400">
                <a:sym typeface="+mn-ea"/>
              </a:rPr>
              <a:t> If you must use Lathes</a:t>
            </a:r>
            <a:endParaRPr lang="en-US" sz="2400" dirty="0"/>
          </a:p>
          <a:p>
            <a:pPr marL="0" indent="0">
              <a:buSzPct val="100000"/>
              <a:buNone/>
            </a:pPr>
            <a:br>
              <a:rPr altLang="en-GB" sz="2400" b="1">
                <a:effectLst/>
                <a:latin typeface="Arial-BoldMT"/>
                <a:sym typeface="+mn-ea"/>
              </a:rPr>
            </a:br>
            <a:r>
              <a:rPr altLang="en-GB" sz="2400" b="1">
                <a:effectLst/>
                <a:latin typeface="Arial-BoldMT"/>
                <a:sym typeface="+mn-ea"/>
              </a:rPr>
              <a:t>Rule </a:t>
            </a:r>
            <a:r>
              <a:rPr lang="en-GB" sz="2400" b="1">
                <a:effectLst/>
                <a:latin typeface="Arial-BoldMT"/>
                <a:sym typeface="+mn-ea"/>
              </a:rPr>
              <a:t>–</a:t>
            </a:r>
            <a:r>
              <a:rPr altLang="en-GB" sz="2400" b="1">
                <a:effectLst/>
                <a:latin typeface="Arial-BoldMT"/>
                <a:sym typeface="+mn-ea"/>
              </a:rPr>
              <a:t> </a:t>
            </a:r>
            <a:r>
              <a:rPr lang="en-GB" altLang="en-US" sz="2400" b="1">
                <a:effectLst/>
                <a:latin typeface="Times New Roman" panose="02020603050405020304" pitchFamily="18" charset="0"/>
                <a:cs typeface="Times New Roman" panose="02020603050405020304" pitchFamily="18" charset="0"/>
                <a:sym typeface="+mn-ea"/>
              </a:rPr>
              <a:t>We can use latches for testability as follows since it’s</a:t>
            </a:r>
            <a:br>
              <a:rPr lang="en-GB" altLang="en-US" sz="2400" b="1">
                <a:effectLst/>
                <a:latin typeface="Times New Roman" panose="02020603050405020304" pitchFamily="18" charset="0"/>
                <a:cs typeface="Times New Roman" panose="02020603050405020304" pitchFamily="18" charset="0"/>
                <a:sym typeface="+mn-ea"/>
              </a:rPr>
            </a:br>
            <a:r>
              <a:rPr lang="en-GB" altLang="en-US" sz="2400" b="1">
                <a:effectLst/>
                <a:latin typeface="Times New Roman" panose="02020603050405020304" pitchFamily="18" charset="0"/>
                <a:cs typeface="Times New Roman" panose="02020603050405020304" pitchFamily="18" charset="0"/>
                <a:sym typeface="+mn-ea"/>
              </a:rPr>
              <a:t>		   not avoidable in this case .</a:t>
            </a:r>
            <a:br>
              <a:rPr lang="en-GB" altLang="en-US" sz="2400" b="1">
                <a:effectLst/>
                <a:latin typeface="Arial-BoldMT"/>
                <a:sym typeface="+mn-ea"/>
              </a:rPr>
            </a:br>
            <a:r>
              <a:rPr lang="en-GB" altLang="en-US"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br>
              <a:rPr altLang="en-GB" sz="2400" b="1" dirty="0">
                <a:latin typeface="Arial-BoldMT"/>
              </a:rPr>
            </a:br>
            <a:r>
              <a:rPr lang="en-GB" sz="1800" b="1">
                <a:effectLst/>
                <a:latin typeface="Arial-BoldMT"/>
                <a:sym typeface="+mn-ea"/>
              </a:rPr>
              <a:t>– </a:t>
            </a:r>
            <a:r>
              <a:rPr lang="en-GB" altLang="en-US" sz="1800" dirty="0">
                <a:latin typeface="+mn-lt"/>
                <a:cs typeface="Times New Roman" panose="02020603050405020304" pitchFamily="18" charset="0"/>
              </a:rPr>
              <a:t>This can be achieved by using a mux between the normal function and the test data to the mux.</a:t>
            </a:r>
            <a:br>
              <a:rPr lang="en-GB" altLang="en-US" sz="1800" dirty="0">
                <a:latin typeface="+mn-lt"/>
                <a:cs typeface="Times New Roman" panose="02020603050405020304" pitchFamily="18" charset="0"/>
              </a:rPr>
            </a:br>
            <a:r>
              <a:rPr lang="en-GB" altLang="en-US" sz="1800" dirty="0">
                <a:latin typeface="+mn-lt"/>
                <a:cs typeface="Times New Roman" panose="02020603050405020304" pitchFamily="18" charset="0"/>
              </a:rPr>
              <a:t>The selector can be an enable to test mode .</a:t>
            </a:r>
            <a:br>
              <a:rPr lang="en-GB" altLang="en-US" sz="1800" dirty="0">
                <a:latin typeface="+mn-lt"/>
                <a:cs typeface="Times New Roman" panose="02020603050405020304" pitchFamily="18" charset="0"/>
              </a:rPr>
            </a:br>
            <a:endParaRPr lang="en-GB" altLang="en-US" sz="1800" dirty="0">
              <a:latin typeface="+mn-lt"/>
              <a:cs typeface="Times New Roman" panose="02020603050405020304" pitchFamily="18" charset="0"/>
            </a:endParaRPr>
          </a:p>
        </p:txBody>
      </p:sp>
      <p:sp>
        <p:nvSpPr>
          <p:cNvPr id="3" name="Title 2"/>
          <p:cNvSpPr>
            <a:spLocks noGrp="1"/>
          </p:cNvSpPr>
          <p:nvPr>
            <p:ph type="title"/>
          </p:nvPr>
        </p:nvSpPr>
        <p:spPr>
          <a:xfrm>
            <a:off x="342900" y="219456"/>
            <a:ext cx="10287000" cy="913129"/>
          </a:xfrm>
        </p:spPr>
        <p:txBody>
          <a:bodyPr/>
          <a:lstStyle/>
          <a:p>
            <a:r>
              <a:rPr>
                <a:sym typeface="+mn-ea"/>
              </a:rPr>
              <a:t>5.</a:t>
            </a:r>
            <a:r>
              <a:rPr lang="en-GB" altLang="en-US">
                <a:sym typeface="+mn-ea"/>
              </a:rPr>
              <a:t>5</a:t>
            </a:r>
            <a:r>
              <a:rPr>
                <a:sym typeface="+mn-ea"/>
              </a:rPr>
              <a:t> Coding</a:t>
            </a:r>
            <a:r>
              <a:rPr lang="en-GB" altLang="en-US">
                <a:sym typeface="+mn-ea"/>
              </a:rPr>
              <a:t> for synthesis</a:t>
            </a:r>
            <a:br>
              <a:rPr lang="en-US" dirty="0"/>
            </a:br>
            <a:endParaRPr lang="en-US"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36</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7" name="Picture 6"/>
          <p:cNvPicPr>
            <a:picLocks noChangeAspect="1"/>
          </p:cNvPicPr>
          <p:nvPr/>
        </p:nvPicPr>
        <p:blipFill>
          <a:blip r:embed="rId2"/>
          <a:stretch>
            <a:fillRect/>
          </a:stretch>
        </p:blipFill>
        <p:spPr>
          <a:xfrm>
            <a:off x="1156335" y="2856865"/>
            <a:ext cx="4465320" cy="17145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a:bodyPr>
          <a:lstStyle/>
          <a:p>
            <a:pPr marL="0" indent="0">
              <a:buSzPct val="100000"/>
              <a:buNone/>
            </a:pPr>
            <a:r>
              <a:rPr sz="2400">
                <a:sym typeface="+mn-ea"/>
              </a:rPr>
              <a:t>5.</a:t>
            </a:r>
            <a:r>
              <a:rPr lang="en-GB" altLang="en-US" sz="2400">
                <a:sym typeface="+mn-ea"/>
              </a:rPr>
              <a:t>5</a:t>
            </a:r>
            <a:r>
              <a:rPr altLang="en-GB" sz="2400">
                <a:sym typeface="+mn-ea"/>
              </a:rPr>
              <a:t>.4</a:t>
            </a:r>
            <a:r>
              <a:rPr sz="2400">
                <a:sym typeface="+mn-ea"/>
              </a:rPr>
              <a:t> Avoid Combinational Feedback</a:t>
            </a:r>
            <a:endParaRPr lang="en-US" sz="2400" dirty="0"/>
          </a:p>
          <a:p>
            <a:pPr marL="0" indent="0">
              <a:buSzPct val="100000"/>
              <a:buNone/>
            </a:pPr>
            <a:br>
              <a:rPr lang="en-GB" sz="2400" b="1">
                <a:effectLst/>
                <a:latin typeface="Arial-BoldMT"/>
                <a:sym typeface="+mn-ea"/>
              </a:rPr>
            </a:br>
            <a:r>
              <a:rPr lang="en-GB" sz="2400" b="1">
                <a:effectLst/>
                <a:latin typeface="Arial-BoldMT"/>
                <a:sym typeface="+mn-ea"/>
              </a:rPr>
              <a:t>Guideline –</a:t>
            </a:r>
            <a:r>
              <a:rPr altLang="en-GB" sz="2400" b="1">
                <a:effectLst/>
                <a:latin typeface="Arial-BoldMT"/>
                <a:sym typeface="+mn-ea"/>
              </a:rPr>
              <a:t> </a:t>
            </a:r>
            <a:r>
              <a:rPr altLang="en-GB" sz="2400">
                <a:solidFill>
                  <a:srgbClr val="FF0000"/>
                </a:solidFill>
                <a:effectLst/>
                <a:latin typeface="Times New Roman" panose="02020603050405020304" pitchFamily="18" charset="0"/>
                <a:cs typeface="Times New Roman" panose="02020603050405020304" pitchFamily="18" charset="0"/>
                <a:sym typeface="+mn-ea"/>
              </a:rPr>
              <a:t>Avoid </a:t>
            </a:r>
            <a:r>
              <a:rPr altLang="en-GB" sz="2400">
                <a:effectLst/>
                <a:latin typeface="Times New Roman" panose="02020603050405020304" pitchFamily="18" charset="0"/>
                <a:cs typeface="Times New Roman" panose="02020603050405020304" pitchFamily="18" charset="0"/>
                <a:sym typeface="+mn-ea"/>
              </a:rPr>
              <a:t>using any Combinational looping in your design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As it makes STA very hard . </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p>
          <a:p>
            <a:pPr marL="0" indent="0">
              <a:buSzPct val="100000"/>
              <a:buNone/>
            </a:pP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br>
              <a:rPr altLang="en-GB" sz="2400" b="1" dirty="0">
                <a:latin typeface="Arial-BoldMT"/>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19456"/>
            <a:ext cx="10287000" cy="469899"/>
          </a:xfrm>
        </p:spPr>
        <p:txBody>
          <a:bodyPr/>
          <a:lstStyle/>
          <a:p>
            <a:r>
              <a:rPr>
                <a:sym typeface="+mn-ea"/>
              </a:rPr>
              <a:t>5.</a:t>
            </a:r>
            <a:r>
              <a:rPr lang="en-GB" altLang="en-US">
                <a:sym typeface="+mn-ea"/>
              </a:rPr>
              <a:t>5</a:t>
            </a:r>
            <a:r>
              <a:rPr>
                <a:sym typeface="+mn-ea"/>
              </a:rPr>
              <a:t> Coding</a:t>
            </a:r>
            <a:r>
              <a:rPr lang="en-GB" altLang="en-US">
                <a:sym typeface="+mn-ea"/>
              </a:rPr>
              <a:t> for synthesis</a:t>
            </a:r>
            <a:endParaRPr lang="en-US"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37</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graphicFrame>
        <p:nvGraphicFramePr>
          <p:cNvPr id="12" name="Table 11"/>
          <p:cNvGraphicFramePr/>
          <p:nvPr/>
        </p:nvGraphicFramePr>
        <p:xfrm>
          <a:off x="528320" y="3310890"/>
          <a:ext cx="8533130" cy="2696210"/>
        </p:xfrm>
        <a:graphic>
          <a:graphicData uri="http://schemas.openxmlformats.org/drawingml/2006/table">
            <a:tbl>
              <a:tblPr firstRow="1" bandRow="1">
                <a:tableStyleId>{21E4AEA4-8DFA-4A89-87EB-49C32662AFE0}</a:tableStyleId>
              </a:tblPr>
              <a:tblGrid>
                <a:gridCol w="4266565">
                  <a:extLst>
                    <a:ext uri="{9D8B030D-6E8A-4147-A177-3AD203B41FA5}">
                      <a16:colId xmlns:a16="http://schemas.microsoft.com/office/drawing/2014/main" val="20000"/>
                    </a:ext>
                  </a:extLst>
                </a:gridCol>
                <a:gridCol w="4266565">
                  <a:extLst>
                    <a:ext uri="{9D8B030D-6E8A-4147-A177-3AD203B41FA5}">
                      <a16:colId xmlns:a16="http://schemas.microsoft.com/office/drawing/2014/main" val="20001"/>
                    </a:ext>
                  </a:extLst>
                </a:gridCol>
              </a:tblGrid>
              <a:tr h="2696210">
                <a:tc>
                  <a:txBody>
                    <a:bodyPr/>
                    <a:lstStyle/>
                    <a:p>
                      <a:pPr>
                        <a:buNone/>
                      </a:pPr>
                      <a:r>
                        <a:rPr altLang="en-GB" sz="1800">
                          <a:solidFill>
                            <a:schemeClr val="tx1"/>
                          </a:solidFill>
                          <a:effectLst/>
                          <a:latin typeface="Times New Roman" panose="02020603050405020304" pitchFamily="18" charset="0"/>
                          <a:cs typeface="Times New Roman" panose="02020603050405020304" pitchFamily="18" charset="0"/>
                          <a:sym typeface="+mn-ea"/>
                        </a:rPr>
                        <a:t>Instead of This combinational loop :</a:t>
                      </a:r>
                    </a:p>
                    <a:p>
                      <a:pPr>
                        <a:buNone/>
                      </a:pPr>
                      <a:endParaRPr lang="en-GB" altLang="en-GB" sz="1800">
                        <a:solidFill>
                          <a:schemeClr val="tx1"/>
                        </a:solidFill>
                        <a:effectLst/>
                        <a:latin typeface="Times New Roman" panose="02020603050405020304" pitchFamily="18" charset="0"/>
                        <a:cs typeface="Times New Roman" panose="02020603050405020304" pitchFamily="18" charset="0"/>
                        <a:sym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sym typeface="+mn-ea"/>
                        </a:rPr>
                        <a:t>Break The loop into one forward direction with no feedback:</a:t>
                      </a:r>
                    </a:p>
                    <a:p>
                      <a:pPr>
                        <a:buNone/>
                      </a:pPr>
                      <a:endParaRPr lang="en-US" sz="1800">
                        <a:solidFill>
                          <a:schemeClr val="tx1"/>
                        </a:solidFill>
                        <a:effectLst/>
                        <a:latin typeface="Times New Roman" panose="02020603050405020304" pitchFamily="18" charset="0"/>
                        <a:cs typeface="Times New Roman" panose="02020603050405020304" pitchFamily="18" charset="0"/>
                        <a:sym typeface="+mn-ea"/>
                      </a:endParaRPr>
                    </a:p>
                    <a:p>
                      <a:pPr>
                        <a:buNone/>
                      </a:pPr>
                      <a:endParaRPr altLang="en-GB" sz="1800">
                        <a:solidFill>
                          <a:schemeClr val="tx1"/>
                        </a:solidFill>
                        <a:effectLst/>
                        <a:latin typeface="Times New Roman" panose="02020603050405020304" pitchFamily="18" charset="0"/>
                        <a:cs typeface="Times New Roman" panose="02020603050405020304" pitchFamily="18" charset="0"/>
                        <a:sym typeface="+mn-ea"/>
                      </a:endParaRPr>
                    </a:p>
                    <a:p>
                      <a:pPr>
                        <a:buNone/>
                      </a:pPr>
                      <a:r>
                        <a:rPr lang="en-US" altLang="en-GB"/>
                        <a:t>v</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0"/>
                  </a:ext>
                </a:extLst>
              </a:tr>
            </a:tbl>
          </a:graphicData>
        </a:graphic>
      </p:graphicFrame>
      <p:pic>
        <p:nvPicPr>
          <p:cNvPr id="13" name="Picture 12"/>
          <p:cNvPicPr>
            <a:picLocks noChangeAspect="1"/>
          </p:cNvPicPr>
          <p:nvPr/>
        </p:nvPicPr>
        <p:blipFill>
          <a:blip r:embed="rId2"/>
          <a:stretch>
            <a:fillRect/>
          </a:stretch>
        </p:blipFill>
        <p:spPr>
          <a:xfrm>
            <a:off x="640080" y="3961130"/>
            <a:ext cx="3734435" cy="1939290"/>
          </a:xfrm>
          <a:prstGeom prst="rect">
            <a:avLst/>
          </a:prstGeom>
        </p:spPr>
      </p:pic>
      <p:pic>
        <p:nvPicPr>
          <p:cNvPr id="14" name="Picture 13"/>
          <p:cNvPicPr>
            <a:picLocks noChangeAspect="1"/>
          </p:cNvPicPr>
          <p:nvPr/>
        </p:nvPicPr>
        <p:blipFill>
          <a:blip r:embed="rId3"/>
          <a:stretch>
            <a:fillRect/>
          </a:stretch>
        </p:blipFill>
        <p:spPr>
          <a:xfrm>
            <a:off x="4860925" y="3919220"/>
            <a:ext cx="4139565" cy="1981200"/>
          </a:xfrm>
          <a:prstGeom prst="rect">
            <a:avLst/>
          </a:prstGeom>
        </p:spPr>
      </p:pic>
      <p:graphicFrame>
        <p:nvGraphicFramePr>
          <p:cNvPr id="7" name="Table 6"/>
          <p:cNvGraphicFramePr/>
          <p:nvPr/>
        </p:nvGraphicFramePr>
        <p:xfrm>
          <a:off x="515620" y="3321050"/>
          <a:ext cx="8533130" cy="2696210"/>
        </p:xfrm>
        <a:graphic>
          <a:graphicData uri="http://schemas.openxmlformats.org/drawingml/2006/table">
            <a:tbl>
              <a:tblPr firstRow="1" bandRow="1">
                <a:tableStyleId>{21E4AEA4-8DFA-4A89-87EB-49C32662AFE0}</a:tableStyleId>
              </a:tblPr>
              <a:tblGrid>
                <a:gridCol w="4266565">
                  <a:extLst>
                    <a:ext uri="{9D8B030D-6E8A-4147-A177-3AD203B41FA5}">
                      <a16:colId xmlns:a16="http://schemas.microsoft.com/office/drawing/2014/main" val="20000"/>
                    </a:ext>
                  </a:extLst>
                </a:gridCol>
                <a:gridCol w="4266565">
                  <a:extLst>
                    <a:ext uri="{9D8B030D-6E8A-4147-A177-3AD203B41FA5}">
                      <a16:colId xmlns:a16="http://schemas.microsoft.com/office/drawing/2014/main" val="20001"/>
                    </a:ext>
                  </a:extLst>
                </a:gridCol>
              </a:tblGrid>
              <a:tr h="2696210">
                <a:tc>
                  <a:txBody>
                    <a:bodyPr/>
                    <a:lstStyle/>
                    <a:p>
                      <a:pPr>
                        <a:buNone/>
                      </a:pPr>
                      <a:r>
                        <a:rPr altLang="en-GB" sz="1800">
                          <a:solidFill>
                            <a:schemeClr val="tx1"/>
                          </a:solidFill>
                          <a:effectLst/>
                          <a:latin typeface="Times New Roman" panose="02020603050405020304" pitchFamily="18" charset="0"/>
                          <a:cs typeface="Times New Roman" panose="02020603050405020304" pitchFamily="18" charset="0"/>
                          <a:sym typeface="+mn-ea"/>
                        </a:rPr>
                        <a:t>Instead of This combinational loop :</a:t>
                      </a:r>
                    </a:p>
                    <a:p>
                      <a:pPr>
                        <a:buNone/>
                      </a:pPr>
                      <a:endParaRPr lang="en-GB" altLang="en-GB" sz="1800">
                        <a:solidFill>
                          <a:schemeClr val="tx1"/>
                        </a:solidFill>
                        <a:effectLst/>
                        <a:latin typeface="Times New Roman" panose="02020603050405020304" pitchFamily="18" charset="0"/>
                        <a:cs typeface="Times New Roman" panose="02020603050405020304" pitchFamily="18" charset="0"/>
                        <a:sym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sym typeface="+mn-ea"/>
                        </a:rPr>
                        <a:t>Break The loop into one forward direction with no feedback:</a:t>
                      </a:r>
                    </a:p>
                    <a:p>
                      <a:pPr>
                        <a:buNone/>
                      </a:pPr>
                      <a:endParaRPr lang="en-US" sz="1800">
                        <a:solidFill>
                          <a:schemeClr val="tx1"/>
                        </a:solidFill>
                        <a:effectLst/>
                        <a:latin typeface="Times New Roman" panose="02020603050405020304" pitchFamily="18" charset="0"/>
                        <a:cs typeface="Times New Roman" panose="02020603050405020304" pitchFamily="18" charset="0"/>
                        <a:sym typeface="+mn-ea"/>
                      </a:endParaRPr>
                    </a:p>
                    <a:p>
                      <a:pPr>
                        <a:buNone/>
                      </a:pPr>
                      <a:endParaRPr altLang="en-GB" sz="1800">
                        <a:solidFill>
                          <a:schemeClr val="tx1"/>
                        </a:solidFill>
                        <a:effectLst/>
                        <a:latin typeface="Times New Roman" panose="02020603050405020304" pitchFamily="18" charset="0"/>
                        <a:cs typeface="Times New Roman" panose="02020603050405020304" pitchFamily="18" charset="0"/>
                        <a:sym typeface="+mn-ea"/>
                      </a:endParaRPr>
                    </a:p>
                    <a:p>
                      <a:pPr>
                        <a:buNone/>
                      </a:pPr>
                      <a:r>
                        <a:rPr lang="en-US" altLang="en-GB"/>
                        <a:t>v</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0"/>
                  </a:ext>
                </a:extLst>
              </a:tr>
            </a:tbl>
          </a:graphicData>
        </a:graphic>
      </p:graphicFrame>
      <p:pic>
        <p:nvPicPr>
          <p:cNvPr id="8" name="Picture 7"/>
          <p:cNvPicPr>
            <a:picLocks noChangeAspect="1"/>
          </p:cNvPicPr>
          <p:nvPr/>
        </p:nvPicPr>
        <p:blipFill>
          <a:blip r:embed="rId2"/>
          <a:stretch>
            <a:fillRect/>
          </a:stretch>
        </p:blipFill>
        <p:spPr>
          <a:xfrm>
            <a:off x="627380" y="3971290"/>
            <a:ext cx="3734435" cy="1939290"/>
          </a:xfrm>
          <a:prstGeom prst="rect">
            <a:avLst/>
          </a:prstGeom>
        </p:spPr>
      </p:pic>
      <p:pic>
        <p:nvPicPr>
          <p:cNvPr id="9" name="Picture 8"/>
          <p:cNvPicPr>
            <a:picLocks noChangeAspect="1"/>
          </p:cNvPicPr>
          <p:nvPr/>
        </p:nvPicPr>
        <p:blipFill>
          <a:blip r:embed="rId3"/>
          <a:stretch>
            <a:fillRect/>
          </a:stretch>
        </p:blipFill>
        <p:spPr>
          <a:xfrm>
            <a:off x="4848225" y="3929380"/>
            <a:ext cx="4139565" cy="1981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441450"/>
            <a:ext cx="11236960" cy="5168265"/>
          </a:xfrm>
        </p:spPr>
        <p:txBody>
          <a:bodyPr>
            <a:normAutofit/>
          </a:bodyPr>
          <a:lstStyle/>
          <a:p>
            <a:pPr marL="0" indent="0">
              <a:buSzPct val="100000"/>
              <a:buNone/>
            </a:pPr>
            <a:r>
              <a:rPr sz="2400">
                <a:sym typeface="+mn-ea"/>
              </a:rPr>
              <a:t>5.</a:t>
            </a:r>
            <a:r>
              <a:rPr lang="en-GB" altLang="en-US" sz="2400">
                <a:sym typeface="+mn-ea"/>
              </a:rPr>
              <a:t>5</a:t>
            </a:r>
            <a:r>
              <a:rPr altLang="en-GB" sz="2400">
                <a:sym typeface="+mn-ea"/>
              </a:rPr>
              <a:t>.</a:t>
            </a:r>
            <a:r>
              <a:rPr lang="en-GB" altLang="en-US" sz="2400">
                <a:sym typeface="+mn-ea"/>
              </a:rPr>
              <a:t>5</a:t>
            </a:r>
            <a:r>
              <a:rPr sz="2400">
                <a:sym typeface="+mn-ea"/>
              </a:rPr>
              <a:t> </a:t>
            </a:r>
            <a:r>
              <a:rPr lang="en-GB" altLang="en-US" sz="2400">
                <a:sym typeface="+mn-ea"/>
              </a:rPr>
              <a:t>Specify Complete Sensitivity Lists</a:t>
            </a:r>
            <a:endParaRPr lang="en-GB" altLang="en-US" sz="2400" dirty="0"/>
          </a:p>
          <a:p>
            <a:pPr marL="0" indent="0">
              <a:buSzPct val="100000"/>
              <a:buNone/>
            </a:pPr>
            <a:br>
              <a:rPr lang="en-GB" sz="2400" b="1">
                <a:effectLst/>
                <a:latin typeface="Arial-BoldMT"/>
                <a:sym typeface="+mn-ea"/>
              </a:rPr>
            </a:br>
            <a:r>
              <a:rPr lang="en-GB" sz="2400" b="1">
                <a:effectLst/>
                <a:latin typeface="Arial-BoldMT"/>
                <a:sym typeface="+mn-ea"/>
              </a:rPr>
              <a:t>Guideline –</a:t>
            </a:r>
            <a:r>
              <a:rPr altLang="en-GB" sz="2400">
                <a:effectLst/>
                <a:latin typeface="Times New Roman" panose="02020603050405020304" pitchFamily="18" charset="0"/>
                <a:cs typeface="Times New Roman" panose="02020603050405020304" pitchFamily="18" charset="0"/>
                <a:sym typeface="+mn-ea"/>
              </a:rPr>
              <a:t> Rule – Include a complete sensitivity list in each always (Verilog) blocks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To avoid mismatch between pre &amp; post syntehsis . </a:t>
            </a:r>
          </a:p>
          <a:p>
            <a:pPr marL="0" indent="0">
              <a:buSzPct val="100000"/>
              <a:buNone/>
            </a:pP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br>
              <a:rPr altLang="en-GB" sz="2400" b="1" dirty="0">
                <a:latin typeface="Arial-BoldMT"/>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19456"/>
            <a:ext cx="10287000" cy="913129"/>
          </a:xfrm>
        </p:spPr>
        <p:txBody>
          <a:bodyPr/>
          <a:lstStyle/>
          <a:p>
            <a:r>
              <a:rPr>
                <a:sym typeface="+mn-ea"/>
              </a:rPr>
              <a:t>5.</a:t>
            </a:r>
            <a:r>
              <a:rPr lang="en-GB" altLang="en-US">
                <a:sym typeface="+mn-ea"/>
              </a:rPr>
              <a:t>5</a:t>
            </a:r>
            <a:r>
              <a:rPr>
                <a:sym typeface="+mn-ea"/>
              </a:rPr>
              <a:t> Coding</a:t>
            </a:r>
            <a:r>
              <a:rPr lang="en-GB" altLang="en-US">
                <a:sym typeface="+mn-ea"/>
              </a:rPr>
              <a:t> for synthesis</a:t>
            </a:r>
            <a:br>
              <a:rPr lang="en-US" dirty="0"/>
            </a:br>
            <a:endParaRPr lang="en-GB" altLang="en-US"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38</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7" name="Picture 6"/>
          <p:cNvPicPr>
            <a:picLocks noChangeAspect="1"/>
          </p:cNvPicPr>
          <p:nvPr/>
        </p:nvPicPr>
        <p:blipFill>
          <a:blip r:embed="rId2"/>
          <a:stretch>
            <a:fillRect/>
          </a:stretch>
        </p:blipFill>
        <p:spPr>
          <a:xfrm>
            <a:off x="2781935" y="2838450"/>
            <a:ext cx="5620385" cy="36709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9975"/>
            <a:ext cx="11236960" cy="5543218"/>
          </a:xfrm>
        </p:spPr>
        <p:txBody>
          <a:bodyPr>
            <a:normAutofit/>
          </a:bodyPr>
          <a:lstStyle/>
          <a:p>
            <a:pPr marL="0" indent="0">
              <a:buSzPct val="100000"/>
              <a:buNone/>
            </a:pPr>
            <a:r>
              <a:rPr sz="2400">
                <a:sym typeface="+mn-ea"/>
              </a:rPr>
              <a:t>5.</a:t>
            </a:r>
            <a:r>
              <a:rPr lang="en-GB" altLang="en-US" sz="2400">
                <a:sym typeface="+mn-ea"/>
              </a:rPr>
              <a:t>5</a:t>
            </a:r>
            <a:r>
              <a:rPr altLang="en-GB" sz="2400">
                <a:sym typeface="+mn-ea"/>
              </a:rPr>
              <a:t>.</a:t>
            </a:r>
            <a:r>
              <a:rPr lang="en-GB" altLang="en-US" sz="2400">
                <a:sym typeface="+mn-ea"/>
              </a:rPr>
              <a:t>5</a:t>
            </a:r>
            <a:r>
              <a:rPr sz="2400">
                <a:sym typeface="+mn-ea"/>
              </a:rPr>
              <a:t> </a:t>
            </a:r>
            <a:r>
              <a:rPr lang="en-GB" altLang="en-US" sz="2400">
                <a:sym typeface="+mn-ea"/>
              </a:rPr>
              <a:t>Specify Complete Sensitivity Lists</a:t>
            </a:r>
            <a:endParaRPr lang="en-GB" altLang="en-US" sz="2400" dirty="0"/>
          </a:p>
          <a:p>
            <a:pPr marL="0" indent="0">
              <a:buSzPct val="100000"/>
              <a:buNone/>
            </a:pPr>
            <a:br>
              <a:rPr lang="en-GB" sz="2400" b="1">
                <a:effectLst/>
                <a:latin typeface="Arial-BoldMT"/>
                <a:sym typeface="+mn-ea"/>
              </a:rPr>
            </a:br>
            <a:r>
              <a:rPr lang="en-GB" sz="2400" b="1">
                <a:effectLst/>
                <a:latin typeface="Arial-BoldMT"/>
                <a:sym typeface="+mn-ea"/>
              </a:rPr>
              <a:t>Guideline –</a:t>
            </a:r>
            <a:r>
              <a:rPr altLang="en-GB" sz="2400"/>
              <a:t> </a:t>
            </a:r>
            <a:r>
              <a:rPr altLang="en-GB" sz="2400">
                <a:latin typeface="Times New Roman" panose="02020603050405020304" pitchFamily="18" charset="0"/>
                <a:cs typeface="Times New Roman" panose="02020603050405020304" pitchFamily="18" charset="0"/>
              </a:rPr>
              <a:t>Only include the necessary signals in the sensitivity list ,As adding                            				 unnecessary signals to the sensitivity list slows down simulation ,</a:t>
            </a:r>
            <a:br>
              <a:rPr altLang="en-GB" sz="2400">
                <a:latin typeface="Times New Roman" panose="02020603050405020304" pitchFamily="18" charset="0"/>
                <a:cs typeface="Times New Roman" panose="02020603050405020304" pitchFamily="18" charset="0"/>
              </a:rPr>
            </a:br>
            <a:r>
              <a:rPr altLang="en-GB" sz="2400">
                <a:latin typeface="Times New Roman" panose="02020603050405020304" pitchFamily="18" charset="0"/>
                <a:cs typeface="Times New Roman" panose="02020603050405020304" pitchFamily="18" charset="0"/>
              </a:rPr>
              <a:t>				</a:t>
            </a:r>
            <a:r>
              <a:rPr altLang="en-GB" sz="2400">
                <a:solidFill>
                  <a:srgbClr val="FF0000"/>
                </a:solidFill>
                <a:latin typeface="Times New Roman" panose="02020603050405020304" pitchFamily="18" charset="0"/>
                <a:cs typeface="Times New Roman" panose="02020603050405020304" pitchFamily="18" charset="0"/>
              </a:rPr>
              <a:t>As the always can be </a:t>
            </a:r>
            <a:r>
              <a:rPr altLang="en-GB" sz="2400">
                <a:solidFill>
                  <a:srgbClr val="FF0000"/>
                </a:solidFill>
                <a:latin typeface="Times New Roman" panose="02020603050405020304" pitchFamily="18" charset="0"/>
                <a:cs typeface="Times New Roman" panose="02020603050405020304" pitchFamily="18" charset="0"/>
                <a:sym typeface="+mn-ea"/>
              </a:rPr>
              <a:t>unnecessarily</a:t>
            </a:r>
            <a:r>
              <a:rPr altLang="en-GB" sz="2400">
                <a:solidFill>
                  <a:srgbClr val="FF0000"/>
                </a:solidFill>
                <a:latin typeface="Times New Roman" panose="02020603050405020304" pitchFamily="18" charset="0"/>
                <a:cs typeface="Times New Roman" panose="02020603050405020304" pitchFamily="18" charset="0"/>
              </a:rPr>
              <a:t> retriggered many times</a:t>
            </a:r>
            <a:r>
              <a:rPr altLang="en-GB" sz="2400">
                <a:latin typeface="Times New Roman" panose="02020603050405020304" pitchFamily="18" charset="0"/>
                <a:cs typeface="Times New Roman" panose="02020603050405020304" pitchFamily="18" charset="0"/>
              </a:rPr>
              <a:t> .</a:t>
            </a:r>
            <a:endParaRPr lang="en-US" altLang="en-GB"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a:xfrm>
            <a:off x="342900" y="219456"/>
            <a:ext cx="10287000" cy="469899"/>
          </a:xfrm>
        </p:spPr>
        <p:txBody>
          <a:bodyPr/>
          <a:lstStyle/>
          <a:p>
            <a:r>
              <a:rPr>
                <a:sym typeface="+mn-ea"/>
              </a:rPr>
              <a:t>5.</a:t>
            </a:r>
            <a:r>
              <a:rPr lang="en-GB" altLang="en-US">
                <a:sym typeface="+mn-ea"/>
              </a:rPr>
              <a:t>5</a:t>
            </a:r>
            <a:r>
              <a:rPr>
                <a:sym typeface="+mn-ea"/>
              </a:rPr>
              <a:t> Coding</a:t>
            </a:r>
            <a:r>
              <a:rPr lang="en-GB" altLang="en-US">
                <a:sym typeface="+mn-ea"/>
              </a:rPr>
              <a:t> for synthesis</a:t>
            </a:r>
            <a:endParaRPr lang="en-GB" altLang="en-US"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39</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graphicFrame>
        <p:nvGraphicFramePr>
          <p:cNvPr id="8" name="Table 7"/>
          <p:cNvGraphicFramePr/>
          <p:nvPr/>
        </p:nvGraphicFramePr>
        <p:xfrm>
          <a:off x="1707515" y="3027680"/>
          <a:ext cx="8533130" cy="3490595"/>
        </p:xfrm>
        <a:graphic>
          <a:graphicData uri="http://schemas.openxmlformats.org/drawingml/2006/table">
            <a:tbl>
              <a:tblPr firstRow="1" bandRow="1">
                <a:tableStyleId>{21E4AEA4-8DFA-4A89-87EB-49C32662AFE0}</a:tableStyleId>
              </a:tblPr>
              <a:tblGrid>
                <a:gridCol w="4266565">
                  <a:extLst>
                    <a:ext uri="{9D8B030D-6E8A-4147-A177-3AD203B41FA5}">
                      <a16:colId xmlns:a16="http://schemas.microsoft.com/office/drawing/2014/main" val="20000"/>
                    </a:ext>
                  </a:extLst>
                </a:gridCol>
                <a:gridCol w="4266565">
                  <a:extLst>
                    <a:ext uri="{9D8B030D-6E8A-4147-A177-3AD203B41FA5}">
                      <a16:colId xmlns:a16="http://schemas.microsoft.com/office/drawing/2014/main" val="20001"/>
                    </a:ext>
                  </a:extLst>
                </a:gridCol>
              </a:tblGrid>
              <a:tr h="1800225">
                <a:tc>
                  <a:txBody>
                    <a:bodyPr/>
                    <a:lstStyle/>
                    <a:p>
                      <a:pPr>
                        <a:buNone/>
                      </a:pPr>
                      <a:r>
                        <a:rPr lang="en-US" altLang="en-GB">
                          <a:solidFill>
                            <a:schemeClr val="tx1"/>
                          </a:solidFill>
                        </a:rPr>
                        <a:t>Combinational block:</a:t>
                      </a:r>
                    </a:p>
                    <a:p>
                      <a:pPr>
                        <a:buNone/>
                      </a:pPr>
                      <a:r>
                        <a:rPr lang="en-US" altLang="en-GB">
                          <a:solidFill>
                            <a:schemeClr val="tx1"/>
                          </a:solidFill>
                        </a:rPr>
                        <a:t>Sensitivity list should :</a:t>
                      </a:r>
                    </a:p>
                    <a:p>
                      <a:pPr>
                        <a:buNone/>
                      </a:pPr>
                      <a:r>
                        <a:rPr lang="en-US" altLang="en-GB">
                          <a:solidFill>
                            <a:schemeClr val="tx1"/>
                          </a:solidFill>
                        </a:rPr>
                        <a:t>-Contain all read signals in the block That appears in the </a:t>
                      </a:r>
                      <a:r>
                        <a:rPr lang="en-US" altLang="en-GB">
                          <a:solidFill>
                            <a:srgbClr val="00B050"/>
                          </a:solidFill>
                        </a:rPr>
                        <a:t>RHS</a:t>
                      </a:r>
                      <a:r>
                        <a:rPr lang="en-US" altLang="en-GB">
                          <a:solidFill>
                            <a:schemeClr val="tx1"/>
                          </a:solidFill>
                        </a:rPr>
                        <a:t> or Conditions .</a:t>
                      </a:r>
                    </a:p>
                    <a:p>
                      <a:pPr>
                        <a:buNone/>
                      </a:pPr>
                      <a:r>
                        <a:rPr lang="en-US" altLang="en-GB">
                          <a:solidFill>
                            <a:schemeClr val="tx1"/>
                          </a:solidFill>
                        </a:rPr>
                        <a:t>-We can use always(*) to contain all read signals in the always block .</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en-GB">
                          <a:solidFill>
                            <a:schemeClr val="tx1"/>
                          </a:solidFill>
                        </a:rPr>
                        <a:t>Sequential Block :</a:t>
                      </a:r>
                    </a:p>
                    <a:p>
                      <a:pPr>
                        <a:buNone/>
                      </a:pPr>
                      <a:r>
                        <a:rPr lang="en-US" altLang="en-GB" sz="1800">
                          <a:solidFill>
                            <a:schemeClr val="tx1"/>
                          </a:solidFill>
                          <a:sym typeface="+mn-ea"/>
                        </a:rPr>
                        <a:t>Sensitivity list should :</a:t>
                      </a:r>
                    </a:p>
                    <a:p>
                      <a:pPr>
                        <a:buNone/>
                      </a:pPr>
                      <a:r>
                        <a:rPr lang="en-US" altLang="en-GB">
                          <a:solidFill>
                            <a:schemeClr val="tx1"/>
                          </a:solidFill>
                        </a:rPr>
                        <a:t>-Contain edge triggerd clock .</a:t>
                      </a:r>
                    </a:p>
                    <a:p>
                      <a:pPr>
                        <a:buNone/>
                      </a:pPr>
                      <a:r>
                        <a:rPr lang="en-US" altLang="en-GB">
                          <a:solidFill>
                            <a:schemeClr val="tx1"/>
                          </a:solidFill>
                        </a:rPr>
                        <a:t>-Incase of asynchrounous reset , Edge triggered reset must be included .</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0"/>
                  </a:ext>
                </a:extLst>
              </a:tr>
              <a:tr h="1690370">
                <a:tc>
                  <a:txBody>
                    <a:bodyPr/>
                    <a:lstStyle/>
                    <a:p>
                      <a:pPr>
                        <a:buNone/>
                      </a:pPr>
                      <a:endParaRPr lang="en-GB" altLang="en-US">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endParaRPr lang="en-GB" altLang="en-US">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1"/>
                  </a:ext>
                </a:extLst>
              </a:tr>
            </a:tbl>
          </a:graphicData>
        </a:graphic>
      </p:graphicFrame>
      <p:pic>
        <p:nvPicPr>
          <p:cNvPr id="9" name="Picture 8"/>
          <p:cNvPicPr>
            <a:picLocks noChangeAspect="1"/>
          </p:cNvPicPr>
          <p:nvPr/>
        </p:nvPicPr>
        <p:blipFill>
          <a:blip r:embed="rId2"/>
          <a:stretch>
            <a:fillRect/>
          </a:stretch>
        </p:blipFill>
        <p:spPr>
          <a:xfrm>
            <a:off x="1960245" y="4849495"/>
            <a:ext cx="3459480" cy="1652905"/>
          </a:xfrm>
          <a:prstGeom prst="rect">
            <a:avLst/>
          </a:prstGeom>
        </p:spPr>
      </p:pic>
      <p:pic>
        <p:nvPicPr>
          <p:cNvPr id="11" name="Picture 10"/>
          <p:cNvPicPr>
            <a:picLocks noChangeAspect="1"/>
          </p:cNvPicPr>
          <p:nvPr/>
        </p:nvPicPr>
        <p:blipFill>
          <a:blip r:embed="rId3"/>
          <a:stretch>
            <a:fillRect/>
          </a:stretch>
        </p:blipFill>
        <p:spPr>
          <a:xfrm>
            <a:off x="6203315" y="4849495"/>
            <a:ext cx="3488055" cy="16535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208405"/>
            <a:ext cx="11236960" cy="5401310"/>
          </a:xfrm>
        </p:spPr>
        <p:txBody>
          <a:bodyPr>
            <a:normAutofit/>
          </a:bodyPr>
          <a:lstStyle/>
          <a:p>
            <a:pPr marL="0" indent="0">
              <a:buSzPct val="100000"/>
              <a:buNone/>
            </a:pPr>
            <a:r>
              <a:rPr sz="2400">
                <a:sym typeface="+mn-ea"/>
              </a:rPr>
              <a:t>5.</a:t>
            </a:r>
            <a:r>
              <a:rPr lang="en-GB" altLang="en-US" sz="2400">
                <a:sym typeface="+mn-ea"/>
              </a:rPr>
              <a:t>5</a:t>
            </a:r>
            <a:r>
              <a:rPr altLang="en-GB" sz="2400">
                <a:sym typeface="+mn-ea"/>
              </a:rPr>
              <a:t>.</a:t>
            </a:r>
            <a:r>
              <a:rPr lang="en-GB" altLang="en-US" sz="2400">
                <a:sym typeface="+mn-ea"/>
              </a:rPr>
              <a:t>6</a:t>
            </a:r>
            <a:r>
              <a:rPr sz="2400">
                <a:sym typeface="+mn-ea"/>
              </a:rPr>
              <a:t> </a:t>
            </a:r>
            <a:r>
              <a:rPr lang="en-GB" altLang="en-US" sz="2400">
                <a:sym typeface="+mn-ea"/>
              </a:rPr>
              <a:t>Blocking and Nonblocking Assignments</a:t>
            </a:r>
            <a:endParaRPr lang="en-GB" altLang="en-US" sz="2400" dirty="0"/>
          </a:p>
          <a:p>
            <a:pPr marL="0" indent="0">
              <a:buSzPct val="100000"/>
              <a:buNone/>
            </a:pPr>
            <a:r>
              <a:rPr sz="2400">
                <a:effectLst/>
                <a:sym typeface="+mn-ea"/>
              </a:rPr>
              <a:t>Rule – </a:t>
            </a:r>
            <a:r>
              <a:rPr sz="2400">
                <a:effectLst/>
                <a:latin typeface="Times New Roman" panose="02020603050405020304" pitchFamily="18" charset="0"/>
                <a:cs typeface="Times New Roman" panose="02020603050405020304" pitchFamily="18" charset="0"/>
                <a:sym typeface="+mn-ea"/>
              </a:rPr>
              <a:t>When writing synthesizable code, always use nonblocking</a:t>
            </a:r>
          </a:p>
          <a:p>
            <a:pPr marL="0" indent="0">
              <a:buSzPct val="100000"/>
              <a:buNone/>
            </a:pPr>
            <a:r>
              <a:rPr sz="2400">
                <a:effectLst/>
                <a:latin typeface="Times New Roman" panose="02020603050405020304" pitchFamily="18" charset="0"/>
                <a:cs typeface="Times New Roman" panose="02020603050405020304" pitchFamily="18" charset="0"/>
                <a:sym typeface="+mn-ea"/>
              </a:rPr>
              <a:t>assignments in always@ (posedge clk) blocks.</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br>
              <a:rPr altLang="en-GB" sz="2400" b="1" dirty="0">
                <a:latin typeface="Arial-BoldMT"/>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19456"/>
            <a:ext cx="10287000" cy="814704"/>
          </a:xfrm>
        </p:spPr>
        <p:txBody>
          <a:bodyPr wrap="square"/>
          <a:lstStyle/>
          <a:p>
            <a:r>
              <a:rPr sz="3200">
                <a:sym typeface="+mn-ea"/>
              </a:rPr>
              <a:t>5.</a:t>
            </a:r>
            <a:r>
              <a:rPr lang="en-GB" altLang="en-US" sz="3200">
                <a:sym typeface="+mn-ea"/>
              </a:rPr>
              <a:t>5</a:t>
            </a:r>
            <a:r>
              <a:rPr sz="3200">
                <a:sym typeface="+mn-ea"/>
              </a:rPr>
              <a:t> Coding</a:t>
            </a:r>
            <a:r>
              <a:rPr lang="en-GB" altLang="en-US" sz="3200">
                <a:sym typeface="+mn-ea"/>
              </a:rPr>
              <a:t> for synthesis</a:t>
            </a:r>
            <a:br>
              <a:rPr lang="en-GB" altLang="en-US" sz="3200" dirty="0"/>
            </a:br>
            <a:endParaRPr lang="en-GB" altLang="en-US" sz="3200"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40</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graphicFrame>
        <p:nvGraphicFramePr>
          <p:cNvPr id="12" name="Table 11"/>
          <p:cNvGraphicFramePr/>
          <p:nvPr/>
        </p:nvGraphicFramePr>
        <p:xfrm>
          <a:off x="243840" y="2884805"/>
          <a:ext cx="11464290" cy="3649345"/>
        </p:xfrm>
        <a:graphic>
          <a:graphicData uri="http://schemas.openxmlformats.org/drawingml/2006/table">
            <a:tbl>
              <a:tblPr firstRow="1" bandRow="1">
                <a:tableStyleId>{21E4AEA4-8DFA-4A89-87EB-49C32662AFE0}</a:tableStyleId>
              </a:tblPr>
              <a:tblGrid>
                <a:gridCol w="5565140">
                  <a:extLst>
                    <a:ext uri="{9D8B030D-6E8A-4147-A177-3AD203B41FA5}">
                      <a16:colId xmlns:a16="http://schemas.microsoft.com/office/drawing/2014/main" val="20000"/>
                    </a:ext>
                  </a:extLst>
                </a:gridCol>
                <a:gridCol w="5899150">
                  <a:extLst>
                    <a:ext uri="{9D8B030D-6E8A-4147-A177-3AD203B41FA5}">
                      <a16:colId xmlns:a16="http://schemas.microsoft.com/office/drawing/2014/main" val="20001"/>
                    </a:ext>
                  </a:extLst>
                </a:gridCol>
              </a:tblGrid>
              <a:tr h="3649345">
                <a:tc>
                  <a:txBody>
                    <a:bodyPr/>
                    <a:lstStyle/>
                    <a:p>
                      <a:pPr>
                        <a:buNone/>
                      </a:pPr>
                      <a:r>
                        <a:rPr lang="en-GB" sz="1800">
                          <a:solidFill>
                            <a:schemeClr val="tx1"/>
                          </a:solidFill>
                          <a:effectLst/>
                          <a:latin typeface="Times New Roman" panose="02020603050405020304" pitchFamily="18" charset="0"/>
                          <a:cs typeface="Times New Roman" panose="02020603050405020304" pitchFamily="18" charset="0"/>
                          <a:sym typeface="+mn-ea"/>
                        </a:rPr>
                        <a:t>Blocking assignment :</a:t>
                      </a:r>
                    </a:p>
                    <a:p>
                      <a:pPr>
                        <a:buNone/>
                      </a:pPr>
                      <a:r>
                        <a:rPr lang="en-US" altLang="en-GB" sz="1800">
                          <a:solidFill>
                            <a:schemeClr val="tx1"/>
                          </a:solidFill>
                          <a:effectLst/>
                          <a:latin typeface="Times New Roman" panose="02020603050405020304" pitchFamily="18" charset="0"/>
                          <a:cs typeface="Times New Roman" panose="02020603050405020304" pitchFamily="18" charset="0"/>
                          <a:sym typeface="+mn-ea"/>
                        </a:rPr>
                        <a:t>Execution is done </a:t>
                      </a:r>
                      <a:r>
                        <a:rPr lang="en-US" altLang="en-GB" sz="1800">
                          <a:solidFill>
                            <a:srgbClr val="FFC000"/>
                          </a:solidFill>
                          <a:effectLst/>
                          <a:latin typeface="Times New Roman" panose="02020603050405020304" pitchFamily="18" charset="0"/>
                          <a:cs typeface="Times New Roman" panose="02020603050405020304" pitchFamily="18" charset="0"/>
                          <a:sym typeface="+mn-ea"/>
                        </a:rPr>
                        <a:t>sequentially </a:t>
                      </a:r>
                      <a:r>
                        <a:rPr lang="en-US" altLang="en-GB" sz="1800">
                          <a:solidFill>
                            <a:schemeClr val="tx1"/>
                          </a:solidFill>
                          <a:effectLst/>
                          <a:latin typeface="Times New Roman" panose="02020603050405020304" pitchFamily="18" charset="0"/>
                          <a:cs typeface="Times New Roman" panose="02020603050405020304" pitchFamily="18" charset="0"/>
                          <a:sym typeface="+mn-ea"/>
                        </a:rPr>
                        <a:t>(line by line ).</a:t>
                      </a:r>
                    </a:p>
                    <a:p>
                      <a:pPr>
                        <a:buNone/>
                      </a:pPr>
                      <a:r>
                        <a:rPr lang="en-US" altLang="en-GB" sz="1800">
                          <a:solidFill>
                            <a:schemeClr val="tx1"/>
                          </a:solidFill>
                          <a:effectLst/>
                          <a:latin typeface="Times New Roman" panose="02020603050405020304" pitchFamily="18" charset="0"/>
                          <a:cs typeface="Times New Roman" panose="02020603050405020304" pitchFamily="18" charset="0"/>
                          <a:sym typeface="+mn-ea"/>
                        </a:rPr>
                        <a:t>So in the following example , </a:t>
                      </a:r>
                    </a:p>
                    <a:p>
                      <a:pPr>
                        <a:buNone/>
                      </a:pPr>
                      <a:r>
                        <a:rPr lang="en-US" altLang="en-GB" sz="1800">
                          <a:solidFill>
                            <a:schemeClr val="tx1"/>
                          </a:solidFill>
                          <a:effectLst/>
                          <a:latin typeface="Times New Roman" panose="02020603050405020304" pitchFamily="18" charset="0"/>
                          <a:cs typeface="Times New Roman" panose="02020603050405020304" pitchFamily="18" charset="0"/>
                          <a:sym typeface="+mn-ea"/>
                        </a:rPr>
                        <a:t>- a is assigned to b .</a:t>
                      </a:r>
                    </a:p>
                    <a:p>
                      <a:pPr>
                        <a:buNone/>
                      </a:pPr>
                      <a:r>
                        <a:rPr lang="en-US" altLang="en-GB" sz="1800">
                          <a:solidFill>
                            <a:schemeClr val="tx1"/>
                          </a:solidFill>
                          <a:effectLst/>
                          <a:latin typeface="Times New Roman" panose="02020603050405020304" pitchFamily="18" charset="0"/>
                          <a:cs typeface="Times New Roman" panose="02020603050405020304" pitchFamily="18" charset="0"/>
                          <a:sym typeface="+mn-ea"/>
                        </a:rPr>
                        <a:t>- a is assigned to b which already has the value of a .</a:t>
                      </a:r>
                    </a:p>
                    <a:p>
                      <a:pPr>
                        <a:buNone/>
                      </a:pPr>
                      <a:r>
                        <a:rPr lang="en-US" altLang="en-GB" sz="1800">
                          <a:solidFill>
                            <a:schemeClr val="tx1"/>
                          </a:solidFill>
                          <a:effectLst/>
                          <a:latin typeface="Times New Roman" panose="02020603050405020304" pitchFamily="18" charset="0"/>
                          <a:cs typeface="Times New Roman" panose="02020603050405020304" pitchFamily="18" charset="0"/>
                          <a:sym typeface="+mn-ea"/>
                        </a:rPr>
                        <a:t>so a just loops around and is reassigned every clock.</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GB" altLang="en-US" sz="1800">
                          <a:solidFill>
                            <a:schemeClr val="tx1"/>
                          </a:solidFill>
                          <a:effectLst/>
                          <a:latin typeface="Times New Roman" panose="02020603050405020304" pitchFamily="18" charset="0"/>
                          <a:cs typeface="Times New Roman" panose="02020603050405020304" pitchFamily="18" charset="0"/>
                          <a:sym typeface="+mn-ea"/>
                        </a:rPr>
                        <a:t>Non_blocking assignment:</a:t>
                      </a:r>
                      <a:endParaRPr lang="en-US" sz="1800">
                        <a:solidFill>
                          <a:schemeClr val="tx1"/>
                        </a:solidFill>
                        <a:effectLst/>
                        <a:latin typeface="Times New Roman" panose="02020603050405020304" pitchFamily="18" charset="0"/>
                        <a:cs typeface="Times New Roman" panose="02020603050405020304" pitchFamily="18" charset="0"/>
                        <a:sym typeface="+mn-ea"/>
                      </a:endParaRPr>
                    </a:p>
                    <a:p>
                      <a:pPr>
                        <a:buNone/>
                      </a:pPr>
                      <a:r>
                        <a:rPr lang="en-US" altLang="en-GB" sz="1800">
                          <a:solidFill>
                            <a:schemeClr val="tx1"/>
                          </a:solidFill>
                          <a:effectLst/>
                          <a:latin typeface="Times New Roman" panose="02020603050405020304" pitchFamily="18" charset="0"/>
                          <a:cs typeface="Times New Roman" panose="02020603050405020304" pitchFamily="18" charset="0"/>
                          <a:sym typeface="+mn-ea"/>
                        </a:rPr>
                        <a:t>Execution is done </a:t>
                      </a:r>
                      <a:r>
                        <a:rPr lang="en-US" altLang="en-GB" sz="1800">
                          <a:solidFill>
                            <a:srgbClr val="FFC000"/>
                          </a:solidFill>
                          <a:effectLst/>
                          <a:latin typeface="Times New Roman" panose="02020603050405020304" pitchFamily="18" charset="0"/>
                          <a:cs typeface="Times New Roman" panose="02020603050405020304" pitchFamily="18" charset="0"/>
                          <a:sym typeface="+mn-ea"/>
                        </a:rPr>
                        <a:t>concurrently </a:t>
                      </a:r>
                      <a:endParaRPr lang="en-US" altLang="en-GB" sz="1800">
                        <a:solidFill>
                          <a:schemeClr val="tx1"/>
                        </a:solidFill>
                        <a:effectLst/>
                        <a:latin typeface="Times New Roman" panose="02020603050405020304" pitchFamily="18" charset="0"/>
                        <a:cs typeface="Times New Roman" panose="02020603050405020304" pitchFamily="18" charset="0"/>
                        <a:sym typeface="+mn-ea"/>
                      </a:endParaRPr>
                    </a:p>
                    <a:p>
                      <a:pPr>
                        <a:buNone/>
                      </a:pPr>
                      <a:r>
                        <a:rPr lang="en-US" altLang="en-GB" sz="1800">
                          <a:solidFill>
                            <a:schemeClr val="tx1"/>
                          </a:solidFill>
                          <a:effectLst/>
                          <a:latin typeface="Times New Roman" panose="02020603050405020304" pitchFamily="18" charset="0"/>
                          <a:cs typeface="Times New Roman" panose="02020603050405020304" pitchFamily="18" charset="0"/>
                          <a:sym typeface="+mn-ea"/>
                        </a:rPr>
                        <a:t>(</a:t>
                      </a:r>
                      <a:r>
                        <a:rPr lang="en-US" altLang="en-GB" sz="1800">
                          <a:solidFill>
                            <a:srgbClr val="00B050"/>
                          </a:solidFill>
                          <a:effectLst/>
                          <a:latin typeface="Times New Roman" panose="02020603050405020304" pitchFamily="18" charset="0"/>
                          <a:cs typeface="Times New Roman" panose="02020603050405020304" pitchFamily="18" charset="0"/>
                          <a:sym typeface="+mn-ea"/>
                        </a:rPr>
                        <a:t>RH </a:t>
                      </a:r>
                      <a:r>
                        <a:rPr lang="en-US" altLang="en-GB" sz="1800">
                          <a:solidFill>
                            <a:schemeClr val="tx1"/>
                          </a:solidFill>
                          <a:effectLst/>
                          <a:latin typeface="Times New Roman" panose="02020603050405020304" pitchFamily="18" charset="0"/>
                          <a:cs typeface="Times New Roman" panose="02020603050405020304" pitchFamily="18" charset="0"/>
                          <a:sym typeface="+mn-ea"/>
                        </a:rPr>
                        <a:t>sides are evaluated then assigned to </a:t>
                      </a:r>
                      <a:r>
                        <a:rPr lang="en-US" altLang="en-GB" sz="1800">
                          <a:solidFill>
                            <a:srgbClr val="FF0000"/>
                          </a:solidFill>
                          <a:effectLst/>
                          <a:latin typeface="Times New Roman" panose="02020603050405020304" pitchFamily="18" charset="0"/>
                          <a:cs typeface="Times New Roman" panose="02020603050405020304" pitchFamily="18" charset="0"/>
                          <a:sym typeface="+mn-ea"/>
                        </a:rPr>
                        <a:t>LH </a:t>
                      </a:r>
                      <a:r>
                        <a:rPr lang="en-US" altLang="en-GB" sz="1800">
                          <a:solidFill>
                            <a:schemeClr val="tx1"/>
                          </a:solidFill>
                          <a:effectLst/>
                          <a:latin typeface="Times New Roman" panose="02020603050405020304" pitchFamily="18" charset="0"/>
                          <a:cs typeface="Times New Roman" panose="02020603050405020304" pitchFamily="18" charset="0"/>
                          <a:sym typeface="+mn-ea"/>
                        </a:rPr>
                        <a:t>sides each clock ) and that’s the intended behaviour . </a:t>
                      </a:r>
                      <a:endParaRPr lang="en-US" altLang="en-GB"/>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0"/>
                  </a:ext>
                </a:extLst>
              </a:tr>
            </a:tbl>
          </a:graphicData>
        </a:graphic>
      </p:graphicFrame>
      <p:pic>
        <p:nvPicPr>
          <p:cNvPr id="9" name="Picture 8"/>
          <p:cNvPicPr>
            <a:picLocks noChangeAspect="1"/>
          </p:cNvPicPr>
          <p:nvPr/>
        </p:nvPicPr>
        <p:blipFill>
          <a:blip r:embed="rId2"/>
          <a:stretch>
            <a:fillRect/>
          </a:stretch>
        </p:blipFill>
        <p:spPr>
          <a:xfrm>
            <a:off x="336550" y="4582160"/>
            <a:ext cx="4101465" cy="1830070"/>
          </a:xfrm>
          <a:prstGeom prst="rect">
            <a:avLst/>
          </a:prstGeom>
        </p:spPr>
      </p:pic>
      <p:pic>
        <p:nvPicPr>
          <p:cNvPr id="11" name="Picture 10"/>
          <p:cNvPicPr>
            <a:picLocks noChangeAspect="1"/>
          </p:cNvPicPr>
          <p:nvPr/>
        </p:nvPicPr>
        <p:blipFill>
          <a:blip r:embed="rId3"/>
          <a:stretch>
            <a:fillRect/>
          </a:stretch>
        </p:blipFill>
        <p:spPr>
          <a:xfrm>
            <a:off x="5812790" y="4563110"/>
            <a:ext cx="3870325" cy="1889760"/>
          </a:xfrm>
          <a:prstGeom prst="rect">
            <a:avLst/>
          </a:prstGeom>
        </p:spPr>
      </p:pic>
      <p:pic>
        <p:nvPicPr>
          <p:cNvPr id="8" name="Picture 7"/>
          <p:cNvPicPr>
            <a:picLocks noChangeAspect="1"/>
          </p:cNvPicPr>
          <p:nvPr/>
        </p:nvPicPr>
        <p:blipFill>
          <a:blip r:embed="rId4"/>
          <a:stretch>
            <a:fillRect/>
          </a:stretch>
        </p:blipFill>
        <p:spPr>
          <a:xfrm>
            <a:off x="8935720" y="5373370"/>
            <a:ext cx="2656840" cy="1157605"/>
          </a:xfrm>
          <a:prstGeom prst="rect">
            <a:avLst/>
          </a:prstGeom>
        </p:spPr>
      </p:pic>
      <p:pic>
        <p:nvPicPr>
          <p:cNvPr id="7" name="Picture 6"/>
          <p:cNvPicPr>
            <a:picLocks noChangeAspect="1"/>
          </p:cNvPicPr>
          <p:nvPr/>
        </p:nvPicPr>
        <p:blipFill>
          <a:blip r:embed="rId5"/>
          <a:stretch>
            <a:fillRect/>
          </a:stretch>
        </p:blipFill>
        <p:spPr>
          <a:xfrm>
            <a:off x="3451860" y="5328920"/>
            <a:ext cx="2360930" cy="12020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208405"/>
            <a:ext cx="11236960" cy="5401310"/>
          </a:xfrm>
        </p:spPr>
        <p:txBody>
          <a:bodyPr>
            <a:normAutofit lnSpcReduction="10000"/>
          </a:bodyPr>
          <a:lstStyle/>
          <a:p>
            <a:pPr marL="0" indent="0">
              <a:buSzPct val="100000"/>
              <a:buNone/>
            </a:pPr>
            <a:r>
              <a:rPr sz="2400">
                <a:sym typeface="+mn-ea"/>
              </a:rPr>
              <a:t>5.</a:t>
            </a:r>
            <a:r>
              <a:rPr lang="en-GB" altLang="en-US" sz="2400">
                <a:sym typeface="+mn-ea"/>
              </a:rPr>
              <a:t>5</a:t>
            </a:r>
            <a:r>
              <a:rPr altLang="en-GB" sz="2400">
                <a:sym typeface="+mn-ea"/>
              </a:rPr>
              <a:t>.</a:t>
            </a:r>
            <a:r>
              <a:rPr lang="en-GB" altLang="en-US" sz="2400">
                <a:sym typeface="+mn-ea"/>
              </a:rPr>
              <a:t>8</a:t>
            </a:r>
            <a:r>
              <a:rPr sz="2400">
                <a:sym typeface="+mn-ea"/>
              </a:rPr>
              <a:t> </a:t>
            </a:r>
            <a:r>
              <a:rPr lang="en-GB" altLang="en-US" sz="2400">
                <a:sym typeface="+mn-ea"/>
              </a:rPr>
              <a:t>Case Statements vs. if-then-else Statements:</a:t>
            </a:r>
            <a:br>
              <a:rPr lang="en-GB" sz="2400" b="1">
                <a:effectLst/>
                <a:latin typeface="Arial-BoldMT"/>
                <a:sym typeface="+mn-ea"/>
              </a:rPr>
            </a:br>
            <a:r>
              <a:rPr sz="2400">
                <a:effectLst/>
                <a:sym typeface="+mn-ea"/>
              </a:rPr>
              <a:t>Guideline </a:t>
            </a:r>
            <a:r>
              <a:rPr sz="2400">
                <a:effectLst/>
                <a:latin typeface="Times New Roman" panose="02020603050405020304" pitchFamily="18" charset="0"/>
                <a:cs typeface="Times New Roman" panose="02020603050405020304" pitchFamily="18" charset="0"/>
                <a:sym typeface="+mn-ea"/>
              </a:rPr>
              <a:t>– The multiplexer is a faster circuit. </a:t>
            </a:r>
            <a:r>
              <a:rPr lang="en-GB" altLang="en-US" sz="2400">
                <a:effectLst/>
                <a:latin typeface="Times New Roman" panose="02020603050405020304" pitchFamily="18" charset="0"/>
                <a:cs typeface="Times New Roman" panose="02020603050405020304" pitchFamily="18" charset="0"/>
                <a:sym typeface="+mn-ea"/>
              </a:rPr>
              <a:t>So</a:t>
            </a:r>
            <a:r>
              <a:rPr sz="2400">
                <a:effectLst/>
                <a:latin typeface="Times New Roman" panose="02020603050405020304" pitchFamily="18" charset="0"/>
                <a:cs typeface="Times New Roman" panose="02020603050405020304" pitchFamily="18" charset="0"/>
                <a:sym typeface="+mn-ea"/>
              </a:rPr>
              <a:t>, if the priority-encoding</a:t>
            </a:r>
            <a:br>
              <a:rPr sz="2400">
                <a:effectLst/>
                <a:latin typeface="Times New Roman" panose="02020603050405020304" pitchFamily="18" charset="0"/>
                <a:cs typeface="Times New Roman" panose="02020603050405020304" pitchFamily="18" charset="0"/>
                <a:sym typeface="+mn-ea"/>
              </a:rPr>
            </a:br>
            <a:r>
              <a:rPr sz="2400">
                <a:effectLst/>
                <a:latin typeface="Times New Roman" panose="02020603050405020304" pitchFamily="18" charset="0"/>
                <a:cs typeface="Times New Roman" panose="02020603050405020304" pitchFamily="18" charset="0"/>
                <a:sym typeface="+mn-ea"/>
              </a:rPr>
              <a:t>structure is not required,  case statement </a:t>
            </a:r>
            <a:r>
              <a:rPr lang="en-GB" altLang="en-US" sz="2400">
                <a:effectLst/>
                <a:latin typeface="Times New Roman" panose="02020603050405020304" pitchFamily="18" charset="0"/>
                <a:cs typeface="Times New Roman" panose="02020603050405020304" pitchFamily="18" charset="0"/>
                <a:sym typeface="+mn-ea"/>
              </a:rPr>
              <a:t>is prefered over if-else statement .</a:t>
            </a:r>
            <a:br>
              <a:rPr lang="en-GB" altLang="en-US" sz="2400">
                <a:effectLst/>
                <a:latin typeface="Times New Roman" panose="02020603050405020304" pitchFamily="18" charset="0"/>
                <a:cs typeface="Times New Roman" panose="02020603050405020304" pitchFamily="18" charset="0"/>
                <a:sym typeface="+mn-ea"/>
              </a:rPr>
            </a:br>
            <a:br>
              <a:rPr lang="en-GB" altLang="en-US"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r>
              <a:rPr altLang="en-GB" sz="2400" b="1">
                <a:effectLst/>
                <a:latin typeface="Times New Roman" panose="02020603050405020304" pitchFamily="18" charset="0"/>
                <a:cs typeface="Times New Roman" panose="02020603050405020304" pitchFamily="18" charset="0"/>
                <a:sym typeface="+mn-ea"/>
              </a:rPr>
              <a:t>Note _ </a:t>
            </a:r>
            <a:r>
              <a:rPr altLang="en-GB" sz="2400">
                <a:effectLst/>
                <a:latin typeface="Times New Roman" panose="02020603050405020304" pitchFamily="18" charset="0"/>
                <a:cs typeface="Times New Roman" panose="02020603050405020304" pitchFamily="18" charset="0"/>
                <a:sym typeface="+mn-ea"/>
              </a:rPr>
              <a:t> An if-then-else statement can be useful if you have a late-arriving signal like the shown example , if ‘a’ is a </a:t>
            </a:r>
            <a:r>
              <a:rPr altLang="en-GB" sz="2400">
                <a:solidFill>
                  <a:srgbClr val="FF0000"/>
                </a:solidFill>
                <a:effectLst/>
                <a:latin typeface="Times New Roman" panose="02020603050405020304" pitchFamily="18" charset="0"/>
                <a:cs typeface="Times New Roman" panose="02020603050405020304" pitchFamily="18" charset="0"/>
                <a:sym typeface="+mn-ea"/>
              </a:rPr>
              <a:t>late arriving</a:t>
            </a:r>
            <a:r>
              <a:rPr altLang="en-GB" sz="2400">
                <a:effectLst/>
                <a:latin typeface="Times New Roman" panose="02020603050405020304" pitchFamily="18" charset="0"/>
                <a:cs typeface="Times New Roman" panose="02020603050405020304" pitchFamily="18" charset="0"/>
                <a:sym typeface="+mn-ea"/>
              </a:rPr>
              <a:t> signal , it can be connected to the </a:t>
            </a:r>
            <a:r>
              <a:rPr altLang="en-GB" sz="2400">
                <a:solidFill>
                  <a:srgbClr val="00B050"/>
                </a:solidFill>
                <a:effectLst/>
                <a:latin typeface="Times New Roman" panose="02020603050405020304" pitchFamily="18" charset="0"/>
                <a:cs typeface="Times New Roman" panose="02020603050405020304" pitchFamily="18" charset="0"/>
                <a:sym typeface="+mn-ea"/>
              </a:rPr>
              <a:t>fastest path</a:t>
            </a:r>
            <a:r>
              <a:rPr altLang="en-GB" sz="2400">
                <a:effectLst/>
                <a:latin typeface="Times New Roman" panose="02020603050405020304" pitchFamily="18" charset="0"/>
                <a:cs typeface="Times New Roman" panose="02020603050405020304" pitchFamily="18" charset="0"/>
                <a:sym typeface="+mn-ea"/>
              </a:rPr>
              <a:t> (first if condition )</a:t>
            </a:r>
            <a:br>
              <a:rPr lang="en-GB" altLang="en-US" sz="2400">
                <a:effectLst/>
                <a:latin typeface="Times New Roman" panose="02020603050405020304" pitchFamily="18" charset="0"/>
                <a:cs typeface="Times New Roman" panose="02020603050405020304" pitchFamily="18" charset="0"/>
                <a:sym typeface="+mn-ea"/>
              </a:rPr>
            </a:br>
            <a:endParaRPr sz="2400">
              <a:effectLst/>
              <a:latin typeface="Times New Roman" panose="02020603050405020304" pitchFamily="18" charset="0"/>
              <a:cs typeface="Times New Roman" panose="02020603050405020304" pitchFamily="18" charset="0"/>
              <a:sym typeface="+mn-ea"/>
            </a:endParaRPr>
          </a:p>
          <a:p>
            <a:pPr marL="0" indent="0">
              <a:buSzPct val="100000"/>
              <a:buNone/>
            </a:pP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br>
              <a:rPr altLang="en-GB" sz="2400" b="1" dirty="0">
                <a:latin typeface="Arial-BoldMT"/>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19456"/>
            <a:ext cx="10287000" cy="814704"/>
          </a:xfrm>
        </p:spPr>
        <p:txBody>
          <a:bodyPr wrap="square"/>
          <a:lstStyle/>
          <a:p>
            <a:r>
              <a:rPr sz="3200">
                <a:sym typeface="+mn-ea"/>
              </a:rPr>
              <a:t>5.</a:t>
            </a:r>
            <a:r>
              <a:rPr lang="en-GB" altLang="en-US" sz="3200">
                <a:sym typeface="+mn-ea"/>
              </a:rPr>
              <a:t>5</a:t>
            </a:r>
            <a:r>
              <a:rPr sz="3200">
                <a:sym typeface="+mn-ea"/>
              </a:rPr>
              <a:t> Coding</a:t>
            </a:r>
            <a:r>
              <a:rPr lang="en-GB" altLang="en-US" sz="3200">
                <a:sym typeface="+mn-ea"/>
              </a:rPr>
              <a:t> for synthesis</a:t>
            </a:r>
            <a:br>
              <a:rPr lang="en-GB" altLang="en-US" sz="3200" dirty="0"/>
            </a:br>
            <a:endParaRPr lang="en-GB" altLang="en-US" sz="3200"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41</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graphicFrame>
        <p:nvGraphicFramePr>
          <p:cNvPr id="12" name="Table 11"/>
          <p:cNvGraphicFramePr/>
          <p:nvPr/>
        </p:nvGraphicFramePr>
        <p:xfrm>
          <a:off x="263525" y="3372485"/>
          <a:ext cx="8533130" cy="2410460"/>
        </p:xfrm>
        <a:graphic>
          <a:graphicData uri="http://schemas.openxmlformats.org/drawingml/2006/table">
            <a:tbl>
              <a:tblPr firstRow="1" bandRow="1">
                <a:tableStyleId>{21E4AEA4-8DFA-4A89-87EB-49C32662AFE0}</a:tableStyleId>
              </a:tblPr>
              <a:tblGrid>
                <a:gridCol w="4236085">
                  <a:extLst>
                    <a:ext uri="{9D8B030D-6E8A-4147-A177-3AD203B41FA5}">
                      <a16:colId xmlns:a16="http://schemas.microsoft.com/office/drawing/2014/main" val="20000"/>
                    </a:ext>
                  </a:extLst>
                </a:gridCol>
                <a:gridCol w="4297045">
                  <a:extLst>
                    <a:ext uri="{9D8B030D-6E8A-4147-A177-3AD203B41FA5}">
                      <a16:colId xmlns:a16="http://schemas.microsoft.com/office/drawing/2014/main" val="20001"/>
                    </a:ext>
                  </a:extLst>
                </a:gridCol>
              </a:tblGrid>
              <a:tr h="2410460">
                <a:tc>
                  <a:txBody>
                    <a:bodyPr/>
                    <a:lstStyle/>
                    <a:p>
                      <a:pPr>
                        <a:buNone/>
                      </a:pPr>
                      <a:r>
                        <a:rPr lang="en-GB" sz="1800">
                          <a:solidFill>
                            <a:schemeClr val="tx1"/>
                          </a:solidFill>
                          <a:effectLst/>
                          <a:latin typeface="Times New Roman" panose="02020603050405020304" pitchFamily="18" charset="0"/>
                          <a:cs typeface="Times New Roman" panose="02020603050405020304" pitchFamily="18" charset="0"/>
                          <a:sym typeface="+mn-ea"/>
                        </a:rPr>
                        <a:t>Case Statement : </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GB" altLang="en-US" sz="1800">
                          <a:solidFill>
                            <a:schemeClr val="tx1"/>
                          </a:solidFill>
                          <a:effectLst/>
                          <a:latin typeface="Times New Roman" panose="02020603050405020304" pitchFamily="18" charset="0"/>
                          <a:cs typeface="Times New Roman" panose="02020603050405020304" pitchFamily="18" charset="0"/>
                          <a:sym typeface="+mn-ea"/>
                        </a:rPr>
                        <a:t>If -else statements :</a:t>
                      </a:r>
                    </a:p>
                    <a:p>
                      <a:pPr>
                        <a:buNone/>
                      </a:pPr>
                      <a:endParaRPr lang="en-US" sz="1800">
                        <a:solidFill>
                          <a:schemeClr val="tx1"/>
                        </a:solidFill>
                        <a:effectLst/>
                        <a:latin typeface="Times New Roman" panose="02020603050405020304" pitchFamily="18" charset="0"/>
                        <a:cs typeface="Times New Roman" panose="02020603050405020304" pitchFamily="18" charset="0"/>
                        <a:sym typeface="+mn-ea"/>
                      </a:endParaRPr>
                    </a:p>
                    <a:p>
                      <a:pPr>
                        <a:buNone/>
                      </a:pPr>
                      <a:endParaRPr altLang="en-GB" sz="1800">
                        <a:solidFill>
                          <a:schemeClr val="tx1"/>
                        </a:solidFill>
                        <a:effectLst/>
                        <a:latin typeface="Times New Roman" panose="02020603050405020304" pitchFamily="18" charset="0"/>
                        <a:cs typeface="Times New Roman" panose="02020603050405020304" pitchFamily="18" charset="0"/>
                        <a:sym typeface="+mn-ea"/>
                      </a:endParaRPr>
                    </a:p>
                    <a:p>
                      <a:pPr>
                        <a:buNone/>
                      </a:pPr>
                      <a:r>
                        <a:rPr lang="en-US" altLang="en-GB"/>
                        <a:t>v</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0"/>
                  </a:ext>
                </a:extLst>
              </a:tr>
            </a:tbl>
          </a:graphicData>
        </a:graphic>
      </p:graphicFrame>
      <p:pic>
        <p:nvPicPr>
          <p:cNvPr id="7" name="Picture 6"/>
          <p:cNvPicPr>
            <a:picLocks noChangeAspect="1"/>
          </p:cNvPicPr>
          <p:nvPr/>
        </p:nvPicPr>
        <p:blipFill>
          <a:blip r:embed="rId2"/>
          <a:stretch>
            <a:fillRect/>
          </a:stretch>
        </p:blipFill>
        <p:spPr>
          <a:xfrm>
            <a:off x="4734560" y="3684270"/>
            <a:ext cx="3527425" cy="2004695"/>
          </a:xfrm>
          <a:prstGeom prst="rect">
            <a:avLst/>
          </a:prstGeom>
        </p:spPr>
      </p:pic>
      <p:pic>
        <p:nvPicPr>
          <p:cNvPr id="8" name="Picture 7"/>
          <p:cNvPicPr>
            <a:picLocks noChangeAspect="1"/>
          </p:cNvPicPr>
          <p:nvPr/>
        </p:nvPicPr>
        <p:blipFill>
          <a:blip r:embed="rId3"/>
          <a:stretch>
            <a:fillRect/>
          </a:stretch>
        </p:blipFill>
        <p:spPr>
          <a:xfrm>
            <a:off x="694055" y="3889375"/>
            <a:ext cx="3135630" cy="17995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42900" y="1214755"/>
            <a:ext cx="11236960" cy="5401310"/>
          </a:xfrm>
        </p:spPr>
        <p:txBody>
          <a:bodyPr>
            <a:normAutofit/>
          </a:bodyPr>
          <a:lstStyle/>
          <a:p>
            <a:pPr marL="0" indent="0">
              <a:lnSpc>
                <a:spcPct val="80000"/>
              </a:lnSpc>
              <a:buSzPct val="100000"/>
              <a:buNone/>
            </a:pPr>
            <a:r>
              <a:rPr sz="2400">
                <a:sym typeface="+mn-ea"/>
              </a:rPr>
              <a:t>5.</a:t>
            </a:r>
            <a:r>
              <a:rPr lang="en-GB" altLang="en-US" sz="2400">
                <a:sym typeface="+mn-ea"/>
              </a:rPr>
              <a:t>5</a:t>
            </a:r>
            <a:r>
              <a:rPr altLang="en-GB" sz="2400">
                <a:sym typeface="+mn-ea"/>
              </a:rPr>
              <a:t>.</a:t>
            </a:r>
            <a:r>
              <a:rPr lang="en-GB" altLang="en-US" sz="2400">
                <a:sym typeface="+mn-ea"/>
              </a:rPr>
              <a:t>9</a:t>
            </a:r>
            <a:r>
              <a:rPr sz="2400">
                <a:sym typeface="+mn-ea"/>
              </a:rPr>
              <a:t> </a:t>
            </a:r>
            <a:r>
              <a:rPr lang="en-GB" altLang="en-US" sz="2400">
                <a:sym typeface="+mn-ea"/>
              </a:rPr>
              <a:t>Coding Sequential Logic:</a:t>
            </a:r>
            <a:br>
              <a:rPr lang="en-GB" sz="2400" b="1">
                <a:effectLst/>
                <a:latin typeface="Arial-BoldMT"/>
                <a:sym typeface="+mn-ea"/>
              </a:rPr>
            </a:br>
            <a:r>
              <a:rPr sz="2400">
                <a:effectLst/>
                <a:sym typeface="+mn-ea"/>
              </a:rPr>
              <a:t>Guideline </a:t>
            </a:r>
            <a:r>
              <a:rPr lang="en-GB" altLang="en-US" sz="2400">
                <a:effectLst/>
                <a:sym typeface="+mn-ea"/>
              </a:rPr>
              <a:t>_</a:t>
            </a:r>
            <a:r>
              <a:rPr lang="en-GB" altLang="en-US" sz="2000">
                <a:effectLst/>
                <a:latin typeface="Times New Roman" panose="02020603050405020304" pitchFamily="18" charset="0"/>
                <a:cs typeface="Times New Roman" panose="02020603050405020304" pitchFamily="18" charset="0"/>
                <a:sym typeface="+mn-ea"/>
              </a:rPr>
              <a:t> </a:t>
            </a:r>
            <a:r>
              <a:rPr sz="2000">
                <a:effectLst/>
                <a:latin typeface="Times New Roman" panose="02020603050405020304" pitchFamily="18" charset="0"/>
                <a:cs typeface="Times New Roman" panose="02020603050405020304" pitchFamily="18" charset="0"/>
                <a:sym typeface="+mn-ea"/>
              </a:rPr>
              <a:t>Code sequential logic, including state machines, with one sequential</a:t>
            </a:r>
          </a:p>
          <a:p>
            <a:pPr marL="0" indent="0">
              <a:lnSpc>
                <a:spcPct val="80000"/>
              </a:lnSpc>
              <a:buSzPct val="100000"/>
              <a:buNone/>
            </a:pPr>
            <a:r>
              <a:rPr sz="2000">
                <a:effectLst/>
                <a:latin typeface="Times New Roman" panose="02020603050405020304" pitchFamily="18" charset="0"/>
                <a:cs typeface="Times New Roman" panose="02020603050405020304" pitchFamily="18" charset="0"/>
                <a:sym typeface="+mn-ea"/>
              </a:rPr>
              <a:t>sequential process. Improve readability by generating complex intermediate variables</a:t>
            </a:r>
          </a:p>
          <a:p>
            <a:pPr marL="0" indent="0">
              <a:lnSpc>
                <a:spcPct val="80000"/>
              </a:lnSpc>
              <a:buSzPct val="100000"/>
              <a:buNone/>
            </a:pPr>
            <a:r>
              <a:rPr sz="2000">
                <a:effectLst/>
                <a:latin typeface="Times New Roman" panose="02020603050405020304" pitchFamily="18" charset="0"/>
                <a:cs typeface="Times New Roman" panose="02020603050405020304" pitchFamily="18" charset="0"/>
                <a:sym typeface="+mn-ea"/>
              </a:rPr>
              <a:t>outside of the sequential process with assign statements.</a:t>
            </a:r>
            <a:r>
              <a:rPr altLang="en-GB" sz="2000">
                <a:effectLst/>
                <a:latin typeface="Times New Roman" panose="02020603050405020304" pitchFamily="18" charset="0"/>
                <a:cs typeface="Times New Roman" panose="02020603050405020304" pitchFamily="18" charset="0"/>
                <a:sym typeface="+mn-ea"/>
              </a:rPr>
              <a:t> </a:t>
            </a: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mj-lt"/>
                <a:cs typeface="+mj-lt"/>
                <a:sym typeface="+mn-ea"/>
              </a:rPr>
              <a:t>Guideline – </a:t>
            </a:r>
            <a:r>
              <a:rPr altLang="en-GB" sz="2000">
                <a:effectLst/>
                <a:latin typeface="Times New Roman" panose="02020603050405020304" pitchFamily="18" charset="0"/>
                <a:cs typeface="Times New Roman" panose="02020603050405020304" pitchFamily="18" charset="0"/>
                <a:sym typeface="+mn-ea"/>
              </a:rPr>
              <a:t>Keep FSM and non-FSM logic in separate modules if they</a:t>
            </a:r>
            <a:br>
              <a:rPr altLang="en-GB" sz="2000">
                <a:effectLst/>
                <a:latin typeface="Times New Roman" panose="02020603050405020304" pitchFamily="18" charset="0"/>
                <a:cs typeface="Times New Roman" panose="02020603050405020304" pitchFamily="18" charset="0"/>
                <a:sym typeface="+mn-ea"/>
              </a:rPr>
            </a:br>
            <a:r>
              <a:rPr altLang="en-GB" sz="2000">
                <a:effectLst/>
                <a:latin typeface="Times New Roman" panose="02020603050405020304" pitchFamily="18" charset="0"/>
                <a:cs typeface="Times New Roman" panose="02020603050405020304" pitchFamily="18" charset="0"/>
                <a:sym typeface="+mn-ea"/>
              </a:rPr>
              <a:t> have different synthesis requirements. </a:t>
            </a:r>
            <a:br>
              <a:rPr altLang="en-GB" sz="2000">
                <a:effectLst/>
                <a:latin typeface="Times New Roman" panose="02020603050405020304" pitchFamily="18" charset="0"/>
                <a:cs typeface="Times New Roman" panose="02020603050405020304" pitchFamily="18" charset="0"/>
                <a:sym typeface="+mn-ea"/>
              </a:rPr>
            </a:br>
            <a:br>
              <a:rPr altLang="en-GB" sz="2000">
                <a:effectLst/>
                <a:latin typeface="Times New Roman" panose="02020603050405020304" pitchFamily="18" charset="0"/>
                <a:cs typeface="Times New Roman" panose="02020603050405020304" pitchFamily="18" charset="0"/>
                <a:sym typeface="+mn-ea"/>
              </a:rPr>
            </a:br>
            <a:r>
              <a:rPr altLang="en-GB" sz="2000">
                <a:effectLst/>
                <a:latin typeface="Times New Roman" panose="02020603050405020304" pitchFamily="18" charset="0"/>
                <a:cs typeface="Times New Roman" panose="02020603050405020304" pitchFamily="18" charset="0"/>
                <a:sym typeface="+mn-ea"/>
              </a:rPr>
              <a:t>For example, a very complex FSM might need to be in a</a:t>
            </a:r>
            <a:r>
              <a:rPr lang="en-GB" altLang="en-US" sz="2000">
                <a:effectLst/>
                <a:latin typeface="Times New Roman" panose="02020603050405020304" pitchFamily="18" charset="0"/>
                <a:cs typeface="Times New Roman" panose="02020603050405020304" pitchFamily="18" charset="0"/>
                <a:sym typeface="+mn-ea"/>
              </a:rPr>
              <a:t> </a:t>
            </a:r>
            <a:r>
              <a:rPr altLang="en-GB" sz="2000">
                <a:effectLst/>
                <a:latin typeface="Times New Roman" panose="02020603050405020304" pitchFamily="18" charset="0"/>
                <a:cs typeface="Times New Roman" panose="02020603050405020304" pitchFamily="18" charset="0"/>
                <a:sym typeface="+mn-ea"/>
              </a:rPr>
              <a:t>separate module</a:t>
            </a:r>
            <a:br>
              <a:rPr altLang="en-GB" sz="2000">
                <a:effectLst/>
                <a:latin typeface="Times New Roman" panose="02020603050405020304" pitchFamily="18" charset="0"/>
                <a:cs typeface="Times New Roman" panose="02020603050405020304" pitchFamily="18" charset="0"/>
                <a:sym typeface="+mn-ea"/>
              </a:rPr>
            </a:br>
            <a:r>
              <a:rPr altLang="en-GB" sz="2000">
                <a:effectLst/>
                <a:latin typeface="Times New Roman" panose="02020603050405020304" pitchFamily="18" charset="0"/>
                <a:cs typeface="Times New Roman" panose="02020603050405020304" pitchFamily="18" charset="0"/>
                <a:sym typeface="+mn-ea"/>
              </a:rPr>
              <a:t> from a complex arithmetic block.</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br>
              <a:rPr altLang="en-GB" sz="2400" b="1" dirty="0">
                <a:latin typeface="Arial-BoldMT"/>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19456"/>
            <a:ext cx="10287000" cy="814704"/>
          </a:xfrm>
        </p:spPr>
        <p:txBody>
          <a:bodyPr wrap="square"/>
          <a:lstStyle/>
          <a:p>
            <a:r>
              <a:rPr sz="3200">
                <a:sym typeface="+mn-ea"/>
              </a:rPr>
              <a:t>5.</a:t>
            </a:r>
            <a:r>
              <a:rPr lang="en-GB" altLang="en-US" sz="3200">
                <a:sym typeface="+mn-ea"/>
              </a:rPr>
              <a:t>5</a:t>
            </a:r>
            <a:r>
              <a:rPr sz="3200">
                <a:sym typeface="+mn-ea"/>
              </a:rPr>
              <a:t> Coding</a:t>
            </a:r>
            <a:r>
              <a:rPr lang="en-GB" altLang="en-US" sz="3200">
                <a:sym typeface="+mn-ea"/>
              </a:rPr>
              <a:t> for synthesis</a:t>
            </a:r>
            <a:br>
              <a:rPr lang="en-GB" altLang="en-US" sz="3200" dirty="0"/>
            </a:br>
            <a:endParaRPr lang="en-GB" altLang="en-US" sz="3200"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42</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9" name="Picture 8"/>
          <p:cNvPicPr>
            <a:picLocks noChangeAspect="1"/>
          </p:cNvPicPr>
          <p:nvPr/>
        </p:nvPicPr>
        <p:blipFill>
          <a:blip r:embed="rId2"/>
          <a:stretch>
            <a:fillRect/>
          </a:stretch>
        </p:blipFill>
        <p:spPr>
          <a:xfrm>
            <a:off x="9077960" y="1227455"/>
            <a:ext cx="3114040" cy="52330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42900" y="1214755"/>
            <a:ext cx="11236960" cy="5401310"/>
          </a:xfrm>
        </p:spPr>
        <p:txBody>
          <a:bodyPr>
            <a:normAutofit fontScale="90000" lnSpcReduction="20000"/>
          </a:bodyPr>
          <a:lstStyle/>
          <a:p>
            <a:pPr marL="0" indent="0">
              <a:lnSpc>
                <a:spcPct val="80000"/>
              </a:lnSpc>
              <a:buSzPct val="100000"/>
              <a:buNone/>
            </a:pPr>
            <a:r>
              <a:rPr sz="2400">
                <a:sym typeface="+mn-ea"/>
              </a:rPr>
              <a:t>5.</a:t>
            </a:r>
            <a:r>
              <a:rPr lang="en-GB" altLang="en-US" sz="2400">
                <a:sym typeface="+mn-ea"/>
              </a:rPr>
              <a:t>5</a:t>
            </a:r>
            <a:r>
              <a:rPr altLang="en-GB" sz="2400">
                <a:sym typeface="+mn-ea"/>
              </a:rPr>
              <a:t>.</a:t>
            </a:r>
            <a:r>
              <a:rPr lang="en-GB" altLang="en-US" sz="2400">
                <a:sym typeface="+mn-ea"/>
              </a:rPr>
              <a:t>10</a:t>
            </a:r>
            <a:r>
              <a:rPr sz="2400">
                <a:sym typeface="+mn-ea"/>
              </a:rPr>
              <a:t> </a:t>
            </a:r>
            <a:r>
              <a:rPr lang="en-GB" altLang="en-US" sz="2400">
                <a:sym typeface="+mn-ea"/>
              </a:rPr>
              <a:t>Coding Sequential Logic:</a:t>
            </a:r>
            <a:br>
              <a:rPr lang="en-GB" altLang="en-US" sz="2400">
                <a:sym typeface="+mn-ea"/>
              </a:rPr>
            </a:br>
            <a:br>
              <a:rPr lang="en-GB" sz="2400" b="1">
                <a:effectLst/>
                <a:latin typeface="Arial-BoldMT"/>
                <a:sym typeface="+mn-ea"/>
              </a:rPr>
            </a:br>
            <a:r>
              <a:rPr sz="2400">
                <a:effectLst/>
                <a:sym typeface="+mn-ea"/>
              </a:rPr>
              <a:t>Guideline </a:t>
            </a:r>
            <a:r>
              <a:rPr lang="en-GB" altLang="en-US" sz="2400">
                <a:effectLst/>
                <a:sym typeface="+mn-ea"/>
              </a:rPr>
              <a:t>_</a:t>
            </a:r>
            <a:r>
              <a:rPr lang="en-GB" altLang="en-US" sz="2000">
                <a:effectLst/>
                <a:latin typeface="Times New Roman" panose="02020603050405020304" pitchFamily="18" charset="0"/>
                <a:cs typeface="Times New Roman" panose="02020603050405020304" pitchFamily="18" charset="0"/>
                <a:sym typeface="+mn-ea"/>
              </a:rPr>
              <a:t> </a:t>
            </a:r>
            <a:r>
              <a:rPr sz="2000">
                <a:effectLst/>
                <a:latin typeface="Times New Roman" panose="02020603050405020304" pitchFamily="18" charset="0"/>
                <a:cs typeface="Times New Roman" panose="02020603050405020304" pitchFamily="18" charset="0"/>
                <a:sym typeface="+mn-ea"/>
              </a:rPr>
              <a:t>Guideline – Keep late-arriving signals with critical timing closest to the output of a</a:t>
            </a:r>
          </a:p>
          <a:p>
            <a:pPr marL="0" indent="0">
              <a:lnSpc>
                <a:spcPct val="80000"/>
              </a:lnSpc>
              <a:buSzPct val="100000"/>
              <a:buNone/>
            </a:pPr>
            <a:r>
              <a:rPr sz="2000">
                <a:effectLst/>
                <a:latin typeface="Times New Roman" panose="02020603050405020304" pitchFamily="18" charset="0"/>
                <a:cs typeface="Times New Roman" panose="02020603050405020304" pitchFamily="18" charset="0"/>
                <a:sym typeface="+mn-ea"/>
              </a:rPr>
              <a:t>logic block. For example, use the </a:t>
            </a:r>
            <a:r>
              <a:rPr sz="2000">
                <a:solidFill>
                  <a:srgbClr val="FF0000"/>
                </a:solidFill>
                <a:effectLst/>
                <a:latin typeface="Times New Roman" panose="02020603050405020304" pitchFamily="18" charset="0"/>
                <a:cs typeface="Times New Roman" panose="02020603050405020304" pitchFamily="18" charset="0"/>
                <a:sym typeface="+mn-ea"/>
              </a:rPr>
              <a:t>late-arriving</a:t>
            </a:r>
            <a:r>
              <a:rPr sz="2000">
                <a:effectLst/>
                <a:latin typeface="Times New Roman" panose="02020603050405020304" pitchFamily="18" charset="0"/>
                <a:cs typeface="Times New Roman" panose="02020603050405020304" pitchFamily="18" charset="0"/>
                <a:sym typeface="+mn-ea"/>
              </a:rPr>
              <a:t> signal early in an if-else block</a:t>
            </a:r>
            <a:r>
              <a:rPr lang="en-GB" altLang="en-US" sz="2000">
                <a:effectLst/>
                <a:latin typeface="Times New Roman" panose="02020603050405020304" pitchFamily="18" charset="0"/>
                <a:cs typeface="Times New Roman" panose="02020603050405020304" pitchFamily="18" charset="0"/>
                <a:sym typeface="+mn-ea"/>
              </a:rPr>
              <a:t> </a:t>
            </a:r>
            <a:br>
              <a:rPr lang="en-GB" altLang="en-US" sz="2000">
                <a:effectLst/>
                <a:latin typeface="Times New Roman" panose="02020603050405020304" pitchFamily="18" charset="0"/>
                <a:cs typeface="Times New Roman" panose="02020603050405020304" pitchFamily="18" charset="0"/>
                <a:sym typeface="+mn-ea"/>
              </a:rPr>
            </a:br>
            <a:r>
              <a:rPr lang="en-GB" altLang="en-US" sz="2000">
                <a:effectLst/>
                <a:latin typeface="Times New Roman" panose="02020603050405020304" pitchFamily="18" charset="0"/>
                <a:cs typeface="Times New Roman" panose="02020603050405020304" pitchFamily="18" charset="0"/>
                <a:sym typeface="+mn-ea"/>
              </a:rPr>
              <a:t>(first if condition in if-else statements)</a:t>
            </a:r>
            <a:r>
              <a:rPr altLang="en-GB" sz="2000">
                <a:effectLst/>
                <a:latin typeface="Times New Roman" panose="02020603050405020304" pitchFamily="18" charset="0"/>
                <a:cs typeface="Times New Roman" panose="02020603050405020304" pitchFamily="18" charset="0"/>
                <a:sym typeface="+mn-ea"/>
              </a:rPr>
              <a:t> </a:t>
            </a: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r>
              <a:rPr lang="en-GB" altLang="en-US" sz="2400">
                <a:effectLst/>
                <a:latin typeface="Times New Roman" panose="02020603050405020304" pitchFamily="18" charset="0"/>
                <a:cs typeface="Times New Roman" panose="02020603050405020304" pitchFamily="18" charset="0"/>
                <a:sym typeface="+mn-ea"/>
              </a:rPr>
              <a:t>-----------------------------------------------------------------------------------</a:t>
            </a: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r>
              <a:rPr sz="2000">
                <a:sym typeface="+mn-ea"/>
              </a:rPr>
              <a:t>5.</a:t>
            </a:r>
            <a:r>
              <a:rPr lang="en-GB" altLang="en-US" sz="2000">
                <a:sym typeface="+mn-ea"/>
              </a:rPr>
              <a:t>5</a:t>
            </a:r>
            <a:r>
              <a:rPr altLang="en-GB" sz="2000">
                <a:sym typeface="+mn-ea"/>
              </a:rPr>
              <a:t>.</a:t>
            </a:r>
            <a:r>
              <a:rPr lang="en-GB" altLang="en-US" sz="2000">
                <a:sym typeface="+mn-ea"/>
              </a:rPr>
              <a:t>11</a:t>
            </a:r>
            <a:r>
              <a:rPr sz="2000">
                <a:sym typeface="+mn-ea"/>
              </a:rPr>
              <a:t> </a:t>
            </a:r>
            <a:r>
              <a:rPr lang="en-GB" altLang="en-US" sz="2000">
                <a:sym typeface="+mn-ea"/>
              </a:rPr>
              <a:t>Avoid Delay Times:</a:t>
            </a:r>
            <a:br>
              <a:rPr lang="en-GB" altLang="en-US" sz="2400">
                <a:sym typeface="+mn-ea"/>
              </a:rPr>
            </a:br>
            <a:br>
              <a:rPr altLang="en-GB" sz="2000">
                <a:effectLst/>
                <a:latin typeface="Times New Roman" panose="02020603050405020304" pitchFamily="18" charset="0"/>
                <a:cs typeface="Times New Roman" panose="02020603050405020304" pitchFamily="18" charset="0"/>
                <a:sym typeface="+mn-ea"/>
              </a:rPr>
            </a:br>
            <a:r>
              <a:rPr sz="2000">
                <a:effectLst/>
                <a:sym typeface="+mn-ea"/>
              </a:rPr>
              <a:t>Guideline</a:t>
            </a:r>
            <a:r>
              <a:rPr lang="en-GB" altLang="en-US" sz="2000">
                <a:effectLst/>
                <a:sym typeface="+mn-ea"/>
              </a:rPr>
              <a:t> </a:t>
            </a:r>
            <a:r>
              <a:rPr lang="en-GB" altLang="en-US" sz="2000">
                <a:effectLst/>
                <a:latin typeface="Times New Roman" panose="02020603050405020304" pitchFamily="18" charset="0"/>
                <a:cs typeface="Times New Roman" panose="02020603050405020304" pitchFamily="18" charset="0"/>
                <a:sym typeface="+mn-ea"/>
              </a:rPr>
              <a:t>– Do not use any delay constants in RTL code for the following reasons :</a:t>
            </a:r>
            <a:br>
              <a:rPr lang="en-GB" altLang="en-US" sz="2000">
                <a:effectLst/>
                <a:latin typeface="Times New Roman" panose="02020603050405020304" pitchFamily="18" charset="0"/>
                <a:cs typeface="Times New Roman" panose="02020603050405020304" pitchFamily="18" charset="0"/>
                <a:sym typeface="+mn-ea"/>
              </a:rPr>
            </a:br>
            <a:r>
              <a:rPr altLang="en-GB" sz="2000">
                <a:effectLst/>
                <a:latin typeface="Times New Roman" panose="02020603050405020304" pitchFamily="18" charset="0"/>
                <a:cs typeface="Times New Roman" panose="02020603050405020304" pitchFamily="18" charset="0"/>
                <a:sym typeface="+mn-ea"/>
              </a:rPr>
              <a:t>			   </a:t>
            </a:r>
            <a:br>
              <a:rPr altLang="en-GB" sz="2000">
                <a:effectLst/>
                <a:latin typeface="Times New Roman" panose="02020603050405020304" pitchFamily="18" charset="0"/>
                <a:cs typeface="Times New Roman" panose="02020603050405020304" pitchFamily="18" charset="0"/>
                <a:sym typeface="+mn-ea"/>
              </a:rPr>
            </a:br>
            <a:r>
              <a:rPr lang="en-GB" altLang="en-US" sz="2000">
                <a:effectLst/>
                <a:latin typeface="Times New Roman" panose="02020603050405020304" pitchFamily="18" charset="0"/>
                <a:cs typeface="Times New Roman" panose="02020603050405020304" pitchFamily="18" charset="0"/>
                <a:sym typeface="+mn-ea"/>
              </a:rPr>
              <a:t>1) Delays aren’t synthesizable . </a:t>
            </a:r>
            <a:br>
              <a:rPr lang="en-GB" altLang="en-US" sz="2000">
                <a:effectLst/>
                <a:latin typeface="Times New Roman" panose="02020603050405020304" pitchFamily="18" charset="0"/>
                <a:cs typeface="Times New Roman" panose="02020603050405020304" pitchFamily="18" charset="0"/>
                <a:sym typeface="+mn-ea"/>
              </a:rPr>
            </a:br>
            <a:r>
              <a:rPr lang="en-GB" altLang="en-US" sz="2000">
                <a:effectLst/>
                <a:latin typeface="Times New Roman" panose="02020603050405020304" pitchFamily="18" charset="0"/>
                <a:cs typeface="Times New Roman" panose="02020603050405020304" pitchFamily="18" charset="0"/>
                <a:sym typeface="+mn-ea"/>
              </a:rPr>
              <a:t>2) They may may cause simulation behavior to differ from synthesis results.</a:t>
            </a:r>
            <a:br>
              <a:rPr lang="en-GB" altLang="en-US" sz="2000">
                <a:effectLst/>
                <a:latin typeface="Times New Roman" panose="02020603050405020304" pitchFamily="18" charset="0"/>
                <a:cs typeface="Times New Roman" panose="02020603050405020304" pitchFamily="18" charset="0"/>
                <a:sym typeface="+mn-ea"/>
              </a:rPr>
            </a:br>
            <a:br>
              <a:rPr lang="en-GB" altLang="en-US" sz="2000">
                <a:effectLst/>
                <a:latin typeface="Times New Roman" panose="02020603050405020304" pitchFamily="18" charset="0"/>
                <a:cs typeface="Times New Roman" panose="02020603050405020304" pitchFamily="18" charset="0"/>
                <a:sym typeface="+mn-ea"/>
              </a:rPr>
            </a:br>
            <a:r>
              <a:rPr lang="en-GB" altLang="en-US" sz="2000">
                <a:effectLst/>
                <a:latin typeface="Times New Roman" panose="02020603050405020304" pitchFamily="18" charset="0"/>
                <a:cs typeface="Times New Roman" panose="02020603050405020304" pitchFamily="18" charset="0"/>
                <a:sym typeface="+mn-ea"/>
              </a:rPr>
              <a:t>Instead , 1) Use Non_blocking assignments in your sequential designs </a:t>
            </a:r>
            <a:br>
              <a:rPr lang="en-GB" altLang="en-US" sz="2000">
                <a:effectLst/>
                <a:latin typeface="Times New Roman" panose="02020603050405020304" pitchFamily="18" charset="0"/>
                <a:cs typeface="Times New Roman" panose="02020603050405020304" pitchFamily="18" charset="0"/>
                <a:sym typeface="+mn-ea"/>
              </a:rPr>
            </a:br>
            <a:br>
              <a:rPr lang="en-GB" altLang="en-US" sz="2000">
                <a:effectLst/>
                <a:latin typeface="Times New Roman" panose="02020603050405020304" pitchFamily="18" charset="0"/>
                <a:cs typeface="Times New Roman" panose="02020603050405020304" pitchFamily="18" charset="0"/>
                <a:sym typeface="+mn-ea"/>
              </a:rPr>
            </a:br>
            <a:r>
              <a:rPr lang="en-GB" altLang="en-US" sz="2000">
                <a:effectLst/>
                <a:latin typeface="Times New Roman" panose="02020603050405020304" pitchFamily="18" charset="0"/>
                <a:cs typeface="Times New Roman" panose="02020603050405020304" pitchFamily="18" charset="0"/>
                <a:sym typeface="+mn-ea"/>
              </a:rPr>
              <a:t>               2)Adjust clock timing to your RTL and the interface timing</a:t>
            </a:r>
            <a:br>
              <a:rPr lang="en-GB" altLang="en-US" sz="2000">
                <a:effectLst/>
                <a:latin typeface="Times New Roman" panose="02020603050405020304" pitchFamily="18" charset="0"/>
                <a:cs typeface="Times New Roman" panose="02020603050405020304" pitchFamily="18" charset="0"/>
                <a:sym typeface="+mn-ea"/>
              </a:rPr>
            </a:br>
            <a:r>
              <a:rPr lang="en-GB" altLang="en-US" sz="2000">
                <a:effectLst/>
                <a:latin typeface="Times New Roman" panose="02020603050405020304" pitchFamily="18" charset="0"/>
                <a:cs typeface="Times New Roman" panose="02020603050405020304" pitchFamily="18" charset="0"/>
                <a:sym typeface="+mn-ea"/>
              </a:rPr>
              <a:t>                  from and to your code.    </a:t>
            </a:r>
            <a:r>
              <a:rPr lang="en-GB" altLang="en-US" sz="2000">
                <a:effectLst/>
                <a:latin typeface="Arial-BoldMT"/>
                <a:sym typeface="+mn-ea"/>
              </a:rPr>
              <a:t>                 </a:t>
            </a:r>
            <a:br>
              <a:rPr altLang="en-GB" sz="2000">
                <a:effectLst/>
                <a:latin typeface="Arial-BoldMT"/>
                <a:sym typeface="+mn-ea"/>
              </a:rPr>
            </a:br>
            <a:r>
              <a:rPr altLang="en-GB" sz="2400" b="1">
                <a:effectLst/>
                <a:latin typeface="Times New Roman" panose="02020603050405020304" pitchFamily="18" charset="0"/>
                <a:cs typeface="Times New Roman" panose="02020603050405020304" pitchFamily="18" charset="0"/>
                <a:sym typeface="+mn-ea"/>
              </a:rPr>
              <a:t> </a:t>
            </a:r>
            <a:r>
              <a:rPr lang="en-GB" altLang="en-US" sz="2400" b="1">
                <a:effectLst/>
                <a:latin typeface="Times New Roman" panose="02020603050405020304" pitchFamily="18" charset="0"/>
                <a:cs typeface="Times New Roman" panose="02020603050405020304" pitchFamily="18" charset="0"/>
                <a:sym typeface="+mn-ea"/>
              </a:rPr>
              <a:t>-----------------------------------------------------------------------------------</a:t>
            </a:r>
            <a:br>
              <a:rPr altLang="en-GB" sz="2400" b="1">
                <a:effectLst/>
                <a:latin typeface="Arial-BoldMT"/>
                <a:sym typeface="+mn-ea"/>
              </a:rPr>
            </a:br>
            <a:r>
              <a:rPr altLang="en-GB" sz="2000" b="1">
                <a:effectLst/>
                <a:latin typeface="Arial-BoldMT"/>
                <a:sym typeface="+mn-ea"/>
              </a:rPr>
              <a:t>5.5.12</a:t>
            </a:r>
            <a:r>
              <a:rPr lang="en-GB" altLang="en-US" sz="2000" b="1">
                <a:effectLst/>
                <a:latin typeface="Arial-BoldMT"/>
                <a:sym typeface="+mn-ea"/>
              </a:rPr>
              <a:t> Avoid full_case and parallel_case Pragmas</a:t>
            </a:r>
            <a:r>
              <a:rPr altLang="en-GB" sz="2000" b="1">
                <a:effectLst/>
                <a:latin typeface="Arial-BoldMT"/>
                <a:sym typeface="+mn-ea"/>
              </a:rPr>
              <a:t> </a:t>
            </a:r>
            <a:r>
              <a:rPr lang="en-GB" altLang="en-US" sz="2000" b="1">
                <a:effectLst/>
                <a:latin typeface="Arial-BoldMT"/>
                <a:sym typeface="+mn-ea"/>
              </a:rPr>
              <a:t>:</a:t>
            </a:r>
            <a:br>
              <a:rPr lang="en-GB" altLang="en-US" sz="2400" b="1">
                <a:effectLst/>
                <a:latin typeface="Arial-BoldMT"/>
                <a:sym typeface="+mn-ea"/>
              </a:rPr>
            </a:br>
            <a:r>
              <a:rPr altLang="en-GB" sz="2400" b="1">
                <a:effectLst/>
                <a:latin typeface="Arial-BoldMT"/>
                <a:sym typeface="+mn-ea"/>
              </a:rPr>
              <a:t>                </a:t>
            </a:r>
            <a:br>
              <a:rPr altLang="en-GB" sz="1000" b="1">
                <a:effectLst/>
                <a:latin typeface="Arial-BoldMT"/>
                <a:sym typeface="+mn-ea"/>
              </a:rPr>
            </a:br>
            <a:r>
              <a:rPr altLang="en-GB" sz="1000" b="1">
                <a:effectLst/>
                <a:latin typeface="+mj-lt"/>
                <a:cs typeface="+mj-lt"/>
                <a:sym typeface="+mn-ea"/>
              </a:rPr>
              <a:t> </a:t>
            </a:r>
            <a:r>
              <a:rPr altLang="en-GB" sz="2000" b="1">
                <a:effectLst/>
                <a:latin typeface="+mj-lt"/>
                <a:cs typeface="+mj-lt"/>
                <a:sym typeface="+mn-ea"/>
              </a:rPr>
              <a:t>  Guideline</a:t>
            </a:r>
            <a:r>
              <a:rPr altLang="en-GB" sz="2000" b="1">
                <a:effectLst/>
                <a:latin typeface="Times New Roman" panose="02020603050405020304" pitchFamily="18" charset="0"/>
                <a:cs typeface="Times New Roman" panose="02020603050405020304" pitchFamily="18" charset="0"/>
                <a:sym typeface="+mn-ea"/>
              </a:rPr>
              <a:t> (Verilog only) </a:t>
            </a:r>
            <a:r>
              <a:rPr altLang="en-GB" sz="2000">
                <a:effectLst/>
                <a:latin typeface="Times New Roman" panose="02020603050405020304" pitchFamily="18" charset="0"/>
                <a:cs typeface="Times New Roman" panose="02020603050405020304" pitchFamily="18" charset="0"/>
                <a:sym typeface="+mn-ea"/>
              </a:rPr>
              <a:t>–Write Verilog case statements</a:t>
            </a:r>
            <a:r>
              <a:rPr lang="en-GB" altLang="en-US" sz="2000">
                <a:effectLst/>
                <a:latin typeface="Times New Roman" panose="02020603050405020304" pitchFamily="18" charset="0"/>
                <a:cs typeface="Times New Roman" panose="02020603050405020304" pitchFamily="18" charset="0"/>
                <a:sym typeface="+mn-ea"/>
              </a:rPr>
              <a:t> to </a:t>
            </a:r>
            <a:r>
              <a:rPr altLang="en-GB" sz="2000">
                <a:effectLst/>
                <a:latin typeface="Times New Roman" panose="02020603050405020304" pitchFamily="18" charset="0"/>
                <a:cs typeface="Times New Roman" panose="02020603050405020304" pitchFamily="18" charset="0"/>
                <a:sym typeface="+mn-ea"/>
              </a:rPr>
              <a:t>cover all cases with no overlap.</a:t>
            </a:r>
            <a:br>
              <a:rPr altLang="en-GB" sz="2000">
                <a:effectLst/>
                <a:latin typeface="Times New Roman" panose="02020603050405020304" pitchFamily="18" charset="0"/>
                <a:cs typeface="Times New Roman" panose="02020603050405020304" pitchFamily="18" charset="0"/>
                <a:sym typeface="+mn-ea"/>
              </a:rPr>
            </a:br>
            <a:r>
              <a:rPr lang="en-GB" altLang="en-US" sz="2000">
                <a:effectLst/>
                <a:latin typeface="Times New Roman" panose="02020603050405020304" pitchFamily="18" charset="0"/>
                <a:cs typeface="Times New Roman" panose="02020603050405020304" pitchFamily="18" charset="0"/>
                <a:sym typeface="+mn-ea"/>
              </a:rPr>
              <a:t>                                                  </a:t>
            </a:r>
            <a:r>
              <a:rPr altLang="en-GB" sz="2000">
                <a:effectLst/>
                <a:latin typeface="Times New Roman" panose="02020603050405020304" pitchFamily="18" charset="0"/>
                <a:cs typeface="Times New Roman" panose="02020603050405020304" pitchFamily="18" charset="0"/>
                <a:sym typeface="+mn-ea"/>
              </a:rPr>
              <a:t>Do not use the </a:t>
            </a:r>
            <a:r>
              <a:rPr altLang="en-GB" sz="2000">
                <a:solidFill>
                  <a:srgbClr val="FF0000"/>
                </a:solidFill>
                <a:effectLst/>
                <a:latin typeface="Times New Roman" panose="02020603050405020304" pitchFamily="18" charset="0"/>
                <a:cs typeface="Times New Roman" panose="02020603050405020304" pitchFamily="18" charset="0"/>
                <a:sym typeface="+mn-ea"/>
              </a:rPr>
              <a:t>full_case or parallel_case</a:t>
            </a:r>
            <a:r>
              <a:rPr lang="en-GB" altLang="en-US" sz="2000">
                <a:effectLst/>
                <a:latin typeface="Times New Roman" panose="02020603050405020304" pitchFamily="18" charset="0"/>
                <a:cs typeface="Times New Roman" panose="02020603050405020304" pitchFamily="18" charset="0"/>
                <a:sym typeface="+mn-ea"/>
              </a:rPr>
              <a:t> </a:t>
            </a:r>
            <a:r>
              <a:rPr altLang="en-GB" sz="2000">
                <a:effectLst/>
                <a:latin typeface="Times New Roman" panose="02020603050405020304" pitchFamily="18" charset="0"/>
                <a:cs typeface="Times New Roman" panose="02020603050405020304" pitchFamily="18" charset="0"/>
                <a:sym typeface="+mn-ea"/>
              </a:rPr>
              <a:t>pragmas, because these cause a difference </a:t>
            </a:r>
            <a:br>
              <a:rPr altLang="en-GB" sz="2000">
                <a:effectLst/>
                <a:latin typeface="Times New Roman" panose="02020603050405020304" pitchFamily="18" charset="0"/>
                <a:cs typeface="Times New Roman" panose="02020603050405020304" pitchFamily="18" charset="0"/>
                <a:sym typeface="+mn-ea"/>
              </a:rPr>
            </a:br>
            <a:r>
              <a:rPr altLang="en-GB" sz="2000">
                <a:effectLst/>
                <a:latin typeface="Times New Roman" panose="02020603050405020304" pitchFamily="18" charset="0"/>
                <a:cs typeface="Times New Roman" panose="02020603050405020304" pitchFamily="18" charset="0"/>
                <a:sym typeface="+mn-ea"/>
              </a:rPr>
              <a:t> </a:t>
            </a:r>
            <a:r>
              <a:rPr lang="en-GB" altLang="en-US" sz="2000">
                <a:effectLst/>
                <a:latin typeface="Times New Roman" panose="02020603050405020304" pitchFamily="18" charset="0"/>
                <a:cs typeface="Times New Roman" panose="02020603050405020304" pitchFamily="18" charset="0"/>
                <a:sym typeface="+mn-ea"/>
              </a:rPr>
              <a:t>                                                 </a:t>
            </a:r>
            <a:r>
              <a:rPr altLang="en-GB" sz="2000">
                <a:effectLst/>
                <a:latin typeface="Times New Roman" panose="02020603050405020304" pitchFamily="18" charset="0"/>
                <a:cs typeface="Times New Roman" panose="02020603050405020304" pitchFamily="18" charset="0"/>
                <a:sym typeface="+mn-ea"/>
              </a:rPr>
              <a:t>in code interpretation between synthesis</a:t>
            </a:r>
            <a:r>
              <a:rPr lang="en-GB" altLang="en-US" sz="2000">
                <a:effectLst/>
                <a:latin typeface="Times New Roman" panose="02020603050405020304" pitchFamily="18" charset="0"/>
                <a:cs typeface="Times New Roman" panose="02020603050405020304" pitchFamily="18" charset="0"/>
                <a:sym typeface="+mn-ea"/>
              </a:rPr>
              <a:t> </a:t>
            </a:r>
            <a:r>
              <a:rPr altLang="en-GB" sz="2000">
                <a:effectLst/>
                <a:latin typeface="Times New Roman" panose="02020603050405020304" pitchFamily="18" charset="0"/>
                <a:cs typeface="Times New Roman" panose="02020603050405020304" pitchFamily="18" charset="0"/>
                <a:sym typeface="+mn-ea"/>
              </a:rPr>
              <a:t>and simulation. </a:t>
            </a:r>
            <a:br>
              <a:rPr altLang="en-GB" sz="2000">
                <a:effectLst/>
                <a:latin typeface="Times New Roman" panose="02020603050405020304" pitchFamily="18" charset="0"/>
                <a:cs typeface="Times New Roman" panose="02020603050405020304" pitchFamily="18" charset="0"/>
                <a:sym typeface="+mn-ea"/>
              </a:rPr>
            </a:br>
            <a:r>
              <a:rPr altLang="en-GB" sz="2000">
                <a:effectLst/>
                <a:latin typeface="Times New Roman" panose="02020603050405020304" pitchFamily="18" charset="0"/>
                <a:cs typeface="Times New Roman" panose="02020603050405020304" pitchFamily="18" charset="0"/>
                <a:sym typeface="+mn-ea"/>
              </a:rPr>
              <a:t>       </a:t>
            </a:r>
            <a:br>
              <a:rPr altLang="en-GB" sz="2000" b="1" dirty="0">
                <a:latin typeface="Times New Roman" panose="02020603050405020304" pitchFamily="18" charset="0"/>
                <a:cs typeface="Times New Roman" panose="02020603050405020304" pitchFamily="18" charset="0"/>
              </a:rPr>
            </a:br>
            <a:r>
              <a:rPr altLang="en-GB" sz="2000" b="1" dirty="0">
                <a:latin typeface="Times New Roman" panose="02020603050405020304" pitchFamily="18" charset="0"/>
                <a:cs typeface="Times New Roman" panose="02020603050405020304" pitchFamily="18" charset="0"/>
              </a:rPr>
              <a:t>"</a:t>
            </a:r>
            <a:r>
              <a:rPr altLang="en-GB" sz="2000" b="1" dirty="0">
                <a:solidFill>
                  <a:srgbClr val="FF0000"/>
                </a:solidFill>
                <a:latin typeface="Times New Roman" panose="02020603050405020304" pitchFamily="18" charset="0"/>
                <a:cs typeface="Times New Roman" panose="02020603050405020304" pitchFamily="18" charset="0"/>
              </a:rPr>
              <a:t>full_case" </a:t>
            </a:r>
            <a:r>
              <a:rPr altLang="en-GB" sz="2000" b="1" dirty="0">
                <a:latin typeface="Times New Roman" panose="02020603050405020304" pitchFamily="18" charset="0"/>
                <a:cs typeface="Times New Roman" panose="02020603050405020304" pitchFamily="18" charset="0"/>
              </a:rPr>
              <a:t>removes latches</a:t>
            </a:r>
            <a:r>
              <a:rPr lang="en-GB" altLang="en-US" sz="2000" b="1" dirty="0">
                <a:latin typeface="Times New Roman" panose="02020603050405020304" pitchFamily="18" charset="0"/>
                <a:cs typeface="Times New Roman" panose="02020603050405020304" pitchFamily="18" charset="0"/>
              </a:rPr>
              <a:t> from the</a:t>
            </a:r>
            <a:r>
              <a:rPr altLang="en-GB" sz="2000" b="1" dirty="0">
                <a:latin typeface="Times New Roman" panose="02020603050405020304" pitchFamily="18" charset="0"/>
                <a:cs typeface="Times New Roman" panose="02020603050405020304" pitchFamily="18" charset="0"/>
              </a:rPr>
              <a:t> design.</a:t>
            </a:r>
          </a:p>
          <a:p>
            <a:pPr marL="0" indent="0">
              <a:lnSpc>
                <a:spcPct val="80000"/>
              </a:lnSpc>
              <a:buSzPct val="100000"/>
              <a:buNone/>
            </a:pPr>
            <a:r>
              <a:rPr lang="en-US" sz="2000" dirty="0">
                <a:latin typeface="Times New Roman" panose="02020603050405020304" pitchFamily="18" charset="0"/>
                <a:cs typeface="Times New Roman" panose="02020603050405020304" pitchFamily="18" charset="0"/>
              </a:rPr>
              <a:t>• "</a:t>
            </a:r>
            <a:r>
              <a:rPr lang="en-US" sz="2000" dirty="0">
                <a:solidFill>
                  <a:srgbClr val="FF0000"/>
                </a:solidFill>
                <a:latin typeface="Times New Roman" panose="02020603050405020304" pitchFamily="18" charset="0"/>
                <a:cs typeface="Times New Roman" panose="02020603050405020304" pitchFamily="18" charset="0"/>
              </a:rPr>
              <a:t>parallel_case</a:t>
            </a:r>
            <a:r>
              <a:rPr lang="en-US" sz="2000" dirty="0">
                <a:latin typeface="Times New Roman" panose="02020603050405020304" pitchFamily="18" charset="0"/>
                <a:cs typeface="Times New Roman" panose="02020603050405020304" pitchFamily="18" charset="0"/>
              </a:rPr>
              <a:t>" removes large, slow priority encoders from my designs.</a:t>
            </a:r>
          </a:p>
        </p:txBody>
      </p:sp>
      <p:sp>
        <p:nvSpPr>
          <p:cNvPr id="3" name="Title 2"/>
          <p:cNvSpPr>
            <a:spLocks noGrp="1"/>
          </p:cNvSpPr>
          <p:nvPr>
            <p:ph type="title"/>
          </p:nvPr>
        </p:nvSpPr>
        <p:spPr>
          <a:xfrm>
            <a:off x="342900" y="219456"/>
            <a:ext cx="10287000" cy="814704"/>
          </a:xfrm>
        </p:spPr>
        <p:txBody>
          <a:bodyPr wrap="square"/>
          <a:lstStyle/>
          <a:p>
            <a:r>
              <a:rPr sz="3200">
                <a:sym typeface="+mn-ea"/>
              </a:rPr>
              <a:t>5.</a:t>
            </a:r>
            <a:r>
              <a:rPr lang="en-GB" altLang="en-US" sz="3200">
                <a:sym typeface="+mn-ea"/>
              </a:rPr>
              <a:t>5</a:t>
            </a:r>
            <a:r>
              <a:rPr sz="3200">
                <a:sym typeface="+mn-ea"/>
              </a:rPr>
              <a:t> Coding</a:t>
            </a:r>
            <a:r>
              <a:rPr lang="en-GB" altLang="en-US" sz="3200">
                <a:sym typeface="+mn-ea"/>
              </a:rPr>
              <a:t> for synthesis</a:t>
            </a:r>
            <a:br>
              <a:rPr lang="en-GB" altLang="en-US" sz="3200" dirty="0"/>
            </a:br>
            <a:endParaRPr lang="en-GB" altLang="en-US" sz="3200"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43</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a:bodyPr>
          <a:lstStyle/>
          <a:p>
            <a:pPr marL="0" indent="0">
              <a:buSzPct val="100000"/>
              <a:buNone/>
            </a:pPr>
            <a:r>
              <a:rPr lang="en-GB" sz="2400" b="1">
                <a:effectLst/>
                <a:latin typeface="Arial-BoldMT"/>
                <a:sym typeface="+mn-ea"/>
              </a:rPr>
              <a:t>–</a:t>
            </a:r>
            <a:r>
              <a:rPr altLang="en-GB" sz="2400" b="1">
                <a:effectLst/>
                <a:latin typeface="Arial-BoldMT"/>
                <a:sym typeface="+mn-ea"/>
              </a:rPr>
              <a:t> The aim for good partitioning of the design is the following :</a:t>
            </a:r>
            <a:br>
              <a:rPr altLang="en-GB" sz="2400" b="1">
                <a:effectLst/>
                <a:latin typeface="Arial-BoldMT"/>
                <a:sym typeface="+mn-ea"/>
              </a:rPr>
            </a:b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-Better synthesis results</a:t>
            </a:r>
          </a:p>
          <a:p>
            <a:pPr marL="0" indent="0">
              <a:buSzPct val="100000"/>
              <a:buNone/>
            </a:pPr>
            <a:r>
              <a:rPr altLang="en-GB" sz="2400">
                <a:effectLst/>
                <a:latin typeface="Times New Roman" panose="02020603050405020304" pitchFamily="18" charset="0"/>
                <a:cs typeface="Times New Roman" panose="02020603050405020304" pitchFamily="18" charset="0"/>
                <a:sym typeface="+mn-ea"/>
              </a:rPr>
              <a:t>     -Faster compile runtimes</a:t>
            </a:r>
          </a:p>
          <a:p>
            <a:pPr marL="0" indent="0">
              <a:buSzPct val="100000"/>
              <a:buNone/>
            </a:pPr>
            <a:r>
              <a:rPr altLang="en-GB" sz="2400">
                <a:effectLst/>
                <a:latin typeface="Times New Roman" panose="02020603050405020304" pitchFamily="18" charset="0"/>
                <a:cs typeface="Times New Roman" panose="02020603050405020304" pitchFamily="18" charset="0"/>
                <a:sym typeface="+mn-ea"/>
              </a:rPr>
              <a:t>     -Ability to use simpler synthesis strategies to meet timing                   </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br>
              <a:rPr altLang="en-GB" sz="2400" b="1" dirty="0">
                <a:latin typeface="Arial-BoldMT"/>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60096"/>
            <a:ext cx="10287000" cy="469899"/>
          </a:xfrm>
        </p:spPr>
        <p:txBody>
          <a:bodyPr/>
          <a:lstStyle/>
          <a:p>
            <a:r>
              <a:rPr lang="en-US" dirty="0"/>
              <a:t>5.</a:t>
            </a:r>
            <a:r>
              <a:rPr altLang="en-GB" dirty="0"/>
              <a:t>6 Partitioning for Synthesis</a:t>
            </a:r>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44</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lnSpcReduction="10000"/>
          </a:bodyPr>
          <a:lstStyle/>
          <a:p>
            <a:pPr marL="0" indent="0">
              <a:buSzPct val="100000"/>
              <a:buNone/>
            </a:pPr>
            <a:r>
              <a:rPr sz="2400">
                <a:sym typeface="+mn-ea"/>
              </a:rPr>
              <a:t>5.6</a:t>
            </a:r>
            <a:r>
              <a:rPr altLang="en-GB" sz="2400">
                <a:sym typeface="+mn-ea"/>
              </a:rPr>
              <a:t>.1</a:t>
            </a:r>
            <a:r>
              <a:rPr sz="2400">
                <a:sym typeface="+mn-ea"/>
              </a:rPr>
              <a:t> </a:t>
            </a:r>
            <a:r>
              <a:rPr lang="en-GB" altLang="en-US" sz="2400">
                <a:sym typeface="+mn-ea"/>
              </a:rPr>
              <a:t>Register All Outputs</a:t>
            </a:r>
          </a:p>
          <a:p>
            <a:pPr marL="0" indent="0">
              <a:buSzPct val="100000"/>
              <a:buNone/>
            </a:pPr>
            <a:r>
              <a:rPr altLang="en-GB" sz="2400" b="1">
                <a:effectLst/>
                <a:latin typeface="Arial-BoldMT"/>
                <a:sym typeface="+mn-ea"/>
              </a:rPr>
              <a:t> </a:t>
            </a:r>
            <a:br>
              <a:rPr lang="en-GB" sz="2400" b="1">
                <a:effectLst/>
                <a:latin typeface="Arial-BoldMT"/>
                <a:sym typeface="+mn-ea"/>
              </a:rPr>
            </a:br>
            <a:r>
              <a:rPr sz="2400">
                <a:effectLst/>
                <a:sym typeface="+mn-ea"/>
              </a:rPr>
              <a:t>Guideline – </a:t>
            </a:r>
            <a:r>
              <a:rPr sz="2400">
                <a:effectLst/>
                <a:latin typeface="Times New Roman" panose="02020603050405020304" pitchFamily="18" charset="0"/>
                <a:cs typeface="Times New Roman" panose="02020603050405020304" pitchFamily="18" charset="0"/>
                <a:sym typeface="+mn-ea"/>
              </a:rPr>
              <a:t>For each subblock of a hierarchical macro design, register all output</a:t>
            </a:r>
          </a:p>
          <a:p>
            <a:pPr marL="0" indent="0">
              <a:buSzPct val="100000"/>
              <a:buNone/>
            </a:pPr>
            <a:r>
              <a:rPr sz="2400">
                <a:effectLst/>
                <a:latin typeface="Times New Roman" panose="02020603050405020304" pitchFamily="18" charset="0"/>
                <a:cs typeface="Times New Roman" panose="02020603050405020304" pitchFamily="18" charset="0"/>
                <a:sym typeface="+mn-ea"/>
              </a:rPr>
              <a:t>signals from the subblock for the following benefits :</a:t>
            </a:r>
            <a:br>
              <a:rPr sz="2400">
                <a:effectLst/>
                <a:latin typeface="Times New Roman" panose="02020603050405020304" pitchFamily="18" charset="0"/>
                <a:cs typeface="Times New Roman" panose="02020603050405020304" pitchFamily="18" charset="0"/>
                <a:sym typeface="+mn-ea"/>
              </a:rPr>
            </a:br>
            <a:br>
              <a:rPr sz="2400">
                <a:effectLst/>
                <a:latin typeface="Times New Roman" panose="02020603050405020304" pitchFamily="18" charset="0"/>
                <a:cs typeface="Times New Roman" panose="02020603050405020304" pitchFamily="18" charset="0"/>
                <a:sym typeface="+mn-ea"/>
              </a:rPr>
            </a:br>
            <a:r>
              <a:rPr sz="2400">
                <a:effectLst/>
                <a:latin typeface="Times New Roman" panose="02020603050405020304" pitchFamily="18" charset="0"/>
                <a:cs typeface="Times New Roman" panose="02020603050405020304" pitchFamily="18" charset="0"/>
                <a:sym typeface="+mn-ea"/>
              </a:rPr>
              <a:t>	As This </a:t>
            </a:r>
            <a:r>
              <a:rPr sz="2400">
                <a:solidFill>
                  <a:srgbClr val="00B050"/>
                </a:solidFill>
                <a:effectLst/>
                <a:latin typeface="Times New Roman" panose="02020603050405020304" pitchFamily="18" charset="0"/>
                <a:cs typeface="Times New Roman" panose="02020603050405020304" pitchFamily="18" charset="0"/>
                <a:sym typeface="+mn-ea"/>
              </a:rPr>
              <a:t>Simplifies</a:t>
            </a:r>
            <a:r>
              <a:rPr sz="2400">
                <a:effectLst/>
                <a:latin typeface="Times New Roman" panose="02020603050405020304" pitchFamily="18" charset="0"/>
                <a:cs typeface="Times New Roman" panose="02020603050405020304" pitchFamily="18" charset="0"/>
                <a:sym typeface="+mn-ea"/>
              </a:rPr>
              <a:t> the synthesis process:</a:t>
            </a:r>
            <a:br>
              <a:rPr sz="2400">
                <a:effectLst/>
                <a:latin typeface="Times New Roman" panose="02020603050405020304" pitchFamily="18" charset="0"/>
                <a:cs typeface="Times New Roman" panose="02020603050405020304" pitchFamily="18" charset="0"/>
                <a:sym typeface="+mn-ea"/>
              </a:rPr>
            </a:br>
            <a:r>
              <a:rPr sz="2400">
                <a:effectLst/>
                <a:latin typeface="Times New Roman" panose="02020603050405020304" pitchFamily="18" charset="0"/>
                <a:cs typeface="Times New Roman" panose="02020603050405020304" pitchFamily="18" charset="0"/>
                <a:sym typeface="+mn-ea"/>
              </a:rPr>
              <a:t>	1) It makes output drive strengths and input delays</a:t>
            </a:r>
            <a:r>
              <a:rPr sz="2400">
                <a:solidFill>
                  <a:srgbClr val="00B050"/>
                </a:solidFill>
                <a:effectLst/>
                <a:latin typeface="Times New Roman" panose="02020603050405020304" pitchFamily="18" charset="0"/>
                <a:cs typeface="Times New Roman" panose="02020603050405020304" pitchFamily="18" charset="0"/>
                <a:sym typeface="+mn-ea"/>
              </a:rPr>
              <a:t> predictable</a:t>
            </a:r>
            <a:r>
              <a:rPr sz="2400">
                <a:effectLst/>
                <a:latin typeface="Times New Roman" panose="02020603050405020304" pitchFamily="18" charset="0"/>
                <a:cs typeface="Times New Roman" panose="02020603050405020304" pitchFamily="18" charset="0"/>
                <a:sym typeface="+mn-ea"/>
              </a:rPr>
              <a:t>. </a:t>
            </a:r>
            <a:br>
              <a:rPr sz="2400">
                <a:effectLst/>
                <a:latin typeface="Times New Roman" panose="02020603050405020304" pitchFamily="18" charset="0"/>
                <a:cs typeface="Times New Roman" panose="02020603050405020304" pitchFamily="18" charset="0"/>
                <a:sym typeface="+mn-ea"/>
              </a:rPr>
            </a:br>
            <a:r>
              <a:rPr sz="2400">
                <a:effectLst/>
                <a:latin typeface="Times New Roman" panose="02020603050405020304" pitchFamily="18" charset="0"/>
                <a:cs typeface="Times New Roman" panose="02020603050405020304" pitchFamily="18" charset="0"/>
                <a:sym typeface="+mn-ea"/>
              </a:rPr>
              <a:t>          [</a:t>
            </a:r>
            <a:r>
              <a:rPr sz="2400">
                <a:solidFill>
                  <a:schemeClr val="accent6"/>
                </a:solidFill>
                <a:effectLst/>
                <a:latin typeface="Times New Roman" panose="02020603050405020304" pitchFamily="18" charset="0"/>
                <a:cs typeface="Times New Roman" panose="02020603050405020304" pitchFamily="18" charset="0"/>
                <a:sym typeface="+mn-ea"/>
              </a:rPr>
              <a:t>Reg2out </a:t>
            </a:r>
            <a:r>
              <a:rPr sz="2400">
                <a:effectLst/>
                <a:latin typeface="Times New Roman" panose="02020603050405020304" pitchFamily="18" charset="0"/>
                <a:cs typeface="Times New Roman" panose="02020603050405020304" pitchFamily="18" charset="0"/>
                <a:sym typeface="+mn-ea"/>
              </a:rPr>
              <a:t>path type]</a:t>
            </a:r>
            <a:br>
              <a:rPr sz="2400">
                <a:effectLst/>
                <a:latin typeface="Times New Roman" panose="02020603050405020304" pitchFamily="18" charset="0"/>
                <a:cs typeface="Times New Roman" panose="02020603050405020304" pitchFamily="18" charset="0"/>
                <a:sym typeface="+mn-ea"/>
              </a:rPr>
            </a:br>
            <a:br>
              <a:rPr sz="2400">
                <a:effectLst/>
                <a:latin typeface="Times New Roman" panose="02020603050405020304" pitchFamily="18" charset="0"/>
                <a:cs typeface="Times New Roman" panose="02020603050405020304" pitchFamily="18" charset="0"/>
                <a:sym typeface="+mn-ea"/>
              </a:rPr>
            </a:br>
            <a:r>
              <a:rPr sz="2400">
                <a:effectLst/>
                <a:latin typeface="Times New Roman" panose="02020603050405020304" pitchFamily="18" charset="0"/>
                <a:cs typeface="Times New Roman" panose="02020603050405020304" pitchFamily="18" charset="0"/>
                <a:sym typeface="+mn-ea"/>
              </a:rPr>
              <a:t>	2)</a:t>
            </a:r>
            <a:r>
              <a:rPr altLang="en-GB" sz="2400">
                <a:effectLst/>
                <a:latin typeface="Times New Roman" panose="02020603050405020304" pitchFamily="18" charset="0"/>
                <a:cs typeface="Times New Roman" panose="02020603050405020304" pitchFamily="18" charset="0"/>
                <a:sym typeface="+mn-ea"/>
              </a:rPr>
              <a:t>  All the inputs of each block arrive with the same relative delay.</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br>
              <a:rPr altLang="en-GB" sz="2400" b="1" dirty="0">
                <a:latin typeface="Arial-BoldMT"/>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60096"/>
            <a:ext cx="10287000" cy="469899"/>
          </a:xfrm>
        </p:spPr>
        <p:txBody>
          <a:bodyPr/>
          <a:lstStyle/>
          <a:p>
            <a:r>
              <a:rPr lang="en-US" dirty="0"/>
              <a:t>5.</a:t>
            </a:r>
            <a:r>
              <a:rPr altLang="en-GB" dirty="0"/>
              <a:t>6 Partitioning for Synthesis</a:t>
            </a:r>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45</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7" name="Picture 6"/>
          <p:cNvPicPr>
            <a:picLocks noChangeAspect="1"/>
          </p:cNvPicPr>
          <p:nvPr/>
        </p:nvPicPr>
        <p:blipFill>
          <a:blip r:embed="rId2"/>
          <a:stretch>
            <a:fillRect/>
          </a:stretch>
        </p:blipFill>
        <p:spPr>
          <a:xfrm>
            <a:off x="2542540" y="4373245"/>
            <a:ext cx="6076315" cy="21272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lnSpcReduction="10000"/>
          </a:bodyPr>
          <a:lstStyle/>
          <a:p>
            <a:pPr marL="0" indent="0">
              <a:buSzPct val="100000"/>
              <a:buNone/>
            </a:pPr>
            <a:r>
              <a:rPr sz="2400">
                <a:sym typeface="+mn-ea"/>
              </a:rPr>
              <a:t>5.6</a:t>
            </a:r>
            <a:r>
              <a:rPr altLang="en-GB" sz="2400">
                <a:sym typeface="+mn-ea"/>
              </a:rPr>
              <a:t>.2</a:t>
            </a:r>
            <a:r>
              <a:rPr sz="2400">
                <a:sym typeface="+mn-ea"/>
              </a:rPr>
              <a:t> </a:t>
            </a:r>
            <a:r>
              <a:rPr lang="en-GB" altLang="en-US" sz="2400">
                <a:sym typeface="+mn-ea"/>
              </a:rPr>
              <a:t>Locate Related Combinational Logic in a Single Module</a:t>
            </a:r>
          </a:p>
          <a:p>
            <a:pPr marL="0" indent="0">
              <a:buSzPct val="100000"/>
              <a:buNone/>
            </a:pPr>
            <a:r>
              <a:rPr altLang="en-GB" sz="2400" b="1">
                <a:effectLst/>
                <a:latin typeface="Arial-BoldMT"/>
                <a:sym typeface="+mn-ea"/>
              </a:rPr>
              <a:t> </a:t>
            </a:r>
            <a:br>
              <a:rPr lang="en-GB" sz="2400" b="1">
                <a:effectLst/>
                <a:latin typeface="Arial-BoldMT"/>
                <a:sym typeface="+mn-ea"/>
              </a:rPr>
            </a:br>
            <a:r>
              <a:rPr sz="2400">
                <a:effectLst/>
                <a:sym typeface="+mn-ea"/>
              </a:rPr>
              <a:t>Guideline – </a:t>
            </a:r>
            <a:r>
              <a:rPr sz="2400">
                <a:effectLst/>
                <a:latin typeface="Times New Roman" panose="02020603050405020304" pitchFamily="18" charset="0"/>
                <a:cs typeface="Times New Roman" panose="02020603050405020304" pitchFamily="18" charset="0"/>
                <a:sym typeface="+mn-ea"/>
              </a:rPr>
              <a:t>Keep related combinational logic together in the same module.</a:t>
            </a:r>
            <a:br>
              <a:rPr sz="2400">
                <a:effectLst/>
                <a:latin typeface="Times New Roman" panose="02020603050405020304" pitchFamily="18" charset="0"/>
                <a:cs typeface="Times New Roman" panose="02020603050405020304" pitchFamily="18" charset="0"/>
                <a:sym typeface="+mn-ea"/>
              </a:rPr>
            </a:br>
            <a:r>
              <a:rPr sz="2400">
                <a:effectLst/>
                <a:latin typeface="Times New Roman" panose="02020603050405020304" pitchFamily="18" charset="0"/>
                <a:cs typeface="Times New Roman" panose="02020603050405020304" pitchFamily="18" charset="0"/>
                <a:sym typeface="+mn-ea"/>
              </a:rPr>
              <a:t>				</a:t>
            </a:r>
            <a:r>
              <a:rPr sz="2400">
                <a:solidFill>
                  <a:schemeClr val="accent6"/>
                </a:solidFill>
                <a:effectLst/>
                <a:latin typeface="Times New Roman" panose="02020603050405020304" pitchFamily="18" charset="0"/>
                <a:cs typeface="Times New Roman" panose="02020603050405020304" pitchFamily="18" charset="0"/>
                <a:sym typeface="+mn-ea"/>
              </a:rPr>
              <a:t> Because</a:t>
            </a:r>
            <a:r>
              <a:rPr sz="2400">
                <a:effectLst/>
                <a:latin typeface="Times New Roman" panose="02020603050405020304" pitchFamily="18" charset="0"/>
                <a:cs typeface="Times New Roman" panose="02020603050405020304" pitchFamily="18" charset="0"/>
                <a:sym typeface="+mn-ea"/>
              </a:rPr>
              <a:t> : </a:t>
            </a:r>
            <a:br>
              <a:rPr sz="2400">
                <a:effectLst/>
                <a:latin typeface="Times New Roman" panose="02020603050405020304" pitchFamily="18" charset="0"/>
                <a:cs typeface="Times New Roman" panose="02020603050405020304" pitchFamily="18" charset="0"/>
                <a:sym typeface="+mn-ea"/>
              </a:rPr>
            </a:br>
            <a:r>
              <a:rPr sz="2400">
                <a:effectLst/>
                <a:latin typeface="Times New Roman" panose="02020603050405020304" pitchFamily="18" charset="0"/>
                <a:cs typeface="Times New Roman" panose="02020603050405020304" pitchFamily="18" charset="0"/>
                <a:sym typeface="+mn-ea"/>
              </a:rPr>
              <a:t>				1)The synthesis tools have flexibility to optimize logic within </a:t>
            </a:r>
            <a:br>
              <a:rPr sz="2400">
                <a:effectLst/>
                <a:latin typeface="Times New Roman" panose="02020603050405020304" pitchFamily="18" charset="0"/>
                <a:cs typeface="Times New Roman" panose="02020603050405020304" pitchFamily="18" charset="0"/>
                <a:sym typeface="+mn-ea"/>
              </a:rPr>
            </a:br>
            <a:r>
              <a:rPr sz="2400">
                <a:effectLst/>
                <a:latin typeface="Times New Roman" panose="02020603050405020304" pitchFamily="18" charset="0"/>
                <a:cs typeface="Times New Roman" panose="02020603050405020304" pitchFamily="18" charset="0"/>
                <a:sym typeface="+mn-ea"/>
              </a:rPr>
              <a:t>				 The module itself yet can’t optimize beyond this as it maintains </a:t>
            </a:r>
            <a:br>
              <a:rPr sz="2400">
                <a:effectLst/>
                <a:latin typeface="Times New Roman" panose="02020603050405020304" pitchFamily="18" charset="0"/>
                <a:cs typeface="Times New Roman" panose="02020603050405020304" pitchFamily="18" charset="0"/>
                <a:sym typeface="+mn-ea"/>
              </a:rPr>
            </a:br>
            <a:r>
              <a:rPr sz="2400">
                <a:effectLst/>
                <a:latin typeface="Times New Roman" panose="02020603050405020304" pitchFamily="18" charset="0"/>
                <a:cs typeface="Times New Roman" panose="02020603050405020304" pitchFamily="18" charset="0"/>
                <a:sym typeface="+mn-ea"/>
              </a:rPr>
              <a:t>                         </a:t>
            </a:r>
            <a:r>
              <a:rPr sz="2400">
                <a:solidFill>
                  <a:srgbClr val="FF0000"/>
                </a:solidFill>
                <a:effectLst/>
                <a:latin typeface="Times New Roman" panose="02020603050405020304" pitchFamily="18" charset="0"/>
                <a:cs typeface="Times New Roman" panose="02020603050405020304" pitchFamily="18" charset="0"/>
                <a:sym typeface="+mn-ea"/>
              </a:rPr>
              <a:t>hierarchical boundaries</a:t>
            </a:r>
            <a:r>
              <a:rPr sz="2400">
                <a:effectLst/>
                <a:latin typeface="Times New Roman" panose="02020603050405020304" pitchFamily="18" charset="0"/>
                <a:cs typeface="Times New Roman" panose="02020603050405020304" pitchFamily="18" charset="0"/>
                <a:sym typeface="+mn-ea"/>
              </a:rPr>
              <a:t> in the design between different modules .</a:t>
            </a:r>
            <a:br>
              <a:rPr sz="2400">
                <a:effectLst/>
                <a:latin typeface="Times New Roman" panose="02020603050405020304" pitchFamily="18" charset="0"/>
                <a:cs typeface="Times New Roman" panose="02020603050405020304" pitchFamily="18" charset="0"/>
                <a:sym typeface="+mn-ea"/>
              </a:rPr>
            </a:br>
            <a:r>
              <a:rPr sz="2400">
                <a:effectLst/>
                <a:latin typeface="Times New Roman" panose="02020603050405020304" pitchFamily="18" charset="0"/>
                <a:cs typeface="Times New Roman" panose="02020603050405020304" pitchFamily="18" charset="0"/>
                <a:sym typeface="+mn-ea"/>
              </a:rPr>
              <a:t>				 2)This eases time budgeting between blocks </a:t>
            </a:r>
            <a:r>
              <a:rPr altLang="en-GB" sz="2400">
                <a:effectLst/>
                <a:latin typeface="Times New Roman" panose="02020603050405020304" pitchFamily="18" charset="0"/>
                <a:cs typeface="Times New Roman" panose="02020603050405020304" pitchFamily="18" charset="0"/>
                <a:sym typeface="+mn-ea"/>
              </a:rPr>
              <a:t>and allows for</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faster simulation.</a:t>
            </a:r>
            <a:br>
              <a:rPr altLang="en-GB" sz="2400">
                <a:effectLst/>
                <a:latin typeface="Times New Roman" panose="02020603050405020304" pitchFamily="18" charset="0"/>
                <a:cs typeface="Times New Roman" panose="02020603050405020304" pitchFamily="18" charset="0"/>
                <a:sym typeface="+mn-ea"/>
              </a:rPr>
            </a:br>
            <a:r>
              <a:rPr altLang="en-GB" sz="2400">
                <a:effectLst/>
                <a:latin typeface="Times New Roman" panose="02020603050405020304" pitchFamily="18" charset="0"/>
                <a:cs typeface="Times New Roman" panose="02020603050405020304" pitchFamily="18" charset="0"/>
                <a:sym typeface="+mn-ea"/>
              </a:rPr>
              <a:t>				 </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br>
              <a:rPr altLang="en-GB" sz="2400" b="1" dirty="0">
                <a:latin typeface="Arial-BoldMT"/>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60096"/>
            <a:ext cx="10287000" cy="469899"/>
          </a:xfrm>
        </p:spPr>
        <p:txBody>
          <a:bodyPr/>
          <a:lstStyle/>
          <a:p>
            <a:r>
              <a:rPr lang="en-US" dirty="0"/>
              <a:t>5.</a:t>
            </a:r>
            <a:r>
              <a:rPr altLang="en-GB" dirty="0"/>
              <a:t>6 Partitioning for Synthesis</a:t>
            </a:r>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46</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9" name="Picture 8"/>
          <p:cNvPicPr>
            <a:picLocks noChangeAspect="1"/>
          </p:cNvPicPr>
          <p:nvPr/>
        </p:nvPicPr>
        <p:blipFill>
          <a:blip r:embed="rId2"/>
          <a:stretch>
            <a:fillRect/>
          </a:stretch>
        </p:blipFill>
        <p:spPr>
          <a:xfrm>
            <a:off x="150495" y="3544570"/>
            <a:ext cx="4941570" cy="1281430"/>
          </a:xfrm>
          <a:prstGeom prst="rect">
            <a:avLst/>
          </a:prstGeom>
        </p:spPr>
      </p:pic>
      <p:pic>
        <p:nvPicPr>
          <p:cNvPr id="10" name="Picture 9"/>
          <p:cNvPicPr>
            <a:picLocks noChangeAspect="1"/>
          </p:cNvPicPr>
          <p:nvPr/>
        </p:nvPicPr>
        <p:blipFill>
          <a:blip r:embed="rId3"/>
          <a:stretch>
            <a:fillRect/>
          </a:stretch>
        </p:blipFill>
        <p:spPr>
          <a:xfrm>
            <a:off x="318135" y="5280025"/>
            <a:ext cx="4606290" cy="1282700"/>
          </a:xfrm>
          <a:prstGeom prst="rect">
            <a:avLst/>
          </a:prstGeom>
        </p:spPr>
      </p:pic>
      <p:pic>
        <p:nvPicPr>
          <p:cNvPr id="11" name="Picture 10"/>
          <p:cNvPicPr>
            <a:picLocks noChangeAspect="1"/>
          </p:cNvPicPr>
          <p:nvPr/>
        </p:nvPicPr>
        <p:blipFill>
          <a:blip r:embed="rId4"/>
          <a:stretch>
            <a:fillRect/>
          </a:stretch>
        </p:blipFill>
        <p:spPr>
          <a:xfrm>
            <a:off x="6241415" y="3544570"/>
            <a:ext cx="5486400" cy="1257935"/>
          </a:xfrm>
          <a:prstGeom prst="rect">
            <a:avLst/>
          </a:prstGeom>
        </p:spPr>
      </p:pic>
      <p:cxnSp>
        <p:nvCxnSpPr>
          <p:cNvPr id="12" name="Straight Arrow Connector 11"/>
          <p:cNvCxnSpPr>
            <a:stCxn id="9" idx="2"/>
            <a:endCxn id="10" idx="0"/>
          </p:cNvCxnSpPr>
          <p:nvPr/>
        </p:nvCxnSpPr>
        <p:spPr>
          <a:xfrm>
            <a:off x="2621280" y="4826000"/>
            <a:ext cx="0" cy="454025"/>
          </a:xfrm>
          <a:prstGeom prst="straightConnector1">
            <a:avLst/>
          </a:prstGeom>
          <a:ln w="1270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a:stCxn id="10" idx="3"/>
            <a:endCxn id="11" idx="1"/>
          </p:cNvCxnSpPr>
          <p:nvPr/>
        </p:nvCxnSpPr>
        <p:spPr>
          <a:xfrm flipV="1">
            <a:off x="4924425" y="4173855"/>
            <a:ext cx="1316990" cy="1747520"/>
          </a:xfrm>
          <a:prstGeom prst="straightConnector1">
            <a:avLst/>
          </a:prstGeom>
          <a:ln w="12700">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4" name="Text Box 13"/>
          <p:cNvSpPr txBox="1"/>
          <p:nvPr/>
        </p:nvSpPr>
        <p:spPr>
          <a:xfrm>
            <a:off x="6217285" y="4929505"/>
            <a:ext cx="5375275" cy="1633220"/>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sz="2000">
                <a:effectLst/>
                <a:sym typeface="+mn-ea"/>
              </a:rPr>
              <a:t>Guideline –</a:t>
            </a:r>
            <a:r>
              <a:rPr lang="en-US" sz="2000">
                <a:effectLst/>
                <a:sym typeface="+mn-ea"/>
              </a:rPr>
              <a:t> It’s best to group all related logic to </a:t>
            </a:r>
            <a:r>
              <a:rPr lang="en-US" sz="2000">
                <a:solidFill>
                  <a:srgbClr val="00B050"/>
                </a:solidFill>
                <a:effectLst/>
                <a:sym typeface="+mn-ea"/>
              </a:rPr>
              <a:t>the destination block</a:t>
            </a:r>
            <a:r>
              <a:rPr lang="en-US" sz="2000">
                <a:effectLst/>
                <a:sym typeface="+mn-ea"/>
              </a:rPr>
              <a:t> . </a:t>
            </a:r>
            <a:br>
              <a:rPr lang="en-US" sz="2000">
                <a:effectLst/>
                <a:sym typeface="+mn-ea"/>
              </a:rPr>
            </a:br>
            <a:r>
              <a:rPr lang="en-US" sz="2000">
                <a:effectLst/>
                <a:sym typeface="+mn-ea"/>
              </a:rPr>
              <a:t>This helps to in timing optimization . </a:t>
            </a:r>
            <a:r>
              <a:rPr lang="en-US" altLang="en-GB" sz="2000" dirty="0">
                <a:solidFill>
                  <a:srgbClr val="000000"/>
                </a:solidFill>
              </a:rPr>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a:bodyPr>
          <a:lstStyle/>
          <a:p>
            <a:pPr marL="0" indent="0">
              <a:buSzPct val="100000"/>
              <a:buNone/>
            </a:pPr>
            <a:r>
              <a:rPr sz="2400">
                <a:sym typeface="+mn-ea"/>
              </a:rPr>
              <a:t>5.6</a:t>
            </a:r>
            <a:r>
              <a:rPr altLang="en-GB" sz="2400">
                <a:sym typeface="+mn-ea"/>
              </a:rPr>
              <a:t>.3</a:t>
            </a:r>
            <a:r>
              <a:rPr sz="2400">
                <a:sym typeface="+mn-ea"/>
              </a:rPr>
              <a:t> </a:t>
            </a:r>
            <a:r>
              <a:rPr lang="en-GB" altLang="en-US" sz="2400">
                <a:sym typeface="+mn-ea"/>
              </a:rPr>
              <a:t> Separate Modules That Have Different Design Goals</a:t>
            </a:r>
          </a:p>
          <a:p>
            <a:pPr marL="0" indent="0">
              <a:buSzPct val="100000"/>
              <a:buNone/>
            </a:pPr>
            <a:r>
              <a:rPr altLang="en-GB" sz="2400" b="1">
                <a:effectLst/>
                <a:latin typeface="Arial-BoldMT"/>
                <a:sym typeface="+mn-ea"/>
              </a:rPr>
              <a:t> </a:t>
            </a:r>
            <a:r>
              <a:rPr altLang="en-GB" sz="2400" b="1">
                <a:solidFill>
                  <a:schemeClr val="tx1"/>
                </a:solidFill>
                <a:effectLst/>
                <a:latin typeface="Times New Roman" panose="02020603050405020304" pitchFamily="18" charset="0"/>
                <a:cs typeface="Times New Roman" panose="02020603050405020304" pitchFamily="18" charset="0"/>
                <a:sym typeface="+mn-ea"/>
              </a:rPr>
              <a:t>As shown the following example</a:t>
            </a: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r>
              <a:rPr altLang="en-GB" sz="2400">
                <a:effectLst/>
                <a:latin typeface="Times New Roman" panose="02020603050405020304" pitchFamily="18" charset="0"/>
                <a:cs typeface="Times New Roman" panose="02020603050405020304" pitchFamily="18" charset="0"/>
                <a:sym typeface="+mn-ea"/>
              </a:rPr>
              <a:t>It</a:t>
            </a:r>
            <a:r>
              <a:rPr altLang="en-GB" sz="2400" b="1">
                <a:effectLst/>
                <a:latin typeface="Arial-BoldMT"/>
                <a:sym typeface="+mn-ea"/>
              </a:rPr>
              <a:t> </a:t>
            </a:r>
            <a:r>
              <a:rPr altLang="en-GB" sz="2400">
                <a:effectLst/>
                <a:latin typeface="Times New Roman" panose="02020603050405020304" pitchFamily="18" charset="0"/>
                <a:cs typeface="Times New Roman" panose="02020603050405020304" pitchFamily="18" charset="0"/>
                <a:sym typeface="+mn-ea"/>
              </a:rPr>
              <a:t>shows a design where </a:t>
            </a:r>
            <a:r>
              <a:rPr altLang="en-GB" sz="2400">
                <a:solidFill>
                  <a:srgbClr val="FF0000"/>
                </a:solidFill>
                <a:effectLst/>
                <a:latin typeface="Times New Roman" panose="02020603050405020304" pitchFamily="18" charset="0"/>
                <a:cs typeface="Times New Roman" panose="02020603050405020304" pitchFamily="18" charset="0"/>
                <a:sym typeface="+mn-ea"/>
              </a:rPr>
              <a:t>the critical path</a:t>
            </a:r>
            <a:r>
              <a:rPr altLang="en-GB" sz="2400">
                <a:effectLst/>
                <a:latin typeface="Times New Roman" panose="02020603050405020304" pitchFamily="18" charset="0"/>
                <a:cs typeface="Times New Roman" panose="02020603050405020304" pitchFamily="18" charset="0"/>
                <a:sym typeface="+mn-ea"/>
              </a:rPr>
              <a:t> logic is grouped into a separate </a:t>
            </a:r>
            <a:r>
              <a:rPr lang="en-GB" sz="2400">
                <a:effectLst/>
                <a:latin typeface="Times New Roman" panose="02020603050405020304" pitchFamily="18" charset="0"/>
                <a:cs typeface="Times New Roman" panose="02020603050405020304" pitchFamily="18" charset="0"/>
                <a:sym typeface="+mn-ea"/>
              </a:rPr>
              <a:t>module from </a:t>
            </a:r>
            <a:r>
              <a:rPr lang="en-GB" sz="2400">
                <a:solidFill>
                  <a:srgbClr val="00B050"/>
                </a:solidFill>
                <a:effectLst/>
                <a:latin typeface="Times New Roman" panose="02020603050405020304" pitchFamily="18" charset="0"/>
                <a:cs typeface="Times New Roman" panose="02020603050405020304" pitchFamily="18" charset="0"/>
                <a:sym typeface="+mn-ea"/>
              </a:rPr>
              <a:t>the noncritical path</a:t>
            </a:r>
            <a:r>
              <a:rPr lang="en-GB" sz="2400">
                <a:effectLst/>
                <a:latin typeface="Times New Roman" panose="02020603050405020304" pitchFamily="18" charset="0"/>
                <a:cs typeface="Times New Roman" panose="02020603050405020304" pitchFamily="18" charset="0"/>
                <a:sym typeface="+mn-ea"/>
              </a:rPr>
              <a:t> logic</a:t>
            </a:r>
            <a:r>
              <a:rPr altLang="en-GB" sz="2400">
                <a:effectLst/>
                <a:latin typeface="Times New Roman" panose="02020603050405020304" pitchFamily="18" charset="0"/>
                <a:cs typeface="Times New Roman" panose="02020603050405020304" pitchFamily="18" charset="0"/>
                <a:sym typeface="+mn-ea"/>
              </a:rPr>
              <a:t> . </a:t>
            </a:r>
            <a:br>
              <a:rPr altLang="en-GB" sz="2400">
                <a:effectLst/>
                <a:latin typeface="Times New Roman" panose="02020603050405020304" pitchFamily="18" charset="0"/>
                <a:cs typeface="Times New Roman" panose="02020603050405020304" pitchFamily="18" charset="0"/>
                <a:sym typeface="+mn-ea"/>
              </a:rPr>
            </a:br>
            <a:br>
              <a:rPr lang="en-GB" sz="2400" b="1">
                <a:effectLst/>
                <a:latin typeface="Arial-BoldMT"/>
                <a:sym typeface="+mn-ea"/>
              </a:rPr>
            </a:br>
            <a:r>
              <a:rPr altLang="en-GB" sz="2400" b="1">
                <a:effectLst/>
                <a:latin typeface="Arial-BoldMT"/>
                <a:sym typeface="+mn-ea"/>
              </a:rPr>
              <a:t>_ </a:t>
            </a:r>
            <a:r>
              <a:rPr altLang="en-GB" sz="2400">
                <a:effectLst/>
                <a:latin typeface="Times New Roman" panose="02020603050405020304" pitchFamily="18" charset="0"/>
                <a:cs typeface="Times New Roman" panose="02020603050405020304" pitchFamily="18" charset="0"/>
                <a:sym typeface="+mn-ea"/>
              </a:rPr>
              <a:t>This differntiates the behaviour of the synthesis tool for both modules optimization :</a:t>
            </a:r>
            <a:br>
              <a:rPr altLang="en-GB" sz="2400">
                <a:effectLst/>
                <a:latin typeface="Arial-BoldMT"/>
                <a:sym typeface="+mn-ea"/>
              </a:rPr>
            </a:br>
            <a:br>
              <a:rPr altLang="en-GB" sz="2400">
                <a:effectLst/>
                <a:latin typeface="Arial-BoldMT"/>
                <a:sym typeface="+mn-ea"/>
              </a:rPr>
            </a:br>
            <a:r>
              <a:rPr altLang="en-GB" sz="2400">
                <a:effectLst/>
                <a:latin typeface="Arial-BoldMT"/>
                <a:sym typeface="+mn-ea"/>
              </a:rPr>
              <a:t>Module A:</a:t>
            </a:r>
            <a:br>
              <a:rPr altLang="en-GB" sz="2400">
                <a:effectLst/>
                <a:latin typeface="Arial-BoldMT"/>
                <a:sym typeface="+mn-ea"/>
              </a:rPr>
            </a:br>
            <a:br>
              <a:rPr altLang="en-GB" sz="2400">
                <a:effectLst/>
                <a:latin typeface="Arial-BoldMT"/>
                <a:sym typeface="+mn-ea"/>
              </a:rPr>
            </a:br>
            <a:r>
              <a:rPr altLang="en-GB" sz="2400">
                <a:solidFill>
                  <a:srgbClr val="FFC000"/>
                </a:solidFill>
                <a:effectLst/>
                <a:latin typeface="Times New Roman" panose="02020603050405020304" pitchFamily="18" charset="0"/>
                <a:cs typeface="Times New Roman" panose="02020603050405020304" pitchFamily="18" charset="0"/>
                <a:sym typeface="+mn-ea"/>
              </a:rPr>
              <a:t>Speed </a:t>
            </a:r>
            <a:r>
              <a:rPr altLang="en-GB" sz="2400">
                <a:effectLst/>
                <a:latin typeface="Times New Roman" panose="02020603050405020304" pitchFamily="18" charset="0"/>
                <a:cs typeface="Times New Roman" panose="02020603050405020304" pitchFamily="18" charset="0"/>
                <a:sym typeface="+mn-ea"/>
              </a:rPr>
              <a:t>optimization is needed .</a:t>
            </a:r>
            <a:br>
              <a:rPr altLang="en-GB" sz="2400">
                <a:effectLst/>
                <a:latin typeface="Arial-BoldMT"/>
                <a:sym typeface="+mn-ea"/>
              </a:rPr>
            </a:br>
            <a:br>
              <a:rPr altLang="en-GB" sz="2400">
                <a:effectLst/>
                <a:latin typeface="Arial-BoldMT"/>
                <a:sym typeface="+mn-ea"/>
              </a:rPr>
            </a:br>
            <a:r>
              <a:rPr altLang="en-GB" sz="2400">
                <a:effectLst/>
                <a:latin typeface="Arial-BoldMT"/>
                <a:sym typeface="+mn-ea"/>
              </a:rPr>
              <a:t>Module B:</a:t>
            </a:r>
            <a:br>
              <a:rPr altLang="en-GB" sz="2400" b="1">
                <a:effectLst/>
                <a:latin typeface="Arial-BoldMT"/>
                <a:sym typeface="+mn-ea"/>
              </a:rPr>
            </a:br>
            <a:r>
              <a:rPr altLang="en-GB" sz="2400" b="1">
                <a:effectLst/>
                <a:latin typeface="Arial-BoldMT"/>
                <a:sym typeface="+mn-ea"/>
              </a:rPr>
              <a:t> </a:t>
            </a:r>
            <a:r>
              <a:rPr altLang="en-GB" sz="2400">
                <a:solidFill>
                  <a:srgbClr val="FFC000"/>
                </a:solidFill>
                <a:effectLst/>
                <a:latin typeface="Times New Roman" panose="02020603050405020304" pitchFamily="18" charset="0"/>
                <a:cs typeface="Times New Roman" panose="02020603050405020304" pitchFamily="18" charset="0"/>
                <a:sym typeface="+mn-ea"/>
              </a:rPr>
              <a:t>Area</a:t>
            </a:r>
            <a:r>
              <a:rPr altLang="en-GB" sz="2400">
                <a:effectLst/>
                <a:latin typeface="Times New Roman" panose="02020603050405020304" pitchFamily="18" charset="0"/>
                <a:cs typeface="Times New Roman" panose="02020603050405020304" pitchFamily="18" charset="0"/>
                <a:sym typeface="+mn-ea"/>
              </a:rPr>
              <a:t> optimization is needed .</a:t>
            </a:r>
            <a:br>
              <a:rPr altLang="en-GB" sz="2400" b="1">
                <a:effectLst/>
                <a:latin typeface="Arial-BoldMT"/>
                <a:sym typeface="+mn-ea"/>
              </a:rPr>
            </a:br>
            <a:endParaRPr altLang="en-GB" sz="2400" b="1" dirty="0">
              <a:effectLst/>
              <a:latin typeface="Arial-BoldMT"/>
              <a:cs typeface="Times New Roman" panose="02020603050405020304" pitchFamily="18" charset="0"/>
              <a:sym typeface="+mn-ea"/>
            </a:endParaRPr>
          </a:p>
        </p:txBody>
      </p:sp>
      <p:sp>
        <p:nvSpPr>
          <p:cNvPr id="3" name="Title 2"/>
          <p:cNvSpPr>
            <a:spLocks noGrp="1"/>
          </p:cNvSpPr>
          <p:nvPr>
            <p:ph type="title"/>
          </p:nvPr>
        </p:nvSpPr>
        <p:spPr>
          <a:xfrm>
            <a:off x="342900" y="260096"/>
            <a:ext cx="10287000" cy="469899"/>
          </a:xfrm>
        </p:spPr>
        <p:txBody>
          <a:bodyPr/>
          <a:lstStyle/>
          <a:p>
            <a:r>
              <a:rPr lang="en-US" dirty="0"/>
              <a:t>5.</a:t>
            </a:r>
            <a:r>
              <a:rPr altLang="en-GB" dirty="0"/>
              <a:t>6 Partitioning for Synthesis</a:t>
            </a:r>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47</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7" name="Picture 6"/>
          <p:cNvPicPr>
            <a:picLocks noChangeAspect="1"/>
          </p:cNvPicPr>
          <p:nvPr/>
        </p:nvPicPr>
        <p:blipFill>
          <a:blip r:embed="rId2"/>
          <a:stretch>
            <a:fillRect/>
          </a:stretch>
        </p:blipFill>
        <p:spPr>
          <a:xfrm>
            <a:off x="7466330" y="2898775"/>
            <a:ext cx="3726180" cy="32308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a:bodyPr>
          <a:lstStyle/>
          <a:p>
            <a:pPr marL="0" indent="0">
              <a:buSzPct val="100000"/>
              <a:buNone/>
            </a:pPr>
            <a:r>
              <a:rPr sz="2400">
                <a:sym typeface="+mn-ea"/>
              </a:rPr>
              <a:t>5.6</a:t>
            </a:r>
            <a:r>
              <a:rPr altLang="en-GB" sz="2400">
                <a:sym typeface="+mn-ea"/>
              </a:rPr>
              <a:t>.4</a:t>
            </a:r>
            <a:r>
              <a:rPr sz="2400">
                <a:sym typeface="+mn-ea"/>
              </a:rPr>
              <a:t> </a:t>
            </a:r>
            <a:r>
              <a:rPr lang="en-GB" altLang="en-US" sz="2400">
                <a:sym typeface="+mn-ea"/>
              </a:rPr>
              <a:t> Asynchronous Logic</a:t>
            </a:r>
            <a:br>
              <a:rPr lang="en-GB" altLang="en-US" sz="2400">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Guideline – </a:t>
            </a:r>
            <a:r>
              <a:rPr altLang="en-GB" sz="2400">
                <a:effectLst/>
                <a:latin typeface="Times New Roman" panose="02020603050405020304" pitchFamily="18" charset="0"/>
                <a:cs typeface="Times New Roman" panose="02020603050405020304" pitchFamily="18" charset="0"/>
                <a:sym typeface="+mn-ea"/>
              </a:rPr>
              <a:t>Avoid asynchronous logic for the following reasons :</a:t>
            </a:r>
          </a:p>
          <a:p>
            <a:pPr marL="0" indent="0">
              <a:buSzPct val="100000"/>
              <a:buNone/>
            </a:pPr>
            <a:r>
              <a:rPr altLang="en-GB" sz="2400" dirty="0">
                <a:effectLst/>
                <a:latin typeface="Times New Roman" panose="02020603050405020304" pitchFamily="18" charset="0"/>
                <a:cs typeface="Times New Roman" panose="02020603050405020304" pitchFamily="18" charset="0"/>
                <a:sym typeface="+mn-ea"/>
              </a:rPr>
              <a:t>1)Asynchronous logic is more </a:t>
            </a:r>
            <a:r>
              <a:rPr altLang="en-GB" sz="2400" dirty="0">
                <a:solidFill>
                  <a:srgbClr val="FF0000"/>
                </a:solidFill>
                <a:effectLst/>
                <a:latin typeface="Times New Roman" panose="02020603050405020304" pitchFamily="18" charset="0"/>
                <a:cs typeface="Times New Roman" panose="02020603050405020304" pitchFamily="18" charset="0"/>
                <a:sym typeface="+mn-ea"/>
              </a:rPr>
              <a:t>difficult </a:t>
            </a:r>
            <a:r>
              <a:rPr altLang="en-GB" sz="2400" dirty="0">
                <a:effectLst/>
                <a:latin typeface="Times New Roman" panose="02020603050405020304" pitchFamily="18" charset="0"/>
                <a:cs typeface="Times New Roman" panose="02020603050405020304" pitchFamily="18" charset="0"/>
                <a:sym typeface="+mn-ea"/>
              </a:rPr>
              <a:t>to design correctly and verify.</a:t>
            </a:r>
            <a:br>
              <a:rPr altLang="en-GB" sz="2400" dirty="0">
                <a:effectLst/>
                <a:latin typeface="Times New Roman" panose="02020603050405020304" pitchFamily="18" charset="0"/>
                <a:cs typeface="Times New Roman" panose="02020603050405020304" pitchFamily="18" charset="0"/>
                <a:sym typeface="+mn-ea"/>
              </a:rPr>
            </a:br>
            <a:br>
              <a:rPr altLang="en-GB" sz="2400" dirty="0">
                <a:effectLst/>
                <a:latin typeface="Times New Roman" panose="02020603050405020304" pitchFamily="18" charset="0"/>
                <a:cs typeface="Times New Roman" panose="02020603050405020304" pitchFamily="18" charset="0"/>
                <a:sym typeface="+mn-ea"/>
              </a:rPr>
            </a:br>
            <a:r>
              <a:rPr altLang="en-GB" sz="2400" dirty="0">
                <a:effectLst/>
                <a:latin typeface="Times New Roman" panose="02020603050405020304" pitchFamily="18" charset="0"/>
                <a:cs typeface="Times New Roman" panose="02020603050405020304" pitchFamily="18" charset="0"/>
                <a:sym typeface="+mn-ea"/>
              </a:rPr>
              <a:t>2)Correct timing and functionality may be</a:t>
            </a:r>
            <a:r>
              <a:rPr altLang="en-GB" sz="2400" dirty="0">
                <a:solidFill>
                  <a:srgbClr val="FFC000"/>
                </a:solidFill>
                <a:effectLst/>
                <a:latin typeface="Times New Roman" panose="02020603050405020304" pitchFamily="18" charset="0"/>
                <a:cs typeface="Times New Roman" panose="02020603050405020304" pitchFamily="18" charset="0"/>
                <a:sym typeface="+mn-ea"/>
              </a:rPr>
              <a:t> technology dependent</a:t>
            </a:r>
            <a:r>
              <a:rPr altLang="en-GB" sz="2400" dirty="0">
                <a:effectLst/>
                <a:latin typeface="Times New Roman" panose="02020603050405020304" pitchFamily="18" charset="0"/>
                <a:cs typeface="Times New Roman" panose="02020603050405020304" pitchFamily="18" charset="0"/>
                <a:sym typeface="+mn-ea"/>
              </a:rPr>
              <a:t>, which limits the portability of the design.</a:t>
            </a:r>
            <a:br>
              <a:rPr altLang="en-GB" sz="2400" dirty="0">
                <a:effectLst/>
                <a:latin typeface="Times New Roman" panose="02020603050405020304" pitchFamily="18" charset="0"/>
                <a:cs typeface="Times New Roman" panose="02020603050405020304" pitchFamily="18" charset="0"/>
                <a:sym typeface="+mn-ea"/>
              </a:rPr>
            </a:br>
            <a:endParaRPr altLang="en-GB" sz="2400" b="1" dirty="0">
              <a:effectLst/>
              <a:latin typeface="Arial-BoldMT"/>
              <a:cs typeface="Times New Roman" panose="02020603050405020304" pitchFamily="18" charset="0"/>
              <a:sym typeface="+mn-ea"/>
            </a:endParaRPr>
          </a:p>
          <a:p>
            <a:pPr marL="0" indent="0">
              <a:buSzPct val="100000"/>
              <a:buNone/>
            </a:pPr>
            <a:r>
              <a:rPr altLang="en-GB" sz="2400" b="1" dirty="0">
                <a:effectLst/>
                <a:latin typeface="Arial-BoldMT"/>
                <a:cs typeface="Times New Roman" panose="02020603050405020304" pitchFamily="18" charset="0"/>
                <a:sym typeface="+mn-ea"/>
              </a:rPr>
              <a:t>Guideline – </a:t>
            </a:r>
            <a:r>
              <a:rPr altLang="en-GB" sz="2400" dirty="0">
                <a:effectLst/>
                <a:latin typeface="Times New Roman" panose="02020603050405020304" pitchFamily="18" charset="0"/>
                <a:cs typeface="Times New Roman" panose="02020603050405020304" pitchFamily="18" charset="0"/>
                <a:sym typeface="+mn-ea"/>
              </a:rPr>
              <a:t>If asynchronous logic is required in the design, partition the asynchronous </a:t>
            </a:r>
            <a:br>
              <a:rPr altLang="en-GB" sz="2400" dirty="0">
                <a:effectLst/>
                <a:latin typeface="Times New Roman" panose="02020603050405020304" pitchFamily="18" charset="0"/>
                <a:cs typeface="Times New Roman" panose="02020603050405020304" pitchFamily="18" charset="0"/>
                <a:sym typeface="+mn-ea"/>
              </a:rPr>
            </a:br>
            <a:r>
              <a:rPr altLang="en-GB" sz="2400" dirty="0">
                <a:effectLst/>
                <a:latin typeface="Times New Roman" panose="02020603050405020304" pitchFamily="18" charset="0"/>
                <a:cs typeface="Times New Roman" panose="02020603050405020304" pitchFamily="18" charset="0"/>
                <a:sym typeface="+mn-ea"/>
              </a:rPr>
              <a:t>                        </a:t>
            </a:r>
            <a:r>
              <a:rPr altLang="en-GB" sz="2400">
                <a:effectLst/>
                <a:latin typeface="Times New Roman" panose="02020603050405020304" pitchFamily="18" charset="0"/>
                <a:cs typeface="Times New Roman" panose="02020603050405020304" pitchFamily="18" charset="0"/>
                <a:sym typeface="+mn-ea"/>
              </a:rPr>
              <a:t>logic in a separate module from the synchronous logic:</a:t>
            </a:r>
            <a:r>
              <a:rPr altLang="en-GB" sz="2400" dirty="0">
                <a:effectLst/>
                <a:latin typeface="Times New Roman" panose="02020603050405020304" pitchFamily="18" charset="0"/>
                <a:cs typeface="Times New Roman" panose="02020603050405020304" pitchFamily="18" charset="0"/>
                <a:sym typeface="+mn-ea"/>
              </a:rPr>
              <a:t>         </a:t>
            </a:r>
          </a:p>
          <a:p>
            <a:pPr marL="0" indent="0">
              <a:buSzPct val="100000"/>
              <a:buNone/>
            </a:pPr>
            <a:r>
              <a:rPr altLang="en-GB" sz="2400" dirty="0">
                <a:effectLst/>
                <a:latin typeface="Times New Roman" panose="02020603050405020304" pitchFamily="18" charset="0"/>
                <a:cs typeface="Times New Roman" panose="02020603050405020304" pitchFamily="18" charset="0"/>
                <a:sym typeface="+mn-ea"/>
              </a:rPr>
              <a:t>1) Isolating the asynchronous logic in a separate module makes code </a:t>
            </a:r>
            <a:r>
              <a:rPr altLang="en-GB" sz="2400" dirty="0">
                <a:solidFill>
                  <a:srgbClr val="FFC000"/>
                </a:solidFill>
                <a:effectLst/>
                <a:latin typeface="Times New Roman" panose="02020603050405020304" pitchFamily="18" charset="0"/>
                <a:cs typeface="Times New Roman" panose="02020603050405020304" pitchFamily="18" charset="0"/>
                <a:sym typeface="+mn-ea"/>
              </a:rPr>
              <a:t>inspection</a:t>
            </a:r>
            <a:r>
              <a:rPr altLang="en-GB" sz="2400" dirty="0">
                <a:effectLst/>
                <a:latin typeface="Times New Roman" panose="02020603050405020304" pitchFamily="18" charset="0"/>
                <a:cs typeface="Times New Roman" panose="02020603050405020304" pitchFamily="18" charset="0"/>
                <a:sym typeface="+mn-ea"/>
              </a:rPr>
              <a:t> much</a:t>
            </a:r>
          </a:p>
          <a:p>
            <a:pPr marL="0" indent="0">
              <a:buSzPct val="100000"/>
              <a:buNone/>
            </a:pPr>
            <a:r>
              <a:rPr altLang="en-GB" sz="2400" dirty="0">
                <a:effectLst/>
                <a:latin typeface="Times New Roman" panose="02020603050405020304" pitchFamily="18" charset="0"/>
                <a:cs typeface="Times New Roman" panose="02020603050405020304" pitchFamily="18" charset="0"/>
                <a:sym typeface="+mn-ea"/>
              </a:rPr>
              <a:t>easier. </a:t>
            </a:r>
            <a:br>
              <a:rPr altLang="en-GB" sz="2400" dirty="0">
                <a:effectLst/>
                <a:latin typeface="Times New Roman" panose="02020603050405020304" pitchFamily="18" charset="0"/>
                <a:cs typeface="Times New Roman" panose="02020603050405020304" pitchFamily="18" charset="0"/>
                <a:sym typeface="+mn-ea"/>
              </a:rPr>
            </a:br>
            <a:r>
              <a:rPr altLang="en-GB" sz="2400" dirty="0">
                <a:effectLst/>
                <a:latin typeface="Times New Roman" panose="02020603050405020304" pitchFamily="18" charset="0"/>
                <a:cs typeface="Times New Roman" panose="02020603050405020304" pitchFamily="18" charset="0"/>
                <a:sym typeface="+mn-ea"/>
              </a:rPr>
              <a:t>2)Asynchronous logic needs to be reviewed carefully to verify its functionality</a:t>
            </a:r>
          </a:p>
          <a:p>
            <a:pPr marL="0" indent="0">
              <a:buSzPct val="100000"/>
              <a:buNone/>
            </a:pPr>
            <a:r>
              <a:rPr altLang="en-GB" sz="2400" dirty="0">
                <a:effectLst/>
                <a:latin typeface="Times New Roman" panose="02020603050405020304" pitchFamily="18" charset="0"/>
                <a:cs typeface="Times New Roman" panose="02020603050405020304" pitchFamily="18" charset="0"/>
                <a:sym typeface="+mn-ea"/>
              </a:rPr>
              <a:t>and timing.</a:t>
            </a:r>
          </a:p>
        </p:txBody>
      </p:sp>
      <p:sp>
        <p:nvSpPr>
          <p:cNvPr id="3" name="Title 2"/>
          <p:cNvSpPr>
            <a:spLocks noGrp="1"/>
          </p:cNvSpPr>
          <p:nvPr>
            <p:ph type="title"/>
          </p:nvPr>
        </p:nvSpPr>
        <p:spPr>
          <a:xfrm>
            <a:off x="342900" y="260096"/>
            <a:ext cx="10287000" cy="469899"/>
          </a:xfrm>
        </p:spPr>
        <p:txBody>
          <a:bodyPr/>
          <a:lstStyle/>
          <a:p>
            <a:r>
              <a:rPr lang="en-US" dirty="0"/>
              <a:t>5.</a:t>
            </a:r>
            <a:r>
              <a:rPr altLang="en-GB" dirty="0"/>
              <a:t>6 Partitioning for Synthesis</a:t>
            </a:r>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48</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a:bodyPr>
          <a:lstStyle/>
          <a:p>
            <a:pPr marL="0" indent="0">
              <a:buSzPct val="100000"/>
              <a:buNone/>
            </a:pPr>
            <a:r>
              <a:rPr sz="2400">
                <a:sym typeface="+mn-ea"/>
              </a:rPr>
              <a:t>5.6</a:t>
            </a:r>
            <a:r>
              <a:rPr altLang="en-GB" sz="2400">
                <a:sym typeface="+mn-ea"/>
              </a:rPr>
              <a:t>.5</a:t>
            </a:r>
            <a:r>
              <a:rPr sz="2400">
                <a:sym typeface="+mn-ea"/>
              </a:rPr>
              <a:t> </a:t>
            </a:r>
            <a:r>
              <a:rPr lang="en-GB" altLang="en-US" sz="2400">
                <a:sym typeface="+mn-ea"/>
              </a:rPr>
              <a:t> Arithmetic Operators: Merging Resources</a:t>
            </a:r>
            <a:br>
              <a:rPr lang="en-GB" altLang="en-US" sz="2400">
                <a:sym typeface="+mn-ea"/>
              </a:rPr>
            </a:br>
            <a:br>
              <a:rPr lang="en-GB" altLang="en-US" sz="2400">
                <a:sym typeface="+mn-ea"/>
              </a:rPr>
            </a:br>
            <a:br>
              <a:rPr lang="en-GB" altLang="en-US" sz="2400">
                <a:sym typeface="+mn-ea"/>
              </a:rPr>
            </a:br>
            <a:r>
              <a:rPr altLang="en-GB" sz="2400" b="1">
                <a:effectLst/>
                <a:latin typeface="Arial-BoldMT"/>
                <a:sym typeface="+mn-ea"/>
              </a:rPr>
              <a:t> </a:t>
            </a:r>
            <a:br>
              <a:rPr altLang="en-GB" sz="2400" b="1">
                <a:effectLst/>
                <a:latin typeface="Arial-BoldMT"/>
                <a:sym typeface="+mn-ea"/>
              </a:rPr>
            </a:br>
            <a:endParaRPr altLang="en-GB" sz="2400" b="1" dirty="0">
              <a:effectLst/>
              <a:latin typeface="Arial-BoldMT"/>
              <a:cs typeface="Times New Roman" panose="02020603050405020304" pitchFamily="18" charset="0"/>
              <a:sym typeface="+mn-ea"/>
            </a:endParaRPr>
          </a:p>
        </p:txBody>
      </p:sp>
      <p:sp>
        <p:nvSpPr>
          <p:cNvPr id="3" name="Title 2"/>
          <p:cNvSpPr>
            <a:spLocks noGrp="1"/>
          </p:cNvSpPr>
          <p:nvPr>
            <p:ph type="title"/>
          </p:nvPr>
        </p:nvSpPr>
        <p:spPr>
          <a:xfrm>
            <a:off x="342900" y="260096"/>
            <a:ext cx="10287000" cy="469899"/>
          </a:xfrm>
        </p:spPr>
        <p:txBody>
          <a:bodyPr/>
          <a:lstStyle/>
          <a:p>
            <a:r>
              <a:rPr lang="en-US" dirty="0"/>
              <a:t>5.</a:t>
            </a:r>
            <a:r>
              <a:rPr altLang="en-GB" dirty="0"/>
              <a:t>6 Partitioning for Synthesis</a:t>
            </a:r>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49</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sp>
        <p:nvSpPr>
          <p:cNvPr id="8" name="Text Box 7"/>
          <p:cNvSpPr txBox="1"/>
          <p:nvPr/>
        </p:nvSpPr>
        <p:spPr>
          <a:xfrm>
            <a:off x="5529580" y="1815465"/>
            <a:ext cx="5091430" cy="1744980"/>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GB" altLang="en-US" sz="2000" dirty="0">
                <a:solidFill>
                  <a:srgbClr val="000000"/>
                </a:solidFill>
              </a:rPr>
              <a:t>As we see in this example :That normally  two adder </a:t>
            </a:r>
            <a:r>
              <a:rPr lang="en-US" altLang="en-GB" sz="2000" dirty="0">
                <a:solidFill>
                  <a:srgbClr val="000000"/>
                </a:solidFill>
              </a:rPr>
              <a:t>are </a:t>
            </a:r>
            <a:r>
              <a:rPr lang="en-GB" altLang="en-US" sz="2000" dirty="0">
                <a:solidFill>
                  <a:srgbClr val="000000"/>
                </a:solidFill>
              </a:rPr>
              <a:t>to be created , Yet The synthesis tool will more likely to synthesize one adder to be shared in two additions which is called (Merging Resources)</a:t>
            </a:r>
          </a:p>
        </p:txBody>
      </p:sp>
      <p:graphicFrame>
        <p:nvGraphicFramePr>
          <p:cNvPr id="9" name="Table 8"/>
          <p:cNvGraphicFramePr/>
          <p:nvPr/>
        </p:nvGraphicFramePr>
        <p:xfrm>
          <a:off x="412750" y="3594100"/>
          <a:ext cx="10668635" cy="2936240"/>
        </p:xfrm>
        <a:graphic>
          <a:graphicData uri="http://schemas.openxmlformats.org/drawingml/2006/table">
            <a:tbl>
              <a:tblPr firstRow="1" bandRow="1">
                <a:tableStyleId>{21E4AEA4-8DFA-4A89-87EB-49C32662AFE0}</a:tableStyleId>
              </a:tblPr>
              <a:tblGrid>
                <a:gridCol w="4812030">
                  <a:extLst>
                    <a:ext uri="{9D8B030D-6E8A-4147-A177-3AD203B41FA5}">
                      <a16:colId xmlns:a16="http://schemas.microsoft.com/office/drawing/2014/main" val="20000"/>
                    </a:ext>
                  </a:extLst>
                </a:gridCol>
                <a:gridCol w="5856605">
                  <a:extLst>
                    <a:ext uri="{9D8B030D-6E8A-4147-A177-3AD203B41FA5}">
                      <a16:colId xmlns:a16="http://schemas.microsoft.com/office/drawing/2014/main" val="20001"/>
                    </a:ext>
                  </a:extLst>
                </a:gridCol>
              </a:tblGrid>
              <a:tr h="2936240">
                <a:tc>
                  <a:txBody>
                    <a:bodyPr/>
                    <a:lstStyle/>
                    <a:p>
                      <a:pPr>
                        <a:buNone/>
                      </a:pPr>
                      <a:r>
                        <a:rPr lang="en-US" altLang="en-GB">
                          <a:solidFill>
                            <a:srgbClr val="FF0000"/>
                          </a:solidFill>
                        </a:rPr>
                        <a:t>Poor </a:t>
                      </a:r>
                      <a:r>
                        <a:rPr lang="en-US" altLang="en-GB">
                          <a:solidFill>
                            <a:schemeClr val="tx1"/>
                          </a:solidFill>
                        </a:rPr>
                        <a:t>way of partitioning the operators that can be shared by </a:t>
                      </a:r>
                      <a:r>
                        <a:rPr lang="en-US" altLang="en-GB">
                          <a:solidFill>
                            <a:srgbClr val="FFC000"/>
                          </a:solidFill>
                        </a:rPr>
                        <a:t>hierarchically </a:t>
                      </a:r>
                      <a:r>
                        <a:rPr lang="en-US" altLang="en-GB">
                          <a:solidFill>
                            <a:schemeClr val="tx1"/>
                          </a:solidFill>
                        </a:rPr>
                        <a:t>seperating them into differernt modules.</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en-GB" sz="1800">
                          <a:gradFill>
                            <a:gsLst>
                              <a:gs pos="0">
                                <a:srgbClr val="14CD68"/>
                              </a:gs>
                              <a:gs pos="100000">
                                <a:srgbClr val="0B6E38"/>
                              </a:gs>
                            </a:gsLst>
                            <a:lin scaled="0"/>
                          </a:gradFill>
                          <a:sym typeface="+mn-ea"/>
                        </a:rPr>
                        <a:t>Recommended </a:t>
                      </a:r>
                      <a:r>
                        <a:rPr lang="en-US" altLang="en-GB" sz="1800">
                          <a:solidFill>
                            <a:schemeClr val="tx1"/>
                          </a:solidFill>
                          <a:sym typeface="+mn-ea"/>
                        </a:rPr>
                        <a:t>way of partitioning the operators that can be shared by combining them into the same </a:t>
                      </a:r>
                      <a:r>
                        <a:rPr lang="en-US" altLang="en-GB" sz="1800">
                          <a:solidFill>
                            <a:srgbClr val="FFC000"/>
                          </a:solidFill>
                          <a:sym typeface="+mn-ea"/>
                        </a:rPr>
                        <a:t>hierarchy .</a:t>
                      </a:r>
                      <a:endParaRPr lang="en-GB" altLang="en-US">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0"/>
                  </a:ext>
                </a:extLst>
              </a:tr>
            </a:tbl>
          </a:graphicData>
        </a:graphic>
      </p:graphicFrame>
      <p:pic>
        <p:nvPicPr>
          <p:cNvPr id="10" name="Picture 9"/>
          <p:cNvPicPr>
            <a:picLocks noChangeAspect="1"/>
          </p:cNvPicPr>
          <p:nvPr/>
        </p:nvPicPr>
        <p:blipFill>
          <a:blip r:embed="rId2"/>
          <a:stretch>
            <a:fillRect/>
          </a:stretch>
        </p:blipFill>
        <p:spPr>
          <a:xfrm>
            <a:off x="1078230" y="4926330"/>
            <a:ext cx="3392805" cy="1457960"/>
          </a:xfrm>
          <a:prstGeom prst="rect">
            <a:avLst/>
          </a:prstGeom>
        </p:spPr>
      </p:pic>
      <p:pic>
        <p:nvPicPr>
          <p:cNvPr id="11" name="Picture 10"/>
          <p:cNvPicPr>
            <a:picLocks noChangeAspect="1"/>
          </p:cNvPicPr>
          <p:nvPr/>
        </p:nvPicPr>
        <p:blipFill>
          <a:blip r:embed="rId3"/>
          <a:stretch>
            <a:fillRect/>
          </a:stretch>
        </p:blipFill>
        <p:spPr>
          <a:xfrm>
            <a:off x="5241925" y="4926330"/>
            <a:ext cx="5501640" cy="1417320"/>
          </a:xfrm>
          <a:prstGeom prst="rect">
            <a:avLst/>
          </a:prstGeom>
        </p:spPr>
      </p:pic>
      <p:pic>
        <p:nvPicPr>
          <p:cNvPr id="12" name="Picture 11"/>
          <p:cNvPicPr>
            <a:picLocks noChangeAspect="1"/>
          </p:cNvPicPr>
          <p:nvPr/>
        </p:nvPicPr>
        <p:blipFill>
          <a:blip r:embed="rId4"/>
          <a:stretch>
            <a:fillRect/>
          </a:stretch>
        </p:blipFill>
        <p:spPr>
          <a:xfrm>
            <a:off x="591185" y="1632585"/>
            <a:ext cx="3061970" cy="154749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a:bodyPr>
          <a:lstStyle/>
          <a:p>
            <a:pPr marL="0" indent="0">
              <a:buSzPct val="100000"/>
              <a:buNone/>
            </a:pPr>
            <a:r>
              <a:rPr sz="2400">
                <a:sym typeface="+mn-ea"/>
              </a:rPr>
              <a:t>5.6</a:t>
            </a:r>
            <a:r>
              <a:rPr altLang="en-GB" sz="2400">
                <a:sym typeface="+mn-ea"/>
              </a:rPr>
              <a:t>.6</a:t>
            </a:r>
            <a:r>
              <a:rPr sz="2400">
                <a:sym typeface="+mn-ea"/>
              </a:rPr>
              <a:t> </a:t>
            </a:r>
            <a:r>
              <a:rPr lang="en-GB" altLang="en-US" sz="2400">
                <a:sym typeface="+mn-ea"/>
              </a:rPr>
              <a:t> Partitioning for Synthesis Runtime</a:t>
            </a:r>
            <a:br>
              <a:rPr lang="en-GB" altLang="en-US" sz="2400">
                <a:sym typeface="+mn-ea"/>
              </a:rPr>
            </a:br>
            <a:br>
              <a:rPr lang="en-GB" altLang="en-US" sz="2400">
                <a:sym typeface="+mn-ea"/>
              </a:rPr>
            </a:br>
            <a:r>
              <a:rPr altLang="en-GB" sz="2400" b="1">
                <a:effectLst/>
                <a:latin typeface="Arial-BoldMT"/>
                <a:sym typeface="+mn-ea"/>
              </a:rPr>
              <a:t>Guideline – </a:t>
            </a:r>
            <a:r>
              <a:rPr altLang="en-GB" sz="2400">
                <a:effectLst/>
                <a:latin typeface="Times New Roman" panose="02020603050405020304" pitchFamily="18" charset="0"/>
                <a:cs typeface="Times New Roman" panose="02020603050405020304" pitchFamily="18" charset="0"/>
                <a:sym typeface="+mn-ea"/>
              </a:rPr>
              <a:t>The most important considerations in partitioning should be the logic function, design </a:t>
            </a:r>
            <a:r>
              <a:rPr lang="en-GB" altLang="en-US" sz="2400">
                <a:latin typeface="Times New Roman" panose="02020603050405020304" pitchFamily="18" charset="0"/>
                <a:cs typeface="Times New Roman" panose="02020603050405020304" pitchFamily="18" charset="0"/>
                <a:sym typeface="+mn-ea"/>
              </a:rPr>
              <a:t>goals, and timing and area requirements</a:t>
            </a:r>
            <a:r>
              <a:rPr altLang="en-GB" sz="2400">
                <a:latin typeface="Times New Roman" panose="02020603050405020304" pitchFamily="18" charset="0"/>
                <a:cs typeface="Times New Roman" panose="02020603050405020304" pitchFamily="18" charset="0"/>
                <a:sym typeface="+mn-ea"/>
              </a:rPr>
              <a:t> to </a:t>
            </a:r>
            <a:r>
              <a:rPr altLang="en-GB" sz="2400">
                <a:solidFill>
                  <a:srgbClr val="00B050"/>
                </a:solidFill>
                <a:latin typeface="Times New Roman" panose="02020603050405020304" pitchFamily="18" charset="0"/>
                <a:cs typeface="Times New Roman" panose="02020603050405020304" pitchFamily="18" charset="0"/>
                <a:sym typeface="+mn-ea"/>
              </a:rPr>
              <a:t>optimize </a:t>
            </a:r>
            <a:r>
              <a:rPr altLang="en-GB" sz="2400">
                <a:latin typeface="Times New Roman" panose="02020603050405020304" pitchFamily="18" charset="0"/>
                <a:cs typeface="Times New Roman" panose="02020603050405020304" pitchFamily="18" charset="0"/>
                <a:sym typeface="+mn-ea"/>
              </a:rPr>
              <a:t>the runtime of </a:t>
            </a:r>
            <a:r>
              <a:rPr altLang="en-GB" sz="2400">
                <a:solidFill>
                  <a:srgbClr val="FFC000"/>
                </a:solidFill>
                <a:latin typeface="Times New Roman" panose="02020603050405020304" pitchFamily="18" charset="0"/>
                <a:cs typeface="Times New Roman" panose="02020603050405020304" pitchFamily="18" charset="0"/>
                <a:sym typeface="+mn-ea"/>
              </a:rPr>
              <a:t>synthesis process</a:t>
            </a:r>
            <a:r>
              <a:rPr altLang="en-GB" sz="2400">
                <a:latin typeface="Times New Roman" panose="02020603050405020304" pitchFamily="18" charset="0"/>
                <a:cs typeface="Times New Roman" panose="02020603050405020304" pitchFamily="18" charset="0"/>
                <a:sym typeface="+mn-ea"/>
              </a:rPr>
              <a:t>  this can be done as follows :</a:t>
            </a:r>
            <a:br>
              <a:rPr altLang="en-GB" sz="2400">
                <a:latin typeface="Times New Roman" panose="02020603050405020304" pitchFamily="18" charset="0"/>
                <a:cs typeface="Times New Roman" panose="02020603050405020304" pitchFamily="18" charset="0"/>
                <a:sym typeface="+mn-ea"/>
              </a:rPr>
            </a:br>
            <a:br>
              <a:rPr altLang="en-GB" sz="2400">
                <a:latin typeface="Times New Roman" panose="02020603050405020304" pitchFamily="18" charset="0"/>
                <a:cs typeface="Times New Roman" panose="02020603050405020304" pitchFamily="18" charset="0"/>
                <a:sym typeface="+mn-ea"/>
              </a:rPr>
            </a:br>
            <a:r>
              <a:rPr altLang="en-GB" sz="2400">
                <a:latin typeface="Times New Roman" panose="02020603050405020304" pitchFamily="18" charset="0"/>
                <a:cs typeface="Times New Roman" panose="02020603050405020304" pitchFamily="18" charset="0"/>
                <a:sym typeface="+mn-ea"/>
              </a:rPr>
              <a:t>1)Grouping </a:t>
            </a:r>
            <a:r>
              <a:rPr altLang="en-GB" sz="2400">
                <a:solidFill>
                  <a:srgbClr val="00B050"/>
                </a:solidFill>
                <a:latin typeface="Times New Roman" panose="02020603050405020304" pitchFamily="18" charset="0"/>
                <a:cs typeface="Times New Roman" panose="02020603050405020304" pitchFamily="18" charset="0"/>
                <a:sym typeface="+mn-ea"/>
              </a:rPr>
              <a:t>related functions </a:t>
            </a:r>
            <a:r>
              <a:rPr altLang="en-GB" sz="2400">
                <a:latin typeface="Times New Roman" panose="02020603050405020304" pitchFamily="18" charset="0"/>
                <a:cs typeface="Times New Roman" panose="02020603050405020304" pitchFamily="18" charset="0"/>
                <a:sym typeface="+mn-ea"/>
              </a:rPr>
              <a:t>together is much better than </a:t>
            </a:r>
            <a:r>
              <a:rPr altLang="en-GB" sz="2400">
                <a:solidFill>
                  <a:srgbClr val="FF0000"/>
                </a:solidFill>
                <a:latin typeface="Times New Roman" panose="02020603050405020304" pitchFamily="18" charset="0"/>
                <a:cs typeface="Times New Roman" panose="02020603050405020304" pitchFamily="18" charset="0"/>
                <a:sym typeface="+mn-ea"/>
              </a:rPr>
              <a:t>splitting functions artificially.</a:t>
            </a:r>
            <a:br>
              <a:rPr altLang="en-GB" sz="2400">
                <a:latin typeface="Times New Roman" panose="02020603050405020304" pitchFamily="18" charset="0"/>
                <a:cs typeface="Times New Roman" panose="02020603050405020304" pitchFamily="18" charset="0"/>
                <a:sym typeface="+mn-ea"/>
              </a:rPr>
            </a:br>
            <a:br>
              <a:rPr altLang="en-GB" sz="2400">
                <a:latin typeface="Times New Roman" panose="02020603050405020304" pitchFamily="18" charset="0"/>
                <a:cs typeface="Times New Roman" panose="02020603050405020304" pitchFamily="18" charset="0"/>
                <a:sym typeface="+mn-ea"/>
              </a:rPr>
            </a:br>
            <a:r>
              <a:rPr altLang="en-GB" sz="2400">
                <a:latin typeface="Times New Roman" panose="02020603050405020304" pitchFamily="18" charset="0"/>
                <a:cs typeface="Times New Roman" panose="02020603050405020304" pitchFamily="18" charset="0"/>
                <a:sym typeface="+mn-ea"/>
              </a:rPr>
              <a:t>2)</a:t>
            </a:r>
            <a:r>
              <a:rPr altLang="en-GB" sz="2400">
                <a:solidFill>
                  <a:srgbClr val="00B050"/>
                </a:solidFill>
                <a:latin typeface="Times New Roman" panose="02020603050405020304" pitchFamily="18" charset="0"/>
                <a:cs typeface="Times New Roman" panose="02020603050405020304" pitchFamily="18" charset="0"/>
                <a:sym typeface="+mn-ea"/>
              </a:rPr>
              <a:t>Good timing budgets</a:t>
            </a:r>
            <a:r>
              <a:rPr altLang="en-GB" sz="2400">
                <a:latin typeface="Times New Roman" panose="02020603050405020304" pitchFamily="18" charset="0"/>
                <a:cs typeface="Times New Roman" panose="02020603050405020304" pitchFamily="18" charset="0"/>
                <a:sym typeface="+mn-ea"/>
              </a:rPr>
              <a:t> and appropriate constraints can have a larger impact on</a:t>
            </a:r>
          </a:p>
          <a:p>
            <a:pPr marL="0" indent="0">
              <a:buSzPct val="100000"/>
              <a:buNone/>
            </a:pPr>
            <a:r>
              <a:rPr lang="en-GB" altLang="en-US" sz="2400">
                <a:latin typeface="Times New Roman" panose="02020603050405020304" pitchFamily="18" charset="0"/>
                <a:cs typeface="Times New Roman" panose="02020603050405020304" pitchFamily="18" charset="0"/>
                <a:sym typeface="+mn-ea"/>
              </a:rPr>
              <a:t>synthesis runtime than circuit size does.</a:t>
            </a:r>
            <a:br>
              <a:rPr lang="en-GB" altLang="en-US" sz="2400">
                <a:sym typeface="+mn-ea"/>
              </a:rPr>
            </a:br>
            <a:br>
              <a:rPr lang="en-GB" altLang="en-US" sz="2400">
                <a:sym typeface="+mn-ea"/>
              </a:rPr>
            </a:br>
            <a:r>
              <a:rPr altLang="en-GB" sz="2400">
                <a:latin typeface="Times New Roman" panose="02020603050405020304" pitchFamily="18" charset="0"/>
                <a:cs typeface="Times New Roman" panose="02020603050405020304" pitchFamily="18" charset="0"/>
                <a:sym typeface="+mn-ea"/>
              </a:rPr>
              <a:t>3) Grouping logic according to </a:t>
            </a:r>
            <a:r>
              <a:rPr altLang="en-GB" sz="2400">
                <a:solidFill>
                  <a:srgbClr val="FFC000"/>
                </a:solidFill>
                <a:latin typeface="Times New Roman" panose="02020603050405020304" pitchFamily="18" charset="0"/>
                <a:cs typeface="Times New Roman" panose="02020603050405020304" pitchFamily="18" charset="0"/>
                <a:sym typeface="+mn-ea"/>
              </a:rPr>
              <a:t>design goals</a:t>
            </a:r>
            <a:r>
              <a:rPr altLang="en-GB" sz="2400">
                <a:solidFill>
                  <a:schemeClr val="tx1"/>
                </a:solidFill>
                <a:latin typeface="Times New Roman" panose="02020603050405020304" pitchFamily="18" charset="0"/>
                <a:cs typeface="Times New Roman" panose="02020603050405020304" pitchFamily="18" charset="0"/>
                <a:sym typeface="+mn-ea"/>
              </a:rPr>
              <a:t> [Area _Timing or both</a:t>
            </a:r>
            <a:r>
              <a:rPr altLang="en-GB" sz="2400">
                <a:solidFill>
                  <a:srgbClr val="FFC000"/>
                </a:solidFill>
                <a:latin typeface="Times New Roman" panose="02020603050405020304" pitchFamily="18" charset="0"/>
                <a:cs typeface="Times New Roman" panose="02020603050405020304" pitchFamily="18" charset="0"/>
                <a:sym typeface="+mn-ea"/>
              </a:rPr>
              <a:t> </a:t>
            </a:r>
            <a:r>
              <a:rPr altLang="en-GB" sz="2400">
                <a:solidFill>
                  <a:schemeClr val="tx1"/>
                </a:solidFill>
                <a:latin typeface="Times New Roman" panose="02020603050405020304" pitchFamily="18" charset="0"/>
                <a:cs typeface="Times New Roman" panose="02020603050405020304" pitchFamily="18" charset="0"/>
                <a:sym typeface="+mn-ea"/>
              </a:rPr>
              <a:t>]</a:t>
            </a:r>
            <a:r>
              <a:rPr altLang="en-GB" sz="2400">
                <a:latin typeface="Times New Roman" panose="02020603050405020304" pitchFamily="18" charset="0"/>
                <a:cs typeface="Times New Roman" panose="02020603050405020304" pitchFamily="18" charset="0"/>
                <a:sym typeface="+mn-ea"/>
              </a:rPr>
              <a:t>, the synthesis strategy can be focused, </a:t>
            </a:r>
            <a:r>
              <a:rPr lang="en-GB" altLang="en-US" sz="2400">
                <a:latin typeface="Times New Roman" panose="02020603050405020304" pitchFamily="18" charset="0"/>
                <a:cs typeface="Times New Roman" panose="02020603050405020304" pitchFamily="18" charset="0"/>
                <a:sym typeface="+mn-ea"/>
              </a:rPr>
              <a:t>reducing synthesis runtime.</a:t>
            </a:r>
            <a:r>
              <a:rPr altLang="en-GB" sz="2400">
                <a:latin typeface="Times New Roman" panose="02020603050405020304" pitchFamily="18" charset="0"/>
                <a:cs typeface="Times New Roman" panose="02020603050405020304" pitchFamily="18" charset="0"/>
                <a:sym typeface="+mn-ea"/>
              </a:rPr>
              <a:t> </a:t>
            </a:r>
            <a:br>
              <a:rPr lang="en-GB" altLang="en-US" sz="2400">
                <a:sym typeface="+mn-ea"/>
              </a:rPr>
            </a:br>
            <a:r>
              <a:rPr altLang="en-GB" sz="2400" b="1">
                <a:effectLst/>
                <a:latin typeface="Arial-BoldMT"/>
                <a:sym typeface="+mn-ea"/>
              </a:rPr>
              <a:t> </a:t>
            </a:r>
            <a:br>
              <a:rPr altLang="en-GB" sz="2400" b="1">
                <a:effectLst/>
                <a:latin typeface="Arial-BoldMT"/>
                <a:sym typeface="+mn-ea"/>
              </a:rPr>
            </a:br>
            <a:endParaRPr altLang="en-GB" sz="2400" b="1" dirty="0">
              <a:effectLst/>
              <a:latin typeface="Arial-BoldMT"/>
              <a:cs typeface="Times New Roman" panose="02020603050405020304" pitchFamily="18" charset="0"/>
              <a:sym typeface="+mn-ea"/>
            </a:endParaRPr>
          </a:p>
        </p:txBody>
      </p:sp>
      <p:sp>
        <p:nvSpPr>
          <p:cNvPr id="3" name="Title 2"/>
          <p:cNvSpPr>
            <a:spLocks noGrp="1"/>
          </p:cNvSpPr>
          <p:nvPr>
            <p:ph type="title"/>
          </p:nvPr>
        </p:nvSpPr>
        <p:spPr>
          <a:xfrm>
            <a:off x="342900" y="260096"/>
            <a:ext cx="10287000" cy="469899"/>
          </a:xfrm>
        </p:spPr>
        <p:txBody>
          <a:bodyPr/>
          <a:lstStyle/>
          <a:p>
            <a:r>
              <a:rPr lang="en-US" dirty="0"/>
              <a:t>5.</a:t>
            </a:r>
            <a:r>
              <a:rPr altLang="en-GB" dirty="0"/>
              <a:t>6 Partitioning for Synthesis</a:t>
            </a:r>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50</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fontScale="90000" lnSpcReduction="20000"/>
          </a:bodyPr>
          <a:lstStyle/>
          <a:p>
            <a:pPr marL="0" indent="0">
              <a:buSzPct val="100000"/>
              <a:buNone/>
            </a:pPr>
            <a:r>
              <a:rPr sz="2400">
                <a:sym typeface="+mn-ea"/>
              </a:rPr>
              <a:t>5.6</a:t>
            </a:r>
            <a:r>
              <a:rPr altLang="en-GB" sz="2400">
                <a:sym typeface="+mn-ea"/>
              </a:rPr>
              <a:t>.</a:t>
            </a:r>
            <a:r>
              <a:rPr lang="en-GB" altLang="en-US" sz="2400">
                <a:sym typeface="+mn-ea"/>
              </a:rPr>
              <a:t>7</a:t>
            </a:r>
            <a:r>
              <a:rPr sz="2400">
                <a:sym typeface="+mn-ea"/>
              </a:rPr>
              <a:t> </a:t>
            </a:r>
            <a:r>
              <a:rPr lang="en-GB" altLang="en-US" sz="2400">
                <a:sym typeface="+mn-ea"/>
              </a:rPr>
              <a:t> Avoid Timing Exceptions</a:t>
            </a:r>
            <a:br>
              <a:rPr lang="en-GB" altLang="en-US" sz="2400">
                <a:sym typeface="+mn-ea"/>
              </a:rPr>
            </a:br>
            <a:r>
              <a:rPr lang="en-GB" altLang="en-US" sz="2400">
                <a:sym typeface="+mn-ea"/>
              </a:rPr>
              <a:t>Timing Exceptions : </a:t>
            </a:r>
            <a:r>
              <a:rPr lang="en-GB" altLang="en-US" sz="2400">
                <a:latin typeface="Times New Roman" panose="02020603050405020304" pitchFamily="18" charset="0"/>
                <a:cs typeface="Times New Roman" panose="02020603050405020304" pitchFamily="18" charset="0"/>
                <a:sym typeface="+mn-ea"/>
              </a:rPr>
              <a:t>Those are the pathes that doesn’t require the data to be transfered withing one clock . </a:t>
            </a:r>
            <a:br>
              <a:rPr lang="en-GB" altLang="en-US" sz="2400">
                <a:latin typeface="Times New Roman" panose="02020603050405020304" pitchFamily="18" charset="0"/>
                <a:cs typeface="Times New Roman" panose="02020603050405020304" pitchFamily="18" charset="0"/>
                <a:sym typeface="+mn-ea"/>
              </a:rPr>
            </a:br>
            <a:r>
              <a:rPr lang="en-GB" altLang="en-US" sz="2400">
                <a:latin typeface="Times New Roman" panose="02020603050405020304" pitchFamily="18" charset="0"/>
                <a:cs typeface="Times New Roman" panose="02020603050405020304" pitchFamily="18" charset="0"/>
                <a:sym typeface="+mn-ea"/>
              </a:rPr>
              <a:t>-</a:t>
            </a:r>
            <a:r>
              <a:rPr lang="en-GB" altLang="en-US" sz="2400">
                <a:solidFill>
                  <a:srgbClr val="FF0000"/>
                </a:solidFill>
                <a:latin typeface="Times New Roman" panose="02020603050405020304" pitchFamily="18" charset="0"/>
                <a:cs typeface="Times New Roman" panose="02020603050405020304" pitchFamily="18" charset="0"/>
                <a:sym typeface="+mn-ea"/>
              </a:rPr>
              <a:t>False paths</a:t>
            </a:r>
            <a:r>
              <a:rPr lang="en-GB" altLang="en-US" sz="2400">
                <a:latin typeface="Times New Roman" panose="02020603050405020304" pitchFamily="18" charset="0"/>
                <a:cs typeface="Times New Roman" panose="02020603050405020304" pitchFamily="18" charset="0"/>
                <a:sym typeface="+mn-ea"/>
              </a:rPr>
              <a:t> :  Timing path’s not required to meet its timing constraints for the design to function properly . for the STA tools they maybe identified as failling paths yet the designer knows they aren’t failling .</a:t>
            </a:r>
          </a:p>
          <a:p>
            <a:pPr marL="0" indent="0">
              <a:buSzPct val="100000"/>
              <a:buNone/>
            </a:pPr>
            <a:br>
              <a:rPr lang="en-GB" altLang="en-US" sz="2400">
                <a:sym typeface="+mn-ea"/>
              </a:rPr>
            </a:br>
            <a:r>
              <a:rPr lang="en-GB" altLang="en-US" sz="2400">
                <a:latin typeface="Times New Roman" panose="02020603050405020304" pitchFamily="18" charset="0"/>
                <a:cs typeface="Times New Roman" panose="02020603050405020304" pitchFamily="18" charset="0"/>
                <a:sym typeface="+mn-ea"/>
              </a:rPr>
              <a:t>-</a:t>
            </a:r>
            <a:r>
              <a:rPr lang="en-GB" altLang="en-US" sz="2400">
                <a:solidFill>
                  <a:srgbClr val="FF0000"/>
                </a:solidFill>
                <a:latin typeface="Times New Roman" panose="02020603050405020304" pitchFamily="18" charset="0"/>
                <a:cs typeface="Times New Roman" panose="02020603050405020304" pitchFamily="18" charset="0"/>
                <a:sym typeface="+mn-ea"/>
              </a:rPr>
              <a:t>Multicylce paths</a:t>
            </a:r>
            <a:r>
              <a:rPr lang="en-GB" altLang="en-US" sz="2400">
                <a:latin typeface="Times New Roman" panose="02020603050405020304" pitchFamily="18" charset="0"/>
                <a:cs typeface="Times New Roman" panose="02020603050405020304" pitchFamily="18" charset="0"/>
                <a:sym typeface="+mn-ea"/>
              </a:rPr>
              <a:t> : </a:t>
            </a:r>
            <a:br>
              <a:rPr lang="en-GB" altLang="en-US" sz="2400">
                <a:sym typeface="+mn-ea"/>
              </a:rPr>
            </a:br>
            <a:r>
              <a:rPr altLang="en-GB" sz="2400">
                <a:effectLst/>
                <a:latin typeface="Arial-BoldMT"/>
                <a:sym typeface="+mn-ea"/>
              </a:rPr>
              <a:t> </a:t>
            </a:r>
            <a:r>
              <a:rPr altLang="en-GB" sz="2400">
                <a:effectLst/>
                <a:latin typeface="Times New Roman" panose="02020603050405020304" pitchFamily="18" charset="0"/>
                <a:cs typeface="Times New Roman" panose="02020603050405020304" pitchFamily="18" charset="0"/>
                <a:sym typeface="+mn-ea"/>
              </a:rPr>
              <a:t>Design tools including synthesis, static timing analysis, and</a:t>
            </a:r>
            <a:r>
              <a:rPr lang="en-GB" altLang="en-US" sz="2400">
                <a:effectLst/>
                <a:latin typeface="Times New Roman" panose="02020603050405020304" pitchFamily="18" charset="0"/>
                <a:cs typeface="Times New Roman" panose="02020603050405020304" pitchFamily="18" charset="0"/>
                <a:sym typeface="+mn-ea"/>
              </a:rPr>
              <a:t> </a:t>
            </a:r>
            <a:r>
              <a:rPr altLang="en-GB" sz="2400">
                <a:effectLst/>
                <a:latin typeface="Times New Roman" panose="02020603050405020304" pitchFamily="18" charset="0"/>
                <a:cs typeface="Times New Roman" panose="02020603050405020304" pitchFamily="18" charset="0"/>
                <a:sym typeface="+mn-ea"/>
              </a:rPr>
              <a:t>place and route tools must allow the data to take more than one clock cycle to</a:t>
            </a:r>
            <a:r>
              <a:rPr lang="en-GB" altLang="en-US" sz="2400">
                <a:effectLst/>
                <a:latin typeface="Times New Roman" panose="02020603050405020304" pitchFamily="18" charset="0"/>
                <a:cs typeface="Times New Roman" panose="02020603050405020304" pitchFamily="18" charset="0"/>
                <a:sym typeface="+mn-ea"/>
              </a:rPr>
              <a:t> </a:t>
            </a:r>
            <a:r>
              <a:rPr altLang="en-GB" sz="2400">
                <a:effectLst/>
                <a:latin typeface="Times New Roman" panose="02020603050405020304" pitchFamily="18" charset="0"/>
                <a:cs typeface="Times New Roman" panose="02020603050405020304" pitchFamily="18" charset="0"/>
                <a:sym typeface="+mn-ea"/>
              </a:rPr>
              <a:t>traverse the path</a:t>
            </a:r>
            <a:br>
              <a:rPr altLang="en-GB" sz="2400" b="1">
                <a:effectLst/>
                <a:latin typeface="Arial-BoldMT"/>
                <a:sym typeface="+mn-ea"/>
              </a:rPr>
            </a:br>
            <a:endParaRPr altLang="en-GB" sz="2400" b="1">
              <a:effectLst/>
              <a:latin typeface="Arial-BoldMT"/>
              <a:sym typeface="+mn-ea"/>
            </a:endParaRPr>
          </a:p>
          <a:p>
            <a:pPr marL="0" indent="0">
              <a:buSzPct val="100000"/>
              <a:buNone/>
            </a:pPr>
            <a:endParaRPr altLang="en-GB" sz="2400" b="1">
              <a:effectLst/>
              <a:latin typeface="Arial-BoldMT"/>
              <a:sym typeface="+mn-ea"/>
            </a:endParaRPr>
          </a:p>
          <a:p>
            <a:pPr marL="0" indent="0">
              <a:buSzPct val="100000"/>
              <a:buNone/>
            </a:pPr>
            <a:endParaRPr altLang="en-GB" sz="2400" b="1">
              <a:effectLst/>
              <a:latin typeface="Arial-BoldMT"/>
              <a:sym typeface="+mn-ea"/>
            </a:endParaRPr>
          </a:p>
          <a:p>
            <a:pPr marL="0" indent="0">
              <a:buSzPct val="100000"/>
              <a:buNone/>
            </a:pPr>
            <a:endParaRPr altLang="en-GB" sz="2400" b="1">
              <a:effectLst/>
              <a:latin typeface="Arial-BoldMT"/>
              <a:sym typeface="+mn-ea"/>
            </a:endParaRPr>
          </a:p>
          <a:p>
            <a:pPr marL="0" indent="0">
              <a:buSzPct val="100000"/>
              <a:buNone/>
            </a:pPr>
            <a:endParaRPr altLang="en-GB" sz="2400" b="1">
              <a:effectLst/>
              <a:latin typeface="Arial-BoldMT"/>
              <a:sym typeface="+mn-ea"/>
            </a:endParaRPr>
          </a:p>
          <a:p>
            <a:pPr marL="0" indent="0">
              <a:buSzPct val="100000"/>
              <a:buNone/>
            </a:pPr>
            <a:br>
              <a:rPr altLang="en-GB" sz="2400" b="1">
                <a:effectLst/>
                <a:latin typeface="Arial-BoldMT"/>
                <a:sym typeface="+mn-ea"/>
              </a:rPr>
            </a:br>
            <a:br>
              <a:rPr altLang="en-GB" sz="2400" b="1">
                <a:effectLst/>
                <a:latin typeface="Arial-BoldMT"/>
                <a:sym typeface="+mn-ea"/>
              </a:rPr>
            </a:br>
            <a:r>
              <a:rPr altLang="en-GB" sz="2400" b="1">
                <a:effectLst/>
                <a:latin typeface="Arial-BoldMT"/>
                <a:sym typeface="+mn-ea"/>
              </a:rPr>
              <a:t>Guideline </a:t>
            </a:r>
            <a:r>
              <a:rPr altLang="en-GB" sz="2400">
                <a:effectLst/>
                <a:latin typeface="Arial-BoldMT"/>
                <a:sym typeface="+mn-ea"/>
              </a:rPr>
              <a:t>–</a:t>
            </a:r>
            <a:r>
              <a:rPr altLang="en-GB" sz="2400">
                <a:effectLst/>
                <a:latin typeface="Times New Roman" panose="02020603050405020304" pitchFamily="18" charset="0"/>
                <a:cs typeface="Times New Roman" panose="02020603050405020304" pitchFamily="18" charset="0"/>
                <a:sym typeface="+mn-ea"/>
              </a:rPr>
              <a:t> Avoid </a:t>
            </a:r>
            <a:r>
              <a:rPr altLang="en-GB" sz="2400">
                <a:solidFill>
                  <a:srgbClr val="FF0000"/>
                </a:solidFill>
                <a:effectLst/>
                <a:latin typeface="Times New Roman" panose="02020603050405020304" pitchFamily="18" charset="0"/>
                <a:cs typeface="Times New Roman" panose="02020603050405020304" pitchFamily="18" charset="0"/>
                <a:sym typeface="+mn-ea"/>
              </a:rPr>
              <a:t>multicycle </a:t>
            </a:r>
            <a:r>
              <a:rPr altLang="en-GB" sz="2400">
                <a:effectLst/>
                <a:latin typeface="Times New Roman" panose="02020603050405020304" pitchFamily="18" charset="0"/>
                <a:cs typeface="Times New Roman" panose="02020603050405020304" pitchFamily="18" charset="0"/>
                <a:sym typeface="+mn-ea"/>
              </a:rPr>
              <a:t>paths and other timing exceptions in your design.</a:t>
            </a:r>
          </a:p>
        </p:txBody>
      </p:sp>
      <p:sp>
        <p:nvSpPr>
          <p:cNvPr id="3" name="Title 2"/>
          <p:cNvSpPr>
            <a:spLocks noGrp="1"/>
          </p:cNvSpPr>
          <p:nvPr>
            <p:ph type="title"/>
          </p:nvPr>
        </p:nvSpPr>
        <p:spPr>
          <a:xfrm>
            <a:off x="342900" y="260096"/>
            <a:ext cx="10287000" cy="469899"/>
          </a:xfrm>
        </p:spPr>
        <p:txBody>
          <a:bodyPr/>
          <a:lstStyle/>
          <a:p>
            <a:r>
              <a:rPr lang="en-US" dirty="0"/>
              <a:t>5.</a:t>
            </a:r>
            <a:r>
              <a:rPr altLang="en-GB" dirty="0"/>
              <a:t>6 Partitioning for Synthesis</a:t>
            </a:r>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51</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9" name="Picture 8"/>
          <p:cNvPicPr>
            <a:picLocks noChangeAspect="1"/>
          </p:cNvPicPr>
          <p:nvPr/>
        </p:nvPicPr>
        <p:blipFill>
          <a:blip r:embed="rId2"/>
          <a:stretch>
            <a:fillRect/>
          </a:stretch>
        </p:blipFill>
        <p:spPr>
          <a:xfrm>
            <a:off x="355600" y="3823970"/>
            <a:ext cx="9274810" cy="19081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a:bodyPr>
          <a:lstStyle/>
          <a:p>
            <a:pPr marL="0" indent="0">
              <a:buSzPct val="100000"/>
              <a:buNone/>
            </a:pPr>
            <a:r>
              <a:rPr sz="2400">
                <a:sym typeface="+mn-ea"/>
              </a:rPr>
              <a:t>5.6</a:t>
            </a:r>
            <a:r>
              <a:rPr altLang="en-GB" sz="2400">
                <a:sym typeface="+mn-ea"/>
              </a:rPr>
              <a:t>.</a:t>
            </a:r>
            <a:r>
              <a:rPr lang="en-GB" altLang="en-US" sz="2400">
                <a:sym typeface="+mn-ea"/>
              </a:rPr>
              <a:t>7</a:t>
            </a:r>
            <a:r>
              <a:rPr sz="2400">
                <a:sym typeface="+mn-ea"/>
              </a:rPr>
              <a:t> </a:t>
            </a:r>
            <a:r>
              <a:rPr lang="en-GB" altLang="en-US" sz="2400">
                <a:sym typeface="+mn-ea"/>
              </a:rPr>
              <a:t> Avoid Timing Exceptions</a:t>
            </a:r>
            <a:br>
              <a:rPr lang="en-GB" altLang="en-US" sz="2400">
                <a:sym typeface="+mn-ea"/>
              </a:rPr>
            </a:br>
            <a:r>
              <a:rPr lang="en-GB" altLang="en-US" sz="2400">
                <a:sym typeface="+mn-ea"/>
              </a:rPr>
              <a:t>Guideline – </a:t>
            </a:r>
            <a:r>
              <a:rPr lang="en-GB" altLang="en-US" sz="2400">
                <a:latin typeface="Times New Roman" panose="02020603050405020304" pitchFamily="18" charset="0"/>
                <a:cs typeface="Times New Roman" panose="02020603050405020304" pitchFamily="18" charset="0"/>
                <a:sym typeface="+mn-ea"/>
              </a:rPr>
              <a:t>If you must use timing exceptions in your design, use</a:t>
            </a:r>
            <a:r>
              <a:rPr lang="en-GB" altLang="en-US" sz="2400">
                <a:solidFill>
                  <a:srgbClr val="00B050"/>
                </a:solidFill>
                <a:latin typeface="Times New Roman" panose="02020603050405020304" pitchFamily="18" charset="0"/>
                <a:cs typeface="Times New Roman" panose="02020603050405020304" pitchFamily="18" charset="0"/>
                <a:sym typeface="+mn-ea"/>
              </a:rPr>
              <a:t> start</a:t>
            </a:r>
            <a:r>
              <a:rPr lang="en-GB" altLang="en-US" sz="2400">
                <a:latin typeface="Times New Roman" panose="02020603050405020304" pitchFamily="18" charset="0"/>
                <a:cs typeface="Times New Roman" panose="02020603050405020304" pitchFamily="18" charset="0"/>
                <a:sym typeface="+mn-ea"/>
              </a:rPr>
              <a:t> and </a:t>
            </a:r>
            <a:r>
              <a:rPr lang="en-GB" altLang="en-US" sz="2400">
                <a:solidFill>
                  <a:srgbClr val="00B050"/>
                </a:solidFill>
                <a:latin typeface="Times New Roman" panose="02020603050405020304" pitchFamily="18" charset="0"/>
                <a:cs typeface="Times New Roman" panose="02020603050405020304" pitchFamily="18" charset="0"/>
                <a:sym typeface="+mn-ea"/>
              </a:rPr>
              <a:t>end</a:t>
            </a:r>
            <a:r>
              <a:rPr lang="en-GB" altLang="en-US" sz="2400">
                <a:latin typeface="Times New Roman" panose="02020603050405020304" pitchFamily="18" charset="0"/>
                <a:cs typeface="Times New Roman" panose="02020603050405020304" pitchFamily="18" charset="0"/>
                <a:sym typeface="+mn-ea"/>
              </a:rPr>
              <a:t> </a:t>
            </a:r>
            <a:r>
              <a:rPr altLang="en-GB" sz="2400">
                <a:effectLst/>
                <a:latin typeface="Times New Roman" panose="02020603050405020304" pitchFamily="18" charset="0"/>
                <a:cs typeface="Times New Roman" panose="02020603050405020304" pitchFamily="18" charset="0"/>
                <a:sym typeface="+mn-ea"/>
              </a:rPr>
              <a:t>points which are guaranteed to exist and be valid at the chip level.</a:t>
            </a:r>
            <a:br>
              <a:rPr altLang="en-GB" sz="2400">
                <a:effectLst/>
                <a:latin typeface="Times New Roman" panose="02020603050405020304" pitchFamily="18" charset="0"/>
                <a:cs typeface="Times New Roman" panose="02020603050405020304" pitchFamily="18" charset="0"/>
                <a:sym typeface="+mn-ea"/>
              </a:rPr>
            </a:br>
            <a:endParaRPr altLang="en-GB" sz="2400">
              <a:effectLst/>
              <a:latin typeface="Times New Roman" panose="02020603050405020304" pitchFamily="18" charset="0"/>
              <a:cs typeface="Times New Roman" panose="02020603050405020304" pitchFamily="18" charset="0"/>
              <a:sym typeface="+mn-ea"/>
            </a:endParaRPr>
          </a:p>
        </p:txBody>
      </p:sp>
      <p:sp>
        <p:nvSpPr>
          <p:cNvPr id="3" name="Title 2"/>
          <p:cNvSpPr>
            <a:spLocks noGrp="1"/>
          </p:cNvSpPr>
          <p:nvPr>
            <p:ph type="title"/>
          </p:nvPr>
        </p:nvSpPr>
        <p:spPr>
          <a:xfrm>
            <a:off x="342900" y="260096"/>
            <a:ext cx="10287000" cy="469899"/>
          </a:xfrm>
        </p:spPr>
        <p:txBody>
          <a:bodyPr/>
          <a:lstStyle/>
          <a:p>
            <a:r>
              <a:rPr lang="en-US" dirty="0"/>
              <a:t>5.</a:t>
            </a:r>
            <a:r>
              <a:rPr altLang="en-GB" dirty="0"/>
              <a:t>6 Partitioning for Synthesis</a:t>
            </a:r>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52</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graphicFrame>
        <p:nvGraphicFramePr>
          <p:cNvPr id="7" name="Table 6"/>
          <p:cNvGraphicFramePr/>
          <p:nvPr/>
        </p:nvGraphicFramePr>
        <p:xfrm>
          <a:off x="175260" y="2136140"/>
          <a:ext cx="10927080" cy="4356735"/>
        </p:xfrm>
        <a:graphic>
          <a:graphicData uri="http://schemas.openxmlformats.org/drawingml/2006/table">
            <a:tbl>
              <a:tblPr firstRow="1" bandRow="1">
                <a:tableStyleId>{21E4AEA4-8DFA-4A89-87EB-49C32662AFE0}</a:tableStyleId>
              </a:tblPr>
              <a:tblGrid>
                <a:gridCol w="5641340">
                  <a:extLst>
                    <a:ext uri="{9D8B030D-6E8A-4147-A177-3AD203B41FA5}">
                      <a16:colId xmlns:a16="http://schemas.microsoft.com/office/drawing/2014/main" val="20000"/>
                    </a:ext>
                  </a:extLst>
                </a:gridCol>
                <a:gridCol w="5285740">
                  <a:extLst>
                    <a:ext uri="{9D8B030D-6E8A-4147-A177-3AD203B41FA5}">
                      <a16:colId xmlns:a16="http://schemas.microsoft.com/office/drawing/2014/main" val="20001"/>
                    </a:ext>
                  </a:extLst>
                </a:gridCol>
              </a:tblGrid>
              <a:tr h="476250">
                <a:tc>
                  <a:txBody>
                    <a:bodyPr/>
                    <a:lstStyle/>
                    <a:p>
                      <a:pPr>
                        <a:buNone/>
                      </a:pPr>
                      <a:r>
                        <a:rPr lang="en-GB" altLang="en-US">
                          <a:solidFill>
                            <a:schemeClr val="tx1"/>
                          </a:solidFill>
                        </a:rPr>
                        <a:t>False Paths</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GB" altLang="en-US">
                          <a:solidFill>
                            <a:schemeClr val="tx1"/>
                          </a:solidFill>
                        </a:rPr>
                        <a:t>MultiCycle paths </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0"/>
                  </a:ext>
                </a:extLst>
              </a:tr>
              <a:tr h="3880485">
                <a:tc>
                  <a:txBody>
                    <a:bodyPr/>
                    <a:lstStyle/>
                    <a:p>
                      <a:pPr>
                        <a:buNone/>
                      </a:pPr>
                      <a:r>
                        <a:rPr lang="en-GB" altLang="en-US">
                          <a:solidFill>
                            <a:schemeClr val="tx1"/>
                          </a:solidFill>
                        </a:rPr>
                        <a:t>Guideline – Avoid false paths in your design.</a:t>
                      </a:r>
                    </a:p>
                    <a:p>
                      <a:pPr>
                        <a:buNone/>
                      </a:pPr>
                      <a:r>
                        <a:rPr lang="en-GB" altLang="en-US">
                          <a:solidFill>
                            <a:schemeClr val="tx1"/>
                          </a:solidFill>
                        </a:rPr>
                        <a:t>As the designer may accidentally ignore a valid warning of a time failling path .</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GB" altLang="en-US">
                          <a:solidFill>
                            <a:schemeClr val="tx1"/>
                          </a:solidFill>
                        </a:rPr>
                        <a:t>Use Isolating point-to-point exceptions as shown in the following example . </a:t>
                      </a:r>
                    </a:p>
                    <a:p>
                      <a:pPr>
                        <a:buNone/>
                      </a:pPr>
                      <a:r>
                        <a:rPr lang="en-GB" altLang="en-US">
                          <a:solidFill>
                            <a:schemeClr val="tx1"/>
                          </a:solidFill>
                        </a:rPr>
                        <a:t>A multicylce path is defined between  </a:t>
                      </a:r>
                      <a:r>
                        <a:rPr lang="en-GB" altLang="en-US">
                          <a:solidFill>
                            <a:srgbClr val="FFC000"/>
                          </a:solidFill>
                        </a:rPr>
                        <a:t>D_reg</a:t>
                      </a:r>
                      <a:r>
                        <a:rPr lang="en-GB" altLang="en-US">
                          <a:solidFill>
                            <a:schemeClr val="tx1"/>
                          </a:solidFill>
                        </a:rPr>
                        <a:t> to  </a:t>
                      </a:r>
                      <a:r>
                        <a:rPr lang="en-GB" altLang="en-US">
                          <a:solidFill>
                            <a:srgbClr val="FFC000"/>
                          </a:solidFill>
                        </a:rPr>
                        <a:t>S_reg</a:t>
                      </a:r>
                      <a:endParaRPr lang="en-GB" altLang="en-US">
                        <a:solidFill>
                          <a:schemeClr val="tx1"/>
                        </a:solidFill>
                      </a:endParaRPr>
                    </a:p>
                    <a:p>
                      <a:pPr>
                        <a:buNone/>
                      </a:pPr>
                      <a:r>
                        <a:rPr lang="en-GB" altLang="en-US">
                          <a:solidFill>
                            <a:schemeClr val="tx1"/>
                          </a:solidFill>
                        </a:rPr>
                        <a:t>This improves synthesis and timing results .</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1"/>
                  </a:ext>
                </a:extLst>
              </a:tr>
            </a:tbl>
          </a:graphicData>
        </a:graphic>
      </p:graphicFrame>
      <p:pic>
        <p:nvPicPr>
          <p:cNvPr id="8" name="Picture 7"/>
          <p:cNvPicPr>
            <a:picLocks noChangeAspect="1"/>
          </p:cNvPicPr>
          <p:nvPr/>
        </p:nvPicPr>
        <p:blipFill>
          <a:blip r:embed="rId2"/>
          <a:stretch>
            <a:fillRect/>
          </a:stretch>
        </p:blipFill>
        <p:spPr>
          <a:xfrm>
            <a:off x="6158230" y="4011930"/>
            <a:ext cx="4411345" cy="2480945"/>
          </a:xfrm>
          <a:prstGeom prst="rect">
            <a:avLst/>
          </a:prstGeom>
        </p:spPr>
      </p:pic>
      <p:pic>
        <p:nvPicPr>
          <p:cNvPr id="10" name="Picture 9"/>
          <p:cNvPicPr>
            <a:picLocks noChangeAspect="1"/>
          </p:cNvPicPr>
          <p:nvPr/>
        </p:nvPicPr>
        <p:blipFill>
          <a:blip r:embed="rId3"/>
          <a:stretch>
            <a:fillRect/>
          </a:stretch>
        </p:blipFill>
        <p:spPr>
          <a:xfrm>
            <a:off x="495300" y="3724910"/>
            <a:ext cx="4947285" cy="262699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a:bodyPr>
          <a:lstStyle/>
          <a:p>
            <a:pPr marL="0" indent="0">
              <a:buSzPct val="100000"/>
              <a:buNone/>
            </a:pPr>
            <a:r>
              <a:rPr sz="2400">
                <a:sym typeface="+mn-ea"/>
              </a:rPr>
              <a:t>5.6</a:t>
            </a:r>
            <a:r>
              <a:rPr altLang="en-GB" sz="2400">
                <a:sym typeface="+mn-ea"/>
              </a:rPr>
              <a:t>.8</a:t>
            </a:r>
            <a:r>
              <a:rPr sz="2400">
                <a:sym typeface="+mn-ea"/>
              </a:rPr>
              <a:t> </a:t>
            </a:r>
            <a:r>
              <a:rPr lang="en-GB" altLang="en-US" sz="2400">
                <a:sym typeface="+mn-ea"/>
              </a:rPr>
              <a:t>Eliminate Glue Logic at the Top Level</a:t>
            </a:r>
          </a:p>
          <a:p>
            <a:pPr marL="0" indent="0" algn="l">
              <a:buSzPct val="100000"/>
              <a:buNone/>
            </a:pPr>
            <a:r>
              <a:rPr altLang="en-GB" sz="2400" b="1">
                <a:effectLst/>
                <a:latin typeface="Arial-BoldMT"/>
                <a:sym typeface="+mn-ea"/>
              </a:rPr>
              <a:t> </a:t>
            </a:r>
            <a:br>
              <a:rPr lang="en-GB" sz="2400" b="1">
                <a:effectLst/>
                <a:latin typeface="Arial-BoldMT"/>
                <a:sym typeface="+mn-ea"/>
              </a:rPr>
            </a:br>
            <a:r>
              <a:rPr sz="2400">
                <a:effectLst/>
                <a:sym typeface="+mn-ea"/>
              </a:rPr>
              <a:t>Guideline – </a:t>
            </a:r>
            <a:r>
              <a:rPr sz="2400">
                <a:effectLst/>
                <a:latin typeface="Times New Roman" panose="02020603050405020304" pitchFamily="18" charset="0"/>
                <a:cs typeface="Times New Roman" panose="02020603050405020304" pitchFamily="18" charset="0"/>
                <a:sym typeface="+mn-ea"/>
              </a:rPr>
              <a:t>Do not instantiate gate-level logic at the top level of the macro hierarchy.</a:t>
            </a:r>
          </a:p>
          <a:p>
            <a:pPr marL="0" indent="0" algn="l">
              <a:buSzPct val="100000"/>
              <a:buNone/>
            </a:pPr>
            <a:br>
              <a:rPr sz="2400">
                <a:effectLst/>
                <a:latin typeface="Times New Roman" panose="02020603050405020304" pitchFamily="18" charset="0"/>
                <a:cs typeface="Times New Roman" panose="02020603050405020304" pitchFamily="18" charset="0"/>
                <a:sym typeface="+mn-ea"/>
              </a:rPr>
            </a:br>
            <a:r>
              <a:rPr sz="2400">
                <a:effectLst/>
                <a:latin typeface="Times New Roman" panose="02020603050405020304" pitchFamily="18" charset="0"/>
                <a:cs typeface="Times New Roman" panose="02020603050405020304" pitchFamily="18" charset="0"/>
                <a:sym typeface="+mn-ea"/>
              </a:rPr>
              <a:t> We can in the following example that : Optimization is limited because synthesis</a:t>
            </a:r>
          </a:p>
          <a:p>
            <a:pPr marL="0" indent="0" algn="l">
              <a:buSzPct val="100000"/>
              <a:buNone/>
            </a:pPr>
            <a:r>
              <a:rPr altLang="en-GB" sz="2400">
                <a:effectLst/>
                <a:latin typeface="Times New Roman" panose="02020603050405020304" pitchFamily="18" charset="0"/>
                <a:cs typeface="Times New Roman" panose="02020603050405020304" pitchFamily="18" charset="0"/>
                <a:sym typeface="+mn-ea"/>
              </a:rPr>
              <a:t>tools </a:t>
            </a:r>
            <a:r>
              <a:rPr altLang="en-GB" sz="2400">
                <a:solidFill>
                  <a:srgbClr val="FF0000"/>
                </a:solidFill>
                <a:effectLst/>
                <a:latin typeface="Times New Roman" panose="02020603050405020304" pitchFamily="18" charset="0"/>
                <a:cs typeface="Times New Roman" panose="02020603050405020304" pitchFamily="18" charset="0"/>
                <a:sym typeface="+mn-ea"/>
              </a:rPr>
              <a:t>cannot merge </a:t>
            </a:r>
            <a:r>
              <a:rPr altLang="en-GB" sz="2400">
                <a:effectLst/>
                <a:latin typeface="Times New Roman" panose="02020603050405020304" pitchFamily="18" charset="0"/>
                <a:cs typeface="Times New Roman" panose="02020603050405020304" pitchFamily="18" charset="0"/>
                <a:sym typeface="+mn-ea"/>
              </a:rPr>
              <a:t>the NAND with the combinational logic inside Block C.</a:t>
            </a: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Times New Roman" panose="02020603050405020304" pitchFamily="18" charset="0"/>
                <a:cs typeface="Times New Roman" panose="02020603050405020304" pitchFamily="18" charset="0"/>
                <a:sym typeface="+mn-ea"/>
              </a:rPr>
            </a:br>
            <a:br>
              <a:rPr altLang="en-GB" sz="2400">
                <a:effectLst/>
                <a:latin typeface="Arial-BoldMT"/>
                <a:sym typeface="+mn-ea"/>
              </a:rPr>
            </a:br>
            <a:r>
              <a:rPr altLang="en-GB" sz="2400" b="1">
                <a:effectLst/>
                <a:latin typeface="Arial-BoldMT"/>
                <a:sym typeface="+mn-ea"/>
              </a:rPr>
              <a:t>                  </a:t>
            </a:r>
            <a:br>
              <a:rPr altLang="en-GB" sz="2400" b="1">
                <a:effectLst/>
                <a:latin typeface="Arial-BoldMT"/>
                <a:sym typeface="+mn-ea"/>
              </a:rPr>
            </a:br>
            <a:r>
              <a:rPr altLang="en-GB" sz="2400" b="1">
                <a:effectLst/>
                <a:latin typeface="Arial-BoldMT"/>
                <a:sym typeface="+mn-ea"/>
              </a:rPr>
              <a:t>           </a:t>
            </a:r>
            <a:br>
              <a:rPr altLang="en-GB" sz="2400" b="1" dirty="0">
                <a:latin typeface="Arial-BoldMT"/>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60096"/>
            <a:ext cx="10287000" cy="469899"/>
          </a:xfrm>
        </p:spPr>
        <p:txBody>
          <a:bodyPr/>
          <a:lstStyle/>
          <a:p>
            <a:r>
              <a:rPr lang="en-US" dirty="0"/>
              <a:t>5.</a:t>
            </a:r>
            <a:r>
              <a:rPr altLang="en-GB" dirty="0"/>
              <a:t>6 Partitioning for Synthesis</a:t>
            </a:r>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53</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7" name="Picture 6"/>
          <p:cNvPicPr>
            <a:picLocks noChangeAspect="1"/>
          </p:cNvPicPr>
          <p:nvPr/>
        </p:nvPicPr>
        <p:blipFill>
          <a:blip r:embed="rId2"/>
          <a:stretch>
            <a:fillRect/>
          </a:stretch>
        </p:blipFill>
        <p:spPr>
          <a:xfrm>
            <a:off x="342900" y="3251835"/>
            <a:ext cx="5394960" cy="2381885"/>
          </a:xfrm>
          <a:prstGeom prst="rect">
            <a:avLst/>
          </a:prstGeom>
        </p:spPr>
      </p:pic>
      <p:pic>
        <p:nvPicPr>
          <p:cNvPr id="8" name="Picture 7"/>
          <p:cNvPicPr>
            <a:picLocks noChangeAspect="1"/>
          </p:cNvPicPr>
          <p:nvPr/>
        </p:nvPicPr>
        <p:blipFill>
          <a:blip r:embed="rId3"/>
          <a:stretch>
            <a:fillRect/>
          </a:stretch>
        </p:blipFill>
        <p:spPr>
          <a:xfrm>
            <a:off x="6351270" y="3289935"/>
            <a:ext cx="5433060" cy="2297430"/>
          </a:xfrm>
          <a:prstGeom prst="rect">
            <a:avLst/>
          </a:prstGeom>
        </p:spPr>
      </p:pic>
      <p:cxnSp>
        <p:nvCxnSpPr>
          <p:cNvPr id="15" name="Straight Arrow Connector 14"/>
          <p:cNvCxnSpPr>
            <a:stCxn id="7" idx="3"/>
            <a:endCxn id="8" idx="1"/>
          </p:cNvCxnSpPr>
          <p:nvPr/>
        </p:nvCxnSpPr>
        <p:spPr>
          <a:xfrm flipV="1">
            <a:off x="5737860" y="4438650"/>
            <a:ext cx="613410" cy="4445"/>
          </a:xfrm>
          <a:prstGeom prst="straightConnector1">
            <a:avLst/>
          </a:prstGeom>
          <a:ln w="12700">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6" name="Text Box 15"/>
          <p:cNvSpPr txBox="1"/>
          <p:nvPr/>
        </p:nvSpPr>
        <p:spPr>
          <a:xfrm>
            <a:off x="6754495" y="5781675"/>
            <a:ext cx="4523740" cy="618490"/>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altLang="en-GB" sz="2000" dirty="0">
                <a:solidFill>
                  <a:srgbClr val="000000"/>
                </a:solidFill>
              </a:rPr>
              <a:t>This </a:t>
            </a:r>
            <a:r>
              <a:rPr lang="en-US" altLang="en-GB" sz="2000" dirty="0">
                <a:solidFill>
                  <a:srgbClr val="00B050"/>
                </a:solidFill>
              </a:rPr>
              <a:t>eleminates</a:t>
            </a:r>
            <a:r>
              <a:rPr lang="en-US" altLang="en-GB" sz="2000" dirty="0">
                <a:solidFill>
                  <a:srgbClr val="000000"/>
                </a:solidFill>
              </a:rPr>
              <a:t> any extra effort to compile any glue logic at the top level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a:bodyPr>
          <a:lstStyle/>
          <a:p>
            <a:pPr marL="0" indent="0">
              <a:buSzPct val="100000"/>
              <a:buNone/>
            </a:pPr>
            <a:r>
              <a:rPr sz="2400">
                <a:sym typeface="+mn-ea"/>
              </a:rPr>
              <a:t>5.6</a:t>
            </a:r>
            <a:r>
              <a:rPr altLang="en-GB" sz="2400">
                <a:sym typeface="+mn-ea"/>
              </a:rPr>
              <a:t>.9</a:t>
            </a:r>
            <a:r>
              <a:rPr sz="2400">
                <a:sym typeface="+mn-ea"/>
              </a:rPr>
              <a:t> </a:t>
            </a:r>
            <a:r>
              <a:rPr lang="en-GB" altLang="en-US" sz="2400">
                <a:sym typeface="+mn-ea"/>
              </a:rPr>
              <a:t>Chip-Level Partitioning  **********</a:t>
            </a:r>
            <a:br>
              <a:rPr lang="en-GB" altLang="en-US" sz="2400">
                <a:sym typeface="+mn-ea"/>
              </a:rPr>
            </a:br>
            <a:endParaRPr lang="en-GB" altLang="en-US" sz="2400">
              <a:sym typeface="+mn-ea"/>
            </a:endParaRPr>
          </a:p>
          <a:p>
            <a:pPr marL="0" indent="0" algn="l">
              <a:buSzPct val="100000"/>
              <a:buNone/>
            </a:pPr>
            <a:r>
              <a:rPr altLang="en-GB" sz="2400" b="1">
                <a:effectLst/>
                <a:latin typeface="Arial-BoldMT"/>
                <a:sym typeface="+mn-ea"/>
              </a:rPr>
              <a:t> </a:t>
            </a:r>
            <a:br>
              <a:rPr lang="en-GB" sz="2400" b="1">
                <a:effectLst/>
                <a:latin typeface="Arial-BoldMT"/>
                <a:sym typeface="+mn-ea"/>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60096"/>
            <a:ext cx="10287000" cy="469899"/>
          </a:xfrm>
        </p:spPr>
        <p:txBody>
          <a:bodyPr/>
          <a:lstStyle/>
          <a:p>
            <a:r>
              <a:rPr lang="en-US" dirty="0"/>
              <a:t>5.</a:t>
            </a:r>
            <a:r>
              <a:rPr altLang="en-GB" dirty="0"/>
              <a:t>6 Partitioning for Synthesis</a:t>
            </a:r>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54</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pic>
        <p:nvPicPr>
          <p:cNvPr id="7" name="Picture 6"/>
          <p:cNvPicPr>
            <a:picLocks noChangeAspect="1"/>
          </p:cNvPicPr>
          <p:nvPr/>
        </p:nvPicPr>
        <p:blipFill>
          <a:blip r:embed="rId2"/>
          <a:stretch>
            <a:fillRect/>
          </a:stretch>
        </p:blipFill>
        <p:spPr>
          <a:xfrm>
            <a:off x="1014730" y="1967865"/>
            <a:ext cx="4815840" cy="3246120"/>
          </a:xfrm>
          <a:prstGeom prst="rect">
            <a:avLst/>
          </a:prstGeom>
        </p:spPr>
      </p:pic>
      <p:sp>
        <p:nvSpPr>
          <p:cNvPr id="8" name="Text Box 7"/>
          <p:cNvSpPr txBox="1"/>
          <p:nvPr/>
        </p:nvSpPr>
        <p:spPr>
          <a:xfrm>
            <a:off x="6185535" y="2167255"/>
            <a:ext cx="5105400" cy="2769870"/>
          </a:xfrm>
          <a:prstGeom prst="rect">
            <a:avLst/>
          </a:prstGeom>
          <a:noFill/>
        </p:spPr>
        <p:txBody>
          <a:bodyPr wrap="square" lIns="0" tIns="0" rIns="0" bIns="0" rtlCol="0" anchor="t">
            <a:spAutoFit/>
          </a:bodyPr>
          <a:lstStyle/>
          <a:p>
            <a:pPr marL="228600" indent="-228600" defTabSz="457200">
              <a:spcBef>
                <a:spcPts val="1000"/>
              </a:spcBef>
              <a:buClr>
                <a:srgbClr val="1E4056"/>
              </a:buClr>
              <a:buSzPct val="75000"/>
              <a:buFont typeface="Barlow"/>
              <a:buChar char="►"/>
            </a:pPr>
            <a:r>
              <a:rPr lang="en-GB" altLang="en-US" sz="2000" dirty="0">
                <a:solidFill>
                  <a:srgbClr val="000000"/>
                </a:solidFill>
              </a:rPr>
              <a:t>Guideline – Make sure that the top level of the design contains only :</a:t>
            </a:r>
            <a:br>
              <a:rPr lang="en-GB" altLang="en-US" sz="2000" dirty="0">
                <a:solidFill>
                  <a:srgbClr val="000000"/>
                </a:solidFill>
              </a:rPr>
            </a:br>
            <a:r>
              <a:rPr lang="en-GB" altLang="en-US" sz="2000" dirty="0">
                <a:solidFill>
                  <a:srgbClr val="000000"/>
                </a:solidFill>
              </a:rPr>
              <a:t>1)the I/O pad ring </a:t>
            </a:r>
            <a:br>
              <a:rPr lang="en-GB" altLang="en-US" sz="2000" dirty="0">
                <a:solidFill>
                  <a:srgbClr val="000000"/>
                </a:solidFill>
              </a:rPr>
            </a:br>
            <a:r>
              <a:rPr lang="en-GB" altLang="en-US" sz="2000" dirty="0">
                <a:solidFill>
                  <a:srgbClr val="000000"/>
                </a:solidFill>
              </a:rPr>
              <a:t>2)clock generator.</a:t>
            </a:r>
            <a:br>
              <a:rPr lang="en-GB" altLang="en-US" sz="2000" dirty="0">
                <a:solidFill>
                  <a:srgbClr val="000000"/>
                </a:solidFill>
              </a:rPr>
            </a:br>
            <a:r>
              <a:rPr lang="en-GB" altLang="en-US" sz="2000" dirty="0">
                <a:solidFill>
                  <a:srgbClr val="000000"/>
                </a:solidFill>
              </a:rPr>
              <a:t>- The next level of hierarchy contains IEEE 1149.1 boundary scan (JTAG) modules and the core logic. The clock generation circuitry is isolated from the rest of the design as it is normally hand crafted and carefully simulated.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a:bodyPr>
          <a:lstStyle/>
          <a:p>
            <a:pPr marL="0" indent="0">
              <a:buSzPct val="100000"/>
              <a:buNone/>
            </a:pPr>
            <a:br>
              <a:rPr lang="en-GB" altLang="en-US" sz="2400">
                <a:sym typeface="+mn-ea"/>
              </a:rPr>
            </a:br>
            <a:endParaRPr lang="en-GB" altLang="en-US" sz="2400">
              <a:sym typeface="+mn-ea"/>
            </a:endParaRPr>
          </a:p>
          <a:p>
            <a:pPr marL="0" indent="0" algn="l">
              <a:buSzPct val="100000"/>
              <a:buNone/>
            </a:pPr>
            <a:r>
              <a:rPr altLang="en-GB" sz="2400" b="1">
                <a:effectLst/>
                <a:latin typeface="Arial-BoldMT"/>
                <a:sym typeface="+mn-ea"/>
              </a:rPr>
              <a:t> </a:t>
            </a:r>
            <a:br>
              <a:rPr lang="en-GB" sz="2400" b="1">
                <a:effectLst/>
                <a:latin typeface="Arial-BoldMT"/>
                <a:sym typeface="+mn-ea"/>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60096"/>
            <a:ext cx="10287000" cy="469899"/>
          </a:xfrm>
        </p:spPr>
        <p:txBody>
          <a:bodyPr/>
          <a:lstStyle/>
          <a:p>
            <a:r>
              <a:rPr lang="en-US" dirty="0"/>
              <a:t>5.7 </a:t>
            </a:r>
            <a:r>
              <a:rPr altLang="en-GB">
                <a:sym typeface="+mn-ea"/>
              </a:rPr>
              <a:t>Designing with Memories</a:t>
            </a:r>
            <a:endParaRPr altLang="en-GB" dirty="0"/>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55</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sp>
        <p:nvSpPr>
          <p:cNvPr id="8" name="Text Box 7"/>
          <p:cNvSpPr txBox="1"/>
          <p:nvPr/>
        </p:nvSpPr>
        <p:spPr>
          <a:xfrm>
            <a:off x="6185535" y="2167255"/>
            <a:ext cx="5105400" cy="4129405"/>
          </a:xfrm>
          <a:prstGeom prst="rect">
            <a:avLst/>
          </a:prstGeom>
          <a:noFill/>
        </p:spPr>
        <p:txBody>
          <a:bodyPr wrap="square" lIns="0" tIns="0" rIns="0" bIns="0" rtlCol="0" anchor="t">
            <a:spAutoFit/>
          </a:bodyPr>
          <a:lstStyle/>
          <a:p>
            <a:pPr marL="228600" indent="-228600" defTabSz="457200">
              <a:spcBef>
                <a:spcPts val="1000"/>
              </a:spcBef>
              <a:buClr>
                <a:srgbClr val="1E4056"/>
              </a:buClr>
              <a:buSzPct val="75000"/>
              <a:buFont typeface="Barlow"/>
              <a:buChar char="►"/>
            </a:pPr>
            <a:r>
              <a:rPr lang="en-GB" altLang="en-US" sz="2000" dirty="0">
                <a:solidFill>
                  <a:srgbClr val="000000"/>
                </a:solidFill>
              </a:rPr>
              <a:t>Guideline – Keep memory interface pins at the top level of a macro</a:t>
            </a:r>
            <a:r>
              <a:rPr lang="en-US" altLang="en-GB" sz="2000" dirty="0">
                <a:solidFill>
                  <a:srgbClr val="000000"/>
                </a:solidFill>
              </a:rPr>
              <a:t> </a:t>
            </a:r>
            <a:r>
              <a:rPr lang="en-GB" altLang="en-US" sz="2000" dirty="0">
                <a:solidFill>
                  <a:srgbClr val="000000"/>
                </a:solidFill>
              </a:rPr>
              <a:t>cell to allow user</a:t>
            </a:r>
            <a:r>
              <a:rPr lang="en-US" altLang="en-GB" sz="2000" dirty="0">
                <a:solidFill>
                  <a:srgbClr val="000000"/>
                </a:solidFill>
              </a:rPr>
              <a:t> </a:t>
            </a:r>
            <a:r>
              <a:rPr lang="en-GB" altLang="en-US" sz="2000" dirty="0">
                <a:solidFill>
                  <a:srgbClr val="000000"/>
                </a:solidFill>
              </a:rPr>
              <a:t>choice of memory implementation, interface, and test.</a:t>
            </a:r>
            <a:br>
              <a:rPr lang="en-GB" altLang="en-US" sz="2000" dirty="0">
                <a:solidFill>
                  <a:srgbClr val="000000"/>
                </a:solidFill>
              </a:rPr>
            </a:br>
            <a:endParaRPr lang="en-GB" altLang="en-US" sz="2000" dirty="0">
              <a:solidFill>
                <a:srgbClr val="000000"/>
              </a:solidFill>
            </a:endParaRPr>
          </a:p>
          <a:p>
            <a:pPr marL="228600" indent="-228600" defTabSz="457200">
              <a:spcBef>
                <a:spcPts val="1000"/>
              </a:spcBef>
              <a:buClr>
                <a:srgbClr val="1E4056"/>
              </a:buClr>
              <a:buSzPct val="75000"/>
              <a:buFont typeface="Barlow"/>
              <a:buChar char="►"/>
            </a:pPr>
            <a:r>
              <a:rPr lang="en-US" altLang="en-GB" sz="2000" dirty="0">
                <a:solidFill>
                  <a:srgbClr val="000000"/>
                </a:solidFill>
              </a:rPr>
              <a:t>Note _ Synchronous  Rams are the only </a:t>
            </a:r>
            <a:r>
              <a:rPr lang="en-US" altLang="en-GB" sz="2000" dirty="0">
                <a:solidFill>
                  <a:srgbClr val="00B050"/>
                </a:solidFill>
              </a:rPr>
              <a:t>reliable </a:t>
            </a:r>
            <a:r>
              <a:rPr lang="en-US" altLang="en-GB" sz="2000" dirty="0">
                <a:solidFill>
                  <a:srgbClr val="000000"/>
                </a:solidFill>
              </a:rPr>
              <a:t>memories for SoC because asynchronous memories have </a:t>
            </a:r>
            <a:r>
              <a:rPr lang="en-GB" altLang="en-US" sz="2000" dirty="0">
                <a:solidFill>
                  <a:srgbClr val="000000"/>
                </a:solidFill>
              </a:rPr>
              <a:t>problems generating write enable pulses</a:t>
            </a:r>
            <a:r>
              <a:rPr lang="en-US" altLang="en-GB" sz="2000" dirty="0">
                <a:solidFill>
                  <a:srgbClr val="000000"/>
                </a:solidFill>
              </a:rPr>
              <a:t> since it’s not associated with the system clock .</a:t>
            </a:r>
            <a:br>
              <a:rPr lang="en-US" altLang="en-GB" sz="2000" dirty="0">
                <a:solidFill>
                  <a:srgbClr val="000000"/>
                </a:solidFill>
              </a:rPr>
            </a:br>
            <a:br>
              <a:rPr lang="en-US" altLang="en-GB" sz="2000" dirty="0">
                <a:solidFill>
                  <a:srgbClr val="000000"/>
                </a:solidFill>
              </a:rPr>
            </a:br>
            <a:r>
              <a:rPr lang="en-US" altLang="en-GB" sz="2000" dirty="0">
                <a:solidFill>
                  <a:srgbClr val="000000"/>
                </a:solidFill>
              </a:rPr>
              <a:t>Plus Synchrounous Rams are </a:t>
            </a:r>
            <a:r>
              <a:rPr lang="en-US" altLang="en-GB" sz="2000" dirty="0">
                <a:solidFill>
                  <a:srgbClr val="00B050"/>
                </a:solidFill>
              </a:rPr>
              <a:t>faster </a:t>
            </a:r>
            <a:r>
              <a:rPr lang="en-US" altLang="en-GB" sz="2000" dirty="0">
                <a:solidFill>
                  <a:srgbClr val="000000"/>
                </a:solidFill>
              </a:rPr>
              <a:t>than asynchrounous ones . yet they need more </a:t>
            </a:r>
            <a:r>
              <a:rPr lang="en-US" altLang="en-GB" sz="2000" dirty="0">
                <a:solidFill>
                  <a:srgbClr val="FF0000"/>
                </a:solidFill>
              </a:rPr>
              <a:t>complex </a:t>
            </a:r>
            <a:r>
              <a:rPr lang="en-US" altLang="en-GB" sz="2000" dirty="0">
                <a:solidFill>
                  <a:srgbClr val="000000"/>
                </a:solidFill>
              </a:rPr>
              <a:t>interfaces.</a:t>
            </a:r>
          </a:p>
        </p:txBody>
      </p:sp>
      <p:pic>
        <p:nvPicPr>
          <p:cNvPr id="9" name="Picture 8"/>
          <p:cNvPicPr>
            <a:picLocks noChangeAspect="1"/>
          </p:cNvPicPr>
          <p:nvPr/>
        </p:nvPicPr>
        <p:blipFill>
          <a:blip r:embed="rId2"/>
          <a:stretch>
            <a:fillRect/>
          </a:stretch>
        </p:blipFill>
        <p:spPr>
          <a:xfrm>
            <a:off x="342900" y="2035810"/>
            <a:ext cx="5360670" cy="30327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5600" y="1066800"/>
            <a:ext cx="11236960" cy="5543218"/>
          </a:xfrm>
        </p:spPr>
        <p:txBody>
          <a:bodyPr>
            <a:normAutofit/>
          </a:bodyPr>
          <a:lstStyle/>
          <a:p>
            <a:pPr marL="0" indent="0">
              <a:buSzPct val="100000"/>
              <a:buNone/>
            </a:pPr>
            <a:br>
              <a:rPr lang="en-GB" altLang="en-US" sz="2400">
                <a:sym typeface="+mn-ea"/>
              </a:rPr>
            </a:br>
            <a:endParaRPr lang="en-GB" altLang="en-US" sz="2400">
              <a:sym typeface="+mn-ea"/>
            </a:endParaRPr>
          </a:p>
          <a:p>
            <a:pPr marL="0" indent="0" algn="l">
              <a:buSzPct val="100000"/>
              <a:buNone/>
            </a:pPr>
            <a:r>
              <a:rPr altLang="en-GB" sz="2400" b="1">
                <a:effectLst/>
                <a:latin typeface="Arial-BoldMT"/>
                <a:sym typeface="+mn-ea"/>
              </a:rPr>
              <a:t> </a:t>
            </a:r>
            <a:br>
              <a:rPr lang="en-GB" sz="2400" b="1">
                <a:effectLst/>
                <a:latin typeface="Arial-BoldMT"/>
                <a:sym typeface="+mn-ea"/>
              </a:rPr>
            </a:br>
            <a:endParaRPr lang="en-US" sz="1800" dirty="0">
              <a:latin typeface="+mn-lt"/>
              <a:cs typeface="Times New Roman" panose="02020603050405020304" pitchFamily="18" charset="0"/>
            </a:endParaRPr>
          </a:p>
        </p:txBody>
      </p:sp>
      <p:sp>
        <p:nvSpPr>
          <p:cNvPr id="3" name="Title 2"/>
          <p:cNvSpPr>
            <a:spLocks noGrp="1"/>
          </p:cNvSpPr>
          <p:nvPr>
            <p:ph type="title"/>
          </p:nvPr>
        </p:nvSpPr>
        <p:spPr>
          <a:xfrm>
            <a:off x="342900" y="260096"/>
            <a:ext cx="10287000" cy="469899"/>
          </a:xfrm>
        </p:spPr>
        <p:txBody>
          <a:bodyPr/>
          <a:lstStyle/>
          <a:p>
            <a:r>
              <a:rPr lang="en-US" dirty="0"/>
              <a:t>5.8</a:t>
            </a:r>
            <a:r>
              <a:rPr altLang="en-GB" dirty="0"/>
              <a:t> Code Profiling</a:t>
            </a:r>
          </a:p>
        </p:txBody>
      </p:sp>
      <p:sp>
        <p:nvSpPr>
          <p:cNvPr id="4" name="Footer Placeholder 3"/>
          <p:cNvSpPr>
            <a:spLocks noGrp="1"/>
          </p:cNvSpPr>
          <p:nvPr>
            <p:ph type="ftr" sz="quarter" idx="3"/>
          </p:nvPr>
        </p:nvSpPr>
        <p:spPr/>
        <p:txBody>
          <a:bodyPr/>
          <a:lstStyle/>
          <a:p>
            <a:r>
              <a:rPr lang="en-US"/>
              <a:t>©2022 Analog Devices, Inc. </a:t>
            </a:r>
            <a:endParaRPr lang="en-US" dirty="0"/>
          </a:p>
        </p:txBody>
      </p:sp>
      <p:sp>
        <p:nvSpPr>
          <p:cNvPr id="5" name="Slide Number Placeholder 4"/>
          <p:cNvSpPr>
            <a:spLocks noGrp="1"/>
          </p:cNvSpPr>
          <p:nvPr>
            <p:ph type="sldNum" sz="quarter" idx="4"/>
          </p:nvPr>
        </p:nvSpPr>
        <p:spPr/>
        <p:txBody>
          <a:bodyPr/>
          <a:lstStyle/>
          <a:p>
            <a:pPr>
              <a:defRPr/>
            </a:pPr>
            <a:fld id="{A9CE67A1-BA7F-A74E-B5D7-615746DEEC2B}" type="slidenum">
              <a:rPr lang="en-US" smtClean="0"/>
              <a:t>56</a:t>
            </a:fld>
            <a:endParaRPr lang="en-US" baseline="-11000" dirty="0"/>
          </a:p>
        </p:txBody>
      </p:sp>
      <p:sp>
        <p:nvSpPr>
          <p:cNvPr id="6" name="Date Placeholder 5"/>
          <p:cNvSpPr>
            <a:spLocks noGrp="1"/>
          </p:cNvSpPr>
          <p:nvPr>
            <p:ph type="dt" sz="half" idx="2"/>
          </p:nvPr>
        </p:nvSpPr>
        <p:spPr/>
        <p:txBody>
          <a:bodyPr/>
          <a:lstStyle/>
          <a:p>
            <a:fld id="{EAFD7BB1-AB7F-4336-A8B3-6627E5D36FE4}" type="datetime3">
              <a:rPr lang="en-US" smtClean="0"/>
              <a:t>30 October 2022</a:t>
            </a:fld>
            <a:endParaRPr lang="en-US" dirty="0"/>
          </a:p>
        </p:txBody>
      </p:sp>
      <p:sp>
        <p:nvSpPr>
          <p:cNvPr id="8" name="Text Box 7"/>
          <p:cNvSpPr txBox="1"/>
          <p:nvPr/>
        </p:nvSpPr>
        <p:spPr>
          <a:xfrm>
            <a:off x="464820" y="1355725"/>
            <a:ext cx="9314180" cy="1795145"/>
          </a:xfrm>
          <a:prstGeom prst="rect">
            <a:avLst/>
          </a:prstGeom>
          <a:noFill/>
        </p:spPr>
        <p:txBody>
          <a:bodyPr wrap="square" lIns="0" tIns="0" rIns="0" bIns="0" rtlCol="0" anchor="t">
            <a:spAutoFit/>
          </a:bodyPr>
          <a:lstStyle/>
          <a:p>
            <a:pPr marL="228600" indent="-228600" defTabSz="457200">
              <a:spcBef>
                <a:spcPts val="1000"/>
              </a:spcBef>
              <a:buClr>
                <a:srgbClr val="1E4056"/>
              </a:buClr>
              <a:buSzPct val="75000"/>
              <a:buFont typeface="Barlow"/>
              <a:buChar char="►"/>
            </a:pPr>
            <a:r>
              <a:rPr lang="en-GB" altLang="en-US" sz="2000" dirty="0">
                <a:solidFill>
                  <a:srgbClr val="000000"/>
                </a:solidFill>
              </a:rPr>
              <a:t>Guideline – </a:t>
            </a:r>
            <a:r>
              <a:rPr sz="2000" dirty="0">
                <a:solidFill>
                  <a:srgbClr val="000000"/>
                </a:solidFill>
              </a:rPr>
              <a:t> code profiling can assist you in optimizing your code for simulation</a:t>
            </a:r>
            <a:r>
              <a:rPr lang="en-US" sz="2000" dirty="0">
                <a:solidFill>
                  <a:srgbClr val="000000"/>
                </a:solidFill>
              </a:rPr>
              <a:t> speed .</a:t>
            </a:r>
            <a:endParaRPr sz="2000" dirty="0">
              <a:solidFill>
                <a:srgbClr val="000000"/>
              </a:solidFill>
            </a:endParaRPr>
          </a:p>
          <a:p>
            <a:pPr marL="228600" indent="-228600" defTabSz="457200">
              <a:spcBef>
                <a:spcPts val="1000"/>
              </a:spcBef>
              <a:buClr>
                <a:srgbClr val="1E4056"/>
              </a:buClr>
              <a:buSzPct val="75000"/>
              <a:buFont typeface="Barlow"/>
              <a:buChar char="►"/>
            </a:pPr>
            <a:r>
              <a:rPr lang="en-US" altLang="en-GB" sz="2000" dirty="0">
                <a:solidFill>
                  <a:srgbClr val="000000"/>
                </a:solidFill>
                <a:sym typeface="+mn-ea"/>
              </a:rPr>
              <a:t>Note _T</a:t>
            </a:r>
            <a:r>
              <a:rPr sz="2000" dirty="0">
                <a:solidFill>
                  <a:srgbClr val="000000"/>
                </a:solidFill>
                <a:sym typeface="+mn-ea"/>
              </a:rPr>
              <a:t>racking how often each line of code is executed during a given simulation run</a:t>
            </a:r>
            <a:r>
              <a:rPr lang="en-US" sz="2000" dirty="0">
                <a:solidFill>
                  <a:srgbClr val="000000"/>
                </a:solidFill>
                <a:sym typeface="+mn-ea"/>
              </a:rPr>
              <a:t> can reveal bottleneck areas in the model .</a:t>
            </a:r>
            <a:endParaRPr sz="2000" dirty="0">
              <a:solidFill>
                <a:srgbClr val="000000"/>
              </a:solidFill>
              <a:sym typeface="+mn-ea"/>
            </a:endParaRPr>
          </a:p>
          <a:p>
            <a:pPr indent="0" defTabSz="457200">
              <a:spcBef>
                <a:spcPts val="1000"/>
              </a:spcBef>
              <a:buClr>
                <a:srgbClr val="1E4056"/>
              </a:buClr>
              <a:buSzPct val="75000"/>
              <a:buFont typeface="Barlow"/>
              <a:buNone/>
            </a:pPr>
            <a:br>
              <a:rPr sz="2000" dirty="0">
                <a:solidFill>
                  <a:srgbClr val="000000"/>
                </a:solidFill>
              </a:rPr>
            </a:br>
            <a:endParaRPr lang="en-GB" altLang="en-US" sz="2000" dirty="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ADITemplate">
  <a:themeElements>
    <a:clrScheme name="ADI Corporate Palette 1">
      <a:dk1>
        <a:srgbClr val="000000"/>
      </a:dk1>
      <a:lt1>
        <a:srgbClr val="FFFFFF"/>
      </a:lt1>
      <a:dk2>
        <a:srgbClr val="555659"/>
      </a:dk2>
      <a:lt2>
        <a:srgbClr val="B1B3B3"/>
      </a:lt2>
      <a:accent1>
        <a:srgbClr val="41B6E6"/>
      </a:accent1>
      <a:accent2>
        <a:srgbClr val="0067B9"/>
      </a:accent2>
      <a:accent3>
        <a:srgbClr val="FED141"/>
      </a:accent3>
      <a:accent4>
        <a:srgbClr val="00B2A9"/>
      </a:accent4>
      <a:accent5>
        <a:srgbClr val="8637BA"/>
      </a:accent5>
      <a:accent6>
        <a:srgbClr val="FF7500"/>
      </a:accent6>
      <a:hlink>
        <a:srgbClr val="1B9CD0"/>
      </a:hlink>
      <a:folHlink>
        <a:srgbClr val="8637BA"/>
      </a:folHlink>
    </a:clrScheme>
    <a:fontScheme name="Custom 1">
      <a:majorFont>
        <a:latin typeface="Barlow"/>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miter lim="800000"/>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marL="228600" indent="-228600" defTabSz="457200">
          <a:spcBef>
            <a:spcPts val="1000"/>
          </a:spcBef>
          <a:buClr>
            <a:srgbClr val="1E4056"/>
          </a:buClr>
          <a:buSzPct val="75000"/>
          <a:buFont typeface="Barlow"/>
          <a:buChar char="►"/>
          <a:defRPr sz="2000" dirty="0">
            <a:solidFill>
              <a:srgbClr val="000000"/>
            </a:solidFill>
          </a:defRPr>
        </a:defPPr>
      </a:lstStyle>
    </a:txDef>
  </a:objectDefaults>
  <a:extraClrSchemeLst/>
  <a:extLst>
    <a:ext uri="{05A4C25C-085E-4340-85A3-A5531E510DB2}">
      <thm15:themeFamily xmlns:thm15="http://schemas.microsoft.com/office/thememl/2012/main" name="ADI Corporate PowerPoint Template" id="{9AB9AA7E-1902-F64D-879D-6E535C6B277F}" vid="{87C4F2EC-017C-2A4C-889E-1FC8D2DA438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ADI 2019 16x9 Light</Template>
  <TotalTime>3348</TotalTime>
  <Words>5281</Words>
  <Application>Microsoft Office PowerPoint</Application>
  <PresentationFormat>Widescreen</PresentationFormat>
  <Paragraphs>462</Paragraphs>
  <Slides>56</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56</vt:i4>
      </vt:variant>
    </vt:vector>
  </HeadingPairs>
  <TitlesOfParts>
    <vt:vector size="68" baseType="lpstr">
      <vt:lpstr>Arial</vt:lpstr>
      <vt:lpstr>Arial-BoldMT</vt:lpstr>
      <vt:lpstr>Barlow</vt:lpstr>
      <vt:lpstr>Courier</vt:lpstr>
      <vt:lpstr>Courier-Oblique</vt:lpstr>
      <vt:lpstr>Times New Roman</vt:lpstr>
      <vt:lpstr>Times-Bold</vt:lpstr>
      <vt:lpstr>Times-Italic</vt:lpstr>
      <vt:lpstr>Times-Roman</vt:lpstr>
      <vt:lpstr>Wingdings</vt:lpstr>
      <vt:lpstr>Wingdings 3</vt:lpstr>
      <vt:lpstr>1_ADITemplate</vt:lpstr>
      <vt:lpstr>PowerPoint Presentation</vt:lpstr>
      <vt:lpstr>Chapter content</vt:lpstr>
      <vt:lpstr>5.2 Basic Coding Practices</vt:lpstr>
      <vt:lpstr>5.2 Basic Coding Practices</vt:lpstr>
      <vt:lpstr>5.2 Basic Coding Practices</vt:lpstr>
      <vt:lpstr>5.2 Basic Coding Practices</vt:lpstr>
      <vt:lpstr>5.2 Basic Coding Practices</vt:lpstr>
      <vt:lpstr>5.2 Basic Coding Practices</vt:lpstr>
      <vt:lpstr>5.2 Basic Coding Practices</vt:lpstr>
      <vt:lpstr>5.2 Basic Coding Practices</vt:lpstr>
      <vt:lpstr>5.2 Basic Coding Practices</vt:lpstr>
      <vt:lpstr>5.2 Basic Coding Practices</vt:lpstr>
      <vt:lpstr>5.2 Basic Coding Practices</vt:lpstr>
      <vt:lpstr>5.2 Basic Coding Practices</vt:lpstr>
      <vt:lpstr>5.2 Basic Coding Practices</vt:lpstr>
      <vt:lpstr>5.2 Basic Coding Practices</vt:lpstr>
      <vt:lpstr>5.3 Coding for Portability</vt:lpstr>
      <vt:lpstr>5.3 Coding for Portability</vt:lpstr>
      <vt:lpstr>5.3 Coding for Portability</vt:lpstr>
      <vt:lpstr>5.3 Coding for Portability</vt:lpstr>
      <vt:lpstr>5.4 Guidelines for Clocks and Resets</vt:lpstr>
      <vt:lpstr>5.4 Guidelines for Clocks and Resets</vt:lpstr>
      <vt:lpstr>5.4 Guidelines for Clocks and Resets</vt:lpstr>
      <vt:lpstr>5.4 Guidelines for Clocks and Resets</vt:lpstr>
      <vt:lpstr>5.4 Guidelines for Clocks and Resets</vt:lpstr>
      <vt:lpstr>5.4 Guidelines for Clocks and Resets</vt:lpstr>
      <vt:lpstr>5.4 Guidelines for Clocks and Resets</vt:lpstr>
      <vt:lpstr>5.4 Guidelines for Clocks and Resets</vt:lpstr>
      <vt:lpstr>5.4 Guidelines for Clocks and Resets</vt:lpstr>
      <vt:lpstr>5.4 Guidelines for Clocks and Resets</vt:lpstr>
      <vt:lpstr>5.4 Guidelines for Clocks and Resets</vt:lpstr>
      <vt:lpstr>5.5 Coding for synthesis </vt:lpstr>
      <vt:lpstr>5.5 Coding for synthesis</vt:lpstr>
      <vt:lpstr>5.5 Coding for synthesis</vt:lpstr>
      <vt:lpstr>5.5 Coding for synthesis</vt:lpstr>
      <vt:lpstr>5.5 Coding for synthesis </vt:lpstr>
      <vt:lpstr>5.5 Coding for synthesis</vt:lpstr>
      <vt:lpstr>5.5 Coding for synthesis </vt:lpstr>
      <vt:lpstr>5.5 Coding for synthesis</vt:lpstr>
      <vt:lpstr>5.5 Coding for synthesis </vt:lpstr>
      <vt:lpstr>5.5 Coding for synthesis </vt:lpstr>
      <vt:lpstr>5.5 Coding for synthesis </vt:lpstr>
      <vt:lpstr>5.5 Coding for synthesis </vt:lpstr>
      <vt:lpstr>5.6 Partitioning for Synthesis</vt:lpstr>
      <vt:lpstr>5.6 Partitioning for Synthesis</vt:lpstr>
      <vt:lpstr>5.6 Partitioning for Synthesis</vt:lpstr>
      <vt:lpstr>5.6 Partitioning for Synthesis</vt:lpstr>
      <vt:lpstr>5.6 Partitioning for Synthesis</vt:lpstr>
      <vt:lpstr>5.6 Partitioning for Synthesis</vt:lpstr>
      <vt:lpstr>5.6 Partitioning for Synthesis</vt:lpstr>
      <vt:lpstr>5.6 Partitioning for Synthesis</vt:lpstr>
      <vt:lpstr>5.6 Partitioning for Synthesis</vt:lpstr>
      <vt:lpstr>5.6 Partitioning for Synthesis</vt:lpstr>
      <vt:lpstr>5.6 Partitioning for Synthesis</vt:lpstr>
      <vt:lpstr>5.7 Designing with Memories</vt:lpstr>
      <vt:lpstr>5.8 Code Profiling</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Slides: Header Titles (Arial 36 pt.)</dc:title>
  <dc:subject/>
  <dc:creator>Mehana, Ahmed</dc:creator>
  <cp:keywords/>
  <dc:description>ADI PowerPoint v.8 © 1995 - 2019 Analog Devices, Inc. All Rights Reserved</dc:description>
  <cp:lastModifiedBy>Omar Fahmy</cp:lastModifiedBy>
  <cp:revision>241</cp:revision>
  <cp:lastPrinted>2015-04-02T14:52:35Z</cp:lastPrinted>
  <dcterms:created xsi:type="dcterms:W3CDTF">2022-01-31T08:24:08Z</dcterms:created>
  <dcterms:modified xsi:type="dcterms:W3CDTF">2022-10-30T11:25:49Z</dcterms:modified>
  <cp:category/>
</cp:coreProperties>
</file>