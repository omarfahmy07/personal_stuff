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2B_9F49C430.xml" ContentType="application/vnd.ms-powerpoint.comments+xml"/>
  <Override PartName="/ppt/comments/modernComment_139_3BE5F483.xml" ContentType="application/vnd.ms-powerpoint.comments+xml"/>
  <Override PartName="/ppt/comments/modernComment_13C_959A3BFF.xml" ContentType="application/vnd.ms-powerpoint.comments+xml"/>
  <Override PartName="/ppt/comments/modernComment_13D_4F84D3B.xml" ContentType="application/vnd.ms-powerpoint.comments+xml"/>
  <Override PartName="/ppt/comments/modernComment_13E_2F4AC41.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33"/>
  </p:notesMasterIdLst>
  <p:handoutMasterIdLst>
    <p:handoutMasterId r:id="rId34"/>
  </p:handoutMasterIdLst>
  <p:sldIdLst>
    <p:sldId id="277" r:id="rId2"/>
    <p:sldId id="283" r:id="rId3"/>
    <p:sldId id="284" r:id="rId4"/>
    <p:sldId id="319" r:id="rId5"/>
    <p:sldId id="299" r:id="rId6"/>
    <p:sldId id="300" r:id="rId7"/>
    <p:sldId id="301" r:id="rId8"/>
    <p:sldId id="302" r:id="rId9"/>
    <p:sldId id="303" r:id="rId10"/>
    <p:sldId id="304" r:id="rId11"/>
    <p:sldId id="306" r:id="rId12"/>
    <p:sldId id="307" r:id="rId13"/>
    <p:sldId id="308" r:id="rId14"/>
    <p:sldId id="312" r:id="rId15"/>
    <p:sldId id="313" r:id="rId16"/>
    <p:sldId id="310" r:id="rId17"/>
    <p:sldId id="314" r:id="rId18"/>
    <p:sldId id="315" r:id="rId19"/>
    <p:sldId id="316" r:id="rId20"/>
    <p:sldId id="317" r:id="rId21"/>
    <p:sldId id="318" r:id="rId22"/>
    <p:sldId id="320" r:id="rId23"/>
    <p:sldId id="321" r:id="rId24"/>
    <p:sldId id="331" r:id="rId25"/>
    <p:sldId id="324" r:id="rId26"/>
    <p:sldId id="325" r:id="rId27"/>
    <p:sldId id="326" r:id="rId28"/>
    <p:sldId id="327" r:id="rId29"/>
    <p:sldId id="328" r:id="rId30"/>
    <p:sldId id="329" r:id="rId31"/>
    <p:sldId id="330" r:id="rId3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B8359E8-31D4-33EE-549F-7EF2AD87462F}" name="Omar Fahmy" initials="OF" userId="11824ac95cbd284d"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 " initials=" "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7E8EA"/>
    <a:srgbClr val="CBCED2"/>
    <a:srgbClr val="27B34F"/>
    <a:srgbClr val="009FBD"/>
    <a:srgbClr val="009F59"/>
    <a:srgbClr val="003D61"/>
    <a:srgbClr val="3DDCE6"/>
    <a:srgbClr val="7C4A8B"/>
    <a:srgbClr val="1E40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95" autoAdjust="0"/>
  </p:normalViewPr>
  <p:slideViewPr>
    <p:cSldViewPr snapToGrid="0" snapToObjects="1">
      <p:cViewPr varScale="1">
        <p:scale>
          <a:sx n="63" d="100"/>
          <a:sy n="63" d="100"/>
        </p:scale>
        <p:origin x="764" y="56"/>
      </p:cViewPr>
      <p:guideLst/>
    </p:cSldViewPr>
  </p:slideViewPr>
  <p:outlineViewPr>
    <p:cViewPr>
      <p:scale>
        <a:sx n="33" d="100"/>
        <a:sy n="33" d="100"/>
      </p:scale>
      <p:origin x="0" y="1216"/>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13" d="100"/>
          <a:sy n="113" d="100"/>
        </p:scale>
        <p:origin x="303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omments/modernComment_12B_9F49C430.xml><?xml version="1.0" encoding="utf-8"?>
<p188:cmLst xmlns:a="http://schemas.openxmlformats.org/drawingml/2006/main" xmlns:r="http://schemas.openxmlformats.org/officeDocument/2006/relationships" xmlns:p188="http://schemas.microsoft.com/office/powerpoint/2018/8/main">
  <p188:cm id="{26F72B34-6D1D-42A4-A5F9-AF01B4CBAA34}" authorId="{0B8359E8-31D4-33EE-549F-7EF2AD87462F}" created="2022-10-22T13:42:48.875">
    <pc:sldMkLst xmlns:pc="http://schemas.microsoft.com/office/powerpoint/2013/main/command">
      <pc:docMk/>
      <pc:sldMk cId="2672411696" sldId="299"/>
    </pc:sldMkLst>
    <p188:txBody>
      <a:bodyPr/>
      <a:lstStyle/>
      <a:p>
        <a:r>
          <a:rPr lang="en-US"/>
          <a:t>The table below is a recommended naming convention.</a:t>
        </a:r>
      </a:p>
    </p188:txBody>
  </p188:cm>
</p188:cmLst>
</file>

<file path=ppt/comments/modernComment_13C_959A3BFF.xml><?xml version="1.0" encoding="utf-8"?>
<p188:cmLst xmlns:a="http://schemas.openxmlformats.org/drawingml/2006/main" xmlns:r="http://schemas.openxmlformats.org/officeDocument/2006/relationships" xmlns:p188="http://schemas.microsoft.com/office/powerpoint/2018/8/main">
  <p188:cm id="{71ED9969-64BF-4D1F-B4CA-442CB2568F96}" authorId="{0B8359E8-31D4-33EE-549F-7EF2AD87462F}" created="2022-10-28T11:32:08.318">
    <pc:sldMkLst xmlns:pc="http://schemas.microsoft.com/office/powerpoint/2013/main/command">
      <pc:docMk/>
      <pc:sldMk cId="2509913087" sldId="316"/>
    </pc:sldMkLst>
    <p188:txBody>
      <a:bodyPr/>
      <a:lstStyle/>
      <a:p>
        <a:r>
          <a:rPr lang="en-US"/>
          <a:t>`ifndef is supported only in Verilog 2005, and the release date of the book was before that. So, I guess this is why they did not recommend using this.</a:t>
        </a:r>
      </a:p>
    </p188:txBody>
  </p188:cm>
</p188:cmLst>
</file>

<file path=ppt/comments/modernComment_13D_4F84D3B.xml><?xml version="1.0" encoding="utf-8"?>
<p188:cmLst xmlns:a="http://schemas.openxmlformats.org/drawingml/2006/main" xmlns:r="http://schemas.openxmlformats.org/officeDocument/2006/relationships" xmlns:p188="http://schemas.microsoft.com/office/powerpoint/2018/8/main">
  <p188:cm id="{1E46EC0D-2405-4347-8068-7F271135B86F}" authorId="{0B8359E8-31D4-33EE-549F-7EF2AD87462F}" created="2022-10-29T10:51:10.066">
    <pc:sldMkLst xmlns:pc="http://schemas.microsoft.com/office/powerpoint/2013/main/command">
      <pc:docMk/>
      <pc:sldMk cId="83381563" sldId="317"/>
    </pc:sldMkLst>
    <p188:txBody>
      <a:bodyPr/>
      <a:lstStyle/>
      <a:p>
        <a:r>
          <a:rPr lang="en-US"/>
          <a:t>DesignWare library is a library in the synthesis tool that contains ready functional modules for some arithmetic operations. The DesignWare library is a good example of reusability since the modules in it can be reused in multiple designs.</a:t>
        </a:r>
      </a:p>
    </p188:txBody>
  </p188:cm>
  <p188:cm id="{344F9E35-F46F-492F-B0B9-CCC137B4AB09}" authorId="{0B8359E8-31D4-33EE-549F-7EF2AD87462F}" created="2022-10-29T10:55:25.630">
    <ac:deMkLst xmlns:ac="http://schemas.microsoft.com/office/drawing/2013/main/command">
      <pc:docMk xmlns:pc="http://schemas.microsoft.com/office/powerpoint/2013/main/command"/>
      <pc:sldMk xmlns:pc="http://schemas.microsoft.com/office/powerpoint/2013/main/command" cId="83381563" sldId="317"/>
      <ac:spMk id="2" creationId="{2FCFB160-04CF-2EFB-9EAA-1FE08AB5F180}"/>
    </ac:deMkLst>
    <p188:txBody>
      <a:bodyPr/>
      <a:lstStyle/>
      <a:p>
        <a:r>
          <a:rPr lang="en-US"/>
          <a:t>We can instantiate modules directly from the technology library we are using. However, this makes the design not portable to other technologies.</a:t>
        </a:r>
      </a:p>
    </p188:txBody>
  </p188:cm>
  <p188:cm id="{EA7B0791-97F8-467E-975C-1B32A0D22F86}" authorId="{0B8359E8-31D4-33EE-549F-7EF2AD87462F}" created="2022-10-29T11:03:32.139">
    <pc:sldMkLst xmlns:pc="http://schemas.microsoft.com/office/powerpoint/2013/main/command">
      <pc:docMk/>
      <pc:sldMk cId="83381563" sldId="317"/>
    </pc:sldMkLst>
    <p188:txBody>
      <a:bodyPr/>
      <a:lstStyle/>
      <a:p>
        <a:r>
          <a:rPr lang="en-US"/>
          <a:t>GTECH is a technology-independent library that contains logical components as well. The first step in synthesis is that the synthesis tool translates the RTL into GTECH cells before mapping it to the used technology.</a:t>
        </a:r>
      </a:p>
    </p188:txBody>
  </p188:cm>
</p188:cmLst>
</file>

<file path=ppt/comments/modernComment_13E_2F4AC41.xml><?xml version="1.0" encoding="utf-8"?>
<p188:cmLst xmlns:a="http://schemas.openxmlformats.org/drawingml/2006/main" xmlns:r="http://schemas.openxmlformats.org/officeDocument/2006/relationships" xmlns:p188="http://schemas.microsoft.com/office/powerpoint/2018/8/main">
  <p188:cm id="{F99169DB-8E9B-426D-83B6-79B9129A5FD4}" authorId="{0B8359E8-31D4-33EE-549F-7EF2AD87462F}" created="2022-10-29T11:49:51.910">
    <pc:sldMkLst xmlns:pc="http://schemas.microsoft.com/office/powerpoint/2013/main/command">
      <pc:docMk/>
      <pc:sldMk cId="49589313" sldId="318"/>
    </pc:sldMkLst>
    <p188:txBody>
      <a:bodyPr/>
      <a:lstStyle/>
      <a:p>
        <a:r>
          <a:rPr lang="en-US"/>
          <a:t>Problem 1: timing becomes challenging la2enena ba2ena 3ayzeen el signal te propagate men flop lel tany fi nos clock cycle bs. Mesh keda w bs, da kaman enena ben2ol eno hayeb2a nos clock cycle da optimistic thinking la2e actually hayeb2a fih setup window abl el edge el gy, wel moshkela el akbar kaman en el duty cycle physically mesh hateb2a 50% bzbt, da hayeb2a function fel clock tree insertion which depends on the technology. Fa fel waqe3 el fadel lel signal 3ashan te propagate hayeb2a a2al kaman men nos clock cycle.</a:t>
        </a:r>
      </a:p>
    </p188:txBody>
  </p188:cm>
</p188:cmLst>
</file>

<file path=ppt/comments/modernComment_139_3BE5F483.xml><?xml version="1.0" encoding="utf-8"?>
<p188:cmLst xmlns:a="http://schemas.openxmlformats.org/drawingml/2006/main" xmlns:r="http://schemas.openxmlformats.org/officeDocument/2006/relationships" xmlns:p188="http://schemas.microsoft.com/office/powerpoint/2018/8/main">
  <p188:cm id="{D8A1CEAA-1EBD-4A31-8A72-BCF5147C03FE}" authorId="{0B8359E8-31D4-33EE-549F-7EF2AD87462F}" created="2022-10-22T19:00:40.525">
    <pc:sldMkLst xmlns:pc="http://schemas.microsoft.com/office/powerpoint/2013/main/command">
      <pc:docMk/>
      <pc:sldMk cId="1004926083" sldId="313"/>
    </pc:sldMkLst>
    <p188:txBody>
      <a:bodyPr/>
      <a:lstStyle/>
      <a:p>
        <a:r>
          <a:rPr lang="en-US"/>
          <a:t>Both methods will lead to the same hardware, it is just matter of simulation time.</a:t>
        </a:r>
      </a:p>
    </p188:txBody>
  </p188:cm>
</p188:cmLst>
</file>

<file path=ppt/handoutMasters/_rels/handoutMaster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ctr"/>
          <a:lstStyle>
            <a:lvl1pPr algn="l">
              <a:defRPr sz="1200"/>
            </a:lvl1pPr>
          </a:lstStyle>
          <a:p>
            <a:endParaRPr lang="en-US" sz="1000">
              <a:solidFill>
                <a:schemeClr val="bg1">
                  <a:lumMod val="50000"/>
                </a:scheme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3"/>
          </p:nvPr>
        </p:nvSpPr>
        <p:spPr>
          <a:xfrm>
            <a:off x="6597444" y="8829967"/>
            <a:ext cx="411333" cy="464820"/>
          </a:xfrm>
          <a:prstGeom prst="rect">
            <a:avLst/>
          </a:prstGeom>
        </p:spPr>
        <p:txBody>
          <a:bodyPr vert="horz" lIns="93177" tIns="46589" rIns="93177" bIns="46589" rtlCol="0" anchor="ctr"/>
          <a:lstStyle>
            <a:lvl1pPr algn="r">
              <a:defRPr sz="1200"/>
            </a:lvl1pPr>
          </a:lstStyle>
          <a:p>
            <a:fld id="{013FF889-DBB5-E540-8E75-47BFCA628842}" type="slidenum">
              <a:rPr lang="en-US" b="1" smtClean="0">
                <a:solidFill>
                  <a:schemeClr val="bg1">
                    <a:lumMod val="50000"/>
                  </a:schemeClr>
                </a:solidFill>
                <a:latin typeface="Arial" panose="020B0604020202020204" pitchFamily="34" charset="0"/>
                <a:cs typeface="Arial" panose="020B0604020202020204" pitchFamily="34" charset="0"/>
              </a:rPr>
              <a:t>‹#›</a:t>
            </a:fld>
            <a:endParaRPr lang="en-US" b="1">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p>
        </p:txBody>
      </p:sp>
      <p:sp>
        <p:nvSpPr>
          <p:cNvPr id="7"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8"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t>10/30/2022</a:t>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4931346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06400" y="814897"/>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ctr"/>
          <a:lstStyle>
            <a:lvl1pPr algn="l">
              <a:defRPr sz="1000">
                <a:latin typeface="Arial" panose="020B0604020202020204" pitchFamily="34" charset="0"/>
                <a:cs typeface="Arial" panose="020B0604020202020204" pitchFamily="34" charset="0"/>
              </a:defRPr>
            </a:lvl1pPr>
          </a:lstStyle>
          <a:p>
            <a:r>
              <a:rPr lang="en-US" i="1" dirty="0">
                <a:solidFill>
                  <a:srgbClr val="FFFFFF">
                    <a:lumMod val="65000"/>
                  </a:srgbClr>
                </a:solidFill>
              </a:rPr>
              <a:t>Footer</a:t>
            </a:r>
          </a:p>
        </p:txBody>
      </p:sp>
      <p:sp>
        <p:nvSpPr>
          <p:cNvPr id="7" name="Slide Number Placeholder 6"/>
          <p:cNvSpPr>
            <a:spLocks noGrp="1"/>
          </p:cNvSpPr>
          <p:nvPr>
            <p:ph type="sldNum" sz="quarter" idx="5"/>
          </p:nvPr>
        </p:nvSpPr>
        <p:spPr>
          <a:xfrm>
            <a:off x="6309360" y="8829967"/>
            <a:ext cx="699418" cy="464820"/>
          </a:xfrm>
          <a:prstGeom prst="rect">
            <a:avLst/>
          </a:prstGeom>
        </p:spPr>
        <p:txBody>
          <a:bodyPr vert="horz" lIns="93177" tIns="46589" rIns="93177" bIns="46589" rtlCol="0" anchor="ctr"/>
          <a:lstStyle>
            <a:lvl1pPr algn="r">
              <a:defRPr sz="1000" b="1">
                <a:solidFill>
                  <a:schemeClr val="tx1">
                    <a:lumMod val="50000"/>
                    <a:lumOff val="50000"/>
                  </a:schemeClr>
                </a:solidFill>
                <a:latin typeface="Arial" panose="020B0604020202020204" pitchFamily="34" charset="0"/>
                <a:cs typeface="Arial" panose="020B0604020202020204" pitchFamily="34" charset="0"/>
              </a:defRPr>
            </a:lvl1pPr>
          </a:lstStyle>
          <a:p>
            <a:fld id="{900B8651-D313-4300-801F-836567026953}" type="slidenum">
              <a:rPr lang="en-US" smtClean="0"/>
              <a:pPr/>
              <a:t>‹#›</a:t>
            </a:fld>
            <a:endParaRPr lang="en-US" dirty="0"/>
          </a:p>
        </p:txBody>
      </p:sp>
      <p:sp>
        <p:nvSpPr>
          <p:cNvPr id="12" name="Rectangle 11"/>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p>
        </p:txBody>
      </p:sp>
      <p:sp>
        <p:nvSpPr>
          <p:cNvPr id="9"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10"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t>10/30/2022</a:t>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3561389954"/>
      </p:ext>
    </p:extLst>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buClr>
        <a:schemeClr val="tx2"/>
      </a:buClr>
      <a:buSzPct val="75000"/>
      <a:buFont typeface="Wingdings 3" panose="05040102010807070707" pitchFamily="18" charset="2"/>
      <a:buChar char="u"/>
      <a:defRPr sz="1200" kern="1200">
        <a:solidFill>
          <a:schemeClr val="tx1">
            <a:lumMod val="50000"/>
            <a:lumOff val="50000"/>
          </a:schemeClr>
        </a:solidFill>
        <a:latin typeface="Arial" panose="020B0604020202020204" pitchFamily="34" charset="0"/>
        <a:ea typeface="+mn-ea"/>
        <a:cs typeface="Arial" panose="020B0604020202020204" pitchFamily="34" charset="0"/>
      </a:defRPr>
    </a:lvl1pPr>
    <a:lvl2pPr marL="344488"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2pPr>
    <a:lvl3pPr marL="5111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3pPr>
    <a:lvl4pPr marL="6889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855663"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This is the light cover slide option. </a:t>
            </a:r>
          </a:p>
        </p:txBody>
      </p:sp>
      <p:sp>
        <p:nvSpPr>
          <p:cNvPr id="4" name="Slide Number Placeholder 3"/>
          <p:cNvSpPr>
            <a:spLocks noGrp="1"/>
          </p:cNvSpPr>
          <p:nvPr>
            <p:ph type="sldNum" sz="quarter" idx="10"/>
          </p:nvPr>
        </p:nvSpPr>
        <p:spPr/>
        <p:txBody>
          <a:bodyPr/>
          <a:lstStyle/>
          <a:p>
            <a:fld id="{900B8651-D313-4300-801F-836567026953}" type="slidenum">
              <a:rPr lang="en-US" smtClean="0"/>
              <a:pPr/>
              <a:t>1</a:t>
            </a:fld>
            <a:endParaRPr lang="en-US" dirty="0"/>
          </a:p>
        </p:txBody>
      </p:sp>
    </p:spTree>
    <p:extLst>
      <p:ext uri="{BB962C8B-B14F-4D97-AF65-F5344CB8AC3E}">
        <p14:creationId xmlns:p14="http://schemas.microsoft.com/office/powerpoint/2010/main" val="29882166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dirty="0"/>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dirty="0"/>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FE7A9806-8D44-470F-A42A-B0BB34D8E567}" type="datetime3">
              <a:rPr lang="en-US" smtClean="0"/>
              <a:t>30 October 2022</a:t>
            </a:fld>
            <a:endParaRPr lang="en-US" dirty="0"/>
          </a:p>
        </p:txBody>
      </p:sp>
    </p:spTree>
    <p:extLst>
      <p:ext uri="{BB962C8B-B14F-4D97-AF65-F5344CB8AC3E}">
        <p14:creationId xmlns:p14="http://schemas.microsoft.com/office/powerpoint/2010/main" val="194439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dirty="0"/>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dirty="0"/>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30 October 2022</a:t>
            </a:fld>
            <a:endParaRPr lang="en-US" dirty="0"/>
          </a:p>
        </p:txBody>
      </p:sp>
    </p:spTree>
    <p:extLst>
      <p:ext uri="{BB962C8B-B14F-4D97-AF65-F5344CB8AC3E}">
        <p14:creationId xmlns:p14="http://schemas.microsoft.com/office/powerpoint/2010/main" val="36150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185473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30 October 2022</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2B_9F49C430.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139_3BE5F48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microsoft.com/office/2018/10/relationships/comments" Target="../comments/modernComment_13C_959A3BFF.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microsoft.com/office/2018/10/relationships/comments" Target="../comments/modernComment_13D_4F84D3B.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3E_2F4AC4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438D909-D066-2449-B22A-2B1EEA3D2FFD}"/>
              </a:ext>
            </a:extLst>
          </p:cNvPr>
          <p:cNvSpPr>
            <a:spLocks noGrp="1"/>
          </p:cNvSpPr>
          <p:nvPr>
            <p:ph type="body" idx="1"/>
          </p:nvPr>
        </p:nvSpPr>
        <p:spPr>
          <a:xfrm>
            <a:off x="342900" y="4587041"/>
            <a:ext cx="6470276" cy="553998"/>
          </a:xfrm>
        </p:spPr>
        <p:txBody>
          <a:bodyPr/>
          <a:lstStyle/>
          <a:p>
            <a:r>
              <a:rPr lang="en-US" dirty="0"/>
              <a:t>Reuse Methodology Manual for System-On-Chip Designs</a:t>
            </a:r>
          </a:p>
        </p:txBody>
      </p:sp>
      <p:sp>
        <p:nvSpPr>
          <p:cNvPr id="7" name="Text Placeholder 6">
            <a:extLst>
              <a:ext uri="{FF2B5EF4-FFF2-40B4-BE49-F238E27FC236}">
                <a16:creationId xmlns:a16="http://schemas.microsoft.com/office/drawing/2014/main" id="{550F983F-8671-C045-8D77-8BA3DBF89922}"/>
              </a:ext>
            </a:extLst>
          </p:cNvPr>
          <p:cNvSpPr>
            <a:spLocks noGrp="1"/>
          </p:cNvSpPr>
          <p:nvPr>
            <p:ph type="body" sz="quarter" idx="12"/>
          </p:nvPr>
        </p:nvSpPr>
        <p:spPr>
          <a:xfrm>
            <a:off x="342899" y="3159909"/>
            <a:ext cx="7015843" cy="1329595"/>
          </a:xfrm>
        </p:spPr>
        <p:txBody>
          <a:bodyPr/>
          <a:lstStyle/>
          <a:p>
            <a:r>
              <a:rPr lang="en-US" dirty="0"/>
              <a:t>Chapter 5: RTL Coding Guidelines</a:t>
            </a:r>
          </a:p>
        </p:txBody>
      </p:sp>
      <p:sp>
        <p:nvSpPr>
          <p:cNvPr id="3" name="Footer Placeholder 2">
            <a:extLst>
              <a:ext uri="{FF2B5EF4-FFF2-40B4-BE49-F238E27FC236}">
                <a16:creationId xmlns:a16="http://schemas.microsoft.com/office/drawing/2014/main" id="{26A78CC7-C0D2-AC43-BD98-28E9A2C31B6B}"/>
              </a:ext>
            </a:extLst>
          </p:cNvPr>
          <p:cNvSpPr>
            <a:spLocks noGrp="1"/>
          </p:cNvSpPr>
          <p:nvPr>
            <p:ph type="ftr" sz="quarter" idx="3"/>
          </p:nvPr>
        </p:nvSpPr>
        <p:spPr/>
        <p:txBody>
          <a:bodyPr>
            <a:normAutofit/>
          </a:bodyPr>
          <a:lstStyle/>
          <a:p>
            <a:r>
              <a:rPr lang="en-US"/>
              <a:t>©2022 Analog Devices, Inc. </a:t>
            </a:r>
            <a:endParaRPr lang="en-US" dirty="0"/>
          </a:p>
        </p:txBody>
      </p:sp>
      <p:sp>
        <p:nvSpPr>
          <p:cNvPr id="2" name="Date Placeholder 1">
            <a:extLst>
              <a:ext uri="{FF2B5EF4-FFF2-40B4-BE49-F238E27FC236}">
                <a16:creationId xmlns:a16="http://schemas.microsoft.com/office/drawing/2014/main" id="{3AEFC6CC-B436-497C-85D7-DBAEA1EB28CB}"/>
              </a:ext>
            </a:extLst>
          </p:cNvPr>
          <p:cNvSpPr>
            <a:spLocks noGrp="1"/>
          </p:cNvSpPr>
          <p:nvPr>
            <p:ph type="dt" sz="half" idx="2"/>
          </p:nvPr>
        </p:nvSpPr>
        <p:spPr/>
        <p:txBody>
          <a:bodyPr/>
          <a:lstStyle/>
          <a:p>
            <a:fld id="{430F8550-9198-4116-B655-9B08CBD80A03}" type="datetime3">
              <a:rPr lang="en-US" smtClean="0"/>
              <a:t>30 October 2022</a:t>
            </a:fld>
            <a:endParaRPr lang="en-US" dirty="0"/>
          </a:p>
        </p:txBody>
      </p:sp>
      <p:sp>
        <p:nvSpPr>
          <p:cNvPr id="4" name="Slide Number Placeholder 3">
            <a:extLst>
              <a:ext uri="{FF2B5EF4-FFF2-40B4-BE49-F238E27FC236}">
                <a16:creationId xmlns:a16="http://schemas.microsoft.com/office/drawing/2014/main" id="{A58A6B8A-2262-46A8-863B-A6AB13D75060}"/>
              </a:ext>
            </a:extLst>
          </p:cNvPr>
          <p:cNvSpPr>
            <a:spLocks noGrp="1"/>
          </p:cNvSpPr>
          <p:nvPr>
            <p:ph type="sldNum" sz="quarter" idx="4"/>
          </p:nvPr>
        </p:nvSpPr>
        <p:spPr/>
        <p:txBody>
          <a:bodyPr/>
          <a:lstStyle/>
          <a:p>
            <a:pPr>
              <a:defRPr/>
            </a:pPr>
            <a:fld id="{A9CE67A1-BA7F-A74E-B5D7-615746DEEC2B}" type="slidenum">
              <a:rPr lang="en-US" smtClean="0"/>
              <a:pPr>
                <a:defRPr/>
              </a:pPr>
              <a:t>1</a:t>
            </a:fld>
            <a:endParaRPr lang="en-US" baseline="-11000" dirty="0"/>
          </a:p>
        </p:txBody>
      </p:sp>
    </p:spTree>
    <p:extLst>
      <p:ext uri="{BB962C8B-B14F-4D97-AF65-F5344CB8AC3E}">
        <p14:creationId xmlns:p14="http://schemas.microsoft.com/office/powerpoint/2010/main" val="1343313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7F650F-E93C-4F7D-8AAD-C095630BE456}"/>
              </a:ext>
            </a:extLst>
          </p:cNvPr>
          <p:cNvSpPr>
            <a:spLocks noGrp="1"/>
          </p:cNvSpPr>
          <p:nvPr>
            <p:ph idx="1"/>
          </p:nvPr>
        </p:nvSpPr>
        <p:spPr/>
        <p:txBody>
          <a:bodyPr/>
          <a:lstStyle/>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Basic Coding Practices.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Coding for Portability.</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Guidelines for Clocks and Resets.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Coding for Synthesis.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Partitioning for Synthesis.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Designing with Memories.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Code Profiling.</a:t>
            </a:r>
          </a:p>
          <a:p>
            <a:pPr lvl="1"/>
            <a:endParaRPr lang="en-US"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A3B9023-179E-4AA0-A65F-CD08E3CA7504}"/>
              </a:ext>
            </a:extLst>
          </p:cNvPr>
          <p:cNvSpPr>
            <a:spLocks noGrp="1"/>
          </p:cNvSpPr>
          <p:nvPr>
            <p:ph type="title"/>
          </p:nvPr>
        </p:nvSpPr>
        <p:spPr/>
        <p:txBody>
          <a:bodyPr/>
          <a:lstStyle/>
          <a:p>
            <a:r>
              <a:rPr lang="en-US" dirty="0"/>
              <a:t>Chapter content</a:t>
            </a:r>
          </a:p>
        </p:txBody>
      </p:sp>
      <p:sp>
        <p:nvSpPr>
          <p:cNvPr id="4" name="Footer Placeholder 3">
            <a:extLst>
              <a:ext uri="{FF2B5EF4-FFF2-40B4-BE49-F238E27FC236}">
                <a16:creationId xmlns:a16="http://schemas.microsoft.com/office/drawing/2014/main" id="{C76F1DB5-D534-4952-AABB-629A085FA61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FD74343D-D99B-4878-8A48-F64276F0691C}"/>
              </a:ext>
            </a:extLst>
          </p:cNvPr>
          <p:cNvSpPr>
            <a:spLocks noGrp="1"/>
          </p:cNvSpPr>
          <p:nvPr>
            <p:ph type="sldNum" sz="quarter" idx="4"/>
          </p:nvPr>
        </p:nvSpPr>
        <p:spPr/>
        <p:txBody>
          <a:bodyPr/>
          <a:lstStyle/>
          <a:p>
            <a:pPr>
              <a:defRPr/>
            </a:pPr>
            <a:fld id="{A9CE67A1-BA7F-A74E-B5D7-615746DEEC2B}" type="slidenum">
              <a:rPr lang="en-US" smtClean="0"/>
              <a:pPr>
                <a:defRPr/>
              </a:pPr>
              <a:t>2</a:t>
            </a:fld>
            <a:endParaRPr lang="en-US" baseline="-11000" dirty="0"/>
          </a:p>
        </p:txBody>
      </p:sp>
      <p:sp>
        <p:nvSpPr>
          <p:cNvPr id="6" name="Date Placeholder 5">
            <a:extLst>
              <a:ext uri="{FF2B5EF4-FFF2-40B4-BE49-F238E27FC236}">
                <a16:creationId xmlns:a16="http://schemas.microsoft.com/office/drawing/2014/main" id="{EE37DA8C-4E6D-4F89-890E-48684285BBF5}"/>
              </a:ext>
            </a:extLst>
          </p:cNvPr>
          <p:cNvSpPr>
            <a:spLocks noGrp="1"/>
          </p:cNvSpPr>
          <p:nvPr>
            <p:ph type="dt" sz="half" idx="2"/>
          </p:nvPr>
        </p:nvSpPr>
        <p:spPr/>
        <p:txBody>
          <a:bodyPr/>
          <a:lstStyle/>
          <a:p>
            <a:fld id="{4F68034E-5448-46F8-9344-AFA6D74952E0}" type="datetime3">
              <a:rPr lang="en-US" smtClean="0"/>
              <a:t>30 October 2022</a:t>
            </a:fld>
            <a:endParaRPr lang="en-US" dirty="0"/>
          </a:p>
        </p:txBody>
      </p:sp>
    </p:spTree>
    <p:extLst>
      <p:ext uri="{BB962C8B-B14F-4D97-AF65-F5344CB8AC3E}">
        <p14:creationId xmlns:p14="http://schemas.microsoft.com/office/powerpoint/2010/main" val="170345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r>
              <a:rPr lang="en-US" sz="2300" b="1" dirty="0">
                <a:latin typeface="Times New Roman" panose="02020603050405020304" pitchFamily="18" charset="0"/>
                <a:cs typeface="Times New Roman" panose="02020603050405020304" pitchFamily="18" charset="0"/>
              </a:rPr>
              <a:t>5.2.1 General Naming Conventions</a:t>
            </a:r>
          </a:p>
          <a:p>
            <a:pPr marL="0" indent="0" algn="just">
              <a:buSzPct val="100000"/>
              <a:buNone/>
            </a:pPr>
            <a:r>
              <a:rPr lang="en-GB" sz="2300" b="1" i="0" dirty="0">
                <a:solidFill>
                  <a:srgbClr val="000000"/>
                </a:solidFill>
                <a:effectLst/>
                <a:latin typeface="Arial-BoldMT"/>
              </a:rPr>
              <a:t>Rule – </a:t>
            </a:r>
            <a:r>
              <a:rPr lang="en-GB" sz="2300" b="0" i="0" dirty="0">
                <a:solidFill>
                  <a:srgbClr val="000000"/>
                </a:solidFill>
                <a:effectLst/>
                <a:latin typeface="Times-Roman"/>
              </a:rPr>
              <a:t>Develop a naming convention for the design. Document it and use it consistently throughout the design.</a:t>
            </a:r>
            <a:r>
              <a:rPr lang="en-GB" sz="1800" dirty="0"/>
              <a:t> </a:t>
            </a:r>
          </a:p>
          <a:p>
            <a:pPr algn="just">
              <a:buSzPct val="100000"/>
              <a:buFont typeface="Arial" panose="020B0604020202020204" pitchFamily="34" charset="0"/>
              <a:buChar char="•"/>
            </a:pPr>
            <a:r>
              <a:rPr lang="en-GB" sz="2300" b="1" i="0" dirty="0">
                <a:solidFill>
                  <a:srgbClr val="000000"/>
                </a:solidFill>
                <a:effectLst/>
                <a:latin typeface="Arial-BoldMT"/>
              </a:rPr>
              <a:t>Guideline – </a:t>
            </a:r>
            <a:r>
              <a:rPr lang="en-GB" sz="2300" b="0" i="0" dirty="0">
                <a:solidFill>
                  <a:srgbClr val="000000"/>
                </a:solidFill>
                <a:effectLst/>
                <a:latin typeface="Times-Roman"/>
              </a:rPr>
              <a:t>Use lowercase letters for all signal names, variable names, and port names.</a:t>
            </a:r>
          </a:p>
          <a:p>
            <a:pPr algn="just">
              <a:buSzPct val="100000"/>
              <a:buFont typeface="Arial" panose="020B0604020202020204" pitchFamily="34" charset="0"/>
              <a:buChar char="•"/>
            </a:pPr>
            <a:r>
              <a:rPr lang="en-GB" sz="2300" b="1" i="0" dirty="0">
                <a:solidFill>
                  <a:srgbClr val="000000"/>
                </a:solidFill>
                <a:effectLst/>
                <a:latin typeface="Arial-BoldMT"/>
              </a:rPr>
              <a:t>Guideline – </a:t>
            </a:r>
            <a:r>
              <a:rPr lang="en-GB" sz="2300" b="0" i="0" dirty="0">
                <a:solidFill>
                  <a:srgbClr val="000000"/>
                </a:solidFill>
                <a:effectLst/>
                <a:latin typeface="Times-Roman"/>
              </a:rPr>
              <a:t>Use uppercase letters for names of constants and user-defined types.</a:t>
            </a:r>
          </a:p>
          <a:p>
            <a:pPr algn="just">
              <a:buSzPct val="100000"/>
              <a:buFont typeface="Arial" panose="020B0604020202020204" pitchFamily="34" charset="0"/>
              <a:buChar char="•"/>
            </a:pPr>
            <a:r>
              <a:rPr lang="en-GB" sz="2300" b="1" i="0" dirty="0">
                <a:solidFill>
                  <a:srgbClr val="000000"/>
                </a:solidFill>
                <a:effectLst/>
                <a:latin typeface="Arial-BoldMT"/>
              </a:rPr>
              <a:t>Guideline –</a:t>
            </a:r>
            <a:r>
              <a:rPr lang="en-GB" sz="2300" b="0" i="0" dirty="0">
                <a:solidFill>
                  <a:srgbClr val="000000"/>
                </a:solidFill>
                <a:effectLst/>
                <a:latin typeface="Times-Roman"/>
              </a:rPr>
              <a:t>Use meaningful names for signals, ports, functions, and parameters. For example, do not use </a:t>
            </a:r>
            <a:r>
              <a:rPr lang="en-GB" sz="2300" b="0" i="0" dirty="0" err="1">
                <a:solidFill>
                  <a:srgbClr val="000000"/>
                </a:solidFill>
                <a:effectLst/>
                <a:latin typeface="Courier"/>
              </a:rPr>
              <a:t>ra</a:t>
            </a:r>
            <a:r>
              <a:rPr lang="en-GB" sz="2300" b="0" i="0" dirty="0">
                <a:solidFill>
                  <a:srgbClr val="000000"/>
                </a:solidFill>
                <a:effectLst/>
                <a:latin typeface="Courier"/>
              </a:rPr>
              <a:t> </a:t>
            </a:r>
            <a:r>
              <a:rPr lang="en-GB" sz="2300" b="0" i="0" dirty="0">
                <a:solidFill>
                  <a:srgbClr val="000000"/>
                </a:solidFill>
                <a:effectLst/>
                <a:latin typeface="Times-Roman"/>
              </a:rPr>
              <a:t>for a RAM address bus. Instead, use </a:t>
            </a:r>
            <a:r>
              <a:rPr lang="en-GB" sz="2300" b="0" i="0" dirty="0" err="1">
                <a:solidFill>
                  <a:srgbClr val="000000"/>
                </a:solidFill>
                <a:effectLst/>
                <a:latin typeface="Courier"/>
              </a:rPr>
              <a:t>ram_addr</a:t>
            </a:r>
            <a:r>
              <a:rPr lang="en-GB" sz="2300" b="0" i="0" dirty="0">
                <a:solidFill>
                  <a:srgbClr val="000000"/>
                </a:solidFill>
                <a:effectLst/>
                <a:latin typeface="Courier"/>
              </a:rPr>
              <a:t>.</a:t>
            </a:r>
            <a:r>
              <a:rPr lang="en-GB" sz="1800" dirty="0"/>
              <a:t> </a:t>
            </a:r>
          </a:p>
          <a:p>
            <a:pPr algn="just">
              <a:buSzPct val="100000"/>
              <a:buFont typeface="Arial" panose="020B0604020202020204" pitchFamily="34" charset="0"/>
              <a:buChar char="•"/>
            </a:pPr>
            <a:r>
              <a:rPr lang="en-GB" sz="2300" b="1" i="0" dirty="0">
                <a:solidFill>
                  <a:srgbClr val="000000"/>
                </a:solidFill>
                <a:effectLst/>
                <a:latin typeface="Arial-BoldMT"/>
              </a:rPr>
              <a:t>Guideline – </a:t>
            </a:r>
            <a:r>
              <a:rPr lang="en-GB" sz="2300" b="0" i="0" dirty="0">
                <a:solidFill>
                  <a:srgbClr val="000000"/>
                </a:solidFill>
                <a:effectLst/>
                <a:latin typeface="Times-Roman"/>
              </a:rPr>
              <a:t>If your design uses several parameters, use short but descriptive names. During elaboration, the synthesis tool concatenates the module’s name, parameter names, and parameter values to form the design unit name. Thus, lengthy parameter names can cause excessively long design unit names when you elaborate the design with synthesis tools.</a:t>
            </a:r>
            <a:r>
              <a:rPr lang="en-GB" sz="1800" dirty="0"/>
              <a:t> </a:t>
            </a:r>
          </a:p>
          <a:p>
            <a:pPr algn="just">
              <a:buSzPct val="100000"/>
              <a:buFont typeface="Arial" panose="020B0604020202020204" pitchFamily="34" charset="0"/>
              <a:buChar char="•"/>
            </a:pPr>
            <a:br>
              <a:rPr lang="en-GB" sz="800" dirty="0"/>
            </a:br>
            <a:br>
              <a:rPr lang="en-GB" sz="1000" dirty="0"/>
            </a:b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3</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399735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228600" marR="0" lvl="0" indent="-228600" algn="just"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3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300" b="0" i="0" u="none" strike="noStrike" kern="1200" cap="none" spc="0" normalizeH="0" baseline="0" noProof="0" dirty="0">
                <a:ln>
                  <a:noFill/>
                </a:ln>
                <a:solidFill>
                  <a:srgbClr val="000000"/>
                </a:solidFill>
                <a:effectLst/>
                <a:uLnTx/>
                <a:uFillTx/>
                <a:latin typeface="Times-Roman"/>
                <a:ea typeface="+mn-ea"/>
                <a:cs typeface="+mn-cs"/>
              </a:rPr>
              <a:t>Use a consistent name for the clock signal, such as </a:t>
            </a:r>
            <a:r>
              <a:rPr kumimoji="0" lang="en-GB" sz="2300" b="0" i="0" u="none" strike="noStrike" kern="1200" cap="none" spc="0" normalizeH="0" baseline="0" noProof="0" dirty="0">
                <a:ln>
                  <a:noFill/>
                </a:ln>
                <a:solidFill>
                  <a:srgbClr val="000000"/>
                </a:solidFill>
                <a:effectLst/>
                <a:uLnTx/>
                <a:uFillTx/>
                <a:latin typeface="Courier"/>
                <a:ea typeface="+mn-ea"/>
                <a:cs typeface="+mn-cs"/>
              </a:rPr>
              <a:t>clk</a:t>
            </a:r>
            <a:r>
              <a:rPr kumimoji="0" lang="en-GB" sz="2300" b="0" i="0" u="none" strike="noStrike" kern="1200" cap="none" spc="0" normalizeH="0" baseline="0" noProof="0" dirty="0">
                <a:ln>
                  <a:noFill/>
                </a:ln>
                <a:solidFill>
                  <a:srgbClr val="000000"/>
                </a:solidFill>
                <a:effectLst/>
                <a:uLnTx/>
                <a:uFillTx/>
                <a:latin typeface="Times-Roman"/>
                <a:ea typeface="+mn-ea"/>
                <a:cs typeface="+mn-cs"/>
              </a:rPr>
              <a:t>. If there is more than one clock in the design, use </a:t>
            </a:r>
            <a:r>
              <a:rPr kumimoji="0" lang="en-GB" sz="2300" b="0" i="0" u="none" strike="noStrike" kern="1200" cap="none" spc="0" normalizeH="0" baseline="0" noProof="0" dirty="0" err="1">
                <a:ln>
                  <a:noFill/>
                </a:ln>
                <a:solidFill>
                  <a:srgbClr val="000000"/>
                </a:solidFill>
                <a:effectLst/>
                <a:uLnTx/>
                <a:uFillTx/>
                <a:latin typeface="Courier"/>
                <a:ea typeface="+mn-ea"/>
                <a:cs typeface="+mn-cs"/>
              </a:rPr>
              <a:t>clk</a:t>
            </a:r>
            <a:r>
              <a:rPr kumimoji="0" lang="en-GB" sz="2300" b="0" i="0" u="none" strike="noStrike" kern="1200" cap="none" spc="0" normalizeH="0" baseline="0" noProof="0" dirty="0">
                <a:ln>
                  <a:noFill/>
                </a:ln>
                <a:solidFill>
                  <a:srgbClr val="000000"/>
                </a:solidFill>
                <a:effectLst/>
                <a:uLnTx/>
                <a:uFillTx/>
                <a:latin typeface="Courier"/>
                <a:ea typeface="+mn-ea"/>
                <a:cs typeface="+mn-cs"/>
              </a:rPr>
              <a:t> </a:t>
            </a:r>
            <a:r>
              <a:rPr kumimoji="0" lang="en-GB" sz="2300" b="0" i="0" u="none" strike="noStrike" kern="1200" cap="none" spc="0" normalizeH="0" baseline="0" noProof="0" dirty="0">
                <a:ln>
                  <a:noFill/>
                </a:ln>
                <a:solidFill>
                  <a:srgbClr val="000000"/>
                </a:solidFill>
                <a:effectLst/>
                <a:uLnTx/>
                <a:uFillTx/>
                <a:latin typeface="Times-Roman"/>
                <a:ea typeface="+mn-ea"/>
                <a:cs typeface="+mn-cs"/>
              </a:rPr>
              <a:t>as the prefix for all clock signals (for example, </a:t>
            </a:r>
            <a:r>
              <a:rPr kumimoji="0" lang="en-GB" sz="2300" b="0" i="0" u="none" strike="noStrike" kern="1200" cap="none" spc="0" normalizeH="0" baseline="0" noProof="0" dirty="0" err="1">
                <a:ln>
                  <a:noFill/>
                </a:ln>
                <a:solidFill>
                  <a:srgbClr val="000000"/>
                </a:solidFill>
                <a:effectLst/>
                <a:uLnTx/>
                <a:uFillTx/>
                <a:latin typeface="Courier"/>
                <a:ea typeface="+mn-ea"/>
                <a:cs typeface="+mn-cs"/>
              </a:rPr>
              <a:t>clkl</a:t>
            </a:r>
            <a:r>
              <a:rPr kumimoji="0" lang="en-GB" sz="2300" b="0" i="0" u="none" strike="noStrike" kern="1200" cap="none" spc="0" normalizeH="0" baseline="0" noProof="0" dirty="0">
                <a:ln>
                  <a:noFill/>
                </a:ln>
                <a:solidFill>
                  <a:srgbClr val="000000"/>
                </a:solidFill>
                <a:effectLst/>
                <a:uLnTx/>
                <a:uFillTx/>
                <a:latin typeface="Times-Roman"/>
                <a:ea typeface="+mn-ea"/>
                <a:cs typeface="+mn-cs"/>
              </a:rPr>
              <a:t>, </a:t>
            </a:r>
            <a:r>
              <a:rPr kumimoji="0" lang="en-GB" sz="2300" b="0" i="0" u="none" strike="noStrike" kern="1200" cap="none" spc="0" normalizeH="0" baseline="0" noProof="0" dirty="0">
                <a:ln>
                  <a:noFill/>
                </a:ln>
                <a:solidFill>
                  <a:srgbClr val="000000"/>
                </a:solidFill>
                <a:effectLst/>
                <a:uLnTx/>
                <a:uFillTx/>
                <a:latin typeface="Courier"/>
                <a:ea typeface="+mn-ea"/>
                <a:cs typeface="+mn-cs"/>
              </a:rPr>
              <a:t>clk2</a:t>
            </a:r>
            <a:r>
              <a:rPr kumimoji="0" lang="en-GB" sz="2300" b="0" i="0" u="none" strike="noStrike" kern="1200" cap="none" spc="0" normalizeH="0" baseline="0" noProof="0" dirty="0">
                <a:ln>
                  <a:noFill/>
                </a:ln>
                <a:solidFill>
                  <a:srgbClr val="000000"/>
                </a:solidFill>
                <a:effectLst/>
                <a:uLnTx/>
                <a:uFillTx/>
                <a:latin typeface="Times-Roman"/>
                <a:ea typeface="+mn-ea"/>
                <a:cs typeface="+mn-cs"/>
              </a:rPr>
              <a:t>, or </a:t>
            </a:r>
            <a:r>
              <a:rPr kumimoji="0" lang="en-GB" sz="2300" b="0" i="0" u="none" strike="noStrike" kern="1200" cap="none" spc="0" normalizeH="0" baseline="0" noProof="0" dirty="0" err="1">
                <a:ln>
                  <a:noFill/>
                </a:ln>
                <a:solidFill>
                  <a:srgbClr val="000000"/>
                </a:solidFill>
                <a:effectLst/>
                <a:uLnTx/>
                <a:uFillTx/>
                <a:latin typeface="Courier"/>
                <a:ea typeface="+mn-ea"/>
                <a:cs typeface="+mn-cs"/>
              </a:rPr>
              <a:t>clk_interface</a:t>
            </a:r>
            <a:r>
              <a:rPr kumimoji="0" lang="en-GB" sz="2300" b="0" i="0" u="none" strike="noStrike" kern="1200" cap="none" spc="0" normalizeH="0" baseline="0" noProof="0" dirty="0">
                <a:ln>
                  <a:noFill/>
                </a:ln>
                <a:solidFill>
                  <a:srgbClr val="000000"/>
                </a:solidFill>
                <a:effectLst/>
                <a:uLnTx/>
                <a:uFillTx/>
                <a:latin typeface="Times-Roman"/>
                <a:ea typeface="+mn-ea"/>
                <a:cs typeface="+mn-cs"/>
              </a:rPr>
              <a:t>).</a:t>
            </a:r>
            <a:r>
              <a:rPr kumimoji="0" lang="en-GB" sz="2300" b="0" i="0" u="none" strike="noStrike" kern="1200" cap="none" spc="0" normalizeH="0" baseline="0" noProof="0" dirty="0">
                <a:ln>
                  <a:noFill/>
                </a:ln>
                <a:solidFill>
                  <a:srgbClr val="000000"/>
                </a:solidFill>
                <a:effectLst/>
                <a:uLnTx/>
                <a:uFillTx/>
                <a:latin typeface="Barlow" pitchFamily="2" charset="77"/>
                <a:ea typeface="+mn-ea"/>
                <a:cs typeface="+mn-cs"/>
              </a:rPr>
              <a:t> </a:t>
            </a:r>
          </a:p>
          <a:p>
            <a:pPr marL="228600" marR="0" lvl="0" indent="-228600" algn="just"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3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300" b="0" i="0" u="none" strike="noStrike" kern="1200" cap="none" spc="0" normalizeH="0" baseline="0" noProof="0" dirty="0">
                <a:ln>
                  <a:noFill/>
                </a:ln>
                <a:solidFill>
                  <a:srgbClr val="000000"/>
                </a:solidFill>
                <a:effectLst/>
                <a:uLnTx/>
                <a:uFillTx/>
                <a:latin typeface="Times-Roman"/>
                <a:ea typeface="+mn-ea"/>
                <a:cs typeface="+mn-cs"/>
              </a:rPr>
              <a:t>Use the same name for all clock signals that are driven from the same source.</a:t>
            </a:r>
            <a:r>
              <a:rPr kumimoji="0" lang="en-GB" sz="2300" b="0" i="0" u="none" strike="noStrike" kern="1200" cap="none" spc="0" normalizeH="0" baseline="0" noProof="0" dirty="0">
                <a:ln>
                  <a:noFill/>
                </a:ln>
                <a:solidFill>
                  <a:srgbClr val="000000"/>
                </a:solidFill>
                <a:effectLst/>
                <a:uLnTx/>
                <a:uFillTx/>
                <a:latin typeface="Barlow" pitchFamily="2" charset="77"/>
                <a:ea typeface="+mn-ea"/>
                <a:cs typeface="+mn-cs"/>
              </a:rPr>
              <a:t> </a:t>
            </a:r>
          </a:p>
          <a:p>
            <a:pPr marL="228600" marR="0" lvl="0" indent="-228600" algn="just"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3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300" b="0" i="0" u="none" strike="noStrike" kern="1200" cap="none" spc="0" normalizeH="0" baseline="0" noProof="0" dirty="0">
                <a:ln>
                  <a:noFill/>
                </a:ln>
                <a:solidFill>
                  <a:srgbClr val="000000"/>
                </a:solidFill>
                <a:effectLst/>
                <a:uLnTx/>
                <a:uFillTx/>
                <a:latin typeface="Times-Roman"/>
                <a:ea typeface="+mn-ea"/>
                <a:cs typeface="+mn-cs"/>
              </a:rPr>
              <a:t>For active-low signals, end the signal name with an underscore followed by a lowercase character (for example, </a:t>
            </a:r>
            <a:r>
              <a:rPr kumimoji="0" lang="en-GB" sz="2300" b="0" i="0" u="none" strike="noStrike" kern="1200" cap="none" spc="0" normalizeH="0" baseline="0" noProof="0" dirty="0">
                <a:ln>
                  <a:noFill/>
                </a:ln>
                <a:solidFill>
                  <a:srgbClr val="000000"/>
                </a:solidFill>
                <a:effectLst/>
                <a:uLnTx/>
                <a:uFillTx/>
                <a:latin typeface="Courier"/>
                <a:ea typeface="+mn-ea"/>
                <a:cs typeface="+mn-cs"/>
              </a:rPr>
              <a:t>_b </a:t>
            </a:r>
            <a:r>
              <a:rPr kumimoji="0" lang="en-GB" sz="2300" b="0" i="0" u="none" strike="noStrike" kern="1200" cap="none" spc="0" normalizeH="0" baseline="0" noProof="0" dirty="0">
                <a:ln>
                  <a:noFill/>
                </a:ln>
                <a:solidFill>
                  <a:srgbClr val="000000"/>
                </a:solidFill>
                <a:effectLst/>
                <a:uLnTx/>
                <a:uFillTx/>
                <a:latin typeface="Times-Roman"/>
                <a:ea typeface="+mn-ea"/>
                <a:cs typeface="+mn-cs"/>
              </a:rPr>
              <a:t>or </a:t>
            </a:r>
            <a:r>
              <a:rPr kumimoji="0" lang="en-GB" sz="2300" b="0" i="0" u="none" strike="noStrike" kern="1200" cap="none" spc="0" normalizeH="0" baseline="0" noProof="0" dirty="0">
                <a:ln>
                  <a:noFill/>
                </a:ln>
                <a:solidFill>
                  <a:srgbClr val="000000"/>
                </a:solidFill>
                <a:effectLst/>
                <a:uLnTx/>
                <a:uFillTx/>
                <a:latin typeface="Courier"/>
                <a:ea typeface="+mn-ea"/>
                <a:cs typeface="+mn-cs"/>
              </a:rPr>
              <a:t>_n</a:t>
            </a:r>
            <a:r>
              <a:rPr kumimoji="0" lang="en-GB" sz="2300" b="0" i="0" u="none" strike="noStrike" kern="1200" cap="none" spc="0" normalizeH="0" baseline="0" noProof="0" dirty="0">
                <a:ln>
                  <a:noFill/>
                </a:ln>
                <a:solidFill>
                  <a:srgbClr val="000000"/>
                </a:solidFill>
                <a:effectLst/>
                <a:uLnTx/>
                <a:uFillTx/>
                <a:latin typeface="Times-Roman"/>
                <a:ea typeface="+mn-ea"/>
                <a:cs typeface="+mn-cs"/>
              </a:rPr>
              <a:t>).Use the same lowercase character consistently to indicate active-low signals throughout the design.</a:t>
            </a:r>
            <a:r>
              <a:rPr kumimoji="0" lang="en-GB" sz="2300" b="0" i="0" u="none" strike="noStrike" kern="1200" cap="none" spc="0" normalizeH="0" baseline="0" noProof="0" dirty="0">
                <a:ln>
                  <a:noFill/>
                </a:ln>
                <a:solidFill>
                  <a:srgbClr val="000000"/>
                </a:solidFill>
                <a:effectLst/>
                <a:uLnTx/>
                <a:uFillTx/>
                <a:latin typeface="Barlow" pitchFamily="2" charset="77"/>
                <a:ea typeface="+mn-ea"/>
                <a:cs typeface="+mn-cs"/>
              </a:rPr>
              <a:t> </a:t>
            </a:r>
          </a:p>
          <a:p>
            <a:pPr marL="228600" marR="0" lvl="0" indent="-22860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3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300" b="0" i="0" u="none" strike="noStrike" kern="1200" cap="none" spc="0" normalizeH="0" baseline="0" noProof="0" dirty="0">
                <a:ln>
                  <a:noFill/>
                </a:ln>
                <a:solidFill>
                  <a:srgbClr val="000000"/>
                </a:solidFill>
                <a:effectLst/>
                <a:uLnTx/>
                <a:uFillTx/>
                <a:latin typeface="Times-Roman"/>
                <a:ea typeface="+mn-ea"/>
                <a:cs typeface="+mn-cs"/>
              </a:rPr>
              <a:t>Use a consistent name for reset signals, such as </a:t>
            </a:r>
            <a:r>
              <a:rPr kumimoji="0" lang="en-GB" sz="2300" b="0" i="0" u="none" strike="noStrike" kern="1200" cap="none" spc="0" normalizeH="0" baseline="0" noProof="0" dirty="0" err="1">
                <a:ln>
                  <a:noFill/>
                </a:ln>
                <a:solidFill>
                  <a:srgbClr val="000000"/>
                </a:solidFill>
                <a:effectLst/>
                <a:uLnTx/>
                <a:uFillTx/>
                <a:latin typeface="Courier"/>
                <a:ea typeface="+mn-ea"/>
                <a:cs typeface="+mn-cs"/>
              </a:rPr>
              <a:t>rst</a:t>
            </a:r>
            <a:r>
              <a:rPr kumimoji="0" lang="en-GB" sz="2300" b="0" i="0" u="none" strike="noStrike" kern="1200" cap="none" spc="0" normalizeH="0" baseline="0" noProof="0" dirty="0">
                <a:ln>
                  <a:noFill/>
                </a:ln>
                <a:solidFill>
                  <a:srgbClr val="000000"/>
                </a:solidFill>
                <a:effectLst/>
                <a:uLnTx/>
                <a:uFillTx/>
                <a:latin typeface="Courier"/>
                <a:ea typeface="+mn-ea"/>
                <a:cs typeface="+mn-cs"/>
              </a:rPr>
              <a:t>. </a:t>
            </a:r>
            <a:r>
              <a:rPr kumimoji="0" lang="en-GB" sz="2300" b="0" i="0" u="none" strike="noStrike" kern="1200" cap="none" spc="0" normalizeH="0" baseline="0" noProof="0" dirty="0">
                <a:ln>
                  <a:noFill/>
                </a:ln>
                <a:solidFill>
                  <a:srgbClr val="000000"/>
                </a:solidFill>
                <a:effectLst/>
                <a:uLnTx/>
                <a:uFillTx/>
                <a:latin typeface="Times-Roman"/>
                <a:ea typeface="+mn-ea"/>
                <a:cs typeface="+mn-cs"/>
              </a:rPr>
              <a:t>If the reset signal is active low, use a name like </a:t>
            </a:r>
            <a:r>
              <a:rPr kumimoji="0" lang="en-GB" sz="2300" b="0" i="0" u="none" strike="noStrike" kern="1200" cap="none" spc="0" normalizeH="0" baseline="0" noProof="0" dirty="0" err="1">
                <a:ln>
                  <a:noFill/>
                </a:ln>
                <a:solidFill>
                  <a:srgbClr val="000000"/>
                </a:solidFill>
                <a:effectLst/>
                <a:uLnTx/>
                <a:uFillTx/>
                <a:latin typeface="Courier"/>
                <a:ea typeface="+mn-ea"/>
                <a:cs typeface="+mn-cs"/>
              </a:rPr>
              <a:t>rst_n</a:t>
            </a:r>
            <a:r>
              <a:rPr kumimoji="0" lang="en-GB" sz="2300" b="0" i="0" u="none" strike="noStrike" kern="1200" cap="none" spc="0" normalizeH="0" baseline="0" noProof="0" dirty="0">
                <a:ln>
                  <a:noFill/>
                </a:ln>
                <a:solidFill>
                  <a:srgbClr val="000000"/>
                </a:solidFill>
                <a:effectLst/>
                <a:uLnTx/>
                <a:uFillTx/>
                <a:latin typeface="Courier"/>
                <a:ea typeface="+mn-ea"/>
                <a:cs typeface="+mn-cs"/>
              </a:rPr>
              <a:t> </a:t>
            </a:r>
            <a:r>
              <a:rPr kumimoji="0" lang="en-GB" sz="2300" b="0" i="0" u="none" strike="noStrike" kern="1200" cap="none" spc="0" normalizeH="0" baseline="0" noProof="0" dirty="0">
                <a:ln>
                  <a:noFill/>
                </a:ln>
                <a:solidFill>
                  <a:srgbClr val="000000"/>
                </a:solidFill>
                <a:effectLst/>
                <a:uLnTx/>
                <a:uFillTx/>
                <a:latin typeface="Times-Roman"/>
                <a:ea typeface="+mn-ea"/>
                <a:cs typeface="+mn-cs"/>
              </a:rPr>
              <a:t>(or substitute </a:t>
            </a:r>
            <a:r>
              <a:rPr kumimoji="0" lang="en-GB" sz="2300" b="0" i="0" u="none" strike="noStrike" kern="1200" cap="none" spc="0" normalizeH="0" baseline="0" noProof="0" dirty="0">
                <a:ln>
                  <a:noFill/>
                </a:ln>
                <a:solidFill>
                  <a:srgbClr val="000000"/>
                </a:solidFill>
                <a:effectLst/>
                <a:uLnTx/>
                <a:uFillTx/>
                <a:latin typeface="Courier"/>
                <a:ea typeface="+mn-ea"/>
                <a:cs typeface="+mn-cs"/>
              </a:rPr>
              <a:t>n </a:t>
            </a:r>
            <a:r>
              <a:rPr kumimoji="0" lang="en-GB" sz="2300" b="0" i="0" u="none" strike="noStrike" kern="1200" cap="none" spc="0" normalizeH="0" baseline="0" noProof="0" dirty="0">
                <a:ln>
                  <a:noFill/>
                </a:ln>
                <a:solidFill>
                  <a:srgbClr val="000000"/>
                </a:solidFill>
                <a:effectLst/>
                <a:uLnTx/>
                <a:uFillTx/>
                <a:latin typeface="Times-Roman"/>
                <a:ea typeface="+mn-ea"/>
                <a:cs typeface="+mn-cs"/>
              </a:rPr>
              <a:t>with whatever lowercase character you are using to indicate active-low signals).</a:t>
            </a:r>
            <a:endParaRPr lang="en-US" sz="23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4</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2736119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4914900"/>
          </a:xfrm>
        </p:spPr>
        <p:txBody>
          <a:bodyPr>
            <a:normAutofit/>
          </a:bodyPr>
          <a:lstStyle/>
          <a:p>
            <a:pPr marL="0" indent="0">
              <a:buSzPct val="100000"/>
              <a:buNone/>
            </a:pPr>
            <a:r>
              <a:rPr lang="en-US" sz="1800" b="1" dirty="0">
                <a:latin typeface="Times New Roman" panose="02020603050405020304" pitchFamily="18" charset="0"/>
                <a:cs typeface="Times New Roman" panose="02020603050405020304" pitchFamily="18" charset="0"/>
              </a:rPr>
              <a:t>5.2.1 General Naming Conventions</a:t>
            </a:r>
          </a:p>
          <a:p>
            <a:pPr marL="0" indent="0" algn="just">
              <a:buSzPct val="100000"/>
              <a:buNone/>
            </a:pPr>
            <a:r>
              <a:rPr lang="en-GB" sz="1800" b="1" i="0" dirty="0">
                <a:solidFill>
                  <a:srgbClr val="000000"/>
                </a:solidFill>
                <a:effectLst/>
                <a:latin typeface="Arial-BoldMT"/>
              </a:rPr>
              <a:t>Rule – </a:t>
            </a:r>
            <a:r>
              <a:rPr lang="en-GB" sz="1800" b="0" i="0" dirty="0">
                <a:solidFill>
                  <a:srgbClr val="000000"/>
                </a:solidFill>
                <a:effectLst/>
                <a:latin typeface="Times-Roman"/>
              </a:rPr>
              <a:t>When describing multibit buses, use a consistent ordering of bits. For VHDL, use either </a:t>
            </a:r>
            <a:r>
              <a:rPr lang="en-GB" sz="1800" b="0" i="0" dirty="0">
                <a:solidFill>
                  <a:srgbClr val="000000"/>
                </a:solidFill>
                <a:effectLst/>
                <a:latin typeface="Courier"/>
              </a:rPr>
              <a:t>(x </a:t>
            </a:r>
            <a:r>
              <a:rPr lang="en-GB" sz="1800" b="0" i="0" dirty="0" err="1">
                <a:solidFill>
                  <a:srgbClr val="000000"/>
                </a:solidFill>
                <a:effectLst/>
                <a:latin typeface="Courier"/>
              </a:rPr>
              <a:t>downto</a:t>
            </a:r>
            <a:r>
              <a:rPr lang="en-GB" sz="1800" b="0" i="0" dirty="0">
                <a:solidFill>
                  <a:srgbClr val="000000"/>
                </a:solidFill>
                <a:effectLst/>
                <a:latin typeface="Courier"/>
              </a:rPr>
              <a:t> 0) </a:t>
            </a:r>
            <a:r>
              <a:rPr lang="en-GB" sz="1800" b="0" i="0" dirty="0">
                <a:solidFill>
                  <a:srgbClr val="000000"/>
                </a:solidFill>
                <a:effectLst/>
                <a:latin typeface="Times-Roman"/>
              </a:rPr>
              <a:t>or   </a:t>
            </a:r>
            <a:r>
              <a:rPr lang="en-GB" sz="1800" b="0" i="0" dirty="0">
                <a:solidFill>
                  <a:srgbClr val="000000"/>
                </a:solidFill>
                <a:effectLst/>
                <a:latin typeface="Courier"/>
              </a:rPr>
              <a:t>(0 to x). </a:t>
            </a:r>
            <a:r>
              <a:rPr lang="en-GB" sz="1800" b="0" i="0" dirty="0">
                <a:solidFill>
                  <a:srgbClr val="000000"/>
                </a:solidFill>
                <a:effectLst/>
                <a:latin typeface="Times-Roman"/>
              </a:rPr>
              <a:t>For Verilog, use </a:t>
            </a:r>
            <a:r>
              <a:rPr lang="en-GB" sz="1800" b="0" i="0" dirty="0">
                <a:solidFill>
                  <a:srgbClr val="000000"/>
                </a:solidFill>
                <a:effectLst/>
                <a:latin typeface="Courier"/>
              </a:rPr>
              <a:t>[x:0] </a:t>
            </a:r>
            <a:r>
              <a:rPr lang="en-GB" sz="1800" b="0" i="0" dirty="0">
                <a:solidFill>
                  <a:srgbClr val="000000"/>
                </a:solidFill>
                <a:effectLst/>
                <a:latin typeface="Times-Roman"/>
              </a:rPr>
              <a:t>or </a:t>
            </a:r>
            <a:r>
              <a:rPr lang="en-GB" sz="1800" b="0" i="0" dirty="0">
                <a:solidFill>
                  <a:srgbClr val="000000"/>
                </a:solidFill>
                <a:effectLst/>
                <a:latin typeface="Courier"/>
              </a:rPr>
              <a:t>[0:x]. </a:t>
            </a:r>
            <a:r>
              <a:rPr lang="en-GB" sz="1800" b="0" i="0" dirty="0">
                <a:solidFill>
                  <a:srgbClr val="000000"/>
                </a:solidFill>
                <a:effectLst/>
                <a:latin typeface="Times-Roman"/>
              </a:rPr>
              <a:t>Using a consistent ordering helps improve the readability of the code and reduces the chance of accidently swapping order between connected buses.</a:t>
            </a:r>
            <a:r>
              <a:rPr lang="en-GB" sz="1200" dirty="0"/>
              <a:t> </a:t>
            </a:r>
            <a:br>
              <a:rPr lang="en-GB" sz="1200" dirty="0"/>
            </a:br>
            <a:endParaRPr lang="en-GB" sz="1200" dirty="0"/>
          </a:p>
          <a:p>
            <a:pPr algn="just">
              <a:buSzPct val="100000"/>
              <a:buFont typeface="Arial" panose="020B0604020202020204" pitchFamily="34" charset="0"/>
              <a:buChar char="•"/>
            </a:pPr>
            <a:r>
              <a:rPr lang="en-GB" sz="1800" b="1" i="0" dirty="0">
                <a:solidFill>
                  <a:srgbClr val="000000"/>
                </a:solidFill>
                <a:effectLst/>
                <a:latin typeface="Arial-BoldMT"/>
              </a:rPr>
              <a:t>Guideline – </a:t>
            </a:r>
            <a:r>
              <a:rPr lang="en-GB" sz="1800" b="0" i="0" dirty="0">
                <a:solidFill>
                  <a:srgbClr val="000000"/>
                </a:solidFill>
                <a:effectLst/>
                <a:latin typeface="Times-Roman"/>
              </a:rPr>
              <a:t>Use</a:t>
            </a:r>
            <a:r>
              <a:rPr lang="en-GB" sz="1800" b="0" i="0" dirty="0">
                <a:solidFill>
                  <a:srgbClr val="000000"/>
                </a:solidFill>
                <a:effectLst/>
                <a:latin typeface="Courier"/>
              </a:rPr>
              <a:t>[x:0]</a:t>
            </a:r>
            <a:r>
              <a:rPr lang="en-GB" sz="1800" b="0" i="0" dirty="0">
                <a:solidFill>
                  <a:srgbClr val="000000"/>
                </a:solidFill>
                <a:effectLst/>
                <a:latin typeface="Times-Roman"/>
              </a:rPr>
              <a:t>for multibit signals in Verilog and </a:t>
            </a:r>
            <a:r>
              <a:rPr lang="en-GB" sz="1800" b="0" i="0" dirty="0">
                <a:solidFill>
                  <a:srgbClr val="000000"/>
                </a:solidFill>
                <a:effectLst/>
                <a:latin typeface="Courier"/>
              </a:rPr>
              <a:t>(x </a:t>
            </a:r>
            <a:r>
              <a:rPr lang="en-GB" sz="1800" b="0" i="0" dirty="0" err="1">
                <a:solidFill>
                  <a:srgbClr val="000000"/>
                </a:solidFill>
                <a:effectLst/>
                <a:latin typeface="Courier"/>
              </a:rPr>
              <a:t>downto</a:t>
            </a:r>
            <a:r>
              <a:rPr lang="en-GB" sz="1800" b="0" i="0" dirty="0">
                <a:solidFill>
                  <a:srgbClr val="000000"/>
                </a:solidFill>
                <a:effectLst/>
                <a:latin typeface="Courier"/>
              </a:rPr>
              <a:t> 0) </a:t>
            </a:r>
            <a:r>
              <a:rPr lang="en-GB" sz="1800" b="0" i="0" dirty="0">
                <a:solidFill>
                  <a:srgbClr val="000000"/>
                </a:solidFill>
                <a:effectLst/>
                <a:latin typeface="Times-Roman"/>
              </a:rPr>
              <a:t>for multibit signals in VHDL. We make this recommendation to establish a standard, and thus achieve some consistency across multiple designs and design teams.</a:t>
            </a:r>
          </a:p>
          <a:p>
            <a:pPr>
              <a:buSzPct val="100000"/>
              <a:buFont typeface="Arial" panose="020B0604020202020204" pitchFamily="34" charset="0"/>
              <a:buChar char="•"/>
            </a:pPr>
            <a:r>
              <a:rPr lang="en-GB" sz="1800" b="1" i="0" dirty="0">
                <a:solidFill>
                  <a:srgbClr val="000000"/>
                </a:solidFill>
                <a:effectLst/>
                <a:latin typeface="Arial-BoldMT"/>
              </a:rPr>
              <a:t>Guideline – </a:t>
            </a:r>
            <a:r>
              <a:rPr lang="en-GB" sz="1800" b="0" i="0" dirty="0">
                <a:solidFill>
                  <a:srgbClr val="000000"/>
                </a:solidFill>
                <a:effectLst/>
                <a:latin typeface="Times-Roman"/>
              </a:rPr>
              <a:t>When possible, use the same name or similar names for ports and signals that are connected (for example, </a:t>
            </a:r>
            <a:r>
              <a:rPr lang="en-GB" sz="1800" b="0" i="0" dirty="0">
                <a:solidFill>
                  <a:srgbClr val="000000"/>
                </a:solidFill>
                <a:effectLst/>
                <a:latin typeface="Courier"/>
              </a:rPr>
              <a:t>a =&gt; a; </a:t>
            </a:r>
            <a:r>
              <a:rPr lang="en-GB" sz="1800" b="0" i="0" dirty="0">
                <a:solidFill>
                  <a:srgbClr val="000000"/>
                </a:solidFill>
                <a:effectLst/>
                <a:latin typeface="Times-Roman"/>
              </a:rPr>
              <a:t>or </a:t>
            </a:r>
            <a:r>
              <a:rPr lang="en-GB" sz="1800" b="0" i="0" dirty="0">
                <a:solidFill>
                  <a:srgbClr val="000000"/>
                </a:solidFill>
                <a:effectLst/>
                <a:latin typeface="Courier"/>
              </a:rPr>
              <a:t>a =&gt; </a:t>
            </a:r>
            <a:r>
              <a:rPr lang="en-GB" sz="1800" b="0" i="0" dirty="0" err="1">
                <a:solidFill>
                  <a:srgbClr val="000000"/>
                </a:solidFill>
                <a:effectLst/>
                <a:latin typeface="Courier"/>
              </a:rPr>
              <a:t>a_int</a:t>
            </a:r>
            <a:r>
              <a:rPr lang="en-GB" sz="1800" b="0" i="0" dirty="0">
                <a:solidFill>
                  <a:srgbClr val="000000"/>
                </a:solidFill>
                <a:effectLst/>
                <a:latin typeface="Courier"/>
              </a:rPr>
              <a:t>;</a:t>
            </a:r>
            <a:r>
              <a:rPr lang="en-GB" sz="1800" b="0" i="0" dirty="0">
                <a:solidFill>
                  <a:srgbClr val="000000"/>
                </a:solidFill>
                <a:effectLst/>
                <a:latin typeface="Times-Roman"/>
              </a:rPr>
              <a:t>).</a:t>
            </a:r>
            <a:r>
              <a:rPr lang="en-GB" sz="1000" dirty="0"/>
              <a:t> </a:t>
            </a:r>
            <a:br>
              <a:rPr lang="en-GB" sz="1000" dirty="0"/>
            </a:br>
            <a:r>
              <a:rPr lang="en-GB" sz="1200" dirty="0"/>
              <a:t> </a:t>
            </a:r>
            <a:br>
              <a:rPr lang="en-GB" sz="1200" dirty="0"/>
            </a:br>
            <a:br>
              <a:rPr lang="en-GB" sz="800" dirty="0"/>
            </a:br>
            <a:br>
              <a:rPr lang="en-GB" sz="1000" dirty="0"/>
            </a:b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10" name="Picture 9">
            <a:extLst>
              <a:ext uri="{FF2B5EF4-FFF2-40B4-BE49-F238E27FC236}">
                <a16:creationId xmlns:a16="http://schemas.microsoft.com/office/drawing/2014/main" id="{DC2BD9CC-CEB0-A262-E9B4-0E7BBC5964E7}"/>
              </a:ext>
            </a:extLst>
          </p:cNvPr>
          <p:cNvPicPr>
            <a:picLocks noChangeAspect="1"/>
          </p:cNvPicPr>
          <p:nvPr/>
        </p:nvPicPr>
        <p:blipFill>
          <a:blip r:embed="rId3"/>
          <a:stretch>
            <a:fillRect/>
          </a:stretch>
        </p:blipFill>
        <p:spPr>
          <a:xfrm>
            <a:off x="2344249" y="4138248"/>
            <a:ext cx="6629741" cy="2159111"/>
          </a:xfrm>
          <a:prstGeom prst="rect">
            <a:avLst/>
          </a:prstGeom>
        </p:spPr>
      </p:pic>
    </p:spTree>
    <p:extLst>
      <p:ext uri="{BB962C8B-B14F-4D97-AF65-F5344CB8AC3E}">
        <p14:creationId xmlns:p14="http://schemas.microsoft.com/office/powerpoint/2010/main" val="2672411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71744"/>
          </a:xfrm>
        </p:spPr>
        <p:txBody>
          <a:bodyPr>
            <a:normAutofit/>
          </a:bodyPr>
          <a:lstStyle/>
          <a:p>
            <a:pPr marL="0" indent="0">
              <a:buSzPct val="100000"/>
              <a:buNone/>
            </a:pPr>
            <a:r>
              <a:rPr lang="en-US" sz="1800" b="1" dirty="0">
                <a:latin typeface="Times New Roman" panose="02020603050405020304" pitchFamily="18" charset="0"/>
                <a:cs typeface="Times New Roman" panose="02020603050405020304" pitchFamily="18" charset="0"/>
              </a:rPr>
              <a:t>5.2.3 State Variable Names</a:t>
            </a:r>
          </a:p>
          <a:p>
            <a:pPr marL="0" indent="0">
              <a:buSzPct val="100000"/>
              <a:buNone/>
            </a:pPr>
            <a:r>
              <a:rPr lang="en-GB" sz="1800" b="1" i="0" dirty="0">
                <a:solidFill>
                  <a:srgbClr val="000000"/>
                </a:solidFill>
                <a:effectLst/>
                <a:latin typeface="Arial-BoldMT"/>
              </a:rPr>
              <a:t>Rule – </a:t>
            </a:r>
            <a:r>
              <a:rPr lang="en-GB" sz="1800" b="0" i="0" dirty="0">
                <a:solidFill>
                  <a:srgbClr val="000000"/>
                </a:solidFill>
                <a:effectLst/>
                <a:latin typeface="Times-Roman"/>
              </a:rPr>
              <a:t>Use a distinctive suffix for state variable names. Recommended names are </a:t>
            </a:r>
            <a:r>
              <a:rPr lang="en-GB" sz="1800" b="0" i="0" dirty="0">
                <a:solidFill>
                  <a:srgbClr val="000000"/>
                </a:solidFill>
                <a:effectLst/>
                <a:latin typeface="Courier"/>
              </a:rPr>
              <a:t>&lt;name&gt;_cs </a:t>
            </a:r>
            <a:r>
              <a:rPr lang="en-GB" sz="1800" b="0" i="0" dirty="0">
                <a:solidFill>
                  <a:srgbClr val="000000"/>
                </a:solidFill>
                <a:effectLst/>
                <a:latin typeface="Times-Roman"/>
              </a:rPr>
              <a:t>for the current state, and </a:t>
            </a:r>
            <a:r>
              <a:rPr lang="en-GB" sz="1800" b="0" i="0" dirty="0">
                <a:solidFill>
                  <a:srgbClr val="000000"/>
                </a:solidFill>
                <a:effectLst/>
                <a:latin typeface="Courier"/>
              </a:rPr>
              <a:t>&lt;name&gt;_ns </a:t>
            </a:r>
            <a:r>
              <a:rPr lang="en-GB" sz="1800" b="0" i="0" dirty="0">
                <a:solidFill>
                  <a:srgbClr val="000000"/>
                </a:solidFill>
                <a:effectLst/>
                <a:latin typeface="Times-Roman"/>
              </a:rPr>
              <a:t>for the next state.</a:t>
            </a:r>
            <a:r>
              <a:rPr lang="en-GB" sz="1200" dirty="0"/>
              <a:t> </a:t>
            </a:r>
          </a:p>
          <a:p>
            <a:pPr marL="0" indent="0">
              <a:buSzPct val="100000"/>
              <a:buNone/>
            </a:pPr>
            <a:endParaRPr lang="en-GB" sz="1200" dirty="0"/>
          </a:p>
          <a:p>
            <a:pPr marL="0" marR="0" lvl="0" indent="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None/>
              <a:tabLst/>
              <a:defRPr/>
            </a:pPr>
            <a:r>
              <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5.2.4 Include Informational Headers in Source Files</a:t>
            </a:r>
          </a:p>
          <a:p>
            <a:pPr marL="0" lvl="0" indent="0">
              <a:buClr>
                <a:srgbClr val="B1B3B3"/>
              </a:buClr>
              <a:buSzPct val="100000"/>
              <a:buNone/>
              <a:defRPr/>
            </a:pPr>
            <a:r>
              <a:rPr lang="en-GB" sz="1800" b="1" dirty="0">
                <a:latin typeface="Arial-BoldMT"/>
              </a:rPr>
              <a:t>Rule – </a:t>
            </a:r>
            <a:r>
              <a:rPr lang="en-GB" sz="1800" dirty="0">
                <a:latin typeface="Times-Roman"/>
              </a:rPr>
              <a:t>Include a commented, informational header at the top of every source file, including scripts. The header must contain:</a:t>
            </a:r>
          </a:p>
          <a:p>
            <a:pPr>
              <a:buClr>
                <a:srgbClr val="B1B3B3"/>
              </a:buClr>
              <a:buSzPct val="100000"/>
              <a:buFont typeface="Arial" panose="020B0604020202020204" pitchFamily="34" charset="0"/>
              <a:buChar char="•"/>
              <a:defRPr/>
            </a:pPr>
            <a:r>
              <a:rPr lang="en-GB" sz="1800" dirty="0">
                <a:latin typeface="Times-Roman"/>
              </a:rPr>
              <a:t>Legal statement: confidentiality, copyright, restrictions on reproduction.</a:t>
            </a:r>
          </a:p>
          <a:p>
            <a:pPr>
              <a:buClr>
                <a:srgbClr val="B1B3B3"/>
              </a:buClr>
              <a:buSzPct val="100000"/>
              <a:buFont typeface="Arial" panose="020B0604020202020204" pitchFamily="34" charset="0"/>
              <a:buChar char="•"/>
              <a:defRPr/>
            </a:pPr>
            <a:r>
              <a:rPr lang="en-GB" sz="1800" dirty="0">
                <a:latin typeface="Times-Roman"/>
              </a:rPr>
              <a:t>Filename.</a:t>
            </a:r>
          </a:p>
          <a:p>
            <a:pPr>
              <a:buClr>
                <a:srgbClr val="B1B3B3"/>
              </a:buClr>
              <a:buSzPct val="100000"/>
              <a:buFont typeface="Arial" panose="020B0604020202020204" pitchFamily="34" charset="0"/>
              <a:buChar char="•"/>
              <a:defRPr/>
            </a:pPr>
            <a:r>
              <a:rPr lang="en-GB" sz="1800" dirty="0">
                <a:latin typeface="Times-Roman"/>
              </a:rPr>
              <a:t>Author.</a:t>
            </a:r>
          </a:p>
          <a:p>
            <a:pPr>
              <a:buClr>
                <a:srgbClr val="B1B3B3"/>
              </a:buClr>
              <a:buSzPct val="100000"/>
              <a:buFont typeface="Arial" panose="020B0604020202020204" pitchFamily="34" charset="0"/>
              <a:buChar char="•"/>
              <a:defRPr/>
            </a:pPr>
            <a:r>
              <a:rPr lang="en-GB" sz="1800" dirty="0">
                <a:latin typeface="Times-Roman"/>
              </a:rPr>
              <a:t>Description of function and list of key features of the module.</a:t>
            </a:r>
          </a:p>
          <a:p>
            <a:pPr>
              <a:buClr>
                <a:srgbClr val="B1B3B3"/>
              </a:buClr>
              <a:buSzPct val="100000"/>
              <a:buFont typeface="Arial" panose="020B0604020202020204" pitchFamily="34" charset="0"/>
              <a:buChar char="•"/>
              <a:defRPr/>
            </a:pPr>
            <a:r>
              <a:rPr lang="en-GB" sz="1800" dirty="0">
                <a:latin typeface="Times-Roman"/>
              </a:rPr>
              <a:t>Date the file was created.</a:t>
            </a:r>
          </a:p>
          <a:p>
            <a:pPr>
              <a:buClr>
                <a:srgbClr val="B1B3B3"/>
              </a:buClr>
              <a:buSzPct val="100000"/>
              <a:buFont typeface="Arial" panose="020B0604020202020204" pitchFamily="34" charset="0"/>
              <a:buChar char="•"/>
              <a:defRPr/>
            </a:pPr>
            <a:r>
              <a:rPr lang="en-GB" sz="1800" dirty="0">
                <a:latin typeface="Times-Roman"/>
              </a:rPr>
              <a:t>Modification history including date, name of modifier, and description of the change.</a:t>
            </a:r>
            <a:br>
              <a:rPr lang="en-GB" sz="1800" dirty="0">
                <a:latin typeface="Times-Roman"/>
              </a:rPr>
            </a:b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3994332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fade">
                                      <p:cBhvr>
                                        <p:cTn id="10" dur="500"/>
                                        <p:tgtEl>
                                          <p:spTgt spid="2">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fade">
                                      <p:cBhvr>
                                        <p:cTn id="13" dur="500"/>
                                        <p:tgtEl>
                                          <p:spTgt spid="2">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fade">
                                      <p:cBhvr>
                                        <p:cTn id="16" dur="500"/>
                                        <p:tgtEl>
                                          <p:spTgt spid="2">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Effect transition="in" filter="fade">
                                      <p:cBhvr>
                                        <p:cTn id="19" dur="500"/>
                                        <p:tgtEl>
                                          <p:spTgt spid="2">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fade">
                                      <p:cBhvr>
                                        <p:cTn id="22" dur="500"/>
                                        <p:tgtEl>
                                          <p:spTgt spid="2">
                                            <p:txEl>
                                              <p:pRg st="8" end="8"/>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animEffect transition="in" filter="fade">
                                      <p:cBhvr>
                                        <p:cTn id="25" dur="500"/>
                                        <p:tgtEl>
                                          <p:spTgt spid="2">
                                            <p:txEl>
                                              <p:pRg st="9" end="9"/>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
                                            <p:txEl>
                                              <p:pRg st="10" end="10"/>
                                            </p:txEl>
                                          </p:spTgt>
                                        </p:tgtEl>
                                        <p:attrNameLst>
                                          <p:attrName>style.visibility</p:attrName>
                                        </p:attrNameLst>
                                      </p:cBhvr>
                                      <p:to>
                                        <p:strVal val="visible"/>
                                      </p:to>
                                    </p:set>
                                    <p:animEffect transition="in" filter="fade">
                                      <p:cBhvr>
                                        <p:cTn id="28"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7</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10" name="Picture 9">
            <a:extLst>
              <a:ext uri="{FF2B5EF4-FFF2-40B4-BE49-F238E27FC236}">
                <a16:creationId xmlns:a16="http://schemas.microsoft.com/office/drawing/2014/main" id="{45A85038-4497-2493-EF3D-7A8E6BC314E7}"/>
              </a:ext>
            </a:extLst>
          </p:cNvPr>
          <p:cNvPicPr>
            <a:picLocks noChangeAspect="1"/>
          </p:cNvPicPr>
          <p:nvPr/>
        </p:nvPicPr>
        <p:blipFill>
          <a:blip r:embed="rId2"/>
          <a:stretch>
            <a:fillRect/>
          </a:stretch>
        </p:blipFill>
        <p:spPr>
          <a:xfrm>
            <a:off x="3606801" y="817666"/>
            <a:ext cx="4597508" cy="5795352"/>
          </a:xfrm>
          <a:prstGeom prst="rect">
            <a:avLst/>
          </a:prstGeom>
        </p:spPr>
      </p:pic>
    </p:spTree>
    <p:extLst>
      <p:ext uri="{BB962C8B-B14F-4D97-AF65-F5344CB8AC3E}">
        <p14:creationId xmlns:p14="http://schemas.microsoft.com/office/powerpoint/2010/main" val="128544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6075680"/>
          </a:xfrm>
        </p:spPr>
        <p:txBody>
          <a:bodyPr>
            <a:normAutofit/>
          </a:bodyPr>
          <a:lstStyle/>
          <a:p>
            <a:pPr marL="0" indent="0">
              <a:buSzPct val="100000"/>
              <a:buNone/>
            </a:pPr>
            <a:r>
              <a:rPr lang="en-US" sz="1800" b="1" dirty="0">
                <a:latin typeface="Times New Roman" panose="02020603050405020304" pitchFamily="18" charset="0"/>
                <a:cs typeface="Times New Roman" panose="02020603050405020304" pitchFamily="18" charset="0"/>
              </a:rPr>
              <a:t>5.2.5 Use Comments</a:t>
            </a:r>
          </a:p>
          <a:p>
            <a:pPr marL="0" indent="0">
              <a:buSzPct val="100000"/>
              <a:buNone/>
            </a:pPr>
            <a:r>
              <a:rPr lang="en-GB" sz="1800" b="1" dirty="0">
                <a:latin typeface="Arial-BoldMT"/>
              </a:rPr>
              <a:t>Rule – </a:t>
            </a:r>
            <a:r>
              <a:rPr lang="en-GB" sz="1800" dirty="0">
                <a:latin typeface="Times-Roman"/>
              </a:rPr>
              <a:t>Use comments appropriately to explain processes, functions, and declarations of types and subtypes.</a:t>
            </a:r>
            <a:r>
              <a:rPr lang="en-GB" sz="1800" dirty="0"/>
              <a:t> </a:t>
            </a:r>
          </a:p>
          <a:p>
            <a:pPr>
              <a:buSzPct val="100000"/>
              <a:buFont typeface="Arial" panose="020B0604020202020204" pitchFamily="34" charset="0"/>
              <a:buChar char="•"/>
            </a:pPr>
            <a:r>
              <a:rPr lang="en-GB" sz="1800" dirty="0">
                <a:latin typeface="Times-Roman"/>
              </a:rPr>
              <a:t>Comments should be placed logically, near the code that they describe. </a:t>
            </a:r>
          </a:p>
          <a:p>
            <a:pPr>
              <a:buSzPct val="100000"/>
              <a:buFont typeface="Arial" panose="020B0604020202020204" pitchFamily="34" charset="0"/>
              <a:buChar char="•"/>
            </a:pPr>
            <a:r>
              <a:rPr lang="en-GB" sz="1800" dirty="0">
                <a:latin typeface="Times-Roman"/>
              </a:rPr>
              <a:t>Comments should be brief, concise, and explanatory. </a:t>
            </a:r>
          </a:p>
          <a:p>
            <a:pPr>
              <a:buSzPct val="100000"/>
              <a:buFont typeface="Arial" panose="020B0604020202020204" pitchFamily="34" charset="0"/>
              <a:buChar char="•"/>
            </a:pPr>
            <a:r>
              <a:rPr lang="en-GB" sz="1800" dirty="0">
                <a:latin typeface="Times-Roman"/>
              </a:rPr>
              <a:t>Avoid “comment clutter”; obvious functionality does not need to be commented.</a:t>
            </a:r>
            <a:r>
              <a:rPr lang="en-GB" sz="1800" dirty="0"/>
              <a:t> </a:t>
            </a:r>
          </a:p>
          <a:p>
            <a:pPr marL="0" indent="0">
              <a:buSzPct val="100000"/>
              <a:buNone/>
            </a:pPr>
            <a:endParaRPr lang="en-GB" sz="1200" dirty="0"/>
          </a:p>
          <a:p>
            <a:pPr marL="0" marR="0" lvl="0" indent="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None/>
              <a:tabLst/>
              <a:defRPr/>
            </a:pPr>
            <a:r>
              <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5.2.6 Keep Commands on Separate</a:t>
            </a:r>
            <a:r>
              <a:rPr kumimoji="0" lang="en-US" sz="1800" b="1"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Lines</a:t>
            </a:r>
            <a:endPar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lvl="0" indent="0">
              <a:buClr>
                <a:srgbClr val="B1B3B3"/>
              </a:buClr>
              <a:buSzPct val="100000"/>
              <a:buNone/>
              <a:defRPr/>
            </a:pPr>
            <a:r>
              <a:rPr lang="en-GB" sz="1800" b="1" dirty="0">
                <a:latin typeface="Arial-BoldMT"/>
              </a:rPr>
              <a:t>Rule – </a:t>
            </a:r>
            <a:r>
              <a:rPr lang="en-GB" sz="1800" dirty="0">
                <a:latin typeface="Times-Roman"/>
              </a:rPr>
              <a:t>Use a separate line for each HDL statement. Although both VHDL and Verilog allow more than one statement per line, the code is more readable and maintainable if each statement or command is on a separate line.</a:t>
            </a:r>
            <a:r>
              <a:rPr lang="en-GB" sz="1800" dirty="0"/>
              <a:t> </a:t>
            </a:r>
            <a:br>
              <a:rPr lang="en-GB" sz="1800" dirty="0"/>
            </a:br>
            <a:endParaRPr lang="en-GB" sz="1800" dirty="0">
              <a:latin typeface="Times-Roman"/>
            </a:endParaRPr>
          </a:p>
          <a:p>
            <a:pPr marL="0" lvl="0" indent="0">
              <a:buClr>
                <a:srgbClr val="B1B3B3"/>
              </a:buClr>
              <a:buSzPct val="100000"/>
              <a:buNone/>
              <a:defRPr/>
            </a:pPr>
            <a:br>
              <a:rPr lang="en-GB" sz="1200" dirty="0"/>
            </a:br>
            <a:r>
              <a:rPr lang="en-GB" sz="1800" b="1" dirty="0">
                <a:latin typeface="Times New Roman" panose="02020603050405020304" pitchFamily="18" charset="0"/>
                <a:cs typeface="Times New Roman" panose="02020603050405020304" pitchFamily="18" charset="0"/>
              </a:rPr>
              <a:t>5.2.7 Line Length</a:t>
            </a:r>
            <a:br>
              <a:rPr lang="en-GB" sz="2800" b="1" dirty="0">
                <a:latin typeface="Times-Bold"/>
              </a:rPr>
            </a:br>
            <a:r>
              <a:rPr lang="en-GB" sz="1800" b="1" dirty="0">
                <a:latin typeface="Arial-BoldMT"/>
              </a:rPr>
              <a:t>Guideline – </a:t>
            </a:r>
            <a:r>
              <a:rPr lang="en-GB" sz="1800" dirty="0">
                <a:latin typeface="Times-Roman"/>
              </a:rPr>
              <a:t>Keep the line length to 72 characters or less.</a:t>
            </a:r>
            <a:r>
              <a:rPr lang="en-GB" sz="1800" dirty="0"/>
              <a:t> </a:t>
            </a:r>
            <a:br>
              <a:rPr lang="en-GB" sz="18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3033772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500"/>
                                        <p:tgtEl>
                                          <p:spTgt spid="2">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fade">
                                      <p:cBhvr>
                                        <p:cTn id="27" dur="500"/>
                                        <p:tgtEl>
                                          <p:spTgt spid="2">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8" end="8"/>
                                            </p:txEl>
                                          </p:spTgt>
                                        </p:tgtEl>
                                        <p:attrNameLst>
                                          <p:attrName>style.visibility</p:attrName>
                                        </p:attrNameLst>
                                      </p:cBhvr>
                                      <p:to>
                                        <p:strVal val="visible"/>
                                      </p:to>
                                    </p:set>
                                    <p:animEffect transition="in" filter="fade">
                                      <p:cBhvr>
                                        <p:cTn id="3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4914900"/>
          </a:xfrm>
        </p:spPr>
        <p:txBody>
          <a:bodyPr>
            <a:normAutofit/>
          </a:bodyPr>
          <a:lstStyle/>
          <a:p>
            <a:pPr marL="0" indent="0">
              <a:buSzPct val="100000"/>
              <a:buNone/>
            </a:pPr>
            <a:r>
              <a:rPr lang="en-GB" sz="1800" b="1" i="0" dirty="0">
                <a:solidFill>
                  <a:srgbClr val="000000"/>
                </a:solidFill>
                <a:effectLst/>
                <a:latin typeface="Times-Bold"/>
              </a:rPr>
              <a:t>5.2.8 Indentation</a:t>
            </a:r>
            <a:br>
              <a:rPr lang="en-GB" sz="1800" b="1" i="0" dirty="0">
                <a:solidFill>
                  <a:srgbClr val="000000"/>
                </a:solidFill>
                <a:effectLst/>
                <a:latin typeface="Times-Bold"/>
              </a:rPr>
            </a:br>
            <a:r>
              <a:rPr lang="en-GB" sz="1800" b="1" i="0" dirty="0">
                <a:solidFill>
                  <a:srgbClr val="000000"/>
                </a:solidFill>
                <a:effectLst/>
                <a:latin typeface="Arial-BoldMT"/>
              </a:rPr>
              <a:t>Rule – </a:t>
            </a:r>
            <a:r>
              <a:rPr lang="en-GB" sz="1800" b="0" i="0" dirty="0">
                <a:solidFill>
                  <a:srgbClr val="000000"/>
                </a:solidFill>
                <a:effectLst/>
                <a:latin typeface="Times-Roman"/>
              </a:rPr>
              <a:t>Use indentation to improve the readability of continued code lines and nested loops.</a:t>
            </a:r>
            <a:r>
              <a:rPr lang="en-GB" sz="1200" dirty="0"/>
              <a:t> </a:t>
            </a:r>
          </a:p>
          <a:p>
            <a:pPr>
              <a:buSzPct val="100000"/>
              <a:buFont typeface="Arial" panose="020B0604020202020204" pitchFamily="34" charset="0"/>
              <a:buChar char="•"/>
            </a:pPr>
            <a:r>
              <a:rPr lang="en-GB" sz="1800" b="1" i="0" dirty="0">
                <a:solidFill>
                  <a:srgbClr val="000000"/>
                </a:solidFill>
                <a:effectLst/>
                <a:latin typeface="Arial-BoldMT"/>
              </a:rPr>
              <a:t>Guideline – </a:t>
            </a:r>
            <a:r>
              <a:rPr lang="en-GB" sz="1800" b="0" i="0" dirty="0">
                <a:solidFill>
                  <a:srgbClr val="000000"/>
                </a:solidFill>
                <a:effectLst/>
                <a:latin typeface="Times-Roman"/>
              </a:rPr>
              <a:t>Use indentation of 2 spaces. Larger indentation (for example, 8 spaces) restricts line length when there are several levels of nesting.</a:t>
            </a:r>
          </a:p>
          <a:p>
            <a:pPr>
              <a:buSzPct val="100000"/>
              <a:buFont typeface="Arial" panose="020B0604020202020204" pitchFamily="34" charset="0"/>
              <a:buChar char="•"/>
            </a:pPr>
            <a:r>
              <a:rPr lang="en-GB" sz="1800" b="1" i="0" dirty="0">
                <a:solidFill>
                  <a:srgbClr val="000000"/>
                </a:solidFill>
                <a:effectLst/>
                <a:latin typeface="Arial-BoldMT"/>
              </a:rPr>
              <a:t>Guideline – </a:t>
            </a:r>
            <a:r>
              <a:rPr lang="en-GB" sz="1800" b="0" i="0" dirty="0">
                <a:solidFill>
                  <a:srgbClr val="000000"/>
                </a:solidFill>
                <a:effectLst/>
                <a:latin typeface="Times-Roman"/>
              </a:rPr>
              <a:t>Avoid using tabs. Differences in editors and user setups make the positioning of tabs unpredictable and can corrupt the intended indentation. There are programs available, including language-specific versions of emacs, that will replace tabs with spaces.</a:t>
            </a:r>
            <a:r>
              <a:rPr lang="en-GB" sz="1000" dirty="0"/>
              <a:t> </a:t>
            </a:r>
            <a:br>
              <a:rPr lang="en-GB" sz="1000" dirty="0"/>
            </a:br>
            <a:br>
              <a:rPr lang="en-GB" sz="1200" dirty="0"/>
            </a:br>
            <a:br>
              <a:rPr lang="en-GB" sz="1000" dirty="0"/>
            </a:br>
            <a:r>
              <a:rPr lang="en-GB" sz="1200" dirty="0"/>
              <a:t> </a:t>
            </a:r>
            <a:br>
              <a:rPr lang="en-GB" sz="1200" dirty="0"/>
            </a:br>
            <a:br>
              <a:rPr lang="en-GB" sz="800" dirty="0"/>
            </a:br>
            <a:br>
              <a:rPr lang="en-GB" sz="1000" dirty="0"/>
            </a:b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3758041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10</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
        <p:nvSpPr>
          <p:cNvPr id="9" name="Content Placeholder 8">
            <a:extLst>
              <a:ext uri="{FF2B5EF4-FFF2-40B4-BE49-F238E27FC236}">
                <a16:creationId xmlns:a16="http://schemas.microsoft.com/office/drawing/2014/main" id="{86771531-0489-43BF-68D6-8E8F9D53C4AD}"/>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72D264E6-8CF1-DD23-BB76-56FA2D3A8147}"/>
              </a:ext>
            </a:extLst>
          </p:cNvPr>
          <p:cNvPicPr>
            <a:picLocks noChangeAspect="1"/>
          </p:cNvPicPr>
          <p:nvPr/>
        </p:nvPicPr>
        <p:blipFill>
          <a:blip r:embed="rId2"/>
          <a:stretch>
            <a:fillRect/>
          </a:stretch>
        </p:blipFill>
        <p:spPr>
          <a:xfrm>
            <a:off x="2507109" y="876300"/>
            <a:ext cx="5971282" cy="5556710"/>
          </a:xfrm>
          <a:prstGeom prst="rect">
            <a:avLst/>
          </a:prstGeom>
        </p:spPr>
      </p:pic>
    </p:spTree>
    <p:extLst>
      <p:ext uri="{BB962C8B-B14F-4D97-AF65-F5344CB8AC3E}">
        <p14:creationId xmlns:p14="http://schemas.microsoft.com/office/powerpoint/2010/main" val="142466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6289040"/>
          </a:xfrm>
        </p:spPr>
        <p:txBody>
          <a:bodyPr>
            <a:normAutofit/>
          </a:bodyPr>
          <a:lstStyle/>
          <a:p>
            <a:pPr marL="0" indent="0">
              <a:buSzPct val="100000"/>
              <a:buNone/>
            </a:pPr>
            <a:r>
              <a:rPr lang="en-GB" sz="1800" b="1" dirty="0">
                <a:latin typeface="Times New Roman" panose="02020603050405020304" pitchFamily="18" charset="0"/>
                <a:cs typeface="Times New Roman" panose="02020603050405020304" pitchFamily="18" charset="0"/>
              </a:rPr>
              <a:t>5.2.9 Do Not Use HDL Reserved Words</a:t>
            </a:r>
          </a:p>
          <a:p>
            <a:pPr marL="0" indent="0">
              <a:buSzPct val="100000"/>
              <a:buNone/>
            </a:pPr>
            <a:br>
              <a:rPr lang="en-GB" sz="100" b="1" dirty="0">
                <a:latin typeface="Times New Roman" panose="02020603050405020304" pitchFamily="18" charset="0"/>
                <a:cs typeface="Times New Roman" panose="02020603050405020304" pitchFamily="18" charset="0"/>
              </a:rPr>
            </a:br>
            <a:r>
              <a:rPr lang="en-GB" sz="1800" b="1" dirty="0">
                <a:latin typeface="Arial-BoldMT"/>
              </a:rPr>
              <a:t>Rule – </a:t>
            </a:r>
            <a:r>
              <a:rPr lang="en-GB" sz="1800" dirty="0">
                <a:latin typeface="Times-Roman"/>
              </a:rPr>
              <a:t>Do not use VHDL or Verilog reserved words for names of any elements in your RTL source files. Because macro designs must be translatable from VHDL to Verilog and from Verilog to VHDL, it is important not to use VHDL reserved words in Verilog code, and not to use Verilog reserved words in VHDL code.</a:t>
            </a:r>
            <a:r>
              <a:rPr lang="en-GB" sz="1800" dirty="0"/>
              <a:t> </a:t>
            </a:r>
            <a:endParaRPr lang="en-GB" sz="1050" dirty="0"/>
          </a:p>
          <a:p>
            <a:pPr marL="0" indent="0">
              <a:buSzPct val="100000"/>
              <a:buNone/>
            </a:pPr>
            <a:r>
              <a:rPr lang="en-GB" sz="1800" b="1" dirty="0">
                <a:latin typeface="Times New Roman" panose="02020603050405020304" pitchFamily="18" charset="0"/>
                <a:cs typeface="Times New Roman" panose="02020603050405020304" pitchFamily="18" charset="0"/>
              </a:rPr>
              <a:t>5.2.10 Port Ordering</a:t>
            </a:r>
          </a:p>
          <a:p>
            <a:pPr marL="0" indent="0">
              <a:buSzPct val="100000"/>
              <a:buNone/>
            </a:pPr>
            <a:r>
              <a:rPr lang="en-GB" sz="1800" b="1" dirty="0">
                <a:latin typeface="Arial-BoldMT"/>
              </a:rPr>
              <a:t>Rule– </a:t>
            </a:r>
            <a:r>
              <a:rPr lang="en-GB" sz="1800" dirty="0">
                <a:latin typeface="Times-Roman"/>
              </a:rPr>
              <a:t>Declare ports in a logical order, and keep this order consistent throughout the design.</a:t>
            </a:r>
            <a:endParaRPr lang="en-GB" sz="1800" dirty="0"/>
          </a:p>
          <a:p>
            <a:pPr>
              <a:buSzPct val="100000"/>
              <a:buFont typeface="Arial" panose="020B0604020202020204" pitchFamily="34" charset="0"/>
              <a:buChar char="•"/>
            </a:pPr>
            <a:r>
              <a:rPr lang="en-GB" sz="1800" b="1" dirty="0">
                <a:latin typeface="Arial-BoldMT"/>
              </a:rPr>
              <a:t>Guideline – </a:t>
            </a:r>
            <a:r>
              <a:rPr lang="en-GB" sz="1800" dirty="0">
                <a:latin typeface="Times-Roman"/>
              </a:rPr>
              <a:t>Declare one port per line, with a comment following it (preferably on the same line).</a:t>
            </a:r>
          </a:p>
          <a:p>
            <a:pPr>
              <a:buSzPct val="100000"/>
              <a:buFont typeface="Arial" panose="020B0604020202020204" pitchFamily="34" charset="0"/>
              <a:buChar char="•"/>
            </a:pPr>
            <a:r>
              <a:rPr lang="en-GB" sz="1800" b="1" dirty="0">
                <a:latin typeface="Arial-BoldMT"/>
              </a:rPr>
              <a:t>Guideline – </a:t>
            </a:r>
            <a:r>
              <a:rPr lang="en-GB" sz="1800" dirty="0">
                <a:latin typeface="Times-Roman"/>
              </a:rPr>
              <a:t>For each interface, declare the ports in the following order:</a:t>
            </a:r>
            <a:r>
              <a:rPr lang="en-GB" sz="1800" dirty="0"/>
              <a:t> </a:t>
            </a:r>
            <a:br>
              <a:rPr lang="en-GB" sz="1800" dirty="0"/>
            </a:br>
            <a:br>
              <a:rPr lang="en-GB" sz="1800" dirty="0"/>
            </a:br>
            <a:br>
              <a:rPr lang="en-GB" sz="1800" dirty="0"/>
            </a:br>
            <a:r>
              <a:rPr lang="en-GB" sz="1800" dirty="0"/>
              <a:t> </a:t>
            </a:r>
          </a:p>
          <a:p>
            <a:pPr marL="0" indent="0">
              <a:buSzPct val="100000"/>
              <a:buNone/>
            </a:pPr>
            <a:br>
              <a:rPr lang="en-GB" sz="1800" dirty="0"/>
            </a:br>
            <a:endParaRPr lang="en-GB" sz="1800" dirty="0"/>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11</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EFEE1843-387F-9B13-C2C9-85257C949F71}"/>
              </a:ext>
            </a:extLst>
          </p:cNvPr>
          <p:cNvPicPr>
            <a:picLocks noChangeAspect="1"/>
          </p:cNvPicPr>
          <p:nvPr/>
        </p:nvPicPr>
        <p:blipFill>
          <a:blip r:embed="rId2"/>
          <a:stretch>
            <a:fillRect/>
          </a:stretch>
        </p:blipFill>
        <p:spPr>
          <a:xfrm>
            <a:off x="1107390" y="4175760"/>
            <a:ext cx="2855010" cy="2056734"/>
          </a:xfrm>
          <a:prstGeom prst="rect">
            <a:avLst/>
          </a:prstGeom>
        </p:spPr>
      </p:pic>
      <p:pic>
        <p:nvPicPr>
          <p:cNvPr id="10" name="Picture 9">
            <a:extLst>
              <a:ext uri="{FF2B5EF4-FFF2-40B4-BE49-F238E27FC236}">
                <a16:creationId xmlns:a16="http://schemas.microsoft.com/office/drawing/2014/main" id="{2AC1981C-7C8E-144F-5AF2-B8A3033C2D83}"/>
              </a:ext>
            </a:extLst>
          </p:cNvPr>
          <p:cNvPicPr>
            <a:picLocks noChangeAspect="1"/>
          </p:cNvPicPr>
          <p:nvPr/>
        </p:nvPicPr>
        <p:blipFill>
          <a:blip r:embed="rId3"/>
          <a:stretch>
            <a:fillRect/>
          </a:stretch>
        </p:blipFill>
        <p:spPr>
          <a:xfrm>
            <a:off x="5631261" y="4175760"/>
            <a:ext cx="2771280" cy="2056734"/>
          </a:xfrm>
          <a:prstGeom prst="rect">
            <a:avLst/>
          </a:prstGeom>
        </p:spPr>
      </p:pic>
    </p:spTree>
    <p:extLst>
      <p:ext uri="{BB962C8B-B14F-4D97-AF65-F5344CB8AC3E}">
        <p14:creationId xmlns:p14="http://schemas.microsoft.com/office/powerpoint/2010/main" val="102216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fade">
                                      <p:cBhvr>
                                        <p:cTn id="10" dur="500"/>
                                        <p:tgtEl>
                                          <p:spTgt spid="2">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fade">
                                      <p:cBhvr>
                                        <p:cTn id="13" dur="500"/>
                                        <p:tgtEl>
                                          <p:spTgt spid="2">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fade">
                                      <p:cBhvr>
                                        <p:cTn id="16" dur="500"/>
                                        <p:tgtEl>
                                          <p:spTgt spid="2">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r>
              <a:rPr lang="en-GB" sz="2400" b="1" i="0" dirty="0">
                <a:solidFill>
                  <a:srgbClr val="000000"/>
                </a:solidFill>
                <a:effectLst/>
                <a:latin typeface="Times-Bold"/>
              </a:rPr>
              <a:t>5.2.11 Port Maps and Generic Maps</a:t>
            </a:r>
            <a:r>
              <a:rPr lang="en-GB" sz="1600" dirty="0"/>
              <a:t> </a:t>
            </a:r>
            <a:br>
              <a:rPr lang="en-GB" sz="1600" dirty="0"/>
            </a:br>
            <a:endParaRPr lang="en-US" sz="100" b="1" dirty="0">
              <a:latin typeface="Times New Roman" panose="02020603050405020304" pitchFamily="18" charset="0"/>
              <a:cs typeface="Times New Roman" panose="02020603050405020304" pitchFamily="18" charset="0"/>
            </a:endParaRPr>
          </a:p>
          <a:p>
            <a:pPr marL="0" indent="0">
              <a:buSzPct val="100000"/>
              <a:buNone/>
            </a:pPr>
            <a:r>
              <a:rPr lang="en-GB" sz="2400" b="1" i="0" dirty="0">
                <a:solidFill>
                  <a:srgbClr val="000000"/>
                </a:solidFill>
                <a:effectLst/>
                <a:latin typeface="Arial-BoldMT"/>
              </a:rPr>
              <a:t>Rule – </a:t>
            </a:r>
            <a:r>
              <a:rPr lang="en-GB" sz="2400" b="0" i="0" dirty="0">
                <a:solidFill>
                  <a:srgbClr val="000000"/>
                </a:solidFill>
                <a:effectLst/>
                <a:latin typeface="Times-Roman"/>
              </a:rPr>
              <a:t>Always use explicit mapping for ports and generics, using named association</a:t>
            </a:r>
            <a:br>
              <a:rPr lang="en-GB" sz="2400" b="0" i="0" dirty="0">
                <a:solidFill>
                  <a:srgbClr val="000000"/>
                </a:solidFill>
                <a:effectLst/>
                <a:latin typeface="Times-Roman"/>
              </a:rPr>
            </a:br>
            <a:r>
              <a:rPr lang="en-GB" sz="2400" b="0" i="0" dirty="0">
                <a:solidFill>
                  <a:srgbClr val="000000"/>
                </a:solidFill>
                <a:effectLst/>
                <a:latin typeface="Times-Roman"/>
              </a:rPr>
              <a:t>rather than positional association.</a:t>
            </a:r>
            <a:r>
              <a:rPr lang="en-GB" sz="1600" dirty="0"/>
              <a:t> </a:t>
            </a: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12</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E061382E-504D-4AF1-340E-90EA228E9F94}"/>
              </a:ext>
            </a:extLst>
          </p:cNvPr>
          <p:cNvPicPr>
            <a:picLocks noChangeAspect="1"/>
          </p:cNvPicPr>
          <p:nvPr/>
        </p:nvPicPr>
        <p:blipFill>
          <a:blip r:embed="rId2"/>
          <a:stretch>
            <a:fillRect/>
          </a:stretch>
        </p:blipFill>
        <p:spPr>
          <a:xfrm>
            <a:off x="3071942" y="2377625"/>
            <a:ext cx="6048116" cy="4057719"/>
          </a:xfrm>
          <a:prstGeom prst="rect">
            <a:avLst/>
          </a:prstGeom>
        </p:spPr>
      </p:pic>
    </p:spTree>
    <p:extLst>
      <p:ext uri="{BB962C8B-B14F-4D97-AF65-F5344CB8AC3E}">
        <p14:creationId xmlns:p14="http://schemas.microsoft.com/office/powerpoint/2010/main" val="1913427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r>
              <a:rPr lang="en-US" sz="2400" b="1" i="0" dirty="0">
                <a:solidFill>
                  <a:srgbClr val="000000"/>
                </a:solidFill>
                <a:effectLst/>
                <a:latin typeface="Times-Bold"/>
              </a:rPr>
              <a:t>5.2.13 Use Functions</a:t>
            </a:r>
            <a:r>
              <a:rPr lang="en-US" sz="1600" dirty="0"/>
              <a:t> </a:t>
            </a:r>
          </a:p>
          <a:p>
            <a:pPr marL="0" indent="0">
              <a:buSzPct val="100000"/>
              <a:buNone/>
            </a:pPr>
            <a:r>
              <a:rPr lang="en-GB" sz="2400" b="1" i="0" dirty="0">
                <a:solidFill>
                  <a:srgbClr val="000000"/>
                </a:solidFill>
                <a:effectLst/>
                <a:latin typeface="Arial-BoldMT"/>
              </a:rPr>
              <a:t>Guideline – </a:t>
            </a:r>
            <a:r>
              <a:rPr lang="en-GB" sz="2400" b="0" i="0" dirty="0">
                <a:solidFill>
                  <a:srgbClr val="000000"/>
                </a:solidFill>
                <a:effectLst/>
                <a:latin typeface="Times-Roman"/>
              </a:rPr>
              <a:t>Use functions, when possible, instead of repeating the same sections of</a:t>
            </a:r>
            <a:br>
              <a:rPr lang="en-GB" sz="2400" b="0" i="0" dirty="0">
                <a:solidFill>
                  <a:srgbClr val="000000"/>
                </a:solidFill>
                <a:effectLst/>
                <a:latin typeface="Times-Roman"/>
              </a:rPr>
            </a:br>
            <a:r>
              <a:rPr lang="en-GB" sz="2400" b="0" i="0" dirty="0">
                <a:solidFill>
                  <a:srgbClr val="000000"/>
                </a:solidFill>
                <a:effectLst/>
                <a:latin typeface="Times-Roman"/>
              </a:rPr>
              <a:t>code. If possible, generalize the function to make it reusable.</a:t>
            </a:r>
            <a:r>
              <a:rPr lang="en-GB" sz="1600" dirty="0"/>
              <a:t> </a:t>
            </a:r>
          </a:p>
          <a:p>
            <a:pPr>
              <a:buSzPct val="100000"/>
              <a:buFont typeface="Arial" panose="020B0604020202020204" pitchFamily="34" charset="0"/>
              <a:buChar char="•"/>
            </a:pPr>
            <a:endParaRPr lang="en-GB" sz="1600" dirty="0"/>
          </a:p>
          <a:p>
            <a:pPr marL="0" marR="0" lvl="0" indent="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None/>
              <a:tabLst/>
              <a:defRPr/>
            </a:pPr>
            <a:r>
              <a:rPr kumimoji="0" lang="en-US" sz="2400" b="1" i="0" u="none" strike="noStrike" kern="1200" cap="none" spc="0" normalizeH="0" baseline="0" noProof="0" dirty="0">
                <a:ln>
                  <a:noFill/>
                </a:ln>
                <a:solidFill>
                  <a:srgbClr val="000000"/>
                </a:solidFill>
                <a:effectLst/>
                <a:uLnTx/>
                <a:uFillTx/>
                <a:latin typeface="Times-Bold"/>
                <a:ea typeface="+mn-ea"/>
                <a:cs typeface="+mn-cs"/>
              </a:rPr>
              <a:t>5.2.14 Use Loops and Arrays</a:t>
            </a:r>
            <a:r>
              <a:rPr kumimoji="0" lang="en-US" sz="1600" b="0" i="0" u="none" strike="noStrike" kern="1200" cap="none" spc="0" normalizeH="0" baseline="0" noProof="0" dirty="0">
                <a:ln>
                  <a:noFill/>
                </a:ln>
                <a:solidFill>
                  <a:srgbClr val="000000"/>
                </a:solidFill>
                <a:effectLst/>
                <a:uLnTx/>
                <a:uFillTx/>
                <a:latin typeface="Barlow" pitchFamily="2" charset="77"/>
                <a:ea typeface="+mn-ea"/>
                <a:cs typeface="+mn-cs"/>
              </a:rPr>
              <a:t> </a:t>
            </a:r>
            <a:endParaRPr kumimoji="0" lang="en-US" sz="23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defTabSz="457200" rtl="0" eaLnBrk="1" fontAlgn="auto" latinLnBrk="0" hangingPunct="1">
              <a:lnSpc>
                <a:spcPct val="90000"/>
              </a:lnSpc>
              <a:spcBef>
                <a:spcPts val="1000"/>
              </a:spcBef>
              <a:spcAft>
                <a:spcPts val="400"/>
              </a:spcAft>
              <a:buClr>
                <a:srgbClr val="B1B3B3"/>
              </a:buClr>
              <a:buSzPct val="100000"/>
              <a:buNone/>
              <a:tabLst/>
              <a:defRPr/>
            </a:pPr>
            <a:r>
              <a:rPr lang="en-GB" sz="2400" b="1" i="0" dirty="0">
                <a:solidFill>
                  <a:srgbClr val="000000"/>
                </a:solidFill>
                <a:effectLst/>
                <a:latin typeface="Arial-BoldMT"/>
              </a:rPr>
              <a:t>Guideline – </a:t>
            </a:r>
            <a:r>
              <a:rPr lang="en-GB" sz="2400" b="0" i="0" dirty="0">
                <a:solidFill>
                  <a:srgbClr val="000000"/>
                </a:solidFill>
                <a:effectLst/>
                <a:latin typeface="Times-Roman"/>
              </a:rPr>
              <a:t>Use loops and arrays for improved readability of the source code. For example, describing a shift register, PN-sequence generator, or Johnson counter with a  </a:t>
            </a:r>
            <a:r>
              <a:rPr lang="en-GB" sz="2000" b="0" i="0" dirty="0">
                <a:solidFill>
                  <a:srgbClr val="000000"/>
                </a:solidFill>
                <a:effectLst/>
                <a:latin typeface="Courier"/>
              </a:rPr>
              <a:t>loop </a:t>
            </a:r>
            <a:r>
              <a:rPr lang="en-GB" sz="2400" b="0" i="0" dirty="0">
                <a:solidFill>
                  <a:srgbClr val="000000"/>
                </a:solidFill>
                <a:effectLst/>
                <a:latin typeface="Times-Roman"/>
              </a:rPr>
              <a:t>construct can greatly reduce the number of lines of source code while still retaining excellent readability.</a:t>
            </a:r>
            <a:r>
              <a:rPr lang="en-GB" sz="1600" dirty="0"/>
              <a:t> </a:t>
            </a:r>
            <a:br>
              <a:rPr lang="en-GB" sz="1600" dirty="0"/>
            </a:b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13</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209032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fade">
                                      <p:cBhvr>
                                        <p:cTn id="1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14</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18" name="Picture 17">
            <a:extLst>
              <a:ext uri="{FF2B5EF4-FFF2-40B4-BE49-F238E27FC236}">
                <a16:creationId xmlns:a16="http://schemas.microsoft.com/office/drawing/2014/main" id="{280B0C47-04FB-39B3-F777-763C002E3E9F}"/>
              </a:ext>
            </a:extLst>
          </p:cNvPr>
          <p:cNvPicPr>
            <a:picLocks noChangeAspect="1"/>
          </p:cNvPicPr>
          <p:nvPr/>
        </p:nvPicPr>
        <p:blipFill>
          <a:blip r:embed="rId2"/>
          <a:stretch>
            <a:fillRect/>
          </a:stretch>
        </p:blipFill>
        <p:spPr>
          <a:xfrm>
            <a:off x="342900" y="782812"/>
            <a:ext cx="3137061" cy="5556536"/>
          </a:xfrm>
          <a:prstGeom prst="rect">
            <a:avLst/>
          </a:prstGeom>
        </p:spPr>
      </p:pic>
      <p:pic>
        <p:nvPicPr>
          <p:cNvPr id="20" name="Picture 19">
            <a:extLst>
              <a:ext uri="{FF2B5EF4-FFF2-40B4-BE49-F238E27FC236}">
                <a16:creationId xmlns:a16="http://schemas.microsoft.com/office/drawing/2014/main" id="{D4F8D3C7-1A1D-F3AA-9312-DB8C3F4C8BA5}"/>
              </a:ext>
            </a:extLst>
          </p:cNvPr>
          <p:cNvPicPr>
            <a:picLocks noChangeAspect="1"/>
          </p:cNvPicPr>
          <p:nvPr/>
        </p:nvPicPr>
        <p:blipFill>
          <a:blip r:embed="rId3"/>
          <a:stretch>
            <a:fillRect/>
          </a:stretch>
        </p:blipFill>
        <p:spPr>
          <a:xfrm>
            <a:off x="3694772" y="782812"/>
            <a:ext cx="3650989" cy="3982228"/>
          </a:xfrm>
          <a:prstGeom prst="rect">
            <a:avLst/>
          </a:prstGeom>
        </p:spPr>
      </p:pic>
      <p:pic>
        <p:nvPicPr>
          <p:cNvPr id="22" name="Picture 21">
            <a:extLst>
              <a:ext uri="{FF2B5EF4-FFF2-40B4-BE49-F238E27FC236}">
                <a16:creationId xmlns:a16="http://schemas.microsoft.com/office/drawing/2014/main" id="{5607B9AA-A5AE-530D-DDAF-1CD77151C464}"/>
              </a:ext>
            </a:extLst>
          </p:cNvPr>
          <p:cNvPicPr>
            <a:picLocks noChangeAspect="1"/>
          </p:cNvPicPr>
          <p:nvPr/>
        </p:nvPicPr>
        <p:blipFill>
          <a:blip r:embed="rId4"/>
          <a:stretch>
            <a:fillRect/>
          </a:stretch>
        </p:blipFill>
        <p:spPr>
          <a:xfrm>
            <a:off x="7772400" y="782812"/>
            <a:ext cx="3827868" cy="3019763"/>
          </a:xfrm>
          <a:prstGeom prst="rect">
            <a:avLst/>
          </a:prstGeom>
        </p:spPr>
      </p:pic>
    </p:spTree>
    <p:extLst>
      <p:ext uri="{BB962C8B-B14F-4D97-AF65-F5344CB8AC3E}">
        <p14:creationId xmlns:p14="http://schemas.microsoft.com/office/powerpoint/2010/main" val="322639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r>
              <a:rPr lang="en-GB" sz="2400" b="1" i="0" dirty="0">
                <a:solidFill>
                  <a:srgbClr val="000000"/>
                </a:solidFill>
                <a:effectLst/>
                <a:latin typeface="Arial-BoldMT"/>
              </a:rPr>
              <a:t>Guideline – </a:t>
            </a:r>
            <a:r>
              <a:rPr lang="en-GB" sz="2400" b="0" i="0" dirty="0">
                <a:solidFill>
                  <a:srgbClr val="000000"/>
                </a:solidFill>
                <a:effectLst/>
                <a:latin typeface="Times-Roman"/>
              </a:rPr>
              <a:t>Arrays are significantly faster to simulate than </a:t>
            </a:r>
            <a:r>
              <a:rPr lang="en-GB" sz="2000" b="0" i="0" dirty="0">
                <a:solidFill>
                  <a:srgbClr val="000000"/>
                </a:solidFill>
                <a:effectLst/>
                <a:latin typeface="Courier"/>
              </a:rPr>
              <a:t>for </a:t>
            </a:r>
            <a:r>
              <a:rPr lang="en-GB" sz="2400" b="0" i="0" dirty="0">
                <a:solidFill>
                  <a:srgbClr val="000000"/>
                </a:solidFill>
                <a:effectLst/>
                <a:latin typeface="Times-Roman"/>
              </a:rPr>
              <a:t>loops. To improve</a:t>
            </a:r>
            <a:br>
              <a:rPr lang="en-GB" sz="2400" b="0" i="0" dirty="0">
                <a:solidFill>
                  <a:srgbClr val="000000"/>
                </a:solidFill>
                <a:effectLst/>
                <a:latin typeface="Times-Roman"/>
              </a:rPr>
            </a:br>
            <a:r>
              <a:rPr lang="en-GB" sz="2400" b="0" i="0" dirty="0">
                <a:solidFill>
                  <a:srgbClr val="000000"/>
                </a:solidFill>
                <a:effectLst/>
                <a:latin typeface="Times-Roman"/>
              </a:rPr>
              <a:t>simulation performance, use vector operations on arrays rather than </a:t>
            </a:r>
            <a:r>
              <a:rPr lang="en-GB" sz="2000" b="0" i="0" dirty="0">
                <a:solidFill>
                  <a:srgbClr val="000000"/>
                </a:solidFill>
                <a:effectLst/>
                <a:latin typeface="Courier"/>
              </a:rPr>
              <a:t>for </a:t>
            </a:r>
            <a:r>
              <a:rPr lang="en-GB" sz="2400" b="0" i="0" dirty="0">
                <a:solidFill>
                  <a:srgbClr val="000000"/>
                </a:solidFill>
                <a:effectLst/>
                <a:latin typeface="Times-Roman"/>
              </a:rPr>
              <a:t>loops whenever possible.</a:t>
            </a:r>
            <a:r>
              <a:rPr lang="en-GB" sz="1600" dirty="0"/>
              <a:t> </a:t>
            </a:r>
            <a:br>
              <a:rPr lang="en-GB" sz="16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15</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9" name="Picture 8">
            <a:extLst>
              <a:ext uri="{FF2B5EF4-FFF2-40B4-BE49-F238E27FC236}">
                <a16:creationId xmlns:a16="http://schemas.microsoft.com/office/drawing/2014/main" id="{5EAEB1AA-4E3D-2488-2257-340CC56B2701}"/>
              </a:ext>
            </a:extLst>
          </p:cNvPr>
          <p:cNvPicPr>
            <a:picLocks noChangeAspect="1"/>
          </p:cNvPicPr>
          <p:nvPr/>
        </p:nvPicPr>
        <p:blipFill>
          <a:blip r:embed="rId3"/>
          <a:stretch>
            <a:fillRect/>
          </a:stretch>
        </p:blipFill>
        <p:spPr>
          <a:xfrm>
            <a:off x="4039483" y="2146878"/>
            <a:ext cx="4113034" cy="3985227"/>
          </a:xfrm>
          <a:prstGeom prst="rect">
            <a:avLst/>
          </a:prstGeom>
        </p:spPr>
      </p:pic>
    </p:spTree>
    <p:extLst>
      <p:ext uri="{BB962C8B-B14F-4D97-AF65-F5344CB8AC3E}">
        <p14:creationId xmlns:p14="http://schemas.microsoft.com/office/powerpoint/2010/main" val="100492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r>
              <a:rPr lang="en-US" sz="2400" b="1" i="0" dirty="0">
                <a:solidFill>
                  <a:srgbClr val="000000"/>
                </a:solidFill>
                <a:effectLst/>
                <a:latin typeface="Times-Bold"/>
              </a:rPr>
              <a:t>5.2.15 Use Meaningful Labels</a:t>
            </a:r>
            <a:r>
              <a:rPr lang="en-US" sz="1600" dirty="0"/>
              <a:t> </a:t>
            </a:r>
            <a:br>
              <a:rPr lang="en-US" sz="1600" dirty="0"/>
            </a:br>
            <a:endParaRPr lang="en-US" sz="100" dirty="0"/>
          </a:p>
          <a:p>
            <a:pPr marL="0" indent="0">
              <a:buSzPct val="100000"/>
              <a:buNone/>
            </a:pPr>
            <a:r>
              <a:rPr lang="en-GB" sz="2400" b="1" i="0" dirty="0">
                <a:solidFill>
                  <a:srgbClr val="000000"/>
                </a:solidFill>
                <a:effectLst/>
                <a:latin typeface="Arial-BoldMT"/>
              </a:rPr>
              <a:t>Rule – </a:t>
            </a:r>
            <a:r>
              <a:rPr lang="en-GB" sz="2400" b="0" i="0" dirty="0">
                <a:solidFill>
                  <a:srgbClr val="000000"/>
                </a:solidFill>
                <a:effectLst/>
                <a:latin typeface="Times-Roman"/>
              </a:rPr>
              <a:t>Label each process block with a meaningful name. This is very helpful for debug. For example, you can set a breakpoint by referencing the process label.</a:t>
            </a:r>
            <a:r>
              <a:rPr lang="en-GB" sz="1600" dirty="0"/>
              <a:t> </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Label each process block </a:t>
            </a:r>
            <a:r>
              <a:rPr lang="en-GB" sz="2000" b="0" i="1" dirty="0">
                <a:solidFill>
                  <a:srgbClr val="000000"/>
                </a:solidFill>
                <a:effectLst/>
                <a:latin typeface="Courier-Oblique"/>
              </a:rPr>
              <a:t>&lt;name&gt;</a:t>
            </a:r>
            <a:r>
              <a:rPr lang="en-GB" sz="2000" b="0" i="0" dirty="0">
                <a:solidFill>
                  <a:srgbClr val="000000"/>
                </a:solidFill>
                <a:effectLst/>
                <a:latin typeface="Courier"/>
              </a:rPr>
              <a:t>_PROC</a:t>
            </a:r>
            <a:r>
              <a:rPr lang="en-GB" sz="2400" b="0" i="0" dirty="0">
                <a:solidFill>
                  <a:srgbClr val="000000"/>
                </a:solidFill>
                <a:effectLst/>
                <a:latin typeface="Times-Roman"/>
              </a:rPr>
              <a:t>.</a:t>
            </a:r>
            <a:r>
              <a:rPr lang="en-GB" sz="1600" dirty="0"/>
              <a:t> </a:t>
            </a:r>
          </a:p>
          <a:p>
            <a:pPr marL="0" indent="0">
              <a:buSzPct val="100000"/>
              <a:buNone/>
            </a:pPr>
            <a:endParaRPr lang="en-GB" sz="800" dirty="0"/>
          </a:p>
          <a:p>
            <a:pPr marL="0" indent="0">
              <a:buSzPct val="100000"/>
              <a:buNone/>
            </a:pPr>
            <a:r>
              <a:rPr lang="en-GB" sz="2400" b="1" dirty="0">
                <a:latin typeface="Arial-BoldMT"/>
              </a:rPr>
              <a:t>Rule – </a:t>
            </a:r>
            <a:r>
              <a:rPr lang="en-GB" sz="2400" dirty="0">
                <a:latin typeface="Times-Roman"/>
              </a:rPr>
              <a:t>Label each instance with a meaningful name</a:t>
            </a:r>
            <a:r>
              <a:rPr lang="en-GB" sz="1800" b="0" i="0" dirty="0">
                <a:solidFill>
                  <a:srgbClr val="000000"/>
                </a:solidFill>
                <a:effectLst/>
                <a:latin typeface="Times-Roman"/>
              </a:rPr>
              <a:t>.</a:t>
            </a:r>
            <a:endParaRPr lang="en-GB" sz="1800" dirty="0">
              <a:latin typeface="Times-Roman"/>
            </a:endParaRPr>
          </a:p>
          <a:p>
            <a:pPr>
              <a:buSzPct val="100000"/>
              <a:buFont typeface="Arial" panose="020B0604020202020204" pitchFamily="34" charset="0"/>
              <a:buChar char="•"/>
            </a:pPr>
            <a:r>
              <a:rPr lang="en-GB" sz="2400" b="1" dirty="0">
                <a:latin typeface="Arial-BoldMT"/>
              </a:rPr>
              <a:t>Guideline – </a:t>
            </a:r>
            <a:r>
              <a:rPr lang="en-GB" sz="2400" b="0" i="0" dirty="0">
                <a:solidFill>
                  <a:srgbClr val="000000"/>
                </a:solidFill>
                <a:effectLst/>
                <a:latin typeface="Times-Roman"/>
              </a:rPr>
              <a:t>Label each instance </a:t>
            </a:r>
            <a:r>
              <a:rPr lang="en-GB" sz="2400" b="0" i="0" dirty="0">
                <a:solidFill>
                  <a:srgbClr val="000000"/>
                </a:solidFill>
                <a:effectLst/>
                <a:latin typeface="Courier"/>
              </a:rPr>
              <a:t>U_</a:t>
            </a:r>
            <a:r>
              <a:rPr lang="en-GB" sz="2400" b="0" i="1" dirty="0">
                <a:solidFill>
                  <a:srgbClr val="000000"/>
                </a:solidFill>
                <a:effectLst/>
                <a:latin typeface="Courier-Oblique"/>
              </a:rPr>
              <a:t>&lt;name&gt;</a:t>
            </a:r>
            <a:r>
              <a:rPr lang="en-GB" sz="2400" b="0" i="0" dirty="0">
                <a:solidFill>
                  <a:srgbClr val="000000"/>
                </a:solidFill>
                <a:effectLst/>
                <a:latin typeface="Times-Roman"/>
              </a:rPr>
              <a:t>.</a:t>
            </a:r>
            <a:r>
              <a:rPr lang="en-GB" sz="2400" dirty="0"/>
              <a:t> </a:t>
            </a:r>
            <a:br>
              <a:rPr lang="en-GB" sz="1100" dirty="0"/>
            </a:br>
            <a:endParaRPr lang="en-GB" sz="1600" dirty="0"/>
          </a:p>
          <a:p>
            <a:pPr marL="0" indent="0">
              <a:buSzPct val="100000"/>
              <a:buNone/>
            </a:pP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16</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1256502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6156960"/>
          </a:xfrm>
        </p:spPr>
        <p:txBody>
          <a:bodyPr>
            <a:normAutofit/>
          </a:bodyPr>
          <a:lstStyle/>
          <a:p>
            <a:pPr marL="0" indent="0">
              <a:buSzPct val="100000"/>
              <a:buNone/>
            </a:pPr>
            <a:r>
              <a:rPr lang="en-US" sz="2400" b="1" i="0" dirty="0">
                <a:solidFill>
                  <a:srgbClr val="000000"/>
                </a:solidFill>
                <a:effectLst/>
                <a:latin typeface="Times-Bold"/>
              </a:rPr>
              <a:t>5.3.2 Do Not Use Hard-Coded Numeric Values</a:t>
            </a:r>
            <a:br>
              <a:rPr lang="en-US" sz="1600" dirty="0"/>
            </a:br>
            <a:endParaRPr lang="en-US" sz="100" dirty="0"/>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Use </a:t>
            </a:r>
            <a:r>
              <a:rPr lang="en-GB" sz="2400" dirty="0">
                <a:latin typeface="Times-Roman"/>
              </a:rPr>
              <a:t>constants instead of hard-coded numeric values.</a:t>
            </a:r>
            <a:r>
              <a:rPr lang="en-GB" sz="1600" dirty="0"/>
              <a:t> </a:t>
            </a:r>
          </a:p>
          <a:p>
            <a:pPr marL="0" indent="0">
              <a:buSzPct val="100000"/>
              <a:buNone/>
            </a:pPr>
            <a:r>
              <a:rPr lang="en-GB" sz="1600" dirty="0">
                <a:latin typeface="Times-Roman"/>
              </a:rPr>
              <a:t>	</a:t>
            </a:r>
            <a:r>
              <a:rPr lang="en-GB" sz="2400" dirty="0">
                <a:latin typeface="Times-Roman"/>
              </a:rPr>
              <a:t>Using constants has the following advantages:</a:t>
            </a:r>
          </a:p>
          <a:p>
            <a:pPr marL="342900" indent="-342900">
              <a:buSzPct val="100000"/>
              <a:buFont typeface="+mj-lt"/>
              <a:buAutoNum type="arabicPeriod"/>
            </a:pPr>
            <a:r>
              <a:rPr lang="en-GB" sz="2400" dirty="0">
                <a:latin typeface="Times-Roman"/>
              </a:rPr>
              <a:t>Constants are more intelligible as they associate a design intention with the value.</a:t>
            </a:r>
          </a:p>
          <a:p>
            <a:pPr marL="342900" indent="-342900">
              <a:buSzPct val="100000"/>
              <a:buFont typeface="+mj-lt"/>
              <a:buAutoNum type="arabicPeriod"/>
            </a:pPr>
            <a:r>
              <a:rPr lang="en-GB" sz="2400" dirty="0">
                <a:latin typeface="Times-Roman"/>
              </a:rPr>
              <a:t>Constant values can be changed in one place.</a:t>
            </a:r>
          </a:p>
          <a:p>
            <a:pPr marL="342900" indent="-342900">
              <a:buSzPct val="100000"/>
              <a:buFont typeface="+mj-lt"/>
              <a:buAutoNum type="arabicPeriod"/>
            </a:pPr>
            <a:r>
              <a:rPr lang="en-GB" sz="2400" dirty="0">
                <a:latin typeface="Times-Roman"/>
              </a:rPr>
              <a:t>Compilers can spot typos in constants but not in hard-coded values. For example, if MY_BUS_LENGTH is misspelled MY_BUS_LEGTH, the error will be flagged; however, if the intended value 0x100001 is given as 0x10001, the error will not be caught. </a:t>
            </a:r>
            <a:br>
              <a:rPr lang="en-GB" sz="300" dirty="0"/>
            </a:br>
            <a:br>
              <a:rPr lang="en-GB" sz="500" dirty="0"/>
            </a:br>
            <a:endParaRPr lang="en-GB" sz="1000" dirty="0"/>
          </a:p>
          <a:p>
            <a:pPr marL="0" indent="0">
              <a:buSzPct val="100000"/>
              <a:buNone/>
            </a:pP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5.3 Coding for Portability</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17</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54088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5.3 Coding for Portability</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18</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32FCC54F-55C9-2818-54C1-4C4643E9AEFA}"/>
              </a:ext>
            </a:extLst>
          </p:cNvPr>
          <p:cNvPicPr>
            <a:picLocks noChangeAspect="1"/>
          </p:cNvPicPr>
          <p:nvPr/>
        </p:nvPicPr>
        <p:blipFill>
          <a:blip r:embed="rId2"/>
          <a:stretch>
            <a:fillRect/>
          </a:stretch>
        </p:blipFill>
        <p:spPr>
          <a:xfrm>
            <a:off x="1539450" y="1421186"/>
            <a:ext cx="8774477" cy="4015627"/>
          </a:xfrm>
          <a:prstGeom prst="rect">
            <a:avLst/>
          </a:prstGeom>
        </p:spPr>
      </p:pic>
    </p:spTree>
    <p:extLst>
      <p:ext uri="{BB962C8B-B14F-4D97-AF65-F5344CB8AC3E}">
        <p14:creationId xmlns:p14="http://schemas.microsoft.com/office/powerpoint/2010/main" val="1964750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6156960"/>
          </a:xfrm>
        </p:spPr>
        <p:txBody>
          <a:bodyPr>
            <a:normAutofit/>
          </a:bodyPr>
          <a:lstStyle/>
          <a:p>
            <a:pPr marL="0" indent="0">
              <a:buSzPct val="100000"/>
              <a:buNone/>
            </a:pPr>
            <a:r>
              <a:rPr lang="en-US" sz="2400" b="1" i="0" dirty="0">
                <a:solidFill>
                  <a:srgbClr val="000000"/>
                </a:solidFill>
                <a:effectLst/>
                <a:latin typeface="Times-Bold"/>
              </a:rPr>
              <a:t>5.3.4 Constant Definition Files</a:t>
            </a:r>
            <a:br>
              <a:rPr lang="en-US" sz="1600" dirty="0"/>
            </a:br>
            <a:endParaRPr lang="en-US" sz="100" dirty="0"/>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Keep constant and parameter definitions in one or a small number of files with names such as </a:t>
            </a:r>
            <a:r>
              <a:rPr lang="en-GB" sz="2400" b="0" i="1" dirty="0" err="1">
                <a:solidFill>
                  <a:srgbClr val="000000"/>
                </a:solidFill>
                <a:effectLst/>
                <a:latin typeface="Courier-Oblique"/>
              </a:rPr>
              <a:t>DesignName</a:t>
            </a:r>
            <a:r>
              <a:rPr lang="en-GB" sz="2000" b="0" i="0" dirty="0" err="1">
                <a:solidFill>
                  <a:srgbClr val="000000"/>
                </a:solidFill>
                <a:effectLst/>
                <a:latin typeface="Courier"/>
              </a:rPr>
              <a:t>_constants.v</a:t>
            </a:r>
            <a:r>
              <a:rPr lang="en-GB" sz="2000" b="0" i="0" dirty="0">
                <a:solidFill>
                  <a:srgbClr val="000000"/>
                </a:solidFill>
                <a:effectLst/>
                <a:latin typeface="Courier"/>
              </a:rPr>
              <a:t> </a:t>
            </a:r>
            <a:r>
              <a:rPr lang="en-GB" sz="2400" b="0" i="0" dirty="0">
                <a:solidFill>
                  <a:srgbClr val="000000"/>
                </a:solidFill>
                <a:effectLst/>
                <a:latin typeface="Times-Roman"/>
              </a:rPr>
              <a:t>or </a:t>
            </a:r>
            <a:r>
              <a:rPr lang="en-GB" sz="2000" b="0" i="1" dirty="0" err="1">
                <a:solidFill>
                  <a:srgbClr val="000000"/>
                </a:solidFill>
                <a:effectLst/>
                <a:latin typeface="Courier-Oblique"/>
              </a:rPr>
              <a:t>DesignName</a:t>
            </a:r>
            <a:r>
              <a:rPr lang="en-GB" sz="2000" b="0" i="0" dirty="0" err="1">
                <a:solidFill>
                  <a:srgbClr val="000000"/>
                </a:solidFill>
                <a:effectLst/>
                <a:latin typeface="Courier"/>
              </a:rPr>
              <a:t>_parameters.v</a:t>
            </a:r>
            <a:r>
              <a:rPr lang="en-GB" sz="1600" dirty="0"/>
              <a:t> </a:t>
            </a:r>
            <a:br>
              <a:rPr lang="en-GB" sz="1600" dirty="0"/>
            </a:br>
            <a:endParaRPr lang="en-GB" sz="1600" dirty="0"/>
          </a:p>
          <a:p>
            <a:pPr lvl="1">
              <a:buSzPct val="100000"/>
              <a:buFont typeface="Arial" panose="020B0604020202020204" pitchFamily="34" charset="0"/>
              <a:buChar char="•"/>
            </a:pPr>
            <a:r>
              <a:rPr lang="en-GB" sz="2400" dirty="0">
                <a:latin typeface="Times-Roman"/>
              </a:rPr>
              <a:t>Source files should not make references to constant definition files with the include statement, since this will cause problems if the core is instantiated multiple times in the design, but with different constant values. We recommend that constant definition files be specified only on tool command lines. </a:t>
            </a:r>
            <a:endParaRPr lang="en-US" sz="2400" dirty="0">
              <a:latin typeface="Times-Roman"/>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5.3 Coding for Portability</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19</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7E567C8C-A83F-8495-3646-D8206FA1947D}"/>
              </a:ext>
            </a:extLst>
          </p:cNvPr>
          <p:cNvPicPr>
            <a:picLocks noChangeAspect="1"/>
          </p:cNvPicPr>
          <p:nvPr/>
        </p:nvPicPr>
        <p:blipFill>
          <a:blip r:embed="rId3"/>
          <a:stretch>
            <a:fillRect/>
          </a:stretch>
        </p:blipFill>
        <p:spPr>
          <a:xfrm>
            <a:off x="756861" y="4443142"/>
            <a:ext cx="2967259" cy="1244600"/>
          </a:xfrm>
          <a:prstGeom prst="rect">
            <a:avLst/>
          </a:prstGeom>
        </p:spPr>
      </p:pic>
      <p:pic>
        <p:nvPicPr>
          <p:cNvPr id="10" name="Picture 9">
            <a:extLst>
              <a:ext uri="{FF2B5EF4-FFF2-40B4-BE49-F238E27FC236}">
                <a16:creationId xmlns:a16="http://schemas.microsoft.com/office/drawing/2014/main" id="{83726177-A648-FDFB-FF16-BAAC6CB38160}"/>
              </a:ext>
            </a:extLst>
          </p:cNvPr>
          <p:cNvPicPr>
            <a:picLocks noChangeAspect="1"/>
          </p:cNvPicPr>
          <p:nvPr/>
        </p:nvPicPr>
        <p:blipFill>
          <a:blip r:embed="rId4"/>
          <a:stretch>
            <a:fillRect/>
          </a:stretch>
        </p:blipFill>
        <p:spPr>
          <a:xfrm>
            <a:off x="4655399" y="4443142"/>
            <a:ext cx="2881202" cy="1244600"/>
          </a:xfrm>
          <a:prstGeom prst="rect">
            <a:avLst/>
          </a:prstGeom>
        </p:spPr>
      </p:pic>
      <p:pic>
        <p:nvPicPr>
          <p:cNvPr id="12" name="Picture 11">
            <a:extLst>
              <a:ext uri="{FF2B5EF4-FFF2-40B4-BE49-F238E27FC236}">
                <a16:creationId xmlns:a16="http://schemas.microsoft.com/office/drawing/2014/main" id="{6B02FE3F-14AE-57AE-CC34-DDB2BB5D1DA6}"/>
              </a:ext>
            </a:extLst>
          </p:cNvPr>
          <p:cNvPicPr>
            <a:picLocks noChangeAspect="1"/>
          </p:cNvPicPr>
          <p:nvPr/>
        </p:nvPicPr>
        <p:blipFill>
          <a:blip r:embed="rId5"/>
          <a:stretch>
            <a:fillRect/>
          </a:stretch>
        </p:blipFill>
        <p:spPr>
          <a:xfrm>
            <a:off x="8334899" y="4443142"/>
            <a:ext cx="2634670" cy="1211792"/>
          </a:xfrm>
          <a:prstGeom prst="rect">
            <a:avLst/>
          </a:prstGeom>
        </p:spPr>
      </p:pic>
    </p:spTree>
    <p:extLst>
      <p:ext uri="{BB962C8B-B14F-4D97-AF65-F5344CB8AC3E}">
        <p14:creationId xmlns:p14="http://schemas.microsoft.com/office/powerpoint/2010/main" val="2509913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7045843"/>
          </a:xfrm>
        </p:spPr>
        <p:txBody>
          <a:bodyPr>
            <a:normAutofit fontScale="92500"/>
          </a:bodyPr>
          <a:lstStyle/>
          <a:p>
            <a:pPr marL="0" indent="0">
              <a:buSzPct val="100000"/>
              <a:buNone/>
            </a:pPr>
            <a:r>
              <a:rPr lang="en-US" sz="2400" b="1" i="0" dirty="0">
                <a:solidFill>
                  <a:srgbClr val="000000"/>
                </a:solidFill>
                <a:effectLst/>
                <a:latin typeface="Times-Bold"/>
              </a:rPr>
              <a:t>5.3.5 Avoid Embedding Synthesis Commands</a:t>
            </a:r>
            <a:br>
              <a:rPr lang="en-US" sz="1600" dirty="0"/>
            </a:br>
            <a:endParaRPr lang="en-US" sz="100" dirty="0"/>
          </a:p>
          <a:p>
            <a:pPr>
              <a:buSzPct val="100000"/>
              <a:buFont typeface="Arial" panose="020B0604020202020204" pitchFamily="34" charset="0"/>
              <a:buChar char="•"/>
            </a:pPr>
            <a:r>
              <a:rPr lang="en-GB" sz="2400" b="0" i="0" dirty="0">
                <a:solidFill>
                  <a:srgbClr val="000000"/>
                </a:solidFill>
                <a:effectLst/>
                <a:latin typeface="Times-Roman"/>
              </a:rPr>
              <a:t>Although it is possible to embed synthesis commands directly in the source code, this practice is not recommended. Others who synthesize the code may not be aware of the hidden commands, which may cause their synthesis scripts to produce poor results. If the design is reused in a new application, the synthesis goals may be different, such as a higher-speed version</a:t>
            </a:r>
            <a:r>
              <a:rPr lang="en-GB" sz="1600" dirty="0"/>
              <a:t> </a:t>
            </a:r>
            <a:br>
              <a:rPr lang="en-GB" sz="1600" dirty="0"/>
            </a:br>
            <a:r>
              <a:rPr lang="en-GB" sz="1100" dirty="0">
                <a:latin typeface="Times-Roman"/>
              </a:rPr>
              <a:t> </a:t>
            </a:r>
            <a:endParaRPr lang="en-GB" sz="2400" dirty="0">
              <a:latin typeface="Times-Roman"/>
            </a:endParaRPr>
          </a:p>
          <a:p>
            <a:pPr marL="0" indent="0">
              <a:buSzPct val="100000"/>
              <a:buNone/>
            </a:pPr>
            <a:r>
              <a:rPr lang="en-US" sz="2400" b="1" i="0" dirty="0">
                <a:solidFill>
                  <a:srgbClr val="000000"/>
                </a:solidFill>
                <a:effectLst/>
                <a:latin typeface="Times-Bold"/>
              </a:rPr>
              <a:t>5.3.6 Use Technology-Independent Libraries</a:t>
            </a:r>
            <a:r>
              <a:rPr lang="en-US" sz="1600" dirty="0"/>
              <a:t> </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For arithmetic components, use the </a:t>
            </a:r>
            <a:r>
              <a:rPr lang="en-GB" sz="2400" b="0" i="0" dirty="0" err="1">
                <a:solidFill>
                  <a:srgbClr val="000000"/>
                </a:solidFill>
                <a:effectLst/>
                <a:latin typeface="Times-Roman"/>
              </a:rPr>
              <a:t>DesignWare</a:t>
            </a:r>
            <a:r>
              <a:rPr lang="en-GB" sz="2400" b="0" i="0" dirty="0">
                <a:solidFill>
                  <a:srgbClr val="000000"/>
                </a:solidFill>
                <a:effectLst/>
                <a:latin typeface="Times-Roman"/>
              </a:rPr>
              <a:t> Foundation Library.</a:t>
            </a:r>
            <a:r>
              <a:rPr lang="en-GB" sz="1600" dirty="0"/>
              <a:t> </a:t>
            </a:r>
          </a:p>
          <a:p>
            <a:pPr>
              <a:buSzPct val="100000"/>
              <a:buFont typeface="Arial" panose="020B0604020202020204" pitchFamily="34" charset="0"/>
              <a:buChar char="•"/>
            </a:pPr>
            <a:r>
              <a:rPr lang="en-GB" sz="2400" b="1" dirty="0">
                <a:latin typeface="Arial-BoldMT"/>
              </a:rPr>
              <a:t>Guideline – </a:t>
            </a:r>
            <a:r>
              <a:rPr lang="en-GB" sz="2400" dirty="0">
                <a:latin typeface="Times-Roman"/>
              </a:rPr>
              <a:t>Avoid instantiating gates in the design. Gate-level designs are very hard to read, and thus difficult to maintain and reuse. If technology-specific gates are used, then the design is not portable to other technologies. </a:t>
            </a:r>
          </a:p>
          <a:p>
            <a:pPr marL="228600" marR="0" lvl="0" indent="-22860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4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400" b="0" i="0" u="none" strike="noStrike" kern="1200" cap="none" spc="0" normalizeH="0" baseline="0" noProof="0" dirty="0">
                <a:ln>
                  <a:noFill/>
                </a:ln>
                <a:solidFill>
                  <a:srgbClr val="000000"/>
                </a:solidFill>
                <a:effectLst/>
                <a:uLnTx/>
                <a:uFillTx/>
                <a:latin typeface="Times-Roman"/>
                <a:ea typeface="+mn-ea"/>
                <a:cs typeface="+mn-cs"/>
              </a:rPr>
              <a:t>If you must use technology-specific gates, then isolate these gates in a separate module. This will make it easier to modify these gates as needed for different technologies.</a:t>
            </a:r>
            <a:r>
              <a:rPr kumimoji="0" lang="en-GB" sz="1600" b="0" i="0" u="none" strike="noStrike" kern="1200" cap="none" spc="0" normalizeH="0" baseline="0" noProof="0" dirty="0">
                <a:ln>
                  <a:noFill/>
                </a:ln>
                <a:solidFill>
                  <a:srgbClr val="000000"/>
                </a:solidFill>
                <a:effectLst/>
                <a:uLnTx/>
                <a:uFillTx/>
                <a:latin typeface="Barlow" pitchFamily="2" charset="77"/>
                <a:ea typeface="+mn-ea"/>
                <a:cs typeface="+mn-cs"/>
              </a:rPr>
              <a:t> </a:t>
            </a:r>
          </a:p>
          <a:p>
            <a:pPr marL="228600" marR="0" lvl="0" indent="-22860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4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400" b="0" i="0" u="none" strike="noStrike" kern="1200" cap="none" spc="0" normalizeH="0" baseline="0" noProof="0" dirty="0">
                <a:ln>
                  <a:noFill/>
                </a:ln>
                <a:solidFill>
                  <a:srgbClr val="000000"/>
                </a:solidFill>
                <a:effectLst/>
                <a:uLnTx/>
                <a:uFillTx/>
                <a:latin typeface="Times-Roman"/>
                <a:ea typeface="+mn-ea"/>
                <a:cs typeface="+mn-cs"/>
              </a:rPr>
              <a:t>If you must instantiate a gate, use the Synopsys generic technology library, GTECH. </a:t>
            </a:r>
            <a:br>
              <a:rPr kumimoji="0" lang="en-GB" sz="1100" b="0" i="0" u="none" strike="noStrike" kern="1200" cap="none" spc="0" normalizeH="0" baseline="0" noProof="0" dirty="0">
                <a:ln>
                  <a:noFill/>
                </a:ln>
                <a:solidFill>
                  <a:srgbClr val="000000"/>
                </a:solidFill>
                <a:effectLst/>
                <a:uLnTx/>
                <a:uFillTx/>
                <a:latin typeface="Barlow" pitchFamily="2" charset="77"/>
                <a:ea typeface="+mn-ea"/>
                <a:cs typeface="+mn-cs"/>
              </a:rPr>
            </a:br>
            <a:br>
              <a:rPr kumimoji="0" lang="en-GB" sz="1600" b="0" i="0" u="none" strike="noStrike" kern="1200" cap="none" spc="0" normalizeH="0" baseline="0" noProof="0" dirty="0">
                <a:ln>
                  <a:noFill/>
                </a:ln>
                <a:solidFill>
                  <a:srgbClr val="000000"/>
                </a:solidFill>
                <a:effectLst/>
                <a:uLnTx/>
                <a:uFillTx/>
                <a:latin typeface="Barlow" pitchFamily="2" charset="77"/>
                <a:ea typeface="+mn-ea"/>
                <a:cs typeface="+mn-cs"/>
              </a:rPr>
            </a:br>
            <a:endParaRPr kumimoji="0" lang="en-US" sz="2400" b="0" i="0" u="none" strike="noStrike" kern="1200" cap="none" spc="0" normalizeH="0" baseline="0" noProof="0" dirty="0">
              <a:ln>
                <a:noFill/>
              </a:ln>
              <a:solidFill>
                <a:srgbClr val="000000"/>
              </a:solidFill>
              <a:effectLst/>
              <a:uLnTx/>
              <a:uFillTx/>
              <a:latin typeface="Times-Roman"/>
              <a:ea typeface="+mn-ea"/>
              <a:cs typeface="+mn-cs"/>
            </a:endParaRPr>
          </a:p>
          <a:p>
            <a:pPr>
              <a:buSzPct val="100000"/>
              <a:buFont typeface="Arial" panose="020B0604020202020204" pitchFamily="34" charset="0"/>
              <a:buChar char="•"/>
            </a:pPr>
            <a:br>
              <a:rPr lang="en-GB" sz="1100" dirty="0"/>
            </a:br>
            <a:br>
              <a:rPr lang="en-GB" sz="1600" dirty="0"/>
            </a:br>
            <a:endParaRPr lang="en-US" sz="2400" dirty="0">
              <a:latin typeface="Times-Roman"/>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5.3 Coding for Portability</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20</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8338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fade">
                                      <p:cBhvr>
                                        <p:cTn id="10" dur="500"/>
                                        <p:tgtEl>
                                          <p:spTgt spid="2">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fade">
                                      <p:cBhvr>
                                        <p:cTn id="13" dur="500"/>
                                        <p:tgtEl>
                                          <p:spTgt spid="2">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fade">
                                      <p:cBhvr>
                                        <p:cTn id="16" dur="500"/>
                                        <p:tgtEl>
                                          <p:spTgt spid="2">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Effect transition="in" filter="fade">
                                      <p:cBhvr>
                                        <p:cTn id="19"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US" sz="2200" b="1" i="0" dirty="0">
                <a:solidFill>
                  <a:srgbClr val="000000"/>
                </a:solidFill>
                <a:effectLst/>
                <a:latin typeface="Times-Bold"/>
              </a:rPr>
              <a:t>5.4.1 Avoid Mixed Clock Edges</a:t>
            </a:r>
            <a:endParaRPr lang="en-US" sz="2200" dirty="0"/>
          </a:p>
          <a:p>
            <a:pPr>
              <a:buSzPct val="100000"/>
              <a:buFont typeface="Arial" panose="020B0604020202020204" pitchFamily="34" charset="0"/>
              <a:buChar char="•"/>
            </a:pPr>
            <a:r>
              <a:rPr lang="en-GB" sz="2200" b="1" i="0" dirty="0">
                <a:solidFill>
                  <a:srgbClr val="000000"/>
                </a:solidFill>
                <a:effectLst/>
                <a:latin typeface="Arial-BoldMT"/>
              </a:rPr>
              <a:t>Guideline – </a:t>
            </a:r>
            <a:r>
              <a:rPr lang="en-GB" sz="2200" dirty="0">
                <a:latin typeface="Times-Roman"/>
              </a:rPr>
              <a:t>Avoid using both positive-edge and negative-edge triggered flip-flops in your design.</a:t>
            </a:r>
            <a:r>
              <a:rPr lang="en-GB" sz="2200" dirty="0"/>
              <a:t> </a:t>
            </a:r>
          </a:p>
          <a:p>
            <a:pPr>
              <a:buSzPct val="100000"/>
              <a:buFont typeface="Arial" panose="020B0604020202020204" pitchFamily="34" charset="0"/>
              <a:buChar char="•"/>
            </a:pPr>
            <a:r>
              <a:rPr lang="en-GB" sz="2200" dirty="0">
                <a:latin typeface="Times-Roman"/>
              </a:rPr>
              <a:t>Clocking on both edges creates several problems:</a:t>
            </a:r>
          </a:p>
          <a:p>
            <a:pPr marL="0" indent="0">
              <a:buSzPct val="100000"/>
              <a:buNone/>
            </a:pPr>
            <a:r>
              <a:rPr lang="en-GB" sz="2200" dirty="0">
                <a:latin typeface="Times-Roman"/>
              </a:rPr>
              <a:t>	1) Timing closure becomes challenging.</a:t>
            </a:r>
          </a:p>
          <a:p>
            <a:pPr marL="0" indent="0">
              <a:buSzPct val="100000"/>
              <a:buNone/>
            </a:pPr>
            <a:r>
              <a:rPr lang="en-GB" sz="2200" dirty="0">
                <a:latin typeface="Times-Roman"/>
              </a:rPr>
              <a:t>	2) Most scan-based testing methodologies require separate handling of positive and       	negative-edge triggered flops. </a:t>
            </a:r>
          </a:p>
          <a:p>
            <a:pPr marL="0" indent="0">
              <a:buSzPct val="100000"/>
              <a:buNone/>
            </a:pPr>
            <a:br>
              <a:rPr lang="en-GB" sz="500" dirty="0"/>
            </a:br>
            <a:r>
              <a:rPr lang="en-GB" sz="2200" b="1" dirty="0">
                <a:latin typeface="Arial-BoldMT"/>
              </a:rPr>
              <a:t>Rule – </a:t>
            </a:r>
            <a:r>
              <a:rPr lang="en-GB" sz="2200" dirty="0">
                <a:latin typeface="Times-Roman"/>
              </a:rPr>
              <a:t>If you must use both positive-edge and negative-edge triggered flip-flops in your design, be sure to model the worst-case duty cycle of the clock accurately in synthesis and timing analysis.</a:t>
            </a:r>
            <a:r>
              <a:rPr lang="en-GB" sz="2200" dirty="0"/>
              <a:t> </a:t>
            </a:r>
          </a:p>
          <a:p>
            <a:pPr marL="0" indent="0">
              <a:buSzPct val="100000"/>
              <a:buNone/>
            </a:pPr>
            <a:r>
              <a:rPr lang="en-GB" sz="2200" b="1" dirty="0">
                <a:latin typeface="Arial-BoldMT"/>
              </a:rPr>
              <a:t>Guideline – </a:t>
            </a:r>
            <a:r>
              <a:rPr lang="en-GB" sz="2200" dirty="0">
                <a:latin typeface="Times-Roman"/>
              </a:rPr>
              <a:t>If you must use a large number of both positive-edge and negative-edge triggered flip-flops in your design, it may be useful to separate them into different modules. This makes it easier to identify the negative-edge flops, and thus to put them in different scan chains.</a:t>
            </a:r>
            <a:r>
              <a:rPr lang="en-GB" sz="2200" dirty="0"/>
              <a:t> </a:t>
            </a:r>
            <a:br>
              <a:rPr lang="en-GB" sz="2200" dirty="0"/>
            </a:br>
            <a:endParaRPr lang="en-GB" sz="2200" dirty="0"/>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21</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49589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US" sz="2400" b="1" i="0" dirty="0">
                <a:solidFill>
                  <a:srgbClr val="000000"/>
                </a:solidFill>
                <a:effectLst/>
                <a:latin typeface="Times-Bold"/>
              </a:rPr>
              <a:t>5.4.2 Avoid Clock Buffers</a:t>
            </a:r>
            <a:endParaRPr lang="en-US" sz="2400" dirty="0"/>
          </a:p>
          <a:p>
            <a:pPr>
              <a:buSzPct val="100000"/>
              <a:buFont typeface="Arial" panose="020B0604020202020204" pitchFamily="34" charset="0"/>
              <a:buChar char="•"/>
            </a:pPr>
            <a:r>
              <a:rPr lang="en-GB" sz="2200" b="1" i="0" dirty="0">
                <a:solidFill>
                  <a:srgbClr val="000000"/>
                </a:solidFill>
                <a:effectLst/>
                <a:latin typeface="Arial-BoldMT"/>
              </a:rPr>
              <a:t>Guideline – </a:t>
            </a:r>
            <a:r>
              <a:rPr lang="en-GB" sz="2400" b="0" i="0" dirty="0">
                <a:solidFill>
                  <a:srgbClr val="000000"/>
                </a:solidFill>
                <a:effectLst/>
                <a:latin typeface="+mn-lt"/>
              </a:rPr>
              <a:t>Avoid hand instantiating clock buffers in RTL code. Clock buffers are</a:t>
            </a:r>
            <a:br>
              <a:rPr lang="en-GB" sz="2400" b="0" i="0" dirty="0">
                <a:solidFill>
                  <a:srgbClr val="000000"/>
                </a:solidFill>
                <a:effectLst/>
                <a:latin typeface="+mn-lt"/>
              </a:rPr>
            </a:br>
            <a:r>
              <a:rPr lang="en-GB" sz="2400" b="0" i="0" dirty="0">
                <a:solidFill>
                  <a:srgbClr val="000000"/>
                </a:solidFill>
                <a:effectLst/>
                <a:latin typeface="+mn-lt"/>
              </a:rPr>
              <a:t>normally inserted after synthesis as part of the physical design.</a:t>
            </a:r>
            <a:r>
              <a:rPr lang="en-GB" sz="2400" dirty="0">
                <a:latin typeface="+mn-lt"/>
              </a:rPr>
              <a:t> </a:t>
            </a:r>
          </a:p>
          <a:p>
            <a:pPr marL="0" indent="0">
              <a:buSzPct val="100000"/>
              <a:buNone/>
            </a:pPr>
            <a:r>
              <a:rPr lang="en-US" sz="2400" b="1" i="0" dirty="0">
                <a:solidFill>
                  <a:srgbClr val="000000"/>
                </a:solidFill>
                <a:effectLst/>
                <a:latin typeface="Times-Bold"/>
              </a:rPr>
              <a:t>5.4.3 Avoid Gated Clocks</a:t>
            </a:r>
            <a:endParaRPr lang="en-US" sz="2400" dirty="0"/>
          </a:p>
          <a:p>
            <a:pPr>
              <a:buSzPct val="100000"/>
              <a:buFont typeface="Arial" panose="020B0604020202020204" pitchFamily="34" charset="0"/>
              <a:buChar char="•"/>
            </a:pPr>
            <a:r>
              <a:rPr lang="en-GB" sz="2200" b="1" i="0" dirty="0">
                <a:solidFill>
                  <a:srgbClr val="000000"/>
                </a:solidFill>
                <a:effectLst/>
                <a:latin typeface="Arial-BoldMT"/>
              </a:rPr>
              <a:t>Guideline – </a:t>
            </a:r>
            <a:r>
              <a:rPr lang="en-GB" sz="2400" b="0" i="0" dirty="0">
                <a:solidFill>
                  <a:srgbClr val="000000"/>
                </a:solidFill>
                <a:effectLst/>
                <a:latin typeface="Times-Roman"/>
              </a:rPr>
              <a:t>Avoid coding gated clocks in your RTL because:</a:t>
            </a:r>
            <a:r>
              <a:rPr lang="en-GB" sz="2400" dirty="0">
                <a:latin typeface="+mn-lt"/>
              </a:rPr>
              <a:t> </a:t>
            </a:r>
          </a:p>
          <a:p>
            <a:pPr marL="0" indent="0">
              <a:buSzPct val="100000"/>
              <a:buNone/>
            </a:pPr>
            <a:r>
              <a:rPr lang="en-GB" sz="2400" dirty="0">
                <a:latin typeface="+mn-lt"/>
              </a:rPr>
              <a:t>	1) </a:t>
            </a:r>
            <a:r>
              <a:rPr lang="en-GB" sz="2400" b="0" i="0" dirty="0">
                <a:solidFill>
                  <a:srgbClr val="000000"/>
                </a:solidFill>
                <a:effectLst/>
                <a:latin typeface="Times-Roman"/>
              </a:rPr>
              <a:t>Improper timing of a gated clock can generate a false clock or glitch, causing a flip-	flop to clock in the wrong data.</a:t>
            </a:r>
            <a:r>
              <a:rPr lang="en-GB" sz="1600" dirty="0"/>
              <a:t> </a:t>
            </a:r>
          </a:p>
          <a:p>
            <a:pPr marL="0" indent="0">
              <a:buSzPct val="100000"/>
              <a:buNone/>
            </a:pPr>
            <a:r>
              <a:rPr kumimoji="0" lang="en-GB" sz="2400" b="0" i="0" u="none" strike="noStrike" kern="1200" cap="none" spc="0" normalizeH="0" baseline="0" noProof="0" dirty="0">
                <a:ln>
                  <a:noFill/>
                </a:ln>
                <a:solidFill>
                  <a:srgbClr val="000000"/>
                </a:solidFill>
                <a:effectLst/>
                <a:uLnTx/>
                <a:uFillTx/>
                <a:latin typeface="Times-Roman"/>
                <a:ea typeface="+mn-ea"/>
                <a:cs typeface="+mn-cs"/>
              </a:rPr>
              <a:t>	2) </a:t>
            </a:r>
            <a:r>
              <a:rPr lang="en-GB" sz="2400" dirty="0">
                <a:latin typeface="Times-Roman"/>
              </a:rPr>
              <a:t>Gated clocks cause limited testability because the logic clocked by a gated clock</a:t>
            </a:r>
            <a:br>
              <a:rPr lang="en-GB" sz="2400" dirty="0">
                <a:latin typeface="Times-Roman"/>
              </a:rPr>
            </a:br>
            <a:r>
              <a:rPr lang="en-GB" sz="2400" dirty="0">
                <a:latin typeface="Times-Roman"/>
              </a:rPr>
              <a:t>	cannot be made part of a scan chain. </a:t>
            </a:r>
            <a:br>
              <a:rPr lang="en-GB" sz="1100" dirty="0"/>
            </a:br>
            <a:br>
              <a:rPr lang="en-GB" sz="1600" dirty="0"/>
            </a:br>
            <a:endParaRPr lang="en-GB" sz="2400" dirty="0">
              <a:latin typeface="+mn-lt"/>
            </a:endParaRPr>
          </a:p>
          <a:p>
            <a:pPr>
              <a:buSzPct val="100000"/>
              <a:buFont typeface="Arial" panose="020B0604020202020204" pitchFamily="34" charset="0"/>
              <a:buChar char="•"/>
            </a:pP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22</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2923660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23</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E3116203-9FF0-9533-CFA4-84496113DC67}"/>
              </a:ext>
            </a:extLst>
          </p:cNvPr>
          <p:cNvPicPr>
            <a:picLocks noChangeAspect="1"/>
          </p:cNvPicPr>
          <p:nvPr/>
        </p:nvPicPr>
        <p:blipFill>
          <a:blip r:embed="rId2"/>
          <a:stretch>
            <a:fillRect/>
          </a:stretch>
        </p:blipFill>
        <p:spPr>
          <a:xfrm>
            <a:off x="1966393" y="1352762"/>
            <a:ext cx="8259214" cy="4335118"/>
          </a:xfrm>
          <a:prstGeom prst="rect">
            <a:avLst/>
          </a:prstGeom>
        </p:spPr>
      </p:pic>
      <p:sp>
        <p:nvSpPr>
          <p:cNvPr id="9" name="Rectangle 8">
            <a:extLst>
              <a:ext uri="{FF2B5EF4-FFF2-40B4-BE49-F238E27FC236}">
                <a16:creationId xmlns:a16="http://schemas.microsoft.com/office/drawing/2014/main" id="{4FC1C79D-7466-7F93-55E7-51919CF8D01D}"/>
              </a:ext>
            </a:extLst>
          </p:cNvPr>
          <p:cNvSpPr/>
          <p:nvPr/>
        </p:nvSpPr>
        <p:spPr>
          <a:xfrm>
            <a:off x="6736080" y="1270000"/>
            <a:ext cx="2854960" cy="1899920"/>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A37005C6-9DBB-66FF-0425-5FC62F79B147}"/>
              </a:ext>
            </a:extLst>
          </p:cNvPr>
          <p:cNvSpPr txBox="1"/>
          <p:nvPr/>
        </p:nvSpPr>
        <p:spPr>
          <a:xfrm>
            <a:off x="6365461" y="895562"/>
            <a:ext cx="4074160" cy="914400"/>
          </a:xfrm>
          <a:prstGeom prst="rect">
            <a:avLst/>
          </a:prstGeom>
          <a:noFill/>
        </p:spPr>
        <p:txBody>
          <a:bodyPr wrap="none" lIns="0" tIns="0" rIns="0" bIns="0" rtlCol="0">
            <a:noAutofit/>
          </a:bodyPr>
          <a:lstStyle/>
          <a:p>
            <a:pPr defTabSz="457200">
              <a:spcBef>
                <a:spcPts val="1000"/>
              </a:spcBef>
              <a:buClr>
                <a:srgbClr val="1E4056"/>
              </a:buClr>
              <a:buSzPct val="75000"/>
            </a:pPr>
            <a:r>
              <a:rPr lang="en-US" sz="2000" dirty="0">
                <a:solidFill>
                  <a:srgbClr val="000000"/>
                </a:solidFill>
              </a:rPr>
              <a:t>Integrated Clock Gating (ICG) Cell</a:t>
            </a:r>
          </a:p>
        </p:txBody>
      </p:sp>
    </p:spTree>
    <p:extLst>
      <p:ext uri="{BB962C8B-B14F-4D97-AF65-F5344CB8AC3E}">
        <p14:creationId xmlns:p14="http://schemas.microsoft.com/office/powerpoint/2010/main" val="199233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24</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7" name="Picture 6">
            <a:extLst>
              <a:ext uri="{FF2B5EF4-FFF2-40B4-BE49-F238E27FC236}">
                <a16:creationId xmlns:a16="http://schemas.microsoft.com/office/drawing/2014/main" id="{7D3F0046-D148-6893-090A-FC5865BE2D5E}"/>
              </a:ext>
            </a:extLst>
          </p:cNvPr>
          <p:cNvPicPr>
            <a:picLocks noChangeAspect="1"/>
          </p:cNvPicPr>
          <p:nvPr/>
        </p:nvPicPr>
        <p:blipFill>
          <a:blip r:embed="rId2"/>
          <a:stretch>
            <a:fillRect/>
          </a:stretch>
        </p:blipFill>
        <p:spPr>
          <a:xfrm>
            <a:off x="342900" y="910220"/>
            <a:ext cx="3283919" cy="3745877"/>
          </a:xfrm>
          <a:prstGeom prst="rect">
            <a:avLst/>
          </a:prstGeom>
        </p:spPr>
      </p:pic>
      <p:pic>
        <p:nvPicPr>
          <p:cNvPr id="11" name="Content Placeholder 7">
            <a:extLst>
              <a:ext uri="{FF2B5EF4-FFF2-40B4-BE49-F238E27FC236}">
                <a16:creationId xmlns:a16="http://schemas.microsoft.com/office/drawing/2014/main" id="{9B644D00-46D8-E51F-8F4C-9525C076E10A}"/>
              </a:ext>
            </a:extLst>
          </p:cNvPr>
          <p:cNvPicPr>
            <a:picLocks noChangeAspect="1"/>
          </p:cNvPicPr>
          <p:nvPr/>
        </p:nvPicPr>
        <p:blipFill>
          <a:blip r:embed="rId3"/>
          <a:stretch>
            <a:fillRect/>
          </a:stretch>
        </p:blipFill>
        <p:spPr>
          <a:xfrm>
            <a:off x="8687778" y="828119"/>
            <a:ext cx="2765240" cy="4290312"/>
          </a:xfrm>
          <a:prstGeom prst="rect">
            <a:avLst/>
          </a:prstGeom>
        </p:spPr>
      </p:pic>
      <p:pic>
        <p:nvPicPr>
          <p:cNvPr id="12" name="Picture 11">
            <a:extLst>
              <a:ext uri="{FF2B5EF4-FFF2-40B4-BE49-F238E27FC236}">
                <a16:creationId xmlns:a16="http://schemas.microsoft.com/office/drawing/2014/main" id="{5881C2A7-94BA-1CCC-DFFE-F856990843AB}"/>
              </a:ext>
            </a:extLst>
          </p:cNvPr>
          <p:cNvPicPr>
            <a:picLocks noChangeAspect="1"/>
          </p:cNvPicPr>
          <p:nvPr/>
        </p:nvPicPr>
        <p:blipFill>
          <a:blip r:embed="rId4"/>
          <a:stretch>
            <a:fillRect/>
          </a:stretch>
        </p:blipFill>
        <p:spPr>
          <a:xfrm>
            <a:off x="3210560" y="4452075"/>
            <a:ext cx="5049520" cy="2085565"/>
          </a:xfrm>
          <a:prstGeom prst="rect">
            <a:avLst/>
          </a:prstGeom>
        </p:spPr>
      </p:pic>
    </p:spTree>
    <p:extLst>
      <p:ext uri="{BB962C8B-B14F-4D97-AF65-F5344CB8AC3E}">
        <p14:creationId xmlns:p14="http://schemas.microsoft.com/office/powerpoint/2010/main" val="3383169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94CEDFA-9E94-D22B-89CC-E31A2D86A79D}"/>
              </a:ext>
            </a:extLst>
          </p:cNvPr>
          <p:cNvPicPr>
            <a:picLocks noGrp="1" noChangeAspect="1"/>
          </p:cNvPicPr>
          <p:nvPr>
            <p:ph idx="1"/>
          </p:nvPr>
        </p:nvPicPr>
        <p:blipFill>
          <a:blip r:embed="rId2"/>
          <a:stretch>
            <a:fillRect/>
          </a:stretch>
        </p:blipFill>
        <p:spPr>
          <a:xfrm>
            <a:off x="802641" y="1197399"/>
            <a:ext cx="5169488" cy="4413716"/>
          </a:xfrm>
        </p:spPr>
      </p:pic>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25</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1026" name="Picture 2" descr="No description available.">
            <a:extLst>
              <a:ext uri="{FF2B5EF4-FFF2-40B4-BE49-F238E27FC236}">
                <a16:creationId xmlns:a16="http://schemas.microsoft.com/office/drawing/2014/main" id="{0C7362F6-5543-6C84-E85A-3C38B9EE1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1760" y="1084521"/>
            <a:ext cx="5088890" cy="22221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o description available.">
            <a:extLst>
              <a:ext uri="{FF2B5EF4-FFF2-40B4-BE49-F238E27FC236}">
                <a16:creationId xmlns:a16="http://schemas.microsoft.com/office/drawing/2014/main" id="{AC6C0D40-8432-5181-50DF-88BE9E199B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8477" y="3429000"/>
            <a:ext cx="4275455" cy="2546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1663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26</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10" name="Content Placeholder 9">
            <a:extLst>
              <a:ext uri="{FF2B5EF4-FFF2-40B4-BE49-F238E27FC236}">
                <a16:creationId xmlns:a16="http://schemas.microsoft.com/office/drawing/2014/main" id="{0B4DDDE6-3229-329D-86EB-4B6142B1483F}"/>
              </a:ext>
            </a:extLst>
          </p:cNvPr>
          <p:cNvPicPr>
            <a:picLocks noGrp="1" noChangeAspect="1"/>
          </p:cNvPicPr>
          <p:nvPr>
            <p:ph idx="1"/>
          </p:nvPr>
        </p:nvPicPr>
        <p:blipFill>
          <a:blip r:embed="rId2"/>
          <a:stretch>
            <a:fillRect/>
          </a:stretch>
        </p:blipFill>
        <p:spPr>
          <a:xfrm>
            <a:off x="2656568" y="1133641"/>
            <a:ext cx="6577730" cy="2522433"/>
          </a:xfrm>
        </p:spPr>
      </p:pic>
      <p:sp>
        <p:nvSpPr>
          <p:cNvPr id="11" name="Rectangle 10">
            <a:extLst>
              <a:ext uri="{FF2B5EF4-FFF2-40B4-BE49-F238E27FC236}">
                <a16:creationId xmlns:a16="http://schemas.microsoft.com/office/drawing/2014/main" id="{C6FEDA9E-9498-503A-4703-3A59BB9AD3A9}"/>
              </a:ext>
            </a:extLst>
          </p:cNvPr>
          <p:cNvSpPr/>
          <p:nvPr/>
        </p:nvSpPr>
        <p:spPr>
          <a:xfrm>
            <a:off x="3911600" y="1029359"/>
            <a:ext cx="3515360" cy="2022958"/>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469AADC3-4DE1-52E6-B20C-0348E829B3C5}"/>
              </a:ext>
            </a:extLst>
          </p:cNvPr>
          <p:cNvPicPr>
            <a:picLocks noChangeAspect="1"/>
          </p:cNvPicPr>
          <p:nvPr/>
        </p:nvPicPr>
        <p:blipFill>
          <a:blip r:embed="rId3"/>
          <a:stretch>
            <a:fillRect/>
          </a:stretch>
        </p:blipFill>
        <p:spPr>
          <a:xfrm>
            <a:off x="3180651" y="4121909"/>
            <a:ext cx="5830698" cy="2305160"/>
          </a:xfrm>
          <a:prstGeom prst="rect">
            <a:avLst/>
          </a:prstGeom>
        </p:spPr>
      </p:pic>
    </p:spTree>
    <p:extLst>
      <p:ext uri="{BB962C8B-B14F-4D97-AF65-F5344CB8AC3E}">
        <p14:creationId xmlns:p14="http://schemas.microsoft.com/office/powerpoint/2010/main" val="24958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US" sz="2400" b="1" i="0" dirty="0">
                <a:solidFill>
                  <a:srgbClr val="000000"/>
                </a:solidFill>
                <a:effectLst/>
                <a:latin typeface="Times-Bold"/>
              </a:rPr>
              <a:t>5.4.4 Avoid </a:t>
            </a:r>
            <a:r>
              <a:rPr lang="en-US" sz="2400" b="1" dirty="0">
                <a:latin typeface="Times-Bold"/>
              </a:rPr>
              <a:t>Internally Generated Clocks</a:t>
            </a:r>
            <a:endParaRPr lang="en-US" sz="2400" dirty="0"/>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Avoid using internally generated clocks in your design as they cause limited testability because logic driven by them cannot be made part of a scan chain.</a:t>
            </a:r>
            <a:r>
              <a:rPr lang="en-GB" sz="1600" dirty="0"/>
              <a:t> </a:t>
            </a:r>
          </a:p>
          <a:p>
            <a:pPr marL="0" indent="0">
              <a:buSzPct val="100000"/>
              <a:buNone/>
            </a:pP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27</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2052" name="Picture 4" descr="No description available.">
            <a:extLst>
              <a:ext uri="{FF2B5EF4-FFF2-40B4-BE49-F238E27FC236}">
                <a16:creationId xmlns:a16="http://schemas.microsoft.com/office/drawing/2014/main" id="{0B78D9CB-3F14-7489-7169-400ED76DCE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4598" y="2112306"/>
            <a:ext cx="5227942" cy="227156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E02ABA89-B676-BDA3-54C1-8681037A2453}"/>
              </a:ext>
            </a:extLst>
          </p:cNvPr>
          <p:cNvPicPr>
            <a:picLocks noChangeAspect="1"/>
          </p:cNvPicPr>
          <p:nvPr/>
        </p:nvPicPr>
        <p:blipFill>
          <a:blip r:embed="rId3"/>
          <a:stretch>
            <a:fillRect/>
          </a:stretch>
        </p:blipFill>
        <p:spPr>
          <a:xfrm>
            <a:off x="6645081" y="4443589"/>
            <a:ext cx="3812540" cy="2172429"/>
          </a:xfrm>
          <a:prstGeom prst="rect">
            <a:avLst/>
          </a:prstGeom>
        </p:spPr>
      </p:pic>
      <p:pic>
        <p:nvPicPr>
          <p:cNvPr id="12" name="Picture 11">
            <a:extLst>
              <a:ext uri="{FF2B5EF4-FFF2-40B4-BE49-F238E27FC236}">
                <a16:creationId xmlns:a16="http://schemas.microsoft.com/office/drawing/2014/main" id="{FF252F47-4933-E4F7-8971-E35C04450EB2}"/>
              </a:ext>
            </a:extLst>
          </p:cNvPr>
          <p:cNvPicPr>
            <a:picLocks noChangeAspect="1"/>
          </p:cNvPicPr>
          <p:nvPr/>
        </p:nvPicPr>
        <p:blipFill>
          <a:blip r:embed="rId4"/>
          <a:stretch>
            <a:fillRect/>
          </a:stretch>
        </p:blipFill>
        <p:spPr>
          <a:xfrm>
            <a:off x="1076960" y="4443589"/>
            <a:ext cx="3569455" cy="2071224"/>
          </a:xfrm>
          <a:prstGeom prst="rect">
            <a:avLst/>
          </a:prstGeom>
        </p:spPr>
      </p:pic>
      <p:sp>
        <p:nvSpPr>
          <p:cNvPr id="13" name="Arrow: Right 12">
            <a:extLst>
              <a:ext uri="{FF2B5EF4-FFF2-40B4-BE49-F238E27FC236}">
                <a16:creationId xmlns:a16="http://schemas.microsoft.com/office/drawing/2014/main" id="{8F4C0195-C9C4-E62D-286E-2A535532E830}"/>
              </a:ext>
            </a:extLst>
          </p:cNvPr>
          <p:cNvSpPr/>
          <p:nvPr/>
        </p:nvSpPr>
        <p:spPr>
          <a:xfrm>
            <a:off x="4849237" y="5151120"/>
            <a:ext cx="1593021" cy="721360"/>
          </a:xfrm>
          <a:prstGeom prst="rightArrow">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6702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GB" sz="2400" b="1" i="0" dirty="0">
                <a:solidFill>
                  <a:srgbClr val="000000"/>
                </a:solidFill>
                <a:effectLst/>
                <a:latin typeface="Times-Bold"/>
              </a:rPr>
              <a:t>5.4.5 Gated Clocks and Low-Power Designs</a:t>
            </a:r>
            <a:r>
              <a:rPr lang="en-GB" sz="1600" dirty="0"/>
              <a:t> </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keep the clock and/or reset generation circuitry as a separate module at the top level of the design.</a:t>
            </a:r>
            <a:r>
              <a:rPr lang="en-GB" sz="1600" dirty="0"/>
              <a:t> </a:t>
            </a:r>
            <a:br>
              <a:rPr lang="en-GB" sz="1600" dirty="0"/>
            </a:br>
            <a:r>
              <a:rPr lang="en-GB" sz="1600" dirty="0"/>
              <a:t> </a:t>
            </a:r>
          </a:p>
          <a:p>
            <a:pPr marL="0" indent="0">
              <a:buSzPct val="100000"/>
              <a:buNone/>
            </a:pP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28</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59453DEE-EF91-9396-37A5-91F1B895A0CE}"/>
              </a:ext>
            </a:extLst>
          </p:cNvPr>
          <p:cNvPicPr>
            <a:picLocks noChangeAspect="1"/>
          </p:cNvPicPr>
          <p:nvPr/>
        </p:nvPicPr>
        <p:blipFill>
          <a:blip r:embed="rId2"/>
          <a:stretch>
            <a:fillRect/>
          </a:stretch>
        </p:blipFill>
        <p:spPr>
          <a:xfrm>
            <a:off x="2761407" y="2391312"/>
            <a:ext cx="6324925" cy="3822896"/>
          </a:xfrm>
          <a:prstGeom prst="rect">
            <a:avLst/>
          </a:prstGeom>
        </p:spPr>
      </p:pic>
    </p:spTree>
    <p:extLst>
      <p:ext uri="{BB962C8B-B14F-4D97-AF65-F5344CB8AC3E}">
        <p14:creationId xmlns:p14="http://schemas.microsoft.com/office/powerpoint/2010/main" val="4079338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GB" sz="2400" b="1" i="0" dirty="0">
                <a:solidFill>
                  <a:srgbClr val="000000"/>
                </a:solidFill>
                <a:effectLst/>
                <a:latin typeface="Times-Bold"/>
              </a:rPr>
              <a:t>5.4.6 Avoid Internally Generated Resets</a:t>
            </a:r>
            <a:br>
              <a:rPr lang="en-GB" sz="2400" b="1" i="0" dirty="0">
                <a:solidFill>
                  <a:srgbClr val="000000"/>
                </a:solidFill>
                <a:effectLst/>
                <a:latin typeface="Times-Bold"/>
              </a:rPr>
            </a:br>
            <a:endParaRPr lang="en-GB" sz="1050" b="1" i="0" dirty="0">
              <a:solidFill>
                <a:srgbClr val="000000"/>
              </a:solidFill>
              <a:effectLst/>
              <a:latin typeface="Times-Bold"/>
            </a:endParaRP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Avoid internally generated, conditional resets if possible. Generally, all the registers in the macro should be reset at the same time. If a conditional reset is required, create a separate signal for the reset signal, and isolate the conditional reset logic in a separate module.</a:t>
            </a:r>
            <a:r>
              <a:rPr lang="en-GB" sz="2400" dirty="0"/>
              <a:t> </a:t>
            </a:r>
            <a:br>
              <a:rPr lang="en-GB" sz="2400" dirty="0"/>
            </a:b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29</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9" name="Picture 8">
            <a:extLst>
              <a:ext uri="{FF2B5EF4-FFF2-40B4-BE49-F238E27FC236}">
                <a16:creationId xmlns:a16="http://schemas.microsoft.com/office/drawing/2014/main" id="{8D3437A0-24BF-B239-AA2D-19D247FFA1E2}"/>
              </a:ext>
            </a:extLst>
          </p:cNvPr>
          <p:cNvPicPr>
            <a:picLocks noChangeAspect="1"/>
          </p:cNvPicPr>
          <p:nvPr/>
        </p:nvPicPr>
        <p:blipFill>
          <a:blip r:embed="rId2"/>
          <a:stretch>
            <a:fillRect/>
          </a:stretch>
        </p:blipFill>
        <p:spPr>
          <a:xfrm>
            <a:off x="255181" y="3337500"/>
            <a:ext cx="6502734" cy="2336920"/>
          </a:xfrm>
          <a:prstGeom prst="rect">
            <a:avLst/>
          </a:prstGeom>
        </p:spPr>
      </p:pic>
      <p:pic>
        <p:nvPicPr>
          <p:cNvPr id="11" name="Picture 10">
            <a:extLst>
              <a:ext uri="{FF2B5EF4-FFF2-40B4-BE49-F238E27FC236}">
                <a16:creationId xmlns:a16="http://schemas.microsoft.com/office/drawing/2014/main" id="{4B81A93F-383B-F256-6EDC-0E81F0E2D019}"/>
              </a:ext>
            </a:extLst>
          </p:cNvPr>
          <p:cNvPicPr>
            <a:picLocks noChangeAspect="1"/>
          </p:cNvPicPr>
          <p:nvPr/>
        </p:nvPicPr>
        <p:blipFill>
          <a:blip r:embed="rId3"/>
          <a:stretch>
            <a:fillRect/>
          </a:stretch>
        </p:blipFill>
        <p:spPr>
          <a:xfrm>
            <a:off x="7568147" y="2926080"/>
            <a:ext cx="4368672" cy="3237957"/>
          </a:xfrm>
          <a:prstGeom prst="rect">
            <a:avLst/>
          </a:prstGeom>
        </p:spPr>
      </p:pic>
    </p:spTree>
    <p:extLst>
      <p:ext uri="{BB962C8B-B14F-4D97-AF65-F5344CB8AC3E}">
        <p14:creationId xmlns:p14="http://schemas.microsoft.com/office/powerpoint/2010/main" val="2804659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GB" sz="2400" b="1" i="0" dirty="0">
                <a:solidFill>
                  <a:srgbClr val="000000"/>
                </a:solidFill>
                <a:effectLst/>
                <a:latin typeface="Times-Bold"/>
              </a:rPr>
              <a:t>5.4.7 Reset Logic Function</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The </a:t>
            </a:r>
            <a:r>
              <a:rPr lang="en-GB" sz="2400" b="0" i="1" dirty="0">
                <a:solidFill>
                  <a:srgbClr val="000000"/>
                </a:solidFill>
                <a:effectLst/>
                <a:latin typeface="Times-Italic"/>
              </a:rPr>
              <a:t>only </a:t>
            </a:r>
            <a:r>
              <a:rPr lang="en-GB" sz="2400" b="0" i="0" dirty="0">
                <a:solidFill>
                  <a:srgbClr val="000000"/>
                </a:solidFill>
                <a:effectLst/>
                <a:latin typeface="Times-Roman"/>
              </a:rPr>
              <a:t>logic function for the reset signal should be a direct clear of all</a:t>
            </a:r>
            <a:br>
              <a:rPr lang="en-GB" sz="2400" b="0" i="0" dirty="0">
                <a:solidFill>
                  <a:srgbClr val="000000"/>
                </a:solidFill>
                <a:effectLst/>
                <a:latin typeface="Times-Roman"/>
              </a:rPr>
            </a:br>
            <a:r>
              <a:rPr lang="en-GB" sz="2400" b="0" i="0" dirty="0">
                <a:solidFill>
                  <a:srgbClr val="000000"/>
                </a:solidFill>
                <a:effectLst/>
                <a:latin typeface="Times-Roman"/>
              </a:rPr>
              <a:t>flip-flops. Never use the reset inputs of a flop to implement state machine functionality. Reserving reset pins on flops for reset only makes it easier to generate buffer trees for resets.</a:t>
            </a:r>
            <a:r>
              <a:rPr lang="en-GB" sz="2400" dirty="0"/>
              <a:t> </a:t>
            </a:r>
            <a:br>
              <a:rPr lang="en-GB" sz="2400" dirty="0"/>
            </a:b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30</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FEFAE7C4-2D54-D206-0A52-9DDE66036A2B}"/>
              </a:ext>
            </a:extLst>
          </p:cNvPr>
          <p:cNvPicPr>
            <a:picLocks noChangeAspect="1"/>
          </p:cNvPicPr>
          <p:nvPr/>
        </p:nvPicPr>
        <p:blipFill>
          <a:blip r:embed="rId2"/>
          <a:stretch>
            <a:fillRect/>
          </a:stretch>
        </p:blipFill>
        <p:spPr>
          <a:xfrm>
            <a:off x="6585517" y="2866452"/>
            <a:ext cx="4653983" cy="3527110"/>
          </a:xfrm>
          <a:prstGeom prst="rect">
            <a:avLst/>
          </a:prstGeom>
        </p:spPr>
      </p:pic>
      <p:pic>
        <p:nvPicPr>
          <p:cNvPr id="12" name="Picture 11">
            <a:extLst>
              <a:ext uri="{FF2B5EF4-FFF2-40B4-BE49-F238E27FC236}">
                <a16:creationId xmlns:a16="http://schemas.microsoft.com/office/drawing/2014/main" id="{34E08EDA-F64C-689A-DF27-1DDDFEACBD7C}"/>
              </a:ext>
            </a:extLst>
          </p:cNvPr>
          <p:cNvPicPr>
            <a:picLocks noChangeAspect="1"/>
          </p:cNvPicPr>
          <p:nvPr/>
        </p:nvPicPr>
        <p:blipFill>
          <a:blip r:embed="rId3"/>
          <a:stretch>
            <a:fillRect/>
          </a:stretch>
        </p:blipFill>
        <p:spPr>
          <a:xfrm>
            <a:off x="342900" y="2866452"/>
            <a:ext cx="4653983" cy="3482036"/>
          </a:xfrm>
          <a:prstGeom prst="rect">
            <a:avLst/>
          </a:prstGeom>
        </p:spPr>
      </p:pic>
      <p:sp>
        <p:nvSpPr>
          <p:cNvPr id="13" name="Arrow: Right 12">
            <a:extLst>
              <a:ext uri="{FF2B5EF4-FFF2-40B4-BE49-F238E27FC236}">
                <a16:creationId xmlns:a16="http://schemas.microsoft.com/office/drawing/2014/main" id="{16DA8C0C-F858-EC5E-2998-3DF629537FBC}"/>
              </a:ext>
            </a:extLst>
          </p:cNvPr>
          <p:cNvSpPr/>
          <p:nvPr/>
        </p:nvSpPr>
        <p:spPr>
          <a:xfrm>
            <a:off x="5084602" y="4175760"/>
            <a:ext cx="1500915" cy="955040"/>
          </a:xfrm>
          <a:prstGeom prst="rightArrow">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102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US" sz="2400" b="1" i="0" dirty="0">
                <a:solidFill>
                  <a:srgbClr val="000000"/>
                </a:solidFill>
                <a:effectLst/>
                <a:latin typeface="Times-Bold"/>
              </a:rPr>
              <a:t>5.4.8 Single-Bit Synchronizer</a:t>
            </a:r>
            <a:r>
              <a:rPr lang="en-US" sz="1600" dirty="0"/>
              <a:t> </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Use two flip-flop stages to transfer single bits between clock domains</a:t>
            </a:r>
            <a:r>
              <a:rPr lang="en-GB" sz="1600" b="0" i="0" dirty="0">
                <a:solidFill>
                  <a:srgbClr val="000000"/>
                </a:solidFill>
                <a:effectLst/>
                <a:latin typeface="Times-Roman"/>
              </a:rPr>
              <a:t>. </a:t>
            </a:r>
            <a:r>
              <a:rPr lang="en-GB" sz="2400" dirty="0">
                <a:latin typeface="Times-Roman"/>
              </a:rPr>
              <a:t>To prevent transfer of glitches, do not connect combinatorial logic from one clock domain to another. </a:t>
            </a:r>
          </a:p>
          <a:p>
            <a:pPr marL="0" indent="0">
              <a:buSzPct val="100000"/>
              <a:buNone/>
            </a:pPr>
            <a:r>
              <a:rPr lang="en-US" sz="2400" b="1" i="0" dirty="0">
                <a:solidFill>
                  <a:srgbClr val="000000"/>
                </a:solidFill>
                <a:effectLst/>
                <a:latin typeface="Times-Bold"/>
              </a:rPr>
              <a:t>5.4.9 Multi-Bit Synchronizers</a:t>
            </a:r>
            <a:r>
              <a:rPr lang="en-US" sz="1600" dirty="0"/>
              <a:t> </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1" dirty="0">
                <a:solidFill>
                  <a:srgbClr val="000000"/>
                </a:solidFill>
                <a:effectLst/>
                <a:latin typeface="Times-Italic"/>
              </a:rPr>
              <a:t>Do not </a:t>
            </a:r>
            <a:r>
              <a:rPr lang="en-GB" sz="2400" b="0" i="0" dirty="0">
                <a:solidFill>
                  <a:srgbClr val="000000"/>
                </a:solidFill>
                <a:effectLst/>
                <a:latin typeface="Times-Roman"/>
              </a:rPr>
              <a:t>use multiple copies of a single-bit synchronizer between</a:t>
            </a:r>
            <a:r>
              <a:rPr lang="en-GB" sz="2400" dirty="0">
                <a:latin typeface="Times-Roman"/>
              </a:rPr>
              <a:t> </a:t>
            </a:r>
            <a:r>
              <a:rPr lang="en-GB" sz="2400" b="0" i="0" dirty="0">
                <a:solidFill>
                  <a:srgbClr val="000000"/>
                </a:solidFill>
                <a:effectLst/>
                <a:latin typeface="Times-Roman"/>
              </a:rPr>
              <a:t>domains. Instead, use a reliable handshake circuit or multibit coding scheme such as </a:t>
            </a:r>
            <a:r>
              <a:rPr lang="en-GB" sz="2400" b="0" i="1" dirty="0">
                <a:solidFill>
                  <a:srgbClr val="000000"/>
                </a:solidFill>
                <a:effectLst/>
                <a:latin typeface="Times-Roman"/>
              </a:rPr>
              <a:t>Gray code.</a:t>
            </a:r>
            <a:r>
              <a:rPr lang="en-GB" sz="1600" dirty="0"/>
              <a:t> </a:t>
            </a:r>
            <a:br>
              <a:rPr lang="en-GB" sz="1600" dirty="0"/>
            </a:b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31</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9" name="Picture 8">
            <a:extLst>
              <a:ext uri="{FF2B5EF4-FFF2-40B4-BE49-F238E27FC236}">
                <a16:creationId xmlns:a16="http://schemas.microsoft.com/office/drawing/2014/main" id="{F68DF3D0-35D0-BE8B-904D-A6AB9DB6F847}"/>
              </a:ext>
            </a:extLst>
          </p:cNvPr>
          <p:cNvPicPr>
            <a:picLocks noChangeAspect="1"/>
          </p:cNvPicPr>
          <p:nvPr/>
        </p:nvPicPr>
        <p:blipFill>
          <a:blip r:embed="rId2"/>
          <a:stretch>
            <a:fillRect/>
          </a:stretch>
        </p:blipFill>
        <p:spPr>
          <a:xfrm>
            <a:off x="2865120" y="3923173"/>
            <a:ext cx="6065520" cy="2605862"/>
          </a:xfrm>
          <a:prstGeom prst="rect">
            <a:avLst/>
          </a:prstGeom>
        </p:spPr>
      </p:pic>
    </p:spTree>
    <p:extLst>
      <p:ext uri="{BB962C8B-B14F-4D97-AF65-F5344CB8AC3E}">
        <p14:creationId xmlns:p14="http://schemas.microsoft.com/office/powerpoint/2010/main" val="2548699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Custom 1">
      <a:majorFont>
        <a:latin typeface="Barlow"/>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ADI 2019 16x9 Light</Template>
  <TotalTime>3348</TotalTime>
  <Words>2498</Words>
  <Application>Microsoft Office PowerPoint</Application>
  <PresentationFormat>Widescreen</PresentationFormat>
  <Paragraphs>236</Paragraphs>
  <Slides>31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Arial</vt:lpstr>
      <vt:lpstr>Arial-BoldMT</vt:lpstr>
      <vt:lpstr>Barlow</vt:lpstr>
      <vt:lpstr>Courier</vt:lpstr>
      <vt:lpstr>Courier-Oblique</vt:lpstr>
      <vt:lpstr>Times New Roman</vt:lpstr>
      <vt:lpstr>Times-Bold</vt:lpstr>
      <vt:lpstr>Times-Italic</vt:lpstr>
      <vt:lpstr>Times-Roman</vt:lpstr>
      <vt:lpstr>Wingdings</vt:lpstr>
      <vt:lpstr>Wingdings 3</vt:lpstr>
      <vt:lpstr>1_ADITemplate</vt:lpstr>
      <vt:lpstr>PowerPoint Presentation</vt:lpstr>
      <vt:lpstr>Chapter content</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5.3 Coding for Portability</vt:lpstr>
      <vt:lpstr>5.3 Coding for Portability</vt:lpstr>
      <vt:lpstr>5.3 Coding for Portability</vt:lpstr>
      <vt:lpstr>5.3 Coding for Portability</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Slides: Header Titles (Arial 36 pt.)</dc:title>
  <dc:subject/>
  <dc:creator>Mehana, Ahmed</dc:creator>
  <cp:keywords/>
  <dc:description>ADI PowerPoint v.8 © 1995 - 2019 Analog Devices, Inc. All Rights Reserved</dc:description>
  <cp:lastModifiedBy>Omar Fahmy</cp:lastModifiedBy>
  <cp:revision>240</cp:revision>
  <cp:lastPrinted>2015-04-02T14:52:35Z</cp:lastPrinted>
  <dcterms:created xsi:type="dcterms:W3CDTF">2022-01-31T08:24:08Z</dcterms:created>
  <dcterms:modified xsi:type="dcterms:W3CDTF">2022-10-30T10:45:20Z</dcterms:modified>
  <cp:category/>
</cp:coreProperties>
</file>