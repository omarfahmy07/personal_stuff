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277" r:id="rId3"/>
    <p:sldId id="316" r:id="rId5"/>
    <p:sldId id="318" r:id="rId6"/>
    <p:sldId id="392" r:id="rId7"/>
    <p:sldId id="393" r:id="rId8"/>
    <p:sldId id="444" r:id="rId9"/>
    <p:sldId id="443" r:id="rId10"/>
    <p:sldId id="394" r:id="rId11"/>
    <p:sldId id="395" r:id="rId12"/>
    <p:sldId id="396" r:id="rId13"/>
    <p:sldId id="421" r:id="rId14"/>
    <p:sldId id="422" r:id="rId15"/>
    <p:sldId id="423" r:id="rId16"/>
    <p:sldId id="424" r:id="rId17"/>
    <p:sldId id="425" r:id="rId18"/>
    <p:sldId id="426" r:id="rId19"/>
    <p:sldId id="428" r:id="rId20"/>
    <p:sldId id="429" r:id="rId21"/>
    <p:sldId id="431" r:id="rId22"/>
    <p:sldId id="433" r:id="rId23"/>
    <p:sldId id="434" r:id="rId24"/>
    <p:sldId id="435" r:id="rId25"/>
    <p:sldId id="436" r:id="rId26"/>
    <p:sldId id="437" r:id="rId27"/>
    <p:sldId id="441" r:id="rId28"/>
    <p:sldId id="445" r:id="rId29"/>
    <p:sldId id="447" r:id="rId30"/>
    <p:sldId id="439" r:id="rId3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 " initials=" 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8EA"/>
    <a:srgbClr val="CBCED2"/>
    <a:srgbClr val="27B34F"/>
    <a:srgbClr val="009FBD"/>
    <a:srgbClr val="009F59"/>
    <a:srgbClr val="003D61"/>
    <a:srgbClr val="3DDCE6"/>
    <a:srgbClr val="7C4A8B"/>
    <a:srgbClr val="1E40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95" autoAdjust="0"/>
  </p:normalViewPr>
  <p:slideViewPr>
    <p:cSldViewPr snapToGrid="0" snapToObjects="1">
      <p:cViewPr varScale="1">
        <p:scale>
          <a:sx n="63" d="100"/>
          <a:sy n="63" d="100"/>
        </p:scale>
        <p:origin x="764" y="56"/>
      </p:cViewPr>
      <p:guideLst/>
    </p:cSldViewPr>
  </p:slideViewPr>
  <p:outlineViewPr>
    <p:cViewPr>
      <p:scale>
        <a:sx n="33" d="100"/>
        <a:sy n="33" d="100"/>
      </p:scale>
      <p:origin x="0" y="12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3" d="100"/>
          <a:sy n="113" d="100"/>
        </p:scale>
        <p:origin x="303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image" Target="../media/image21.e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200"/>
            </a:lvl1pPr>
          </a:lstStyle>
          <a:p>
            <a:endParaRPr lang="en-US" sz="10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597444" y="8829967"/>
            <a:ext cx="411333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200"/>
            </a:lvl1pPr>
          </a:lstStyle>
          <a:p>
            <a:fld id="{013FF889-DBB5-E540-8E75-47BFCA628842}" type="slidenum">
              <a:rPr lang="en-US" b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b="1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7839" y="8829967"/>
            <a:ext cx="3271521" cy="46482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Analog Devices Confidential Information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Header Placeholder 1"/>
          <p:cNvSpPr>
            <a:spLocks noGrp="1"/>
          </p:cNvSpPr>
          <p:nvPr>
            <p:ph type="hdr" sz="quarter"/>
          </p:nvPr>
        </p:nvSpPr>
        <p:spPr>
          <a:xfrm>
            <a:off x="1676234" y="108612"/>
            <a:ext cx="4282113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l">
              <a:defRPr sz="1200"/>
            </a:lvl1pPr>
          </a:lstStyle>
          <a:p>
            <a:endParaRPr lang="en-US" sz="1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2"/>
          <p:cNvSpPr>
            <a:spLocks noGrp="1"/>
          </p:cNvSpPr>
          <p:nvPr>
            <p:ph type="dt" sz="quarter" idx="1"/>
          </p:nvPr>
        </p:nvSpPr>
        <p:spPr>
          <a:xfrm>
            <a:off x="6056670" y="108612"/>
            <a:ext cx="952107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r">
              <a:defRPr sz="1200"/>
            </a:lvl1pPr>
          </a:lstStyle>
          <a:p>
            <a:fld id="{2C2AD557-2032-D74A-B281-F0540E660787}" type="datetimeFigureOut">
              <a:rPr lang="en-US" sz="10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10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51" y="108612"/>
            <a:ext cx="1323726" cy="53544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image" Target="../media/image21.e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814897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i="1" dirty="0">
                <a:solidFill>
                  <a:srgbClr val="FFFFFF">
                    <a:lumMod val="65000"/>
                  </a:srgbClr>
                </a:solidFill>
              </a:rPr>
              <a:t>Footer</a:t>
            </a:r>
            <a:endParaRPr lang="en-US" i="1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9360" y="8829967"/>
            <a:ext cx="699418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0B8651-D313-4300-801F-836567026953}" type="slidenum">
              <a:rPr lang="en-US" smtClean="0"/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37839" y="8829967"/>
            <a:ext cx="3271521" cy="46482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Analog Devices Confidential Information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1676234" y="108612"/>
            <a:ext cx="4282113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l">
              <a:defRPr sz="1200"/>
            </a:lvl1pPr>
          </a:lstStyle>
          <a:p>
            <a:endParaRPr lang="en-US" sz="10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Date Placeholder 2"/>
          <p:cNvSpPr>
            <a:spLocks noGrp="1"/>
          </p:cNvSpPr>
          <p:nvPr>
            <p:ph type="dt" sz="quarter" idx="1"/>
          </p:nvPr>
        </p:nvSpPr>
        <p:spPr>
          <a:xfrm>
            <a:off x="6056670" y="108612"/>
            <a:ext cx="952107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r">
              <a:defRPr sz="1200"/>
            </a:lvl1pPr>
          </a:lstStyle>
          <a:p>
            <a:fld id="{2C2AD557-2032-D74A-B281-F0540E660787}" type="datetimeFigureOut">
              <a:rPr lang="en-US" sz="10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10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1" y="108612"/>
            <a:ext cx="1323726" cy="53544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buClr>
        <a:schemeClr val="tx2"/>
      </a:buClr>
      <a:buSzPct val="75000"/>
      <a:buFont typeface="Wingdings 3" panose="05040102010807070707" pitchFamily="18" charset="2"/>
      <a:buChar char="u"/>
      <a:defRPr sz="1200" kern="1200">
        <a:solidFill>
          <a:schemeClr val="tx1">
            <a:lumMod val="50000"/>
            <a:lumOff val="50000"/>
          </a:schemeClr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4480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kern="1200">
        <a:solidFill>
          <a:schemeClr val="tx1">
            <a:lumMod val="50000"/>
            <a:lumOff val="50000"/>
          </a:schemeClr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51117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kern="1200">
        <a:solidFill>
          <a:schemeClr val="tx1">
            <a:lumMod val="50000"/>
            <a:lumOff val="50000"/>
          </a:schemeClr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68897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kern="1200">
        <a:solidFill>
          <a:schemeClr val="tx1">
            <a:lumMod val="50000"/>
            <a:lumOff val="50000"/>
          </a:schemeClr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855980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kern="1200">
        <a:solidFill>
          <a:schemeClr val="tx1">
            <a:lumMod val="50000"/>
            <a:lumOff val="50000"/>
          </a:schemeClr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814388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light cover slide option.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0B8651-D313-4300-801F-83656702695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svg"/><Relationship Id="rId5" Type="http://schemas.openxmlformats.org/officeDocument/2006/relationships/image" Target="../media/image3.png"/><Relationship Id="rId4" Type="http://schemas.openxmlformats.org/officeDocument/2006/relationships/image" Target="../media/image1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svg"/><Relationship Id="rId5" Type="http://schemas.openxmlformats.org/officeDocument/2006/relationships/image" Target="../media/image5.png"/><Relationship Id="rId4" Type="http://schemas.openxmlformats.org/officeDocument/2006/relationships/image" Target="../media/image1.svg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bg>
      <p:bgPr>
        <a:blipFill dpi="0" rotWithShape="1">
          <a:blip r:embed="rId2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2836333" y="-11006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5" name="Graphic 24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3" t="31368" r="520" b="18339"/>
          <a:stretch>
            <a:fillRect/>
          </a:stretch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>
            <a:off x="0" y="-5204"/>
            <a:ext cx="6281680" cy="6863204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  <a:alpha val="0"/>
                </a:schemeClr>
              </a:gs>
              <a:gs pos="100000">
                <a:schemeClr val="accent2">
                  <a:lumMod val="50000"/>
                  <a:alpha val="49901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16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2900" y="4587041"/>
            <a:ext cx="5570538" cy="276999"/>
          </a:xfrm>
        </p:spPr>
        <p:txBody>
          <a:bodyPr wrap="square" tIns="0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i="0" kern="1200" cap="none" baseline="0" dirty="0">
                <a:solidFill>
                  <a:schemeClr val="accent1">
                    <a:lumMod val="20000"/>
                    <a:lumOff val="80000"/>
                  </a:schemeClr>
                </a:solidFill>
                <a:latin typeface="Barlow" pitchFamily="2" charset="77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457200" rtl="0" eaLnBrk="1" latinLnBrk="0" hangingPunct="1">
              <a:spcBef>
                <a:spcPct val="20000"/>
              </a:spcBef>
              <a:buClr>
                <a:schemeClr val="bg2"/>
              </a:buClr>
              <a:buSzPct val="65000"/>
              <a:buFont typeface="Barlow"/>
              <a:buNone/>
            </a:pPr>
            <a:r>
              <a:rPr lang="en-US" dirty="0"/>
              <a:t>Click to Add Presenter/Subheading</a:t>
            </a:r>
            <a:endParaRPr lang="en-US" dirty="0"/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42900" y="3824707"/>
            <a:ext cx="5570538" cy="6647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90000"/>
              </a:lnSpc>
              <a:buNone/>
              <a:defRPr lang="en-US" sz="4800" b="0" i="0" kern="1200" baseline="0" dirty="0">
                <a:solidFill>
                  <a:schemeClr val="bg1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marL="0" lvl="0" indent="0" algn="l" defTabSz="457200" rtl="0" eaLnBrk="1" latinLnBrk="0" hangingPunct="1">
              <a:spcBef>
                <a:spcPts val="1000"/>
              </a:spcBef>
              <a:buClr>
                <a:schemeClr val="bg2"/>
              </a:buClr>
              <a:buSzPct val="75000"/>
              <a:buFont typeface="Barlow"/>
              <a:buNone/>
            </a:pPr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>
              <a:solidFill>
                <a:schemeClr val="bg1"/>
              </a:solidFill>
              <a:latin typeface="Barlow" pitchFamily="2" charset="77"/>
              <a:cs typeface="Arial Black" panose="020B0A04020102020204" pitchFamily="34" charset="0"/>
            </a:endParaRPr>
          </a:p>
        </p:txBody>
      </p:sp>
      <p:sp>
        <p:nvSpPr>
          <p:cNvPr id="13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A04020102020204" pitchFamily="34" charset="0"/>
              </a:defRPr>
            </a:lvl1pPr>
          </a:lstStyle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FE7A9806-8D44-470F-A42A-B0BB34D8E567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bg>
      <p:bgPr>
        <a:blipFill dpi="0" rotWithShape="1">
          <a:blip r:embed="rId2" cstate="screen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23045738" y="19288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1" name="Graphic 20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83" t="31368" r="520" b="18339"/>
          <a:stretch>
            <a:fillRect/>
          </a:stretch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2" name="Rectangle 21"/>
          <p:cNvSpPr/>
          <p:nvPr userDrawn="1"/>
        </p:nvSpPr>
        <p:spPr>
          <a:xfrm>
            <a:off x="0" y="-5204"/>
            <a:ext cx="6095999" cy="686320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9300117" y="4125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pic>
        <p:nvPicPr>
          <p:cNvPr id="24" name="Picture 16"/>
          <p:cNvPicPr>
            <a:picLocks noChangeAspect="1"/>
          </p:cNvPicPr>
          <p:nvPr userDrawn="1"/>
        </p:nvPicPr>
        <p:blipFill>
          <a:blip r:embed="rId5" cstate="screen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7472" y="4590288"/>
            <a:ext cx="5565966" cy="246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>
              <a:spcBef>
                <a:spcPts val="0"/>
              </a:spcBef>
              <a:buNone/>
              <a:defRPr lang="en-US" sz="2000" b="0" i="0" kern="1200" cap="none" baseline="0" dirty="0" smtClean="0">
                <a:solidFill>
                  <a:schemeClr val="accent2"/>
                </a:solidFill>
                <a:latin typeface="Barlow" pitchFamily="2" charset="77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500" i="1" kern="1200" dirty="0" smtClean="0">
                <a:solidFill>
                  <a:schemeClr val="accent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marL="0" lvl="0" indent="0" algn="l" defTabSz="457200" rtl="0" eaLnBrk="1" latinLnBrk="0" hangingPunct="1">
              <a:spcBef>
                <a:spcPct val="20000"/>
              </a:spcBef>
            </a:pPr>
            <a:r>
              <a:rPr lang="en-US" dirty="0"/>
              <a:t>Click To Add Presenter/Subheading</a:t>
            </a:r>
            <a:endParaRPr lang="en-US" dirty="0"/>
          </a:p>
        </p:txBody>
      </p:sp>
      <p:sp>
        <p:nvSpPr>
          <p:cNvPr id="26" name="Title Placeholder 2"/>
          <p:cNvSpPr>
            <a:spLocks noGrp="1"/>
          </p:cNvSpPr>
          <p:nvPr>
            <p:ph type="title" hasCustomPrompt="1"/>
          </p:nvPr>
        </p:nvSpPr>
        <p:spPr>
          <a:xfrm>
            <a:off x="347472" y="3827812"/>
            <a:ext cx="5565966" cy="664797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4800" i="0" dirty="0">
                <a:solidFill>
                  <a:schemeClr val="tx2"/>
                </a:solidFill>
              </a:defRPr>
            </a:lvl1pPr>
          </a:lstStyle>
          <a:p>
            <a:pPr lvl="0">
              <a:spcBef>
                <a:spcPts val="1000"/>
              </a:spcBef>
              <a:buClr>
                <a:schemeClr val="bg2"/>
              </a:buClr>
              <a:buSzPct val="75000"/>
              <a:buFont typeface="Barlow"/>
            </a:pPr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>
              <a:solidFill>
                <a:schemeClr val="bg1"/>
              </a:solidFill>
              <a:latin typeface="Barlow" pitchFamily="2" charset="77"/>
              <a:cs typeface="Arial Black" panose="020B0A04020102020204" pitchFamily="34" charset="0"/>
            </a:endParaRPr>
          </a:p>
        </p:txBody>
      </p:sp>
      <p:sp>
        <p:nvSpPr>
          <p:cNvPr id="13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A04020102020204" pitchFamily="34" charset="0"/>
              </a:defRPr>
            </a:lvl1pPr>
          </a:lstStyle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75E1FC71-41A5-4707-AA2A-6D924C0000AC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screen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5600" y="1066800"/>
            <a:ext cx="10274300" cy="4914900"/>
          </a:xfrm>
        </p:spPr>
        <p:txBody>
          <a:bodyPr lIns="0" tIns="0" rIns="0" bIns="0" anchor="t" anchorCtr="0"/>
          <a:lstStyle>
            <a:lvl1pPr marL="228600" indent="-228600">
              <a:buFont typeface="Arial" panose="020B0604020202020204" pitchFamily="34" charset="0"/>
              <a:buChar char="►"/>
              <a:defRPr/>
            </a:lvl1pPr>
            <a:lvl2pPr marL="4572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panose="05000000000000000000" pitchFamily="2" charset="2"/>
              <a:buChar char="§"/>
              <a:defRPr/>
            </a:lvl2pPr>
            <a:lvl3pPr marL="6858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9144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11430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12056533" y="15578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11" name="Title 5"/>
          <p:cNvSpPr>
            <a:spLocks noGrp="1"/>
          </p:cNvSpPr>
          <p:nvPr>
            <p:ph type="title" hasCustomPrompt="1"/>
          </p:nvPr>
        </p:nvSpPr>
        <p:spPr>
          <a:xfrm>
            <a:off x="342900" y="219456"/>
            <a:ext cx="10287000" cy="470898"/>
          </a:xfrm>
          <a:prstGeom prst="callout1">
            <a:avLst>
              <a:gd name="adj1" fmla="val 103511"/>
              <a:gd name="adj2" fmla="val 100069"/>
              <a:gd name="adj3" fmla="val 103502"/>
              <a:gd name="adj4" fmla="val -3408"/>
            </a:avLst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vert="horz" wrap="square" lIns="0" tIns="0" rIns="0" bIns="27432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accent2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A04020102020204" pitchFamily="34" charset="0"/>
              </a:defRPr>
            </a:lvl1pPr>
          </a:lstStyle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8.emf"/><Relationship Id="rId4" Type="http://schemas.openxmlformats.org/officeDocument/2006/relationships/image" Target="../media/image7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 cstate="screen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42900" y="218135"/>
            <a:ext cx="10299699" cy="470898"/>
          </a:xfrm>
          <a:prstGeom prst="rect">
            <a:avLst/>
          </a:prstGeom>
          <a:noFill/>
        </p:spPr>
        <p:txBody>
          <a:bodyPr vert="horz" wrap="square" lIns="0" tIns="0" rIns="0" bIns="27432" rtlCol="0" anchor="t" anchorCtr="0">
            <a:spAutoFit/>
          </a:bodyPr>
          <a:lstStyle/>
          <a:p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55600" y="1066800"/>
            <a:ext cx="10286999" cy="4914900"/>
          </a:xfrm>
          <a:prstGeom prst="rect">
            <a:avLst/>
          </a:prstGeom>
        </p:spPr>
        <p:txBody>
          <a:bodyPr vert="horz" lIns="0" tIns="228600" rIns="0" bIns="0" rtlCol="0" anchor="ctr" anchorCtr="0">
            <a:normAutofit/>
          </a:bodyPr>
          <a:lstStyle/>
          <a:p>
            <a:pPr lvl="0"/>
            <a:r>
              <a:rPr lang="en-US" dirty="0"/>
              <a:t>Click to edit</a:t>
            </a:r>
            <a:endParaRPr lang="en-US" dirty="0"/>
          </a:p>
          <a:p>
            <a:pPr marL="457200" lvl="1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panose="05000000000000000000" pitchFamily="2" charset="2"/>
              <a:buChar char="§"/>
            </a:pPr>
            <a:r>
              <a:rPr lang="en-US" dirty="0"/>
              <a:t>Second level</a:t>
            </a:r>
            <a:endParaRPr lang="en-US" dirty="0"/>
          </a:p>
          <a:p>
            <a:pPr marL="685800" lvl="2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  <a:endParaRPr lang="en-US" dirty="0"/>
          </a:p>
          <a:p>
            <a:pPr marL="914400" lvl="3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Fourth level</a:t>
            </a:r>
            <a:endParaRPr lang="en-US" dirty="0"/>
          </a:p>
          <a:p>
            <a:pPr marL="1143000" lvl="4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Fifth level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0919678" y="236303"/>
            <a:ext cx="991639" cy="398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/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>
              <a:solidFill>
                <a:schemeClr val="bg1"/>
              </a:solidFill>
              <a:latin typeface="Barlow" pitchFamily="2" charset="77"/>
              <a:cs typeface="Arial Black" panose="020B0A040201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A04020102020204" pitchFamily="34" charset="0"/>
              </a:defRPr>
            </a:lvl1pPr>
          </a:lstStyle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B7E9607F-8B9B-4283-A10B-E032341A492F}" type="datetime3">
              <a:rPr smtClean="0"/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2193324" y="28605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  <p:txStyles>
    <p:titleStyle>
      <a:lvl1pPr marL="0" indent="0" algn="l" defTabSz="457200" rtl="0" eaLnBrk="1" latinLnBrk="0" hangingPunct="1">
        <a:lnSpc>
          <a:spcPct val="80000"/>
        </a:lnSpc>
        <a:spcBef>
          <a:spcPct val="0"/>
        </a:spcBef>
        <a:buNone/>
        <a:defRPr sz="3600" b="0" i="0" kern="1200" spc="-100" baseline="0">
          <a:solidFill>
            <a:schemeClr val="accent2"/>
          </a:solidFill>
          <a:latin typeface="Barlow" pitchFamily="2" charset="77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bg2"/>
        </a:buClr>
        <a:buSzPct val="65000"/>
        <a:buFont typeface="Arial" panose="020B0604020202020204" pitchFamily="34" charset="0"/>
        <a:buChar char="►"/>
        <a:defRPr lang="en-US" sz="26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1pPr>
      <a:lvl2pPr marL="5143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 panose="020B0604020202020204"/>
        <a:buChar char="–"/>
        <a:defRPr lang="en-US" sz="20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2pPr>
      <a:lvl3pPr marL="7429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 panose="020B0604020202020204"/>
        <a:buChar char="•"/>
        <a:defRPr lang="en-US" sz="18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3pPr>
      <a:lvl4pPr marL="9715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 panose="020B0604020202020204"/>
        <a:buChar char="–"/>
        <a:defRPr lang="en-US" sz="1200" b="0" i="0" kern="120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 panose="020B0604020202020204"/>
        <a:buChar char="»"/>
        <a:defRPr lang="en-US" sz="1200" b="0" i="0" kern="1200" baseline="0" dirty="0">
          <a:solidFill>
            <a:srgbClr val="000000"/>
          </a:solidFill>
          <a:latin typeface="Barlow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42900" y="4587041"/>
            <a:ext cx="6470276" cy="553998"/>
          </a:xfrm>
        </p:spPr>
        <p:txBody>
          <a:bodyPr/>
          <a:lstStyle/>
          <a:p>
            <a:r>
              <a:rPr lang="en-US" dirty="0"/>
              <a:t>Reuse Methodology Manual for System-On-Chip Designs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2900" y="2981325"/>
            <a:ext cx="9794875" cy="1508125"/>
          </a:xfrm>
        </p:spPr>
        <p:txBody>
          <a:bodyPr wrap="square"/>
          <a:lstStyle/>
          <a:p>
            <a:pPr algn="l"/>
            <a:r>
              <a:rPr lang="en-US" dirty="0"/>
              <a:t>Chapter 6: Macro Synthesis</a:t>
            </a:r>
            <a:endParaRPr lang="en-US" dirty="0"/>
          </a:p>
          <a:p>
            <a:pPr algn="l"/>
            <a:r>
              <a:rPr lang="en-US" dirty="0"/>
              <a:t>Guidelines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>
            <a:normAutofit/>
          </a:bodyPr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</p:spPr>
        <p:txBody>
          <a:bodyPr/>
          <a:lstStyle/>
          <a:p>
            <a:fld id="{430F8550-9198-4116-B655-9B08CBD80A03}" type="datetime3">
              <a:rPr smtClean="0"/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5600" y="1421765"/>
            <a:ext cx="11236960" cy="5187950"/>
          </a:xfrm>
        </p:spPr>
        <p:txBody>
          <a:bodyPr>
            <a:normAutofit lnSpcReduction="10000"/>
          </a:bodyPr>
          <a:lstStyle/>
          <a:p>
            <a:pPr marL="0" indent="0">
              <a:buSzPct val="100000"/>
              <a:buNone/>
            </a:pPr>
            <a:r>
              <a:rPr lang="en-GB" altLang="en-US" sz="2400" b="1" i="0" dirty="0">
                <a:solidFill>
                  <a:srgbClr val="000000"/>
                </a:solidFill>
                <a:effectLst/>
                <a:latin typeface="Times-Bold"/>
              </a:rPr>
              <a:t>The guidelines </a:t>
            </a:r>
            <a:r>
              <a:rPr altLang="en-GB" sz="2400" b="1" i="0" dirty="0">
                <a:solidFill>
                  <a:srgbClr val="000000"/>
                </a:solidFill>
                <a:effectLst/>
                <a:latin typeface="Times-Bold"/>
              </a:rPr>
              <a:t>discussed in this chapter : </a:t>
            </a:r>
            <a:endParaRPr lang="en-GB" sz="1600" dirty="0"/>
          </a:p>
          <a:p>
            <a:pPr marL="0" indent="0">
              <a:lnSpc>
                <a:spcPct val="100000"/>
              </a:lnSpc>
              <a:buSzPct val="100000"/>
              <a:buNone/>
            </a:pPr>
            <a:r>
              <a:rPr altLang="en-GB" sz="2500" b="1" dirty="0">
                <a:latin typeface="Arial-BoldMT"/>
              </a:rPr>
              <a:t> </a:t>
            </a:r>
            <a:r>
              <a:rPr alt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altLang="en-GB" sz="2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synthesis scripts</a:t>
            </a:r>
            <a: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integrators to synthesis macros </a:t>
            </a:r>
            <a:b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&amp; to meet timing .</a:t>
            </a:r>
            <a:b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</a:t>
            </a:r>
            <a:r>
              <a:rPr altLang="en-GB" sz="2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</a:t>
            </a:r>
            <a: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reusable macro . </a:t>
            </a:r>
            <a:b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alt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altLang="en-GB" sz="2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</a:t>
            </a:r>
            <a: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synthesis</a:t>
            </a:r>
            <a:r>
              <a:rPr alt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GB" sz="2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25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–</a:t>
            </a:r>
            <a:r>
              <a:rPr altLang="en-GB" sz="25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Guidelines</a:t>
            </a:r>
            <a:r>
              <a:rPr altLang="en-GB" sz="25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RAM &amp; data-path generators </a:t>
            </a:r>
            <a:r>
              <a:rPr lang="en-GB" sz="250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5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–</a:t>
            </a:r>
            <a:r>
              <a:rPr altLang="en-GB" sz="25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Coding</a:t>
            </a:r>
            <a:r>
              <a:rPr altLang="en-GB" sz="25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guidelines for synthesis scripts . 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GB" sz="1100" dirty="0"/>
            </a:br>
            <a:endParaRPr lang="en-GB" sz="1600" dirty="0"/>
          </a:p>
          <a:p>
            <a:pPr marL="0" indent="0">
              <a:buSzPct val="100000"/>
              <a:buNone/>
            </a:pP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913129"/>
          </a:xfrm>
        </p:spPr>
        <p:txBody>
          <a:bodyPr/>
          <a:lstStyle/>
          <a:p>
            <a:r>
              <a:rPr lang="en-US" dirty="0"/>
              <a:t>6 </a:t>
            </a:r>
            <a:r>
              <a:rPr>
                <a:sym typeface="+mn-ea"/>
              </a:rPr>
              <a:t> Macro Synthesis Guidelines</a:t>
            </a:r>
            <a:br>
              <a:rPr lang="en-US" dirty="0"/>
            </a:br>
            <a:r>
              <a:rPr lang="en-US" dirty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5600" y="1066800"/>
            <a:ext cx="11236960" cy="5543218"/>
          </a:xfrm>
        </p:spPr>
        <p:txBody>
          <a:bodyPr>
            <a:normAutofit fontScale="90000" lnSpcReduction="20000"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6.1 Overview of the Synthesis Problem</a:t>
            </a:r>
            <a:endParaRPr sz="2400" b="1"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 i="0" dirty="0">
                <a:solidFill>
                  <a:srgbClr val="000000"/>
                </a:solidFill>
                <a:effectLst/>
                <a:latin typeface="Times-Bold"/>
              </a:rPr>
              <a:t>For soft macros designs : </a:t>
            </a:r>
            <a:br>
              <a:rPr altLang="en-GB" sz="2400" b="1" i="0" dirty="0">
                <a:solidFill>
                  <a:srgbClr val="000000"/>
                </a:solidFill>
                <a:effectLst/>
                <a:latin typeface="Times-Bold"/>
              </a:rPr>
            </a:br>
            <a:br>
              <a:rPr altLang="en-GB" sz="2400" b="1" i="0" dirty="0">
                <a:solidFill>
                  <a:srgbClr val="000000"/>
                </a:solidFill>
                <a:effectLst/>
                <a:latin typeface="Times-Bold"/>
              </a:rPr>
            </a:br>
            <a:r>
              <a:rPr altLang="en-GB" sz="2665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Synthesis and timing</a:t>
            </a:r>
            <a:r>
              <a:rPr altLang="en-GB" sz="2665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 must start at the beginning of the macro design cycle as follows:</a:t>
            </a:r>
            <a:br>
              <a:rPr altLang="en-GB" sz="2665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665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altLang="en-GB" sz="2665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altLang="en-GB" sz="2665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specifications for the macro must describe the </a:t>
            </a:r>
            <a:r>
              <a:rPr altLang="en-GB" sz="2665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timing</a:t>
            </a:r>
            <a:r>
              <a:rPr altLang="en-GB" sz="2665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altLang="en-GB" sz="2665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altLang="en-GB" sz="2665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altLang="en-GB" sz="2665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altLang="en-GB" sz="2665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altLang="en-GB" sz="2665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665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for the design.</a:t>
            </a:r>
            <a:endParaRPr lang="en-GB" sz="26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SzPct val="100000"/>
              <a:buFont typeface="Arial" panose="020B0604020202020204" pitchFamily="34" charset="0"/>
              <a:buNone/>
            </a:pPr>
            <a:r>
              <a:rPr altLang="en-GB" sz="266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altLang="en-GB" sz="2665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</a:t>
            </a:r>
            <a: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timing </a:t>
            </a:r>
            <a:r>
              <a:rPr altLang="en-GB" sz="266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critical </a:t>
            </a:r>
            <a: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blocks detailed technical specs. should be provided such as :</a:t>
            </a:r>
            <a:b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Tehcnical specs for macro </a:t>
            </a:r>
            <a:r>
              <a:rPr lang="en-GB" altLang="en-US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 </a:t>
            </a:r>
            <a: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its sub-blocks describing </a:t>
            </a:r>
            <a:r>
              <a:rPr altLang="en-GB" sz="2665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timing</a:t>
            </a:r>
            <a: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, </a:t>
            </a:r>
            <a:r>
              <a:rPr altLang="en-GB" sz="2665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interfaces in details </a:t>
            </a:r>
            <a:br>
              <a:rPr altLang="en-GB" sz="2665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665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</a:t>
            </a:r>
            <a:r>
              <a:rPr altLang="en-GB" sz="2665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(Ex. Inputs and outputs </a:t>
            </a:r>
            <a:r>
              <a:rPr altLang="en-GB" sz="2665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delays and loading </a:t>
            </a:r>
            <a:r>
              <a:rPr altLang="en-GB" sz="2665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altLang="en-GB" sz="2665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GB" sz="266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GB" sz="2665" dirty="0"/>
          </a:p>
          <a:p>
            <a:pPr marL="0" indent="0">
              <a:lnSpc>
                <a:spcPct val="100000"/>
              </a:lnSpc>
              <a:buSzPct val="100000"/>
              <a:buFont typeface="Arial" panose="020B0604020202020204" pitchFamily="34" charset="0"/>
              <a:buNone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- RTL coding should aim to meet 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both timing and functionality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, as th</a:t>
            </a:r>
            <a: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approach of functionality   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comes first then fixing timing issues can cause an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overall poor performance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. 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Arial-BoldMT"/>
                <a:sym typeface="+mn-ea"/>
              </a:rPr>
            </a:br>
            <a:r>
              <a:rPr altLang="en-GB" sz="2400" b="1">
                <a:effectLst/>
                <a:latin typeface="Arial-BoldMT"/>
                <a:sym typeface="+mn-ea"/>
              </a:rPr>
              <a:t>                  </a:t>
            </a:r>
            <a:br>
              <a:rPr altLang="en-GB" sz="2400" b="1">
                <a:effectLst/>
                <a:latin typeface="Arial-BoldMT"/>
                <a:sym typeface="+mn-ea"/>
              </a:rPr>
            </a:br>
            <a:r>
              <a:rPr altLang="en-GB" sz="2400" b="1">
                <a:effectLst/>
                <a:latin typeface="Arial-BoldMT"/>
                <a:sym typeface="+mn-ea"/>
              </a:rPr>
              <a:t>  If those guidlines are followed , then macro meets timing as each module </a:t>
            </a:r>
            <a:br>
              <a:rPr altLang="en-GB" sz="2400" b="1">
                <a:effectLst/>
                <a:latin typeface="Arial-BoldMT"/>
                <a:sym typeface="+mn-ea"/>
              </a:rPr>
            </a:br>
            <a:r>
              <a:rPr altLang="en-GB" sz="2400" b="1">
                <a:effectLst/>
                <a:latin typeface="Arial-BoldMT"/>
                <a:sym typeface="+mn-ea"/>
              </a:rPr>
              <a:t>  follows its timing budget .         </a:t>
            </a:r>
            <a:br>
              <a:rPr altLang="en-GB" sz="2400" b="1" dirty="0">
                <a:latin typeface="Arial-BoldMT"/>
              </a:rPr>
            </a:b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5600" y="1066800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  Macro Synthesis Strategy</a:t>
            </a:r>
            <a:endParaRPr sz="2400" b="1"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 i="0" dirty="0">
                <a:solidFill>
                  <a:srgbClr val="000000"/>
                </a:solidFill>
                <a:effectLst/>
                <a:latin typeface="Times-Bold"/>
              </a:rPr>
              <a:t>There ‘re two main synthesis strategies : </a:t>
            </a:r>
            <a:br>
              <a:rPr altLang="en-GB" sz="2400" b="1" i="0" dirty="0">
                <a:solidFill>
                  <a:srgbClr val="000000"/>
                </a:solidFill>
                <a:effectLst/>
                <a:latin typeface="Times-Bold"/>
              </a:rPr>
            </a:br>
            <a:br>
              <a:rPr altLang="en-GB" sz="2400" b="1" i="0" dirty="0">
                <a:solidFill>
                  <a:srgbClr val="000000"/>
                </a:solidFill>
                <a:effectLst/>
                <a:latin typeface="Times-Bold"/>
              </a:rPr>
            </a:br>
            <a:r>
              <a:rPr altLang="en-GB" sz="2400" b="1">
                <a:effectLst/>
                <a:latin typeface="Arial-BoldMT"/>
                <a:sym typeface="+mn-ea"/>
              </a:rPr>
              <a:t>    </a:t>
            </a:r>
            <a:br>
              <a:rPr altLang="en-GB" sz="2400" b="1" dirty="0">
                <a:latin typeface="Arial-BoldMT"/>
              </a:rPr>
            </a:b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graphicFrame>
        <p:nvGraphicFramePr>
          <p:cNvPr id="7" name="Table 6"/>
          <p:cNvGraphicFramePr/>
          <p:nvPr/>
        </p:nvGraphicFramePr>
        <p:xfrm>
          <a:off x="967105" y="2196465"/>
          <a:ext cx="8533130" cy="42037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39285"/>
                <a:gridCol w="4093845"/>
              </a:tblGrid>
              <a:tr h="1031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2400">
                          <a:solidFill>
                            <a:schemeClr val="tx1"/>
                          </a:solidFill>
                        </a:rPr>
                        <a:t>Top-down strategy</a:t>
                      </a:r>
                      <a:endParaRPr lang="en-US" alt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2400">
                          <a:solidFill>
                            <a:schemeClr val="tx1"/>
                          </a:solidFill>
                          <a:sym typeface="+mn-ea"/>
                        </a:rPr>
                        <a:t>bottom-up strategy</a:t>
                      </a:r>
                      <a:endParaRPr lang="en-US" altLang="en-GB" sz="24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altLang="en-GB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171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2000">
                          <a:solidFill>
                            <a:schemeClr val="tx1"/>
                          </a:solidFill>
                        </a:rPr>
                        <a:t>-It consists of setting </a:t>
                      </a:r>
                      <a:r>
                        <a:rPr lang="en-US" altLang="en-GB" sz="2000">
                          <a:solidFill>
                            <a:srgbClr val="FFC000"/>
                          </a:solidFill>
                        </a:rPr>
                        <a:t>top-level constrains</a:t>
                      </a:r>
                      <a:endParaRPr lang="en-US" altLang="en-GB" sz="2000">
                        <a:solidFill>
                          <a:srgbClr val="FFC00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2000">
                          <a:solidFill>
                            <a:schemeClr val="tx1"/>
                          </a:solidFill>
                        </a:rPr>
                        <a:t>then letting the tool </a:t>
                      </a:r>
                      <a:r>
                        <a:rPr lang="en-US" altLang="en-GB" sz="20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partition timing</a:t>
                      </a:r>
                      <a:r>
                        <a:rPr lang="en-US" altLang="en-GB" sz="2000">
                          <a:solidFill>
                            <a:schemeClr val="tx1"/>
                          </a:solidFill>
                        </a:rPr>
                        <a:t> between inside blocks . </a:t>
                      </a:r>
                      <a:endParaRPr lang="en-US" altLang="en-GB" sz="2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2000">
                          <a:solidFill>
                            <a:schemeClr val="tx1"/>
                          </a:solidFill>
                        </a:rPr>
                        <a:t>-Synthesis is done in one pass on the entire macro .</a:t>
                      </a:r>
                      <a:endParaRPr lang="en-US" altLang="en-GB" sz="2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2000">
                          <a:solidFill>
                            <a:schemeClr val="tx1"/>
                          </a:solidFill>
                        </a:rPr>
                        <a:t>-It’s advisable for the designs under </a:t>
                      </a:r>
                      <a:r>
                        <a:rPr lang="en-US" altLang="en-GB" sz="2000">
                          <a:solidFill>
                            <a:srgbClr val="C00000"/>
                          </a:solidFill>
                        </a:rPr>
                        <a:t>10K</a:t>
                      </a:r>
                      <a:r>
                        <a:rPr lang="en-US" altLang="en-GB" sz="2000">
                          <a:solidFill>
                            <a:schemeClr val="tx1"/>
                          </a:solidFill>
                        </a:rPr>
                        <a:t> gates , as it gives a good results in this range .</a:t>
                      </a:r>
                      <a:endParaRPr lang="en-US" altLang="en-GB" sz="2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2000">
                          <a:solidFill>
                            <a:schemeClr val="tx1"/>
                          </a:solidFill>
                        </a:rPr>
                        <a:t>-Simpler strategy in case design is </a:t>
                      </a:r>
                      <a:r>
                        <a:rPr lang="en-US" altLang="en-GB" sz="2000">
                          <a:solidFill>
                            <a:srgbClr val="00B050"/>
                          </a:solidFill>
                        </a:rPr>
                        <a:t>well partitioned</a:t>
                      </a:r>
                      <a:r>
                        <a:rPr lang="en-US" altLang="en-GB" sz="2000">
                          <a:solidFill>
                            <a:schemeClr val="tx1"/>
                          </a:solidFill>
                        </a:rPr>
                        <a:t> .</a:t>
                      </a:r>
                      <a:endParaRPr lang="en-US" altLang="en-GB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2000">
                          <a:solidFill>
                            <a:schemeClr val="tx1"/>
                          </a:solidFill>
                          <a:sym typeface="+mn-ea"/>
                        </a:rPr>
                        <a:t>-It consists of setting constrains </a:t>
                      </a:r>
                      <a:r>
                        <a:rPr lang="en-US" altLang="en-GB" sz="2000">
                          <a:solidFill>
                            <a:srgbClr val="FFC000"/>
                          </a:solidFill>
                          <a:sym typeface="+mn-ea"/>
                        </a:rPr>
                        <a:t>for each module inside the macro</a:t>
                      </a:r>
                      <a:r>
                        <a:rPr lang="en-US" altLang="en-GB" sz="2000">
                          <a:solidFill>
                            <a:schemeClr val="tx1"/>
                          </a:solidFill>
                          <a:sym typeface="+mn-ea"/>
                        </a:rPr>
                        <a:t> .</a:t>
                      </a:r>
                      <a:endParaRPr lang="en-US" altLang="en-GB" sz="2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2000">
                          <a:solidFill>
                            <a:schemeClr val="tx1"/>
                          </a:solidFill>
                        </a:rPr>
                        <a:t>-Syhthesis is done on the lowest block first then performed on the higher levels.</a:t>
                      </a:r>
                      <a:endParaRPr lang="en-US" altLang="en-GB" sz="2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2000">
                          <a:solidFill>
                            <a:schemeClr val="tx1"/>
                          </a:solidFill>
                          <a:sym typeface="+mn-ea"/>
                        </a:rPr>
                        <a:t>-It’s advisable for the designs larger than </a:t>
                      </a:r>
                      <a:r>
                        <a:rPr lang="en-US" altLang="en-GB" sz="2000">
                          <a:solidFill>
                            <a:srgbClr val="C00000"/>
                          </a:solidFill>
                          <a:sym typeface="+mn-ea"/>
                        </a:rPr>
                        <a:t>100K</a:t>
                      </a:r>
                      <a:r>
                        <a:rPr lang="en-US" altLang="en-GB" sz="2000">
                          <a:solidFill>
                            <a:schemeClr val="tx1"/>
                          </a:solidFill>
                          <a:sym typeface="+mn-ea"/>
                        </a:rPr>
                        <a:t> gates , or desings that has </a:t>
                      </a:r>
                      <a:r>
                        <a:rPr lang="en-US" altLang="en-GB" sz="2000">
                          <a:solidFill>
                            <a:srgbClr val="C00000"/>
                          </a:solidFill>
                          <a:sym typeface="+mn-ea"/>
                        </a:rPr>
                        <a:t>aggressive performance</a:t>
                      </a:r>
                      <a:r>
                        <a:rPr lang="en-US" altLang="en-GB" sz="2000">
                          <a:solidFill>
                            <a:schemeClr val="tx1"/>
                          </a:solidFill>
                          <a:sym typeface="+mn-ea"/>
                        </a:rPr>
                        <a:t> goals.</a:t>
                      </a:r>
                      <a:endParaRPr lang="en-US" altLang="en-GB" sz="20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2000">
                          <a:solidFill>
                            <a:schemeClr val="tx1"/>
                          </a:solidFill>
                        </a:rPr>
                        <a:t>-It leads to </a:t>
                      </a:r>
                      <a:r>
                        <a:rPr lang="en-US" altLang="en-GB" sz="2000">
                          <a:solidFill>
                            <a:srgbClr val="00B050"/>
                          </a:solidFill>
                        </a:rPr>
                        <a:t>faster runtime  </a:t>
                      </a:r>
                      <a:r>
                        <a:rPr lang="en-US" altLang="en-GB" sz="2000">
                          <a:solidFill>
                            <a:schemeClr val="tx1"/>
                          </a:solidFill>
                          <a:sym typeface="+mn-ea"/>
                        </a:rPr>
                        <a:t>.</a:t>
                      </a:r>
                      <a:endParaRPr lang="en-US" altLang="en-GB" sz="20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66800"/>
            <a:ext cx="12191365" cy="5791200"/>
          </a:xfrm>
        </p:spPr>
        <p:txBody>
          <a:bodyPr>
            <a:normAutofit fontScale="25000"/>
          </a:bodyPr>
          <a:lstStyle/>
          <a:p>
            <a:pPr marL="0" indent="0">
              <a:buSzPct val="100000"/>
              <a:buNone/>
            </a:pPr>
            <a:r>
              <a:rPr sz="10665" b="1">
                <a:sym typeface="+mn-ea"/>
              </a:rPr>
              <a:t>6.2.1  Macro Timing Constraints</a:t>
            </a:r>
            <a:endParaRPr sz="10665" b="1">
              <a:sym typeface="+mn-ea"/>
            </a:endParaRPr>
          </a:p>
          <a:p>
            <a:pPr>
              <a:buSzPct val="100000"/>
            </a:pPr>
            <a:r>
              <a:rPr altLang="en-GB" sz="8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 –</a:t>
            </a:r>
            <a:r>
              <a:rPr altLang="en-GB" sz="8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Timing budget must be defined at </a:t>
            </a:r>
            <a:r>
              <a:rPr altLang="en-GB" sz="80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specification process</a:t>
            </a:r>
            <a:r>
              <a:rPr altLang="en-GB" sz="8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before the design is </a:t>
            </a:r>
            <a:r>
              <a:rPr altLang="en-GB" sz="80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partitioned</a:t>
            </a:r>
            <a:r>
              <a:rPr altLang="en-GB" sz="8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into blocks or </a:t>
            </a:r>
            <a:r>
              <a:rPr altLang="en-GB" sz="80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coded</a:t>
            </a:r>
            <a:r>
              <a:rPr altLang="en-GB" sz="8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, and should be </a:t>
            </a:r>
            <a:r>
              <a:rPr altLang="en-GB" sz="800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reviewed</a:t>
            </a:r>
            <a:r>
              <a:rPr altLang="en-GB" sz="8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during the design to make sure it’s still reasonable .</a:t>
            </a:r>
            <a:br>
              <a:rPr altLang="en-GB" sz="8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8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fully define a timing budget the following specs. must be specified:</a:t>
            </a:r>
            <a:endParaRPr altLang="en-GB" sz="800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altLang="en-GB" sz="80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Clock definition (Clk-period , Duty-cycle, ...)  </a:t>
            </a:r>
            <a:br>
              <a:rPr altLang="en-GB" sz="80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80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create_clock</a:t>
            </a:r>
            <a:r>
              <a:rPr altLang="en-GB" sz="80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-period &lt;number_in_ns&gt; -waveform &lt;arg1 arg2 ...&gt; \</a:t>
            </a:r>
            <a:br>
              <a:rPr altLang="en-GB" sz="80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80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[get_ports &lt;clock_port_name&gt;]</a:t>
            </a:r>
            <a:br>
              <a:rPr altLang="en-GB" sz="80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80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Where</a:t>
            </a:r>
            <a:r>
              <a:rPr altLang="en-GB" sz="800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arg1</a:t>
            </a:r>
            <a:r>
              <a:rPr altLang="en-GB" sz="80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&amp; </a:t>
            </a:r>
            <a:r>
              <a:rPr altLang="en-GB" sz="800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arg2 </a:t>
            </a:r>
            <a:r>
              <a:rPr altLang="en-GB" sz="80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are the rising and failing times of the waveform </a:t>
            </a:r>
            <a:endParaRPr altLang="en-GB" sz="800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altLang="en-GB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Setup time requirements for all signals going into the macro.</a:t>
            </a:r>
            <a:br>
              <a:rPr altLang="en-GB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altLang="en-GB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000000"/>
              </a:buClr>
              <a:buSzPct val="100000"/>
              <a:buNone/>
            </a:pPr>
            <a:br>
              <a:rPr alt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altLang="en-GB" sz="2400" b="1" dirty="0">
                <a:solidFill>
                  <a:schemeClr val="tx1"/>
                </a:solidFill>
                <a:latin typeface="Arial-BoldMT"/>
              </a:rPr>
            </a:br>
            <a:endParaRPr lang="en-US" altLang="en-GB" sz="2400" b="1" dirty="0">
              <a:solidFill>
                <a:schemeClr val="tx1"/>
              </a:solidFill>
              <a:latin typeface="Arial-BoldMT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pic>
        <p:nvPicPr>
          <p:cNvPr id="9" name="Picture 8" descr="SetupHold_Fig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0" y="4286250"/>
            <a:ext cx="6411595" cy="2172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66800"/>
            <a:ext cx="12191365" cy="5791200"/>
          </a:xfrm>
        </p:spPr>
        <p:txBody>
          <a:bodyPr>
            <a:normAutofit fontScale="25000"/>
          </a:bodyPr>
          <a:lstStyle/>
          <a:p>
            <a:pPr marL="0" indent="0">
              <a:buSzPct val="100000"/>
              <a:buNone/>
            </a:pPr>
            <a:r>
              <a:rPr sz="10665" b="1">
                <a:sym typeface="+mn-ea"/>
              </a:rPr>
              <a:t>6.2.1  Macro Timing Constraints</a:t>
            </a:r>
            <a:endParaRPr sz="10665" b="1">
              <a:sym typeface="+mn-ea"/>
            </a:endParaRPr>
          </a:p>
          <a:p>
            <a:pPr marL="457200" indent="-457200">
              <a:buClr>
                <a:srgbClr val="000000"/>
              </a:buClr>
              <a:buSzPct val="100000"/>
              <a:buFont typeface="+mj-lt"/>
              <a:buAutoNum type="arabicPeriod" startAt="3"/>
            </a:pPr>
            <a: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Clock-to-outputdelay requirements for all synchronous outputs of the macro . (</a:t>
            </a:r>
            <a:r>
              <a:rPr altLang="en-GB" sz="8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tcq</a:t>
            </a:r>
            <a: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).</a:t>
            </a:r>
            <a:r>
              <a:rPr lang="en-GB" altLang="en-US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altLang="en-GB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000000"/>
              </a:buClr>
              <a:buSzPct val="100000"/>
              <a:buFont typeface="+mj-lt"/>
              <a:buAutoNum type="arabicPeriod" startAt="3"/>
            </a:pPr>
            <a: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Input and output delays for all combinational paths through the macro . </a:t>
            </a:r>
            <a:b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8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set_input_delay</a:t>
            </a:r>
            <a: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-max &lt;number_in_ns&gt;  -clock &lt;clock_name&gt; [remove_from_collection[all_inputs] \</a:t>
            </a:r>
            <a:b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[get_ports &lt;clock_port_name&gt;]]        #Set the input delay constraint to a specific value</a:t>
            </a:r>
            <a:endParaRPr altLang="en-GB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000000"/>
              </a:buClr>
              <a:buSzPct val="100000"/>
              <a:buFont typeface="+mj-lt"/>
              <a:buNone/>
            </a:pPr>
            <a:r>
              <a:rPr lang="en-GB" altLang="en-US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</a:t>
            </a:r>
            <a:r>
              <a:rPr altLang="en-GB" sz="8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set_output_delay</a:t>
            </a:r>
            <a: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-max &lt;number_in_ns&gt; -clock &lt;clock_name&gt; [all-outputs]</a:t>
            </a:r>
            <a:b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8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Clr>
                <a:srgbClr val="000000"/>
              </a:buClr>
              <a:buSzPct val="100000"/>
              <a:buNone/>
            </a:pPr>
            <a:br>
              <a:rPr altLang="en-GB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000000"/>
              </a:buClr>
              <a:buSzPct val="100000"/>
              <a:buNone/>
            </a:pPr>
            <a:br>
              <a:rPr alt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altLang="en-GB" sz="2400" b="1" dirty="0">
                <a:solidFill>
                  <a:schemeClr val="tx1"/>
                </a:solidFill>
                <a:latin typeface="Arial-BoldMT"/>
              </a:rPr>
            </a:br>
            <a:endParaRPr lang="en-US" altLang="en-GB" sz="2400" b="1" dirty="0">
              <a:solidFill>
                <a:schemeClr val="tx1"/>
              </a:solidFill>
              <a:latin typeface="Arial-BoldMT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pic>
        <p:nvPicPr>
          <p:cNvPr id="7" name="Picture 6" descr="Untitled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3607435"/>
            <a:ext cx="9231630" cy="2149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66800"/>
            <a:ext cx="12191365" cy="5542915"/>
          </a:xfrm>
        </p:spPr>
        <p:txBody>
          <a:bodyPr>
            <a:normAutofit fontScale="25000"/>
          </a:bodyPr>
          <a:lstStyle/>
          <a:p>
            <a:pPr marL="0" indent="0">
              <a:buSzPct val="100000"/>
              <a:buNone/>
            </a:pPr>
            <a:r>
              <a:rPr sz="10665" b="1">
                <a:sym typeface="+mn-ea"/>
              </a:rPr>
              <a:t>6.2.1  Macro Timing Constraints</a:t>
            </a:r>
            <a:endParaRPr sz="10665" b="1">
              <a:sym typeface="+mn-ea"/>
            </a:endParaRPr>
          </a:p>
          <a:p>
            <a:pPr marL="457200" indent="-457200">
              <a:buClr>
                <a:srgbClr val="000000"/>
              </a:buClr>
              <a:buSzPct val="100000"/>
              <a:buAutoNum type="arabicPeriod"/>
            </a:pPr>
            <a: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Loading budget for outputs and driving cell for inputs.</a:t>
            </a:r>
            <a:b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It's done</a:t>
            </a:r>
            <a:r>
              <a:rPr altLang="en-GB" sz="8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make sure that when our design is integrated into larger system it won't fail to drive cells</a:t>
            </a:r>
            <a: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after it, or fail to be drived from previous cells. </a:t>
            </a:r>
            <a:r>
              <a:rPr lang="en-GB" altLang="en-US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It’s done by estimating an appropriate number of other major blocks our design may have to drive .</a:t>
            </a:r>
            <a:br>
              <a:rPr lang="en-GB" altLang="en-US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GB" altLang="en-US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000000"/>
              </a:buClr>
              <a:buSzPct val="100000"/>
              <a:buAutoNum type="arabicPeriod"/>
            </a:pPr>
            <a:r>
              <a:rPr altLang="en-GB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Operating conditions, including temperature and voltage</a:t>
            </a:r>
            <a:r>
              <a:rPr lang="en-GB" altLang="en-US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:</a:t>
            </a:r>
            <a:br>
              <a:rPr lang="en-GB" altLang="en-US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GB" altLang="en-US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It’s also known as the sign-off corners .</a:t>
            </a:r>
            <a:endParaRPr lang="en-GB" altLang="en-US" sz="8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Clr>
                <a:srgbClr val="000000"/>
              </a:buClr>
              <a:buSzPct val="100000"/>
              <a:buNone/>
            </a:pPr>
            <a:br>
              <a:rPr lang="en-GB" altLang="en-US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GB" altLang="en-US" sz="8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altLang="en-GB" sz="2400" b="1" dirty="0">
                <a:solidFill>
                  <a:schemeClr val="tx1"/>
                </a:solidFill>
                <a:latin typeface="Arial-BoldMT"/>
              </a:rPr>
            </a:br>
            <a:endParaRPr lang="en-US" altLang="en-GB" sz="2400" b="1" dirty="0">
              <a:solidFill>
                <a:schemeClr val="tx1"/>
              </a:solidFill>
              <a:latin typeface="Arial-BoldMT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pic>
        <p:nvPicPr>
          <p:cNvPr id="7" name="Picture 6" descr="Untitl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1965" y="2567940"/>
            <a:ext cx="4584700" cy="85217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2331085" y="2615565"/>
            <a:ext cx="2080260" cy="7569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GB" altLang="en-US"/>
              <a:t>block 1</a:t>
            </a:r>
            <a:endParaRPr lang="en-GB" alt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530860" y="4162425"/>
          <a:ext cx="11696065" cy="23628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34030"/>
                <a:gridCol w="4294505"/>
                <a:gridCol w="4367530"/>
              </a:tblGrid>
              <a:tr h="2362835">
                <a:tc>
                  <a:txBody>
                    <a:bodyPr/>
                    <a:p>
                      <a:pPr>
                        <a:buNone/>
                      </a:pP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Untitled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10" y="4300855"/>
            <a:ext cx="2649220" cy="2179955"/>
          </a:xfrm>
          <a:prstGeom prst="rect">
            <a:avLst/>
          </a:prstGeom>
        </p:spPr>
      </p:pic>
      <p:pic>
        <p:nvPicPr>
          <p:cNvPr id="14" name="Picture 13" descr="Untitled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015" y="4436110"/>
            <a:ext cx="3888740" cy="1815465"/>
          </a:xfrm>
          <a:prstGeom prst="rect">
            <a:avLst/>
          </a:prstGeom>
        </p:spPr>
      </p:pic>
      <p:pic>
        <p:nvPicPr>
          <p:cNvPr id="15" name="Picture 14" descr="Untitled (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510" y="4521200"/>
            <a:ext cx="4106545" cy="1644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73150"/>
            <a:ext cx="11236960" cy="5543218"/>
          </a:xfrm>
        </p:spPr>
        <p:txBody>
          <a:bodyPr>
            <a:normAutofit fontScale="90000" lnSpcReduction="20000"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6.2.2 Subblock Timing Constraints</a:t>
            </a:r>
            <a:br>
              <a:rPr sz="2400"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Note</a:t>
            </a:r>
            <a:r>
              <a:rPr altLang="en-GB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Regardless of any followed strategy for synthesis (top-down/bottom-up)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It’s advisable for complex macros to develope </a:t>
            </a:r>
            <a:r>
              <a:rPr altLang="en-GB" sz="240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sub-block timing budget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[By setting 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input_delay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output_delay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constrains ]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basic timing constraints or budget must be developed for each subblock </a:t>
            </a:r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macro.</a:t>
            </a:r>
            <a:b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 good nominal starting point for the loading and driving specifications is to use </a:t>
            </a:r>
            <a:r>
              <a:rPr lang="en-US" altLang="en-GB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two-input NAND gate</a:t>
            </a:r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</a:t>
            </a:r>
            <a:r>
              <a:rPr lang="en-US" altLang="en-GB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driving cell</a:t>
            </a:r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altLang="en-GB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flip-flop data input pin</a:t>
            </a:r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</a:t>
            </a:r>
            <a:r>
              <a:rPr lang="en-US" altLang="en-GB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load</a:t>
            </a:r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en-US" altLang="en-GB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set_driving_cell</a:t>
            </a:r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-cell [get_lib_cells LIB/BUF2] -pin X [remove_from_collection [all_inputs] [all_clocks]]</a:t>
            </a:r>
            <a:b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set_load</a:t>
            </a:r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&lt;number_in_femtofarad&gt; [all_outputs] </a:t>
            </a:r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b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pic>
        <p:nvPicPr>
          <p:cNvPr id="7" name="Picture 6" descr="Untitled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" y="4530725"/>
            <a:ext cx="8712200" cy="1899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73150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6.2.3 Synthesis in the Design Process</a:t>
            </a:r>
            <a:br>
              <a:rPr sz="2400">
                <a:sym typeface="+mn-ea"/>
              </a:rPr>
            </a:br>
            <a:r>
              <a:rPr sz="2400">
                <a:sym typeface="+mn-ea"/>
              </a:rPr>
              <a:t>Guideline </a:t>
            </a:r>
            <a: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altLang="en-GB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designer should run synthesis as soon as the RTL has passed the basic stage</a:t>
            </a:r>
            <a:br>
              <a:rPr altLang="en-GB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before fully debugging as this helps : </a:t>
            </a:r>
            <a:b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-</a:t>
            </a:r>
            <a:r>
              <a:rPr altLang="en-GB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&amp; fixing timing</a:t>
            </a:r>
            <a: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problems early .</a:t>
            </a:r>
            <a:b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-Saving design time as fixing timing needs modifying RTL so it’s </a:t>
            </a:r>
            <a:b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better to do so before fully debugging .</a:t>
            </a:r>
            <a:b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	     -To make sure that the desing is structured well as at early synthesis </a:t>
            </a:r>
            <a:b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stage , The aim is to reach </a:t>
            </a:r>
            <a:r>
              <a:rPr altLang="en-GB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10%-20% </a:t>
            </a:r>
            <a: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the final timing budget . </a:t>
            </a:r>
            <a:b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altLang="en-GB" sz="2400" b="1" i="0" dirty="0">
                <a:solidFill>
                  <a:srgbClr val="000000"/>
                </a:solidFill>
                <a:effectLst/>
                <a:latin typeface="Times-Bold"/>
              </a:rPr>
            </a:br>
            <a:br>
              <a:rPr altLang="en-GB" sz="2400" b="1" i="0" dirty="0">
                <a:solidFill>
                  <a:srgbClr val="000000"/>
                </a:solidFill>
                <a:effectLst/>
                <a:latin typeface="Times-Bold"/>
              </a:rPr>
            </a:br>
            <a:r>
              <a:rPr sz="2400">
                <a:sym typeface="+mn-ea"/>
              </a:rPr>
              <a:t>Guideline</a:t>
            </a:r>
            <a:r>
              <a:rPr altLang="en-GB" sz="2400" b="1" i="0" dirty="0">
                <a:solidFill>
                  <a:srgbClr val="000000"/>
                </a:solidFill>
                <a:effectLst/>
                <a:latin typeface="Times-Bold"/>
              </a:rPr>
              <a:t> - </a:t>
            </a:r>
            <a:r>
              <a:rPr altLang="en-GB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subblocks should meet all timing budgets, as well as meeting all</a:t>
            </a:r>
            <a:br>
              <a:rPr altLang="en-GB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functional verification requirements, before being integrated into the macro.</a:t>
            </a:r>
            <a:endParaRPr altLang="en-GB" sz="24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73150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6.2.4 Subblock Synthesis Process</a:t>
            </a:r>
            <a:br>
              <a:rPr sz="2400">
                <a:sym typeface="+mn-ea"/>
              </a:rPr>
            </a:br>
            <a:r>
              <a:rPr sz="2400">
                <a:sym typeface="+mn-ea"/>
              </a:rPr>
              <a:t>Guideline </a:t>
            </a:r>
            <a:r>
              <a:rPr altLang="en-GB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subblock synthesis process consists of three phases:</a:t>
            </a:r>
            <a:b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altLang="en-GB" sz="240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compile on the subblock, using constraints based on </a:t>
            </a:r>
            <a:r>
              <a:rPr altLang="en-GB" sz="240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budget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altLang="en-GB" sz="240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characterize-compile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budgeting on the whole subblock, to refine the timing constraints and resynthesize the subblock.</a:t>
            </a: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Iterate if required.</a:t>
            </a:r>
            <a:endParaRPr altLang="en-GB" sz="24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pic>
        <p:nvPicPr>
          <p:cNvPr id="7" name="Picture 6" descr="Untitled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0" y="4338320"/>
            <a:ext cx="8712200" cy="1899920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3305175" y="4318000"/>
            <a:ext cx="4361815" cy="19202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/>
              <a:t>Sub_Block</a:t>
            </a:r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73150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6.2.5 Macro Synthesis Process</a:t>
            </a: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Guideline –The</a:t>
            </a:r>
            <a:r>
              <a:rPr altLang="en-GB" sz="240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top-down macro synthesis 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consists of two phases:</a:t>
            </a: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1)Perform a </a:t>
            </a:r>
            <a:r>
              <a:rPr altLang="en-GB" sz="2400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characterize-compile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budgeting on the whole macro, </a:t>
            </a:r>
            <a:b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using the top-level macro constraints.</a:t>
            </a: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2)If necessary to meet the timing goals, perform an </a:t>
            </a:r>
            <a:r>
              <a:rPr altLang="en-GB" sz="2400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incremental compile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Guideline – The bottom-up macro synthesis process consists of three phases:</a:t>
            </a: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en-GB" alt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1)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a compile on each of the subblocks, using constraints based on the budget.</a:t>
            </a: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en-GB" altLang="en-US" sz="240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GB" altLang="en-US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altLang="en-GB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a </a:t>
            </a:r>
            <a:r>
              <a:rPr altLang="en-GB" sz="2400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characterize-compile or budgeting</a:t>
            </a:r>
            <a:r>
              <a:rPr altLang="en-GB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whole macro to improve timing</a:t>
            </a:r>
            <a:br>
              <a:rPr altLang="en-GB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altLang="en-GB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altLang="en-GB" sz="24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area.</a:t>
            </a: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r>
              <a:rPr lang="en-GB" alt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3)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necessary to meet the timing goals, perform an </a:t>
            </a:r>
            <a:r>
              <a:rPr altLang="en-GB" sz="240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compile.</a:t>
            </a:r>
            <a:endParaRPr altLang="en-GB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73150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6.2.6 Wire Load Models</a:t>
            </a:r>
            <a:br>
              <a:rPr sz="2400"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Wire load models estimate the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loading effect of metal interconnect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upon cell delays. For deep submicron designs, this effect dominates delays, so using accurate wire load models is critical.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statistical wire length is</a:t>
            </a:r>
            <a: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determined based on </a:t>
            </a:r>
            <a:r>
              <a:rPr altLang="en-GB" sz="240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physical size of the block[By the gate count (and thus area) of the entire macro at the top level.]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From this statistical wire length</a:t>
            </a:r>
            <a:r>
              <a:rPr lang="en-GB" alt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altLang="en-GB" sz="240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total input capacitance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nodes on the net, the synthesis tool can determine</a:t>
            </a:r>
            <a:b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sz="2400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total load</a:t>
            </a:r>
            <a:r>
              <a:rPr altLang="en-GB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driving cell</a:t>
            </a:r>
            <a:r>
              <a:rPr lang="en-GB" alt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follows :</a:t>
            </a:r>
            <a:br>
              <a:rPr lang="en-GB" alt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R= </a:t>
            </a:r>
            <a:r>
              <a:rPr lang="en-GB" altLang="en-US" sz="24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 of estimated wire</a:t>
            </a:r>
            <a:r>
              <a:rPr lang="en-GB" alt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Resistance per unit length (Given in .lib file).</a:t>
            </a:r>
            <a:br>
              <a:rPr lang="en-GB" alt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C= </a:t>
            </a:r>
            <a:r>
              <a:rPr lang="en-GB" altLang="en-US" sz="24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length of estimated wire</a:t>
            </a:r>
            <a:r>
              <a:rPr lang="en-GB" altLang="en-US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Capacitance per unit length </a:t>
            </a:r>
            <a: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(Given in .lib file).</a:t>
            </a:r>
            <a:b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**Note: When we synthesize a subblock, we must use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wire load model for the full macro </a:t>
            </a:r>
            <a:r>
              <a:rPr altLang="en-GB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</a:t>
            </a:r>
            <a:r>
              <a:rPr altLang="en-GB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wire load model for the sub-block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. </a:t>
            </a:r>
            <a:endParaRPr altLang="en-GB" sz="240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73150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6.2.7 Preserve Clock and Reset Networks</a:t>
            </a:r>
            <a:br>
              <a:rPr sz="2400">
                <a:sym typeface="+mn-ea"/>
              </a:rPr>
            </a:br>
            <a:r>
              <a:rPr altLang="en-GB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clock networks 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-The aren’t initially synthesized till physical synthesis stage (</a:t>
            </a:r>
            <a:r>
              <a:rPr altLang="en-GB" sz="240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CTS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then a 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balanced tree of buffers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will be inserted to achieve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low skew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Asynchrounous resets 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They are treated the same till physical synthesis stage (</a:t>
            </a:r>
            <a:r>
              <a:rPr altLang="en-GB" sz="240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HFS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Guideline –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1)</a:t>
            </a:r>
            <a:r>
              <a:rPr altLang="en-GB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altLang="en-GB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 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ideal_net</a:t>
            </a:r>
            <a:r>
              <a:rPr altLang="en-GB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on clock and asynchronous reset networks to disable </a:t>
            </a:r>
            <a:br>
              <a:rPr altLang="en-GB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optimizing those paths in timing . 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2) perform a set_drive 0 (infinite drive) on these nets to specify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resistance 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values on specified inputs to be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zero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. 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5375" y="5357495"/>
            <a:ext cx="5433060" cy="1112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73150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6.2.8 Code Checking Before Synthesis</a:t>
            </a:r>
            <a:br>
              <a:rPr sz="2400">
                <a:sym typeface="+mn-ea"/>
              </a:rPr>
            </a:b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checking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tools can quickly check for many different potential problems including: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Presence of latches 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Non-synthesizable constructs like“===” or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initial block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Whether a case statement was inferred as a mux or a priority encoder due to non-Parallel case statements where more than one statement input could match one input pattern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Ex.(at irq=3’b011 , case 2 &amp; case 3 are matched ).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Whether all bits in a bus were assigned.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Unused macros, parameters, or variables.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550" y="3802380"/>
            <a:ext cx="2957830" cy="176149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7894955" y="5563870"/>
            <a:ext cx="3295650" cy="6896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r>
              <a:rPr lang="en-US" altLang="en-GB" sz="2000" dirty="0">
                <a:solidFill>
                  <a:srgbClr val="000000"/>
                </a:solidFill>
              </a:rPr>
              <a:t>Non-parallel case statement </a:t>
            </a:r>
            <a:endParaRPr lang="en-US" altLang="en-GB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6.2.8 Code Checking Before Synthesis</a:t>
            </a:r>
            <a:br>
              <a:rPr sz="2400">
                <a:sym typeface="+mn-ea"/>
              </a:rPr>
            </a:b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Synthesis Tools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Once the RTL passes the design checking tool, the elaboration reports from synthesistools should be examined to check: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Whether sequential statements were inferred as 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flip-flops 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or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latches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Whether synchronous or asynchronous reset was inferred.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Unexpected flip-flops or latches.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 lnSpcReduction="20000"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6.2.9 Code Checking After Synthesis</a:t>
            </a:r>
            <a:br>
              <a:rPr sz="2400"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After synthesis, the synthesis tool can be used to run a number of checks. The Design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Compiler syntax for some of these is as follows: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Loop Checking: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Run 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report_timing -loops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determine whether there are any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combinational loops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Checking for Latches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Run all_registers -level_sensitive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get a report on latches in the design.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Check for Design Rule Violations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Run 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check_design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check for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missing cells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unconnected ports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and 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inputs tied high or low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 lnSpcReduction="20000"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6.2.9 Code Checking After Synthesis</a:t>
            </a:r>
            <a:br>
              <a:rPr sz="2400">
                <a:sym typeface="+mn-ea"/>
              </a:rPr>
            </a:br>
            <a:r>
              <a:rPr altLang="en-GB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Verify Testability: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Run check_test to verify: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1) That there are 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scan versions of all flops.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2)Checking for any untestable structures .   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make sure that the scan on the chip-wide basis &amp; The ATPG will be successful ,Since soft macros are’not shipped with scan flops yet scan flops are inserted on the chip-wide 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Verify Synthesis Results [</a:t>
            </a:r>
            <a:r>
              <a:rPr altLang="en-GB" sz="2400" b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Formal Verification</a:t>
            </a:r>
            <a:r>
              <a:rPr altLang="en-GB" sz="2400" b="1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]</a:t>
            </a:r>
            <a:endParaRPr altLang="en-GB" sz="2400" b="1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 an equivalence-checking tool to verify that the RTL and the post-synthesis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netlist are functionally equivalent.</a:t>
            </a: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395" y="4861560"/>
            <a:ext cx="4610100" cy="1479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 lnSpcReduction="20000"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6.3 Physical Synthesis</a:t>
            </a:r>
            <a:br>
              <a:rPr sz="2400">
                <a:sym typeface="+mn-ea"/>
              </a:rPr>
            </a:br>
            <a:endParaRPr sz="2400">
              <a:sym typeface="+mn-ea"/>
            </a:endParaRPr>
          </a:p>
          <a:p>
            <a:pPr marL="0" indent="0">
              <a:buSzPct val="100000"/>
              <a:buNone/>
            </a:pP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moving forward to smaller technologies the </a:t>
            </a:r>
            <a:r>
              <a:rPr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wire model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becomes more inaccurate to estimate </a:t>
            </a:r>
            <a:r>
              <a:rPr sz="32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post layout timing(due to interconnects delay ) .</a:t>
            </a:r>
            <a:br>
              <a:rPr sz="32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sz="32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we need to perform a physcial synthesis on macros before releasing them especially </a:t>
            </a:r>
            <a:r>
              <a:rPr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timing critical macros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3200">
                <a:sym typeface="+mn-ea"/>
              </a:rPr>
              <a:t>. </a:t>
            </a:r>
            <a:endParaRPr altLang="en-GB" sz="3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 lnSpcReduction="20000"/>
          </a:bodyPr>
          <a:lstStyle/>
          <a:p>
            <a:pPr marL="0" indent="0">
              <a:buSzPct val="100000"/>
              <a:buNone/>
            </a:pPr>
            <a:r>
              <a:rPr sz="2400" b="1">
                <a:sym typeface="+mn-ea"/>
              </a:rPr>
              <a:t>6.3.1 Classical Synthesis</a:t>
            </a:r>
            <a:br>
              <a:rPr sz="2400">
                <a:sym typeface="+mn-ea"/>
              </a:rPr>
            </a:br>
            <a:r>
              <a:rPr sz="2400">
                <a:sym typeface="+mn-ea"/>
              </a:rPr>
              <a:t>In the past synthesis process wasn’t </a:t>
            </a:r>
            <a:r>
              <a:rPr sz="2400">
                <a:solidFill>
                  <a:srgbClr val="FF0000"/>
                </a:solidFill>
                <a:sym typeface="+mn-ea"/>
              </a:rPr>
              <a:t>automated</a:t>
            </a:r>
            <a:r>
              <a:rPr sz="2400">
                <a:sym typeface="+mn-ea"/>
              </a:rPr>
              <a:t> so : </a:t>
            </a:r>
            <a:br>
              <a:rPr sz="2400">
                <a:sym typeface="+mn-ea"/>
              </a:rPr>
            </a:br>
            <a:br>
              <a:rPr sz="2400">
                <a:sym typeface="+mn-ea"/>
              </a:rPr>
            </a:b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1-Synthesis had no feed back from floorplan or placement stages </a:t>
            </a:r>
            <a:b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[Their effect wasn’t taken for consideration ]. </a:t>
            </a:r>
            <a:b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2-Manual iteration between synthesis and placement was </a:t>
            </a:r>
            <a:r>
              <a:rPr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very slow 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b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3-Layout had to be redone from scratch if  there’s an adjustment in synthesis process.</a:t>
            </a:r>
            <a:b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lead into a </a:t>
            </a:r>
            <a:r>
              <a:rPr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big problem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when transistors cells became smaller and faster and the load effect and interconnects delays became a major portion . </a:t>
            </a:r>
            <a:endParaRPr altLang="en-GB" sz="32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 fontScale="40000"/>
          </a:bodyPr>
          <a:lstStyle/>
          <a:p>
            <a:pPr marL="0" indent="0">
              <a:buSzPct val="100000"/>
              <a:buNone/>
            </a:pPr>
            <a:r>
              <a:rPr sz="6000" b="1">
                <a:sym typeface="+mn-ea"/>
              </a:rPr>
              <a:t>6.3.2 Physical Synthesis</a:t>
            </a:r>
            <a:br>
              <a:rPr sz="5335">
                <a:sym typeface="+mn-ea"/>
              </a:rPr>
            </a:br>
            <a:r>
              <a:rPr sz="5335">
                <a:sym typeface="+mn-ea"/>
              </a:rPr>
              <a:t> -</a:t>
            </a:r>
            <a:r>
              <a:rPr sz="533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placement is the key physical information needed to predict delays as with a large  </a:t>
            </a:r>
            <a:br>
              <a:rPr sz="533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533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routing layers , Routing delay is predictable once placement is done .</a:t>
            </a:r>
            <a:br>
              <a:rPr sz="5335">
                <a:sym typeface="+mn-ea"/>
              </a:rPr>
            </a:br>
            <a:r>
              <a:rPr sz="5335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Physical synthesis</a:t>
            </a:r>
            <a:r>
              <a:rPr sz="533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requires the designer to provide the physical constraints for the </a:t>
            </a:r>
            <a:r>
              <a:rPr altLang="en-GB" sz="533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</a:t>
            </a:r>
            <a:br>
              <a:rPr altLang="en-GB" sz="533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533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as well as the timing constraints. These constraints include:</a:t>
            </a:r>
            <a:endParaRPr altLang="en-GB" sz="5335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533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Physical size of the macro </a:t>
            </a:r>
            <a:endParaRPr altLang="en-GB" sz="5335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533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Net weightings—which nets are most timing critical .</a:t>
            </a:r>
            <a:endParaRPr altLang="en-GB" sz="5335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533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Pin locations</a:t>
            </a:r>
            <a:endParaRPr altLang="en-GB" sz="5335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SzPct val="100000"/>
            </a:pPr>
            <a:r>
              <a:rPr altLang="en-GB" sz="533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Grouping information[Ex. Grouping Critical Logic to optimize critical paths]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t="5991"/>
          <a:stretch>
            <a:fillRect/>
          </a:stretch>
        </p:blipFill>
        <p:spPr>
          <a:xfrm>
            <a:off x="339725" y="4587875"/>
            <a:ext cx="8062595" cy="191325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8862695" y="2317750"/>
            <a:ext cx="3238500" cy="40817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r>
              <a:rPr lang="en-US" altLang="en-GB" sz="2000" dirty="0">
                <a:solidFill>
                  <a:srgbClr val="FFC000"/>
                </a:solidFill>
              </a:rPr>
              <a:t>In this Example</a:t>
            </a:r>
            <a:r>
              <a:rPr lang="en-US" altLang="en-GB" sz="2000" dirty="0">
                <a:solidFill>
                  <a:srgbClr val="000000"/>
                </a:solidFill>
              </a:rPr>
              <a:t> , </a:t>
            </a:r>
            <a:br>
              <a:rPr lang="en-US" altLang="en-GB" sz="2000" dirty="0">
                <a:solidFill>
                  <a:srgbClr val="000000"/>
                </a:solidFill>
              </a:rPr>
            </a:br>
            <a:r>
              <a:rPr lang="en-US" altLang="en-GB" sz="2000" dirty="0">
                <a:solidFill>
                  <a:srgbClr val="000000"/>
                </a:solidFill>
              </a:rPr>
              <a:t>On the left: The placer was unable to find a proper placement for a </a:t>
            </a:r>
            <a:r>
              <a:rPr lang="en-GB" altLang="en-US" sz="2000" dirty="0">
                <a:solidFill>
                  <a:srgbClr val="000000"/>
                </a:solidFill>
              </a:rPr>
              <a:t>FIFO primitives</a:t>
            </a:r>
            <a:r>
              <a:rPr lang="en-US" altLang="en-GB" sz="2000" dirty="0">
                <a:solidFill>
                  <a:srgbClr val="000000"/>
                </a:solidFill>
              </a:rPr>
              <a:t> [</a:t>
            </a:r>
            <a:r>
              <a:rPr lang="en-US" altLang="en-GB" sz="2000" dirty="0">
                <a:solidFill>
                  <a:srgbClr val="FF0000"/>
                </a:solidFill>
              </a:rPr>
              <a:t>Red cells</a:t>
            </a:r>
            <a:r>
              <a:rPr lang="en-US" altLang="en-GB" sz="2000" dirty="0">
                <a:solidFill>
                  <a:srgbClr val="000000"/>
                </a:solidFill>
              </a:rPr>
              <a:t>]</a:t>
            </a:r>
            <a:r>
              <a:rPr lang="en-GB" altLang="en-US" sz="2000" dirty="0">
                <a:solidFill>
                  <a:srgbClr val="000000"/>
                </a:solidFill>
              </a:rPr>
              <a:t> as RAM had a high utilization</a:t>
            </a:r>
            <a:r>
              <a:rPr lang="en-US" altLang="en-GB" sz="2000" dirty="0">
                <a:solidFill>
                  <a:srgbClr val="000000"/>
                </a:solidFill>
              </a:rPr>
              <a:t>.</a:t>
            </a:r>
            <a:br>
              <a:rPr lang="en-US" altLang="en-GB" sz="2000" dirty="0">
                <a:solidFill>
                  <a:srgbClr val="000000"/>
                </a:solidFill>
              </a:rPr>
            </a:br>
            <a:r>
              <a:rPr lang="en-US" altLang="en-GB" sz="2000" dirty="0">
                <a:solidFill>
                  <a:srgbClr val="000000"/>
                </a:solidFill>
              </a:rPr>
              <a:t>On the Right :The placer found a proper placement for the</a:t>
            </a:r>
            <a:r>
              <a:rPr lang="en-GB" altLang="en-US" sz="2000" dirty="0">
                <a:solidFill>
                  <a:srgbClr val="000000"/>
                </a:solidFill>
              </a:rPr>
              <a:t> FIFO primitives </a:t>
            </a:r>
            <a:r>
              <a:rPr lang="en-US" altLang="en-GB" sz="2000" dirty="0">
                <a:solidFill>
                  <a:srgbClr val="000000"/>
                </a:solidFill>
              </a:rPr>
              <a:t>after grouping all FIFO blocks together in rectangular that avoided crossing the configuration column [I/O column].</a:t>
            </a:r>
            <a:endParaRPr lang="en-US" altLang="en-GB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 fontScale="90000" lnSpcReduction="20000"/>
          </a:bodyPr>
          <a:lstStyle/>
          <a:p>
            <a:pPr marL="0" indent="0">
              <a:buSzPct val="100000"/>
              <a:buNone/>
            </a:pPr>
            <a:r>
              <a:rPr sz="3110">
                <a:sym typeface="+mn-ea"/>
              </a:rPr>
              <a:t>6.3.3 Physical Synthesis Deliverables</a:t>
            </a:r>
            <a:br>
              <a:rPr sz="2400">
                <a:sym typeface="+mn-ea"/>
              </a:rPr>
            </a:br>
            <a:r>
              <a:rPr sz="240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Physical Synthesis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done regularly for developing a </a:t>
            </a:r>
            <a:r>
              <a:rPr sz="240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test chip 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yet for aggressive performance goals </a:t>
            </a:r>
            <a:r>
              <a:rPr sz="266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designs it’s necessary for providing some physical synthesis deliverables to the </a:t>
            </a:r>
            <a:r>
              <a:rPr sz="2665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integrator</a:t>
            </a:r>
            <a:r>
              <a:rPr sz="266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. </a:t>
            </a:r>
            <a:br>
              <a:rPr sz="266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sz="266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66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-These deliverables should also contain notes on how to perform physical synthesis </a:t>
            </a:r>
            <a:br>
              <a:rPr sz="266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66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to  the  macro and should include sample scripts that shows how to define:</a:t>
            </a:r>
            <a:br>
              <a:rPr sz="266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-The physical size of the macro .</a:t>
            </a:r>
            <a:b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- The pin locations.</a:t>
            </a:r>
            <a:b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- The grouping information.</a:t>
            </a:r>
            <a:b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665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-The net weighting schemes.  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altLang="en-GB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proper net weighting scheme 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would assign higher weights to more timing critical nets, hoping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that the placer will reduce the wirelength of these critical nets and hence, the delays on these paths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can be reduced.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3110" b="1">
                <a:sym typeface="+mn-ea"/>
              </a:rPr>
              <a:t>6.4.1 Memory Design </a:t>
            </a:r>
            <a:br>
              <a:rPr sz="3110"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On-chip RAM architectures are differentiated by their architecture and their speed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nad 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timing-area tradeoffs.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sz="2400"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graphicFrame>
        <p:nvGraphicFramePr>
          <p:cNvPr id="8" name="Table 7"/>
          <p:cNvGraphicFramePr/>
          <p:nvPr/>
        </p:nvGraphicFramePr>
        <p:xfrm>
          <a:off x="408305" y="2235835"/>
          <a:ext cx="11621135" cy="45218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41700"/>
                <a:gridCol w="4132580"/>
                <a:gridCol w="4046855"/>
              </a:tblGrid>
              <a:tr h="11385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800">
                          <a:solidFill>
                            <a:schemeClr val="tx1"/>
                          </a:solidFill>
                          <a:sym typeface="+mn-ea"/>
                        </a:rPr>
                        <a:t> </a:t>
                      </a:r>
                      <a:r>
                        <a:rPr lang="en-US" altLang="en-GB" sz="1800">
                          <a:solidFill>
                            <a:schemeClr val="tx1"/>
                          </a:solidFill>
                          <a:sym typeface="+mn-ea"/>
                        </a:rPr>
                        <a:t>S</a:t>
                      </a:r>
                      <a:r>
                        <a:rPr lang="en-GB" altLang="en-US" sz="1800">
                          <a:solidFill>
                            <a:schemeClr val="tx1"/>
                          </a:solidFill>
                          <a:sym typeface="+mn-ea"/>
                        </a:rPr>
                        <a:t>mall memories</a:t>
                      </a:r>
                      <a:r>
                        <a:rPr lang="en-US" altLang="en-GB" sz="1800">
                          <a:solidFill>
                            <a:schemeClr val="tx1"/>
                          </a:solidFill>
                          <a:sym typeface="+mn-ea"/>
                        </a:rPr>
                        <a:t> up to about 1000 bits.</a:t>
                      </a:r>
                      <a:endParaRPr lang="en-US" altLang="en-GB" sz="18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Memories in range of 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1-8K bit range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Larger memories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[Over 8K bits]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3788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Flop- and latch-based memories are optimal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Ex.  FIFO designs up to 32x32.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-The Advantage of these memories is that they can be coded in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RTL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, and thus are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technology independent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and completely reusable.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-Register files are optimial 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-Register files are </a:t>
                      </a: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not technology independent.</a:t>
                      </a:r>
                      <a:endParaRPr lang="en-US" altLang="en-GB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-they are often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 easier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to port to new processes than are true memories.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-They use a custom memory cell that is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smaller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than a standard cell latch, but</a:t>
                      </a: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 larger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than a true memory cell.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-They have a larger </a:t>
                      </a: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fixed overhead</a:t>
                      </a:r>
                      <a:endParaRPr lang="en-US" altLang="en-GB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[decoders and muxes].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-Reg files are used as multi-port memory 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-The bits cells are designed to be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as small as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possible to optimize the area 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-Specialized memories are available with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more ports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for specific applications.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-These memories have </a:t>
                      </a: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rather large fixed overhead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[decoders, muxes, and sense amps] but is still small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compared to the area of the bit cell array.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-They are </a:t>
                      </a: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technology dependant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-The are also </a:t>
                      </a: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challenging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to port to new processes and have a </a:t>
                      </a: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complex timing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due to using precharge and sense amps.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69975"/>
            <a:ext cx="11579860" cy="5542915"/>
          </a:xfrm>
        </p:spPr>
        <p:txBody>
          <a:bodyPr>
            <a:normAutofit lnSpcReduction="20000"/>
          </a:bodyPr>
          <a:lstStyle/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sz="3110" b="1">
                <a:sym typeface="+mn-ea"/>
              </a:rPr>
              <a:t>6.4.2 RAM Generator Flow</a:t>
            </a:r>
            <a:br>
              <a:rPr sz="3110">
                <a:sym typeface="+mn-ea"/>
              </a:rPr>
            </a:b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typical work flow for the user the user of a RAM generator. </a:t>
            </a:r>
            <a:b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altLang="en-GB" sz="28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designer: </a:t>
            </a:r>
            <a:endParaRPr altLang="en-GB" sz="28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altLang="en-GB" sz="20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Describes</a:t>
            </a: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memory configuration, through either a GUI or</a:t>
            </a:r>
            <a:b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command-line interface.</a:t>
            </a:r>
            <a:endParaRPr altLang="en-GB" sz="20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altLang="en-GB" sz="20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Selects</a:t>
            </a: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family of memory, typically trading off power, area,</a:t>
            </a:r>
            <a:b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speed.</a:t>
            </a:r>
            <a:endParaRPr altLang="en-GB" sz="20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altLang="en-GB" sz="20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Invokes</a:t>
            </a: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memory compiler, which produces</a:t>
            </a:r>
            <a:b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simulation model andsynthesis model for the memory,</a:t>
            </a:r>
            <a:b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as well as physical layout information.</a:t>
            </a:r>
            <a:endParaRPr altLang="en-GB" sz="20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altLang="en-GB" sz="20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Performs </a:t>
            </a: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 with models for the rest of the system </a:t>
            </a:r>
            <a:b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verify the functionality of the memory interfaces.</a:t>
            </a:r>
            <a:endParaRPr altLang="en-GB" sz="20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altLang="en-GB" sz="20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Performs </a:t>
            </a: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synthesis with the synthesis model for the RAM </a:t>
            </a:r>
            <a:b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 the RTL for the rest of the design .</a:t>
            </a:r>
            <a:endParaRPr altLang="en-GB" sz="20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b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altLang="en-GB" sz="20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altLang="en-GB" sz="20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305" y="1805940"/>
            <a:ext cx="5303520" cy="4392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3110" b="1">
                <a:sym typeface="+mn-ea"/>
              </a:rPr>
              <a:t>6.4.3 Datapath Design</a:t>
            </a:r>
            <a:br>
              <a:rPr sz="3110">
                <a:sym typeface="+mn-ea"/>
              </a:rPr>
            </a:br>
            <a:r>
              <a:rPr sz="311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is necessary to exploit hardware structure to achieve a </a:t>
            </a:r>
            <a:r>
              <a:rPr sz="311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faster, smaller, or lower-power design</a:t>
            </a:r>
            <a:r>
              <a:rPr sz="311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br>
              <a:rPr sz="311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311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Ex. </a:t>
            </a:r>
            <a:br>
              <a:rPr sz="311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311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functionality of a 32-bit multiply-accumulate</a:t>
            </a:r>
            <a:endParaRPr sz="311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SzPct val="100000"/>
              <a:buNone/>
            </a:pPr>
            <a:r>
              <a:rPr sz="311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  is clear and does not help differentiate a design .</a:t>
            </a:r>
            <a:br>
              <a:rPr sz="311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311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to compete </a:t>
            </a:r>
            <a:r>
              <a:rPr sz="311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optimizations </a:t>
            </a:r>
            <a:r>
              <a:rPr sz="311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must be a major consideration .</a:t>
            </a:r>
            <a:br>
              <a:rPr sz="3110"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3110">
                <a:sym typeface="+mn-ea"/>
              </a:rPr>
              <a:t>6.4.3 Datapath Design </a:t>
            </a:r>
            <a:br>
              <a:rPr sz="3110">
                <a:sym typeface="+mn-ea"/>
              </a:rPr>
            </a:br>
            <a:r>
              <a:rPr sz="2800" b="1">
                <a:sym typeface="+mn-ea"/>
              </a:rPr>
              <a:t>Datapath Design Issues</a:t>
            </a:r>
            <a:br>
              <a:rPr sz="3110"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are </a:t>
            </a:r>
            <a:r>
              <a:rPr sz="240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three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major problems with </a:t>
            </a:r>
            <a:r>
              <a:rPr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traditional approaches</a:t>
            </a: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datapath design:</a:t>
            </a:r>
            <a:endParaRPr sz="3110">
              <a:sym typeface="+mn-ea"/>
            </a:endParaRPr>
          </a:p>
          <a:p>
            <a:pPr marL="0" indent="0">
              <a:buSzPct val="100000"/>
              <a:buNone/>
            </a:pPr>
            <a: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</a:t>
            </a:r>
            <a:r>
              <a:rPr lang="en-GB" altLang="en-US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rregular structures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like Wallace tree multipliers can outperform regular structures.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</a:t>
            </a:r>
            <a:r>
              <a:rPr lang="en-GB" altLang="en-US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altLang="en-GB" sz="240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datapath designs 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produced are not portable to new technologies and do not lend themselves to reuse.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-T</a:t>
            </a:r>
            <a: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great majority of modern applications are poor candidates for the traditional approach.</a:t>
            </a:r>
            <a:br>
              <a:rPr altLang="en-GB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yet these traditional approaches can be applied to </a:t>
            </a:r>
            <a:r>
              <a:rPr lang="en-GB" altLang="en-US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simple</a:t>
            </a:r>
            <a: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</a:t>
            </a:r>
            <a:r>
              <a:rPr lang="en-GB" altLang="en-US" sz="240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regular</a:t>
            </a:r>
            <a:r>
              <a:rPr lang="en-GB" altLang="en-US" sz="240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designs .</a:t>
            </a:r>
            <a:endParaRPr lang="en-GB" altLang="en-US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3110">
                <a:sym typeface="+mn-ea"/>
              </a:rPr>
              <a:t>6.4.3 Datapath Design </a:t>
            </a:r>
            <a:br>
              <a:rPr sz="3110">
                <a:sym typeface="+mn-ea"/>
              </a:rPr>
            </a:br>
            <a:r>
              <a:rPr sz="2800" b="1">
                <a:sym typeface="+mn-ea"/>
              </a:rPr>
              <a:t>Datapath Design Tool Evolution</a:t>
            </a:r>
            <a:r>
              <a:rPr sz="3110">
                <a:sym typeface="+mn-ea"/>
              </a:rPr>
              <a:t> </a:t>
            </a:r>
            <a:br>
              <a:rPr sz="3110"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graphicFrame>
        <p:nvGraphicFramePr>
          <p:cNvPr id="9" name="Table 8"/>
          <p:cNvGraphicFramePr/>
          <p:nvPr/>
        </p:nvGraphicFramePr>
        <p:xfrm>
          <a:off x="342900" y="2063750"/>
          <a:ext cx="10622280" cy="42741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27700"/>
                <a:gridCol w="4894580"/>
              </a:tblGrid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800" dirty="0">
                          <a:solidFill>
                            <a:srgbClr val="000000"/>
                          </a:solidFill>
                          <a:sym typeface="+mn-ea"/>
                        </a:rPr>
                        <a:t>These handcrafted designs [In the past]  :</a:t>
                      </a:r>
                      <a:endParaRPr lang="en-GB" altLang="en-US" sz="1800" dirty="0">
                        <a:solidFill>
                          <a:srgbClr val="000000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layout-oriented datapath design tools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[Automating regular / bit-slice designs ]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6341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-Consist of </a:t>
                      </a:r>
                      <a:r>
                        <a:rPr lang="en-GB" altLang="en-US">
                          <a:solidFill>
                            <a:srgbClr val="00B050"/>
                          </a:solidFill>
                        </a:rPr>
                        <a:t> regular datapaths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[Can be built out of a specified blocks like adders and muxes] .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-The physical design was laid out for a single bit slice of the datapath, then replicated.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00B050"/>
                          </a:solidFill>
                        </a:rPr>
                        <a:t>High performance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because the methodology effectively exploited the regular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structure of the logic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FF0000"/>
                          </a:solidFill>
                        </a:rPr>
                        <a:t>Low productivity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because of the amount of handcrafting required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FF0000"/>
                          </a:solidFill>
                        </a:rPr>
                        <a:t>Poor portability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because the results were design and technology specific.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-Structural descriptions of the design are entered either in schematic form or in HDL .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00B050"/>
                          </a:solidFill>
                        </a:rPr>
                        <a:t>High performance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for regular structures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FF0000"/>
                          </a:solidFill>
                        </a:rPr>
                        <a:t>Poor performance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for irregular, tree-based structures like Wallace-tree multipliers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FF0000"/>
                          </a:solidFill>
                        </a:rPr>
                        <a:t>Poor performance for structures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with varying bit widths, a common characteristic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digital filters, or any other design employing techniques like saturation, rounding, or normalization .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FFC000"/>
                          </a:solidFill>
                        </a:rPr>
                        <a:t>Moderate productivity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because of the automation of design tasks .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FF0000"/>
                          </a:solidFill>
                        </a:rPr>
                        <a:t>Poor portability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because designs were still technology-specific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3110">
                <a:sym typeface="+mn-ea"/>
              </a:rPr>
              <a:t>6.4.3 Datapath Design </a:t>
            </a:r>
            <a:br>
              <a:rPr sz="3110">
                <a:sym typeface="+mn-ea"/>
              </a:rPr>
            </a:br>
            <a:r>
              <a:rPr sz="2800" b="1">
                <a:sym typeface="+mn-ea"/>
              </a:rPr>
              <a:t>Datapath Design Tool Evolution</a:t>
            </a:r>
            <a:r>
              <a:rPr sz="3110">
                <a:sym typeface="+mn-ea"/>
              </a:rPr>
              <a:t> </a:t>
            </a:r>
            <a:br>
              <a:rPr sz="3110">
                <a:sym typeface="+mn-ea"/>
              </a:rPr>
            </a:br>
            <a:br>
              <a:rPr sz="3110"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graphicFrame>
        <p:nvGraphicFramePr>
          <p:cNvPr id="8" name="Table 7"/>
          <p:cNvGraphicFramePr/>
          <p:nvPr/>
        </p:nvGraphicFramePr>
        <p:xfrm>
          <a:off x="984885" y="2506980"/>
          <a:ext cx="8533765" cy="762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33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Data-Path synthesis tools :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00B050"/>
                          </a:solidFill>
                        </a:rPr>
                        <a:t>High performance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: Implementation exploration allows superior designs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00B050"/>
                          </a:solidFill>
                        </a:rPr>
                        <a:t>High productivity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: Fast synthesis times allow very rapid development of very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complex designs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altLang="en-US">
                          <a:solidFill>
                            <a:srgbClr val="00B050"/>
                          </a:solidFill>
                        </a:rPr>
                        <a:t>High portability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: Because the source is </a:t>
                      </a:r>
                      <a:r>
                        <a:rPr lang="en-GB" altLang="en-US">
                          <a:solidFill>
                            <a:srgbClr val="00B050"/>
                          </a:solidFill>
                        </a:rPr>
                        <a:t>technology independent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 and can be </a:t>
                      </a:r>
                      <a:r>
                        <a:rPr lang="en-GB" altLang="en-US">
                          <a:solidFill>
                            <a:srgbClr val="00B050"/>
                          </a:solidFill>
                        </a:rPr>
                        <a:t>parameterized</a:t>
                      </a: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, it is very portable across technologies and from design to design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069975"/>
            <a:ext cx="11236960" cy="5543218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sz="3110">
                <a:sym typeface="+mn-ea"/>
              </a:rPr>
              <a:t>6.5 Coding Guidelines for Synthesis Scripts</a:t>
            </a:r>
            <a:br>
              <a:rPr sz="3110">
                <a:sym typeface="+mn-ea"/>
              </a:rPr>
            </a:br>
            <a:br>
              <a:rPr sz="3110">
                <a:sym typeface="+mn-ea"/>
              </a:rPr>
            </a:br>
            <a:endParaRPr altLang="en-GB" sz="2400"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219456"/>
            <a:ext cx="10287000" cy="469899"/>
          </a:xfrm>
        </p:spPr>
        <p:txBody>
          <a:bodyPr/>
          <a:lstStyle/>
          <a:p>
            <a:r>
              <a:rPr>
                <a:sym typeface="+mn-ea"/>
              </a:rPr>
              <a:t>6 </a:t>
            </a:r>
            <a:r>
              <a:rPr>
                <a:sym typeface="+mn-ea"/>
              </a:rPr>
              <a:t> Macro Synthesis Guidelines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</a:fld>
            <a:endParaRPr lang="en-US" baseline="-110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smtClean="0"/>
            </a:fld>
            <a:endParaRPr lang="en-US" dirty="0"/>
          </a:p>
        </p:txBody>
      </p:sp>
      <p:graphicFrame>
        <p:nvGraphicFramePr>
          <p:cNvPr id="7" name="Table 6"/>
          <p:cNvGraphicFramePr/>
          <p:nvPr/>
        </p:nvGraphicFramePr>
        <p:xfrm>
          <a:off x="62230" y="2118360"/>
          <a:ext cx="12129770" cy="29743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95445"/>
                <a:gridCol w="7934325"/>
              </a:tblGrid>
              <a:tr h="4140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Guidelines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Rules 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5316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– Keep the line length to 72 characters or less.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*For dc_shell commands, use a backslash (\) to continue the statement onto the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next line.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tx1"/>
                          </a:solidFill>
                          <a:sym typeface="+mn-ea"/>
                        </a:rPr>
                        <a:t>–– Run the </a:t>
                      </a:r>
                      <a:r>
                        <a:rPr lang="en-US" altLang="en-GB" sz="1800">
                          <a:solidFill>
                            <a:srgbClr val="FFC000"/>
                          </a:solidFill>
                          <a:sym typeface="+mn-ea"/>
                        </a:rPr>
                        <a:t>syntax checker</a:t>
                      </a:r>
                      <a:r>
                        <a:rPr lang="en-US" altLang="en-GB" sz="1800">
                          <a:solidFill>
                            <a:schemeClr val="tx1"/>
                          </a:solidFill>
                          <a:sym typeface="+mn-ea"/>
                        </a:rPr>
                        <a:t> on synthesis scripts before running the script.</a:t>
                      </a:r>
                      <a:endParaRPr lang="en-US" altLang="en-GB" sz="18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en-GB" sz="1800">
                          <a:solidFill>
                            <a:schemeClr val="tx1"/>
                          </a:solidFill>
                          <a:sym typeface="+mn-ea"/>
                        </a:rPr>
                        <a:t>Ex.</a:t>
                      </a:r>
                      <a:endParaRPr lang="en-US" altLang="en-GB" sz="18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dc_shell -syntax_check -f  \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./scripts/my_compile.scr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 All synthesis scripts should begin with a header describing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the file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its purpose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, its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author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, and its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 revision history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Comments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should be used extensively to describe the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synthesis strategy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being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executed.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-All scripts used to build the design should be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under revision control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and a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bug</a:t>
                      </a:r>
                      <a:endParaRPr lang="en-US" altLang="en-GB">
                        <a:solidFill>
                          <a:srgbClr val="00B05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tracking system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– Variables should be used in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the body of the script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and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 their values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set at the top of the script.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– No hard-coded paths should appear in any scripts as they </a:t>
                      </a: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aren’t portable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-Scripts should be as simple as they can be and still meet their objectives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-Common commands such as those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defining the library 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and 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search paths</a:t>
                      </a:r>
                      <a:endParaRPr lang="en-US" altLang="en-GB">
                        <a:solidFill>
                          <a:srgbClr val="00B05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should 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reside in a single setup file.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-Synthesis scripts for </a:t>
                      </a:r>
                      <a:r>
                        <a:rPr lang="en-US" altLang="en-GB">
                          <a:solidFill>
                            <a:srgbClr val="FFC000"/>
                          </a:solidFill>
                        </a:rPr>
                        <a:t>parameterized soft macros 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need to be</a:t>
                      </a:r>
                      <a:r>
                        <a:rPr lang="en-US" altLang="en-GB">
                          <a:solidFill>
                            <a:srgbClr val="00B050"/>
                          </a:solidFill>
                        </a:rPr>
                        <a:t> tested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as thoroughly as any source code.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ADITemplate">
  <a:themeElements>
    <a:clrScheme name="ADI Corporate Palette 1">
      <a:dk1>
        <a:srgbClr val="000000"/>
      </a:dk1>
      <a:lt1>
        <a:srgbClr val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Custom 1">
      <a:majorFont>
        <a:latin typeface="Barlow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  <a:miter lim="800000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 defTabSz="457200">
          <a:spcBef>
            <a:spcPts val="1000"/>
          </a:spcBef>
          <a:buClr>
            <a:srgbClr val="1E4056"/>
          </a:buClr>
          <a:buSzPct val="75000"/>
          <a:buFont typeface="Barlow"/>
          <a:buChar char="►"/>
          <a:defRPr sz="2000" dirty="0">
            <a:solidFill>
              <a:srgbClr val="000000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ADI 2019 16x9 Light</Template>
  <TotalTime>0</TotalTime>
  <Words>18472</Words>
  <Application>WPS Presentation</Application>
  <PresentationFormat>Widescreen</PresentationFormat>
  <Paragraphs>459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SimSun</vt:lpstr>
      <vt:lpstr>Wingdings</vt:lpstr>
      <vt:lpstr>Barlow</vt:lpstr>
      <vt:lpstr>Segoe Print</vt:lpstr>
      <vt:lpstr>Barlow</vt:lpstr>
      <vt:lpstr>Arial Black</vt:lpstr>
      <vt:lpstr>Arial</vt:lpstr>
      <vt:lpstr>Wingdings 3</vt:lpstr>
      <vt:lpstr>Times-Bold</vt:lpstr>
      <vt:lpstr>Arial-BoldMT</vt:lpstr>
      <vt:lpstr>Times New Roman</vt:lpstr>
      <vt:lpstr>Microsoft YaHei</vt:lpstr>
      <vt:lpstr>Arial Unicode MS</vt:lpstr>
      <vt:lpstr>1_ADITemplate</vt:lpstr>
      <vt:lpstr>PowerPoint 演示文稿</vt:lpstr>
      <vt:lpstr>6  Macro Synthesis Guidelines  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  <vt:lpstr>6  Macro Synthesis Guidelines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Slides: Header Titles (Arial 36 pt.)</dc:title>
  <dc:creator>Mehana, Ahmed</dc:creator>
  <dc:description>ADI PowerPoint v.8 © 1995 - 2019 Analog Devices, Inc. All Rights Reserved</dc:description>
  <cp:lastModifiedBy>Adham Mohamed</cp:lastModifiedBy>
  <cp:revision>1310</cp:revision>
  <cp:lastPrinted>2015-04-02T14:52:00Z</cp:lastPrinted>
  <dcterms:created xsi:type="dcterms:W3CDTF">2022-01-31T08:24:00Z</dcterms:created>
  <dcterms:modified xsi:type="dcterms:W3CDTF">2022-11-12T20:55:15Z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87A482AE2C7542B39C4D3A3EAFC5F4CB</vt:lpwstr>
  </property>
  <property fmtid="{D5CDD505-2E9C-101B-9397-08002B2CF9AE}" pid="3" name="KSOProductBuildVer">
    <vt:lpwstr>2057-11.2.0.11306</vt:lpwstr>
  </property>
</Properties>
</file>