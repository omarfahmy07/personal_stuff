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2" r:id="rId1"/>
  </p:sldMasterIdLst>
  <p:notesMasterIdLst>
    <p:notesMasterId r:id="rId24"/>
  </p:notesMasterIdLst>
  <p:handoutMasterIdLst>
    <p:handoutMasterId r:id="rId25"/>
  </p:handoutMasterIdLst>
  <p:sldIdLst>
    <p:sldId id="277" r:id="rId2"/>
    <p:sldId id="283" r:id="rId3"/>
    <p:sldId id="284" r:id="rId4"/>
    <p:sldId id="285" r:id="rId5"/>
    <p:sldId id="286" r:id="rId6"/>
    <p:sldId id="287" r:id="rId7"/>
    <p:sldId id="288" r:id="rId8"/>
    <p:sldId id="289" r:id="rId9"/>
    <p:sldId id="290" r:id="rId10"/>
    <p:sldId id="291" r:id="rId11"/>
    <p:sldId id="292" r:id="rId12"/>
    <p:sldId id="293" r:id="rId13"/>
    <p:sldId id="294" r:id="rId14"/>
    <p:sldId id="295" r:id="rId15"/>
    <p:sldId id="296" r:id="rId16"/>
    <p:sldId id="297" r:id="rId17"/>
    <p:sldId id="298" r:id="rId18"/>
    <p:sldId id="299" r:id="rId19"/>
    <p:sldId id="300" r:id="rId20"/>
    <p:sldId id="301" r:id="rId21"/>
    <p:sldId id="302" r:id="rId22"/>
    <p:sldId id="303" r:id="rId23"/>
  </p:sldIdLst>
  <p:sldSz cx="12192000" cy="68580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 " initials=" " lastIdx="1" clrIdx="0"/>
</p:cmAuthorLst>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E7E8EA"/>
    <a:srgbClr val="CBCED2"/>
    <a:srgbClr val="27B34F"/>
    <a:srgbClr val="009FBD"/>
    <a:srgbClr val="009F59"/>
    <a:srgbClr val="003D61"/>
    <a:srgbClr val="3DDCE6"/>
    <a:srgbClr val="7C4A8B"/>
    <a:srgbClr val="1E405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1E4AEA4-8DFA-4A89-87EB-49C32662AFE0}">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95" autoAdjust="0"/>
  </p:normalViewPr>
  <p:slideViewPr>
    <p:cSldViewPr snapToGrid="0" snapToObjects="1">
      <p:cViewPr varScale="1">
        <p:scale>
          <a:sx n="107" d="100"/>
          <a:sy n="107" d="100"/>
        </p:scale>
        <p:origin x="138" y="126"/>
      </p:cViewPr>
      <p:guideLst/>
    </p:cSldViewPr>
  </p:slideViewPr>
  <p:outlineViewPr>
    <p:cViewPr>
      <p:scale>
        <a:sx n="33" d="100"/>
        <a:sy n="33" d="100"/>
      </p:scale>
      <p:origin x="0" y="1216"/>
    </p:cViewPr>
  </p:outlineViewPr>
  <p:notesTextViewPr>
    <p:cViewPr>
      <p:scale>
        <a:sx n="1" d="1"/>
        <a:sy n="1" d="1"/>
      </p:scale>
      <p:origin x="0" y="0"/>
    </p:cViewPr>
  </p:notesTextViewPr>
  <p:sorterViewPr>
    <p:cViewPr>
      <p:scale>
        <a:sx n="66" d="100"/>
        <a:sy n="66" d="100"/>
      </p:scale>
      <p:origin x="0" y="0"/>
    </p:cViewPr>
  </p:sorterViewPr>
  <p:notesViewPr>
    <p:cSldViewPr snapToGrid="0" snapToObjects="1" showGuides="1">
      <p:cViewPr varScale="1">
        <p:scale>
          <a:sx n="113" d="100"/>
          <a:sy n="113" d="100"/>
        </p:scale>
        <p:origin x="3032" y="17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commentAuthors" Target="commentAuthor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Footer Placeholder 3"/>
          <p:cNvSpPr>
            <a:spLocks noGrp="1"/>
          </p:cNvSpPr>
          <p:nvPr>
            <p:ph type="ftr" sz="quarter" idx="2"/>
          </p:nvPr>
        </p:nvSpPr>
        <p:spPr>
          <a:xfrm>
            <a:off x="0" y="8829967"/>
            <a:ext cx="3037840" cy="464820"/>
          </a:xfrm>
          <a:prstGeom prst="rect">
            <a:avLst/>
          </a:prstGeom>
        </p:spPr>
        <p:txBody>
          <a:bodyPr vert="horz" lIns="93177" tIns="46589" rIns="93177" bIns="46589" rtlCol="0" anchor="ctr"/>
          <a:lstStyle>
            <a:lvl1pPr algn="l">
              <a:defRPr sz="1200"/>
            </a:lvl1pPr>
          </a:lstStyle>
          <a:p>
            <a:endParaRPr lang="en-US" sz="1000">
              <a:solidFill>
                <a:schemeClr val="bg1">
                  <a:lumMod val="50000"/>
                </a:schemeClr>
              </a:solidFill>
              <a:latin typeface="Arial" panose="020B0604020202020204" pitchFamily="34" charset="0"/>
              <a:cs typeface="Arial" panose="020B0604020202020204" pitchFamily="34" charset="0"/>
            </a:endParaRPr>
          </a:p>
        </p:txBody>
      </p:sp>
      <p:sp>
        <p:nvSpPr>
          <p:cNvPr id="5" name="Slide Number Placeholder 4"/>
          <p:cNvSpPr>
            <a:spLocks noGrp="1"/>
          </p:cNvSpPr>
          <p:nvPr>
            <p:ph type="sldNum" sz="quarter" idx="3"/>
          </p:nvPr>
        </p:nvSpPr>
        <p:spPr>
          <a:xfrm>
            <a:off x="6597444" y="8829967"/>
            <a:ext cx="411333" cy="464820"/>
          </a:xfrm>
          <a:prstGeom prst="rect">
            <a:avLst/>
          </a:prstGeom>
        </p:spPr>
        <p:txBody>
          <a:bodyPr vert="horz" lIns="93177" tIns="46589" rIns="93177" bIns="46589" rtlCol="0" anchor="ctr"/>
          <a:lstStyle>
            <a:lvl1pPr algn="r">
              <a:defRPr sz="1200"/>
            </a:lvl1pPr>
          </a:lstStyle>
          <a:p>
            <a:fld id="{013FF889-DBB5-E540-8E75-47BFCA628842}" type="slidenum">
              <a:rPr lang="en-US" b="1" smtClean="0">
                <a:solidFill>
                  <a:schemeClr val="bg1">
                    <a:lumMod val="50000"/>
                  </a:schemeClr>
                </a:solidFill>
                <a:latin typeface="Arial" panose="020B0604020202020204" pitchFamily="34" charset="0"/>
                <a:cs typeface="Arial" panose="020B0604020202020204" pitchFamily="34" charset="0"/>
              </a:rPr>
              <a:t>‹#›</a:t>
            </a:fld>
            <a:endParaRPr lang="en-US" b="1">
              <a:solidFill>
                <a:schemeClr val="bg1">
                  <a:lumMod val="50000"/>
                </a:schemeClr>
              </a:solidFill>
              <a:latin typeface="Arial" panose="020B0604020202020204" pitchFamily="34" charset="0"/>
              <a:cs typeface="Arial" panose="020B0604020202020204" pitchFamily="34" charset="0"/>
            </a:endParaRPr>
          </a:p>
        </p:txBody>
      </p:sp>
      <p:sp>
        <p:nvSpPr>
          <p:cNvPr id="6" name="Rectangle 5"/>
          <p:cNvSpPr/>
          <p:nvPr/>
        </p:nvSpPr>
        <p:spPr>
          <a:xfrm>
            <a:off x="3037839" y="8829967"/>
            <a:ext cx="3271521" cy="464820"/>
          </a:xfrm>
          <a:prstGeom prst="rect">
            <a:avLst/>
          </a:prstGeom>
        </p:spPr>
        <p:txBody>
          <a:bodyPr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dirty="0">
                <a:ln>
                  <a:noFill/>
                </a:ln>
                <a:solidFill>
                  <a:srgbClr val="FFFFFF">
                    <a:lumMod val="65000"/>
                  </a:srgbClr>
                </a:solidFill>
                <a:effectLst/>
                <a:uLnTx/>
                <a:uFillTx/>
                <a:latin typeface="Arial" panose="020B0604020202020204" pitchFamily="34" charset="0"/>
                <a:ea typeface="+mn-ea"/>
                <a:cs typeface="Arial" panose="020B0604020202020204" pitchFamily="34" charset="0"/>
              </a:rPr>
              <a:t>Analog Devices Confidential Information</a:t>
            </a:r>
          </a:p>
        </p:txBody>
      </p:sp>
      <p:sp>
        <p:nvSpPr>
          <p:cNvPr id="7" name="Header Placeholder 1"/>
          <p:cNvSpPr>
            <a:spLocks noGrp="1"/>
          </p:cNvSpPr>
          <p:nvPr>
            <p:ph type="hdr" sz="quarter"/>
          </p:nvPr>
        </p:nvSpPr>
        <p:spPr>
          <a:xfrm>
            <a:off x="1676234" y="108612"/>
            <a:ext cx="4282113" cy="464820"/>
          </a:xfrm>
          <a:prstGeom prst="rect">
            <a:avLst/>
          </a:prstGeom>
        </p:spPr>
        <p:txBody>
          <a:bodyPr vert="horz" lIns="93177" tIns="0" rIns="93177" bIns="0" rtlCol="0" anchor="t"/>
          <a:lstStyle>
            <a:lvl1pPr algn="l">
              <a:defRPr sz="1200"/>
            </a:lvl1pPr>
          </a:lstStyle>
          <a:p>
            <a:endParaRPr lang="en-US" sz="1000" b="1" dirty="0">
              <a:solidFill>
                <a:schemeClr val="bg1">
                  <a:lumMod val="50000"/>
                </a:schemeClr>
              </a:solidFill>
              <a:latin typeface="Arial" panose="020B0604020202020204" pitchFamily="34" charset="0"/>
              <a:cs typeface="Arial" panose="020B0604020202020204" pitchFamily="34" charset="0"/>
            </a:endParaRPr>
          </a:p>
        </p:txBody>
      </p:sp>
      <p:sp>
        <p:nvSpPr>
          <p:cNvPr id="8" name="Date Placeholder 2"/>
          <p:cNvSpPr>
            <a:spLocks noGrp="1"/>
          </p:cNvSpPr>
          <p:nvPr>
            <p:ph type="dt" sz="quarter" idx="1"/>
          </p:nvPr>
        </p:nvSpPr>
        <p:spPr>
          <a:xfrm>
            <a:off x="6056670" y="108612"/>
            <a:ext cx="952107" cy="464820"/>
          </a:xfrm>
          <a:prstGeom prst="rect">
            <a:avLst/>
          </a:prstGeom>
        </p:spPr>
        <p:txBody>
          <a:bodyPr vert="horz" lIns="93177" tIns="0" rIns="93177" bIns="0" rtlCol="0" anchor="t"/>
          <a:lstStyle>
            <a:lvl1pPr algn="r">
              <a:defRPr sz="1200"/>
            </a:lvl1pPr>
          </a:lstStyle>
          <a:p>
            <a:fld id="{2C2AD557-2032-D74A-B281-F0540E660787}" type="datetimeFigureOut">
              <a:rPr lang="en-US" sz="1000" smtClean="0">
                <a:solidFill>
                  <a:schemeClr val="bg1">
                    <a:lumMod val="50000"/>
                  </a:schemeClr>
                </a:solidFill>
                <a:latin typeface="Arial" panose="020B0604020202020204" pitchFamily="34" charset="0"/>
                <a:cs typeface="Arial" panose="020B0604020202020204" pitchFamily="34" charset="0"/>
              </a:rPr>
              <a:t>11/12/2022</a:t>
            </a:fld>
            <a:endParaRPr lang="en-US" sz="1000">
              <a:solidFill>
                <a:schemeClr val="bg1">
                  <a:lumMod val="50000"/>
                </a:schemeClr>
              </a:solidFill>
              <a:latin typeface="Arial" panose="020B0604020202020204" pitchFamily="34" charset="0"/>
              <a:cs typeface="Arial" panose="020B0604020202020204" pitchFamily="34" charset="0"/>
            </a:endParaRPr>
          </a:p>
        </p:txBody>
      </p:sp>
      <p:pic>
        <p:nvPicPr>
          <p:cNvPr id="9" name="Picture 8"/>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99551" y="108612"/>
            <a:ext cx="1323726" cy="535440"/>
          </a:xfrm>
          <a:prstGeom prst="rect">
            <a:avLst/>
          </a:prstGeom>
          <a:noFill/>
          <a:ln>
            <a:noFill/>
          </a:ln>
        </p:spPr>
      </p:pic>
    </p:spTree>
    <p:extLst>
      <p:ext uri="{BB962C8B-B14F-4D97-AF65-F5344CB8AC3E}">
        <p14:creationId xmlns:p14="http://schemas.microsoft.com/office/powerpoint/2010/main" val="49313465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406400" y="814897"/>
            <a:ext cx="6197600" cy="348615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7" tIns="46589" rIns="93177" bIns="46589"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829967"/>
            <a:ext cx="3037840" cy="464820"/>
          </a:xfrm>
          <a:prstGeom prst="rect">
            <a:avLst/>
          </a:prstGeom>
        </p:spPr>
        <p:txBody>
          <a:bodyPr vert="horz" lIns="93177" tIns="46589" rIns="93177" bIns="46589" rtlCol="0" anchor="ctr"/>
          <a:lstStyle>
            <a:lvl1pPr algn="l">
              <a:defRPr sz="1000">
                <a:latin typeface="Arial" panose="020B0604020202020204" pitchFamily="34" charset="0"/>
                <a:cs typeface="Arial" panose="020B0604020202020204" pitchFamily="34" charset="0"/>
              </a:defRPr>
            </a:lvl1pPr>
          </a:lstStyle>
          <a:p>
            <a:r>
              <a:rPr lang="en-US" i="1" dirty="0">
                <a:solidFill>
                  <a:srgbClr val="FFFFFF">
                    <a:lumMod val="65000"/>
                  </a:srgbClr>
                </a:solidFill>
              </a:rPr>
              <a:t>Footer</a:t>
            </a:r>
          </a:p>
        </p:txBody>
      </p:sp>
      <p:sp>
        <p:nvSpPr>
          <p:cNvPr id="7" name="Slide Number Placeholder 6"/>
          <p:cNvSpPr>
            <a:spLocks noGrp="1"/>
          </p:cNvSpPr>
          <p:nvPr>
            <p:ph type="sldNum" sz="quarter" idx="5"/>
          </p:nvPr>
        </p:nvSpPr>
        <p:spPr>
          <a:xfrm>
            <a:off x="6309360" y="8829967"/>
            <a:ext cx="699418" cy="464820"/>
          </a:xfrm>
          <a:prstGeom prst="rect">
            <a:avLst/>
          </a:prstGeom>
        </p:spPr>
        <p:txBody>
          <a:bodyPr vert="horz" lIns="93177" tIns="46589" rIns="93177" bIns="46589" rtlCol="0" anchor="ctr"/>
          <a:lstStyle>
            <a:lvl1pPr algn="r">
              <a:defRPr sz="1000" b="1">
                <a:solidFill>
                  <a:schemeClr val="tx1">
                    <a:lumMod val="50000"/>
                    <a:lumOff val="50000"/>
                  </a:schemeClr>
                </a:solidFill>
                <a:latin typeface="Arial" panose="020B0604020202020204" pitchFamily="34" charset="0"/>
                <a:cs typeface="Arial" panose="020B0604020202020204" pitchFamily="34" charset="0"/>
              </a:defRPr>
            </a:lvl1pPr>
          </a:lstStyle>
          <a:p>
            <a:fld id="{900B8651-D313-4300-801F-836567026953}" type="slidenum">
              <a:rPr lang="en-US" smtClean="0"/>
              <a:pPr/>
              <a:t>‹#›</a:t>
            </a:fld>
            <a:endParaRPr lang="en-US" dirty="0"/>
          </a:p>
        </p:txBody>
      </p:sp>
      <p:sp>
        <p:nvSpPr>
          <p:cNvPr id="12" name="Rectangle 11"/>
          <p:cNvSpPr/>
          <p:nvPr/>
        </p:nvSpPr>
        <p:spPr>
          <a:xfrm>
            <a:off x="3037839" y="8829967"/>
            <a:ext cx="3271521" cy="464820"/>
          </a:xfrm>
          <a:prstGeom prst="rect">
            <a:avLst/>
          </a:prstGeom>
        </p:spPr>
        <p:txBody>
          <a:bodyPr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dirty="0">
                <a:ln>
                  <a:noFill/>
                </a:ln>
                <a:solidFill>
                  <a:srgbClr val="FFFFFF">
                    <a:lumMod val="65000"/>
                  </a:srgbClr>
                </a:solidFill>
                <a:effectLst/>
                <a:uLnTx/>
                <a:uFillTx/>
                <a:latin typeface="Arial" panose="020B0604020202020204" pitchFamily="34" charset="0"/>
                <a:ea typeface="+mn-ea"/>
                <a:cs typeface="Arial" panose="020B0604020202020204" pitchFamily="34" charset="0"/>
              </a:rPr>
              <a:t>Analog Devices Confidential Information</a:t>
            </a:r>
          </a:p>
        </p:txBody>
      </p:sp>
      <p:sp>
        <p:nvSpPr>
          <p:cNvPr id="9" name="Header Placeholder 1"/>
          <p:cNvSpPr>
            <a:spLocks noGrp="1"/>
          </p:cNvSpPr>
          <p:nvPr>
            <p:ph type="hdr" sz="quarter"/>
          </p:nvPr>
        </p:nvSpPr>
        <p:spPr>
          <a:xfrm>
            <a:off x="1676234" y="108612"/>
            <a:ext cx="4282113" cy="464820"/>
          </a:xfrm>
          <a:prstGeom prst="rect">
            <a:avLst/>
          </a:prstGeom>
        </p:spPr>
        <p:txBody>
          <a:bodyPr vert="horz" lIns="93177" tIns="0" rIns="93177" bIns="0" rtlCol="0" anchor="t"/>
          <a:lstStyle>
            <a:lvl1pPr algn="l">
              <a:defRPr sz="1200"/>
            </a:lvl1pPr>
          </a:lstStyle>
          <a:p>
            <a:endParaRPr lang="en-US" sz="1000" b="1" dirty="0">
              <a:solidFill>
                <a:schemeClr val="bg1">
                  <a:lumMod val="50000"/>
                </a:schemeClr>
              </a:solidFill>
              <a:latin typeface="Arial" panose="020B0604020202020204" pitchFamily="34" charset="0"/>
              <a:cs typeface="Arial" panose="020B0604020202020204" pitchFamily="34" charset="0"/>
            </a:endParaRPr>
          </a:p>
        </p:txBody>
      </p:sp>
      <p:sp>
        <p:nvSpPr>
          <p:cNvPr id="10" name="Date Placeholder 2"/>
          <p:cNvSpPr>
            <a:spLocks noGrp="1"/>
          </p:cNvSpPr>
          <p:nvPr>
            <p:ph type="dt" sz="quarter" idx="1"/>
          </p:nvPr>
        </p:nvSpPr>
        <p:spPr>
          <a:xfrm>
            <a:off x="6056670" y="108612"/>
            <a:ext cx="952107" cy="464820"/>
          </a:xfrm>
          <a:prstGeom prst="rect">
            <a:avLst/>
          </a:prstGeom>
        </p:spPr>
        <p:txBody>
          <a:bodyPr vert="horz" lIns="93177" tIns="0" rIns="93177" bIns="0" rtlCol="0" anchor="t"/>
          <a:lstStyle>
            <a:lvl1pPr algn="r">
              <a:defRPr sz="1200"/>
            </a:lvl1pPr>
          </a:lstStyle>
          <a:p>
            <a:fld id="{2C2AD557-2032-D74A-B281-F0540E660787}" type="datetimeFigureOut">
              <a:rPr lang="en-US" sz="1000" smtClean="0">
                <a:solidFill>
                  <a:schemeClr val="bg1">
                    <a:lumMod val="50000"/>
                  </a:schemeClr>
                </a:solidFill>
                <a:latin typeface="Arial" panose="020B0604020202020204" pitchFamily="34" charset="0"/>
                <a:cs typeface="Arial" panose="020B0604020202020204" pitchFamily="34" charset="0"/>
              </a:rPr>
              <a:t>11/12/2022</a:t>
            </a:fld>
            <a:endParaRPr lang="en-US" sz="1000">
              <a:solidFill>
                <a:schemeClr val="bg1">
                  <a:lumMod val="50000"/>
                </a:schemeClr>
              </a:solidFill>
              <a:latin typeface="Arial" panose="020B0604020202020204" pitchFamily="34" charset="0"/>
              <a:cs typeface="Arial" panose="020B0604020202020204" pitchFamily="34" charset="0"/>
            </a:endParaRPr>
          </a:p>
        </p:txBody>
      </p:sp>
      <p:pic>
        <p:nvPicPr>
          <p:cNvPr id="11" name="Picture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551" y="108612"/>
            <a:ext cx="1323726" cy="535440"/>
          </a:xfrm>
          <a:prstGeom prst="rect">
            <a:avLst/>
          </a:prstGeom>
          <a:noFill/>
          <a:ln>
            <a:noFill/>
          </a:ln>
        </p:spPr>
      </p:pic>
    </p:spTree>
    <p:extLst>
      <p:ext uri="{BB962C8B-B14F-4D97-AF65-F5344CB8AC3E}">
        <p14:creationId xmlns:p14="http://schemas.microsoft.com/office/powerpoint/2010/main" val="3561389954"/>
      </p:ext>
    </p:extLst>
  </p:cSld>
  <p:clrMap bg1="lt1" tx1="dk1" bg2="lt2" tx2="dk2" accent1="accent1" accent2="accent2" accent3="accent3" accent4="accent4" accent5="accent5" accent6="accent6" hlink="hlink" folHlink="folHlink"/>
  <p:hf hdr="0" ftr="0" dt="0"/>
  <p:notesStyle>
    <a:lvl1pPr marL="171450" indent="-171450" algn="l" defTabSz="914400" rtl="0" eaLnBrk="1" latinLnBrk="0" hangingPunct="1">
      <a:buClr>
        <a:schemeClr val="tx2"/>
      </a:buClr>
      <a:buSzPct val="75000"/>
      <a:buFont typeface="Wingdings 3" panose="05040102010807070707" pitchFamily="18" charset="2"/>
      <a:buChar char="u"/>
      <a:defRPr sz="1200" kern="1200">
        <a:solidFill>
          <a:schemeClr val="tx1">
            <a:lumMod val="50000"/>
            <a:lumOff val="50000"/>
          </a:schemeClr>
        </a:solidFill>
        <a:latin typeface="Arial" panose="020B0604020202020204" pitchFamily="34" charset="0"/>
        <a:ea typeface="+mn-ea"/>
        <a:cs typeface="Arial" panose="020B0604020202020204" pitchFamily="34" charset="0"/>
      </a:defRPr>
    </a:lvl1pPr>
    <a:lvl2pPr marL="344488" indent="-171450" algn="l" defTabSz="914400" rtl="0" eaLnBrk="1" latinLnBrk="0" hangingPunct="1">
      <a:buClr>
        <a:schemeClr val="tx2"/>
      </a:buClr>
      <a:buSzPct val="100000"/>
      <a:buFont typeface="Wingdings" panose="05000000000000000000" pitchFamily="2" charset="2"/>
      <a:buChar char="§"/>
      <a:defRPr sz="1200" kern="1200">
        <a:solidFill>
          <a:schemeClr val="tx1">
            <a:lumMod val="50000"/>
            <a:lumOff val="50000"/>
          </a:schemeClr>
        </a:solidFill>
        <a:latin typeface="Arial" panose="020B0604020202020204" pitchFamily="34" charset="0"/>
        <a:ea typeface="+mn-ea"/>
        <a:cs typeface="Arial" panose="020B0604020202020204" pitchFamily="34" charset="0"/>
      </a:defRPr>
    </a:lvl2pPr>
    <a:lvl3pPr marL="511175" indent="-171450" algn="l" defTabSz="914400" rtl="0" eaLnBrk="1" latinLnBrk="0" hangingPunct="1">
      <a:buClr>
        <a:schemeClr val="tx2"/>
      </a:buClr>
      <a:buSzPct val="100000"/>
      <a:buFont typeface="Wingdings" panose="05000000000000000000" pitchFamily="2" charset="2"/>
      <a:buChar char="§"/>
      <a:defRPr sz="1200" kern="1200">
        <a:solidFill>
          <a:schemeClr val="tx1">
            <a:lumMod val="50000"/>
            <a:lumOff val="50000"/>
          </a:schemeClr>
        </a:solidFill>
        <a:latin typeface="Arial" panose="020B0604020202020204" pitchFamily="34" charset="0"/>
        <a:ea typeface="+mn-ea"/>
        <a:cs typeface="Arial" panose="020B0604020202020204" pitchFamily="34" charset="0"/>
      </a:defRPr>
    </a:lvl3pPr>
    <a:lvl4pPr marL="688975" indent="-171450" algn="l" defTabSz="914400" rtl="0" eaLnBrk="1" latinLnBrk="0" hangingPunct="1">
      <a:buClr>
        <a:schemeClr val="tx2"/>
      </a:buClr>
      <a:buSzPct val="100000"/>
      <a:buFont typeface="Wingdings" panose="05000000000000000000" pitchFamily="2" charset="2"/>
      <a:buChar char="§"/>
      <a:defRPr sz="1200" kern="1200">
        <a:solidFill>
          <a:schemeClr val="tx1">
            <a:lumMod val="50000"/>
            <a:lumOff val="50000"/>
          </a:schemeClr>
        </a:solidFill>
        <a:latin typeface="Arial" panose="020B0604020202020204" pitchFamily="34" charset="0"/>
        <a:ea typeface="+mn-ea"/>
        <a:cs typeface="Arial" panose="020B0604020202020204" pitchFamily="34" charset="0"/>
      </a:defRPr>
    </a:lvl4pPr>
    <a:lvl5pPr marL="855663" indent="-171450" algn="l" defTabSz="914400" rtl="0" eaLnBrk="1" latinLnBrk="0" hangingPunct="1">
      <a:buClr>
        <a:schemeClr val="tx2"/>
      </a:buClr>
      <a:buSzPct val="100000"/>
      <a:buFont typeface="Wingdings" panose="05000000000000000000" pitchFamily="2" charset="2"/>
      <a:buChar char="§"/>
      <a:defRPr sz="1200" kern="1200">
        <a:solidFill>
          <a:schemeClr val="tx1">
            <a:lumMod val="50000"/>
            <a:lumOff val="50000"/>
          </a:schemeClr>
        </a:solidFill>
        <a:latin typeface="Arial" panose="020B0604020202020204" pitchFamily="34" charset="0"/>
        <a:ea typeface="+mn-ea"/>
        <a:cs typeface="Arial" panose="020B0604020202020204"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814388"/>
            <a:ext cx="6197600" cy="3486150"/>
          </a:xfrm>
        </p:spPr>
      </p:sp>
      <p:sp>
        <p:nvSpPr>
          <p:cNvPr id="3" name="Notes Placeholder 2"/>
          <p:cNvSpPr>
            <a:spLocks noGrp="1"/>
          </p:cNvSpPr>
          <p:nvPr>
            <p:ph type="body" idx="1"/>
          </p:nvPr>
        </p:nvSpPr>
        <p:spPr/>
        <p:txBody>
          <a:bodyPr/>
          <a:lstStyle/>
          <a:p>
            <a:r>
              <a:rPr lang="en-US" dirty="0"/>
              <a:t>This is the light cover slide option. </a:t>
            </a:r>
          </a:p>
        </p:txBody>
      </p:sp>
      <p:sp>
        <p:nvSpPr>
          <p:cNvPr id="4" name="Slide Number Placeholder 3"/>
          <p:cNvSpPr>
            <a:spLocks noGrp="1"/>
          </p:cNvSpPr>
          <p:nvPr>
            <p:ph type="sldNum" sz="quarter" idx="10"/>
          </p:nvPr>
        </p:nvSpPr>
        <p:spPr/>
        <p:txBody>
          <a:bodyPr/>
          <a:lstStyle/>
          <a:p>
            <a:fld id="{900B8651-D313-4300-801F-836567026953}" type="slidenum">
              <a:rPr lang="en-US" smtClean="0"/>
              <a:pPr/>
              <a:t>1</a:t>
            </a:fld>
            <a:endParaRPr lang="en-US" dirty="0"/>
          </a:p>
        </p:txBody>
      </p:sp>
    </p:spTree>
    <p:extLst>
      <p:ext uri="{BB962C8B-B14F-4D97-AF65-F5344CB8AC3E}">
        <p14:creationId xmlns:p14="http://schemas.microsoft.com/office/powerpoint/2010/main" val="29882166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814388"/>
            <a:ext cx="6197600" cy="3486150"/>
          </a:xfrm>
        </p:spPr>
      </p:sp>
      <p:sp>
        <p:nvSpPr>
          <p:cNvPr id="3" name="Notes Placeholder 2"/>
          <p:cNvSpPr>
            <a:spLocks noGrp="1"/>
          </p:cNvSpPr>
          <p:nvPr>
            <p:ph type="body" idx="1"/>
          </p:nvPr>
        </p:nvSpPr>
        <p:spPr/>
        <p:txBody>
          <a:bodyPr/>
          <a:lstStyle/>
          <a:p>
            <a:r>
              <a:rPr lang="en-US" b="0" i="0" u="none" dirty="0">
                <a:solidFill>
                  <a:srgbClr val="202122"/>
                </a:solidFill>
                <a:effectLst/>
                <a:latin typeface="Arial" panose="020B0604020202020204" pitchFamily="34" charset="0"/>
              </a:rPr>
              <a:t> </a:t>
            </a:r>
            <a:r>
              <a:rPr lang="en-US" b="1" i="0" u="none" dirty="0">
                <a:solidFill>
                  <a:srgbClr val="202122"/>
                </a:solidFill>
                <a:effectLst/>
                <a:latin typeface="Arial" panose="020B0604020202020204" pitchFamily="34" charset="0"/>
              </a:rPr>
              <a:t>posted write</a:t>
            </a:r>
            <a:r>
              <a:rPr lang="en-US" b="0" i="0" u="none" dirty="0">
                <a:solidFill>
                  <a:srgbClr val="202122"/>
                </a:solidFill>
                <a:effectLst/>
                <a:latin typeface="Arial" panose="020B0604020202020204" pitchFamily="34" charset="0"/>
              </a:rPr>
              <a:t> is a </a:t>
            </a:r>
            <a:r>
              <a:rPr lang="en-US" sz="1200" b="0" i="0" u="none" kern="1200" dirty="0">
                <a:solidFill>
                  <a:srgbClr val="202122"/>
                </a:solidFill>
                <a:effectLst/>
                <a:latin typeface="Arial" panose="020B0604020202020204" pitchFamily="34" charset="0"/>
                <a:ea typeface="+mn-ea"/>
                <a:cs typeface="Arial" panose="020B0604020202020204" pitchFamily="34" charset="0"/>
              </a:rPr>
              <a:t>computer bus </a:t>
            </a:r>
            <a:r>
              <a:rPr lang="en-US" b="0" i="0" u="none" dirty="0">
                <a:solidFill>
                  <a:srgbClr val="202122"/>
                </a:solidFill>
                <a:effectLst/>
                <a:latin typeface="Arial" panose="020B0604020202020204" pitchFamily="34" charset="0"/>
              </a:rPr>
              <a:t>write transaction that does not wait for a write completion response to indicate success or failure of the write transaction</a:t>
            </a:r>
          </a:p>
          <a:p>
            <a:r>
              <a:rPr lang="en-US" b="1" i="0" dirty="0">
                <a:solidFill>
                  <a:srgbClr val="202122"/>
                </a:solidFill>
                <a:effectLst/>
                <a:latin typeface="Arial" panose="020B0604020202020204" pitchFamily="34" charset="0"/>
              </a:rPr>
              <a:t>Burst mode</a:t>
            </a:r>
            <a:r>
              <a:rPr lang="en-US" b="0" i="0" dirty="0">
                <a:solidFill>
                  <a:srgbClr val="202122"/>
                </a:solidFill>
                <a:effectLst/>
                <a:latin typeface="Arial" panose="020B0604020202020204" pitchFamily="34" charset="0"/>
              </a:rPr>
              <a:t> is a generic </a:t>
            </a:r>
            <a:r>
              <a:rPr lang="en-US" b="0" i="0" u="none" strike="noStrike" dirty="0">
                <a:solidFill>
                  <a:srgbClr val="0645AD"/>
                </a:solidFill>
                <a:effectLst/>
                <a:latin typeface="Arial" panose="020B0604020202020204" pitchFamily="34" charset="0"/>
              </a:rPr>
              <a:t>electronics</a:t>
            </a:r>
            <a:r>
              <a:rPr lang="en-US" b="0" i="0" dirty="0">
                <a:solidFill>
                  <a:srgbClr val="202122"/>
                </a:solidFill>
                <a:effectLst/>
                <a:latin typeface="Arial" panose="020B0604020202020204" pitchFamily="34" charset="0"/>
              </a:rPr>
              <a:t> term referring to any situation in which a device is transmitting data repeatedly without going through all the steps required to transmit each piece of data in a separate transaction.</a:t>
            </a:r>
          </a:p>
          <a:p>
            <a:endParaRPr lang="en-GB" u="none" dirty="0"/>
          </a:p>
        </p:txBody>
      </p:sp>
      <p:sp>
        <p:nvSpPr>
          <p:cNvPr id="4" name="Slide Number Placeholder 3"/>
          <p:cNvSpPr>
            <a:spLocks noGrp="1"/>
          </p:cNvSpPr>
          <p:nvPr>
            <p:ph type="sldNum" sz="quarter" idx="5"/>
          </p:nvPr>
        </p:nvSpPr>
        <p:spPr/>
        <p:txBody>
          <a:bodyPr/>
          <a:lstStyle/>
          <a:p>
            <a:fld id="{900B8651-D313-4300-801F-836567026953}" type="slidenum">
              <a:rPr lang="en-US" smtClean="0"/>
              <a:pPr/>
              <a:t>5</a:t>
            </a:fld>
            <a:endParaRPr lang="en-US" dirty="0"/>
          </a:p>
        </p:txBody>
      </p:sp>
    </p:spTree>
    <p:extLst>
      <p:ext uri="{BB962C8B-B14F-4D97-AF65-F5344CB8AC3E}">
        <p14:creationId xmlns:p14="http://schemas.microsoft.com/office/powerpoint/2010/main" val="40806094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814388"/>
            <a:ext cx="6197600" cy="3486150"/>
          </a:xfrm>
        </p:spPr>
      </p:sp>
      <p:sp>
        <p:nvSpPr>
          <p:cNvPr id="3" name="Notes Placeholder 2"/>
          <p:cNvSpPr>
            <a:spLocks noGrp="1"/>
          </p:cNvSpPr>
          <p:nvPr>
            <p:ph type="body" idx="1"/>
          </p:nvPr>
        </p:nvSpPr>
        <p:spPr/>
        <p:txBody>
          <a:bodyPr/>
          <a:lstStyle/>
          <a:p>
            <a:pPr marL="0" indent="0">
              <a:buNone/>
            </a:pPr>
            <a:r>
              <a:rPr lang="en-US" dirty="0"/>
              <a:t>Point 4 is the beginning of synthesis</a:t>
            </a:r>
            <a:endParaRPr lang="en-GB" dirty="0"/>
          </a:p>
        </p:txBody>
      </p:sp>
      <p:sp>
        <p:nvSpPr>
          <p:cNvPr id="4" name="Slide Number Placeholder 3"/>
          <p:cNvSpPr>
            <a:spLocks noGrp="1"/>
          </p:cNvSpPr>
          <p:nvPr>
            <p:ph type="sldNum" sz="quarter" idx="5"/>
          </p:nvPr>
        </p:nvSpPr>
        <p:spPr/>
        <p:txBody>
          <a:bodyPr/>
          <a:lstStyle/>
          <a:p>
            <a:fld id="{900B8651-D313-4300-801F-836567026953}" type="slidenum">
              <a:rPr lang="en-US" smtClean="0"/>
              <a:pPr/>
              <a:t>12</a:t>
            </a:fld>
            <a:endParaRPr lang="en-US" dirty="0"/>
          </a:p>
        </p:txBody>
      </p:sp>
    </p:spTree>
    <p:extLst>
      <p:ext uri="{BB962C8B-B14F-4D97-AF65-F5344CB8AC3E}">
        <p14:creationId xmlns:p14="http://schemas.microsoft.com/office/powerpoint/2010/main" val="38158365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814388"/>
            <a:ext cx="6197600" cy="3486150"/>
          </a:xfrm>
        </p:spPr>
      </p:sp>
      <p:sp>
        <p:nvSpPr>
          <p:cNvPr id="3" name="Notes Placeholder 2"/>
          <p:cNvSpPr>
            <a:spLocks noGrp="1"/>
          </p:cNvSpPr>
          <p:nvPr>
            <p:ph type="body" idx="1"/>
          </p:nvPr>
        </p:nvSpPr>
        <p:spPr/>
        <p:txBody>
          <a:bodyPr/>
          <a:lstStyle/>
          <a:p>
            <a:r>
              <a:rPr lang="en-US" dirty="0"/>
              <a:t>Point four is equivalence check</a:t>
            </a:r>
          </a:p>
          <a:p>
            <a:r>
              <a:rPr lang="en-US" dirty="0"/>
              <a:t>Point five is DFT preparation</a:t>
            </a:r>
          </a:p>
          <a:p>
            <a:r>
              <a:rPr lang="en-US" dirty="0"/>
              <a:t>Is not the fourth point named formality??</a:t>
            </a:r>
          </a:p>
          <a:p>
            <a:r>
              <a:rPr lang="en-US" dirty="0"/>
              <a:t>Automatic Test pattern generator: ATPG</a:t>
            </a:r>
            <a:endParaRPr lang="en-GB" dirty="0"/>
          </a:p>
        </p:txBody>
      </p:sp>
      <p:sp>
        <p:nvSpPr>
          <p:cNvPr id="4" name="Slide Number Placeholder 3"/>
          <p:cNvSpPr>
            <a:spLocks noGrp="1"/>
          </p:cNvSpPr>
          <p:nvPr>
            <p:ph type="sldNum" sz="quarter" idx="5"/>
          </p:nvPr>
        </p:nvSpPr>
        <p:spPr/>
        <p:txBody>
          <a:bodyPr/>
          <a:lstStyle/>
          <a:p>
            <a:fld id="{900B8651-D313-4300-801F-836567026953}" type="slidenum">
              <a:rPr lang="en-US" smtClean="0"/>
              <a:pPr/>
              <a:t>13</a:t>
            </a:fld>
            <a:endParaRPr lang="en-US" dirty="0"/>
          </a:p>
        </p:txBody>
      </p:sp>
    </p:spTree>
    <p:extLst>
      <p:ext uri="{BB962C8B-B14F-4D97-AF65-F5344CB8AC3E}">
        <p14:creationId xmlns:p14="http://schemas.microsoft.com/office/powerpoint/2010/main" val="3849897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814388"/>
            <a:ext cx="6197600" cy="3486150"/>
          </a:xfrm>
        </p:spPr>
      </p:sp>
      <p:sp>
        <p:nvSpPr>
          <p:cNvPr id="3" name="Notes Placeholder 2"/>
          <p:cNvSpPr>
            <a:spLocks noGrp="1"/>
          </p:cNvSpPr>
          <p:nvPr>
            <p:ph type="body" idx="1"/>
          </p:nvPr>
        </p:nvSpPr>
        <p:spPr/>
        <p:txBody>
          <a:bodyPr/>
          <a:lstStyle/>
          <a:p>
            <a:pPr marL="0" indent="0">
              <a:buNone/>
            </a:pPr>
            <a:r>
              <a:rPr lang="en-US" dirty="0"/>
              <a:t>Placement and Physical scan insertion from point five</a:t>
            </a:r>
            <a:endParaRPr lang="en-GB" dirty="0"/>
          </a:p>
        </p:txBody>
      </p:sp>
      <p:sp>
        <p:nvSpPr>
          <p:cNvPr id="4" name="Slide Number Placeholder 3"/>
          <p:cNvSpPr>
            <a:spLocks noGrp="1"/>
          </p:cNvSpPr>
          <p:nvPr>
            <p:ph type="sldNum" sz="quarter" idx="5"/>
          </p:nvPr>
        </p:nvSpPr>
        <p:spPr/>
        <p:txBody>
          <a:bodyPr/>
          <a:lstStyle/>
          <a:p>
            <a:fld id="{900B8651-D313-4300-801F-836567026953}" type="slidenum">
              <a:rPr lang="en-US" smtClean="0"/>
              <a:pPr/>
              <a:t>14</a:t>
            </a:fld>
            <a:endParaRPr lang="en-US" dirty="0"/>
          </a:p>
        </p:txBody>
      </p:sp>
    </p:spTree>
    <p:extLst>
      <p:ext uri="{BB962C8B-B14F-4D97-AF65-F5344CB8AC3E}">
        <p14:creationId xmlns:p14="http://schemas.microsoft.com/office/powerpoint/2010/main" val="32048125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814388"/>
            <a:ext cx="6197600" cy="3486150"/>
          </a:xfrm>
        </p:spPr>
      </p:sp>
      <p:sp>
        <p:nvSpPr>
          <p:cNvPr id="3" name="Notes Placeholder 2"/>
          <p:cNvSpPr>
            <a:spLocks noGrp="1"/>
          </p:cNvSpPr>
          <p:nvPr>
            <p:ph type="body" idx="1"/>
          </p:nvPr>
        </p:nvSpPr>
        <p:spPr/>
        <p:txBody>
          <a:bodyPr/>
          <a:lstStyle/>
          <a:p>
            <a:r>
              <a:rPr lang="en-US" sz="1800" b="1" i="0" kern="1200" dirty="0">
                <a:solidFill>
                  <a:srgbClr val="000000"/>
                </a:solidFill>
                <a:effectLst/>
                <a:latin typeface="Helvetica-Bold"/>
                <a:ea typeface="+mn-ea"/>
                <a:cs typeface="Arial" panose="020B0604020202020204" pitchFamily="34" charset="0"/>
              </a:rPr>
              <a:t>This is the beginning of the </a:t>
            </a:r>
            <a:r>
              <a:rPr lang="en-GB" sz="1800" b="1" i="0" kern="1200" dirty="0">
                <a:solidFill>
                  <a:srgbClr val="000000"/>
                </a:solidFill>
                <a:effectLst/>
                <a:latin typeface="Helvetica-Bold"/>
                <a:ea typeface="+mn-ea"/>
                <a:cs typeface="Arial" panose="020B0604020202020204" pitchFamily="34" charset="0"/>
              </a:rPr>
              <a:t>Deriving Constraints</a:t>
            </a:r>
          </a:p>
          <a:p>
            <a:r>
              <a:rPr lang="en-GB" sz="1800" b="1" i="0" dirty="0">
                <a:solidFill>
                  <a:srgbClr val="000000"/>
                </a:solidFill>
                <a:effectLst/>
                <a:latin typeface="Helvetica-Bold"/>
              </a:rPr>
              <a:t>From </a:t>
            </a:r>
            <a:r>
              <a:rPr lang="en-GB" sz="1800" b="1" i="0" kern="1200" dirty="0">
                <a:solidFill>
                  <a:srgbClr val="000000"/>
                </a:solidFill>
                <a:effectLst/>
                <a:latin typeface="Helvetica-Bold"/>
                <a:ea typeface="+mn-ea"/>
                <a:cs typeface="Arial" panose="020B0604020202020204" pitchFamily="34" charset="0"/>
              </a:rPr>
              <a:t>point</a:t>
            </a:r>
            <a:r>
              <a:rPr lang="en-GB" sz="1800" b="1" i="0" dirty="0">
                <a:solidFill>
                  <a:srgbClr val="000000"/>
                </a:solidFill>
                <a:effectLst/>
                <a:latin typeface="Helvetica-Bold"/>
              </a:rPr>
              <a:t> 3 </a:t>
            </a:r>
            <a:r>
              <a:rPr lang="en-GB" sz="1800" b="1" i="0" kern="1200" dirty="0">
                <a:solidFill>
                  <a:srgbClr val="000000"/>
                </a:solidFill>
                <a:effectLst/>
                <a:latin typeface="Helvetica-Bold"/>
                <a:ea typeface="+mn-ea"/>
                <a:cs typeface="Arial" panose="020B0604020202020204" pitchFamily="34" charset="0"/>
              </a:rPr>
              <a:t>Flat</a:t>
            </a:r>
            <a:r>
              <a:rPr lang="en-GB" sz="1800" b="1" i="0" dirty="0">
                <a:solidFill>
                  <a:srgbClr val="000000"/>
                </a:solidFill>
                <a:effectLst/>
                <a:latin typeface="Helvetica-Bold"/>
              </a:rPr>
              <a:t> vs. Hierarchical Placement</a:t>
            </a:r>
          </a:p>
          <a:p>
            <a:br>
              <a:rPr lang="en-GB" sz="1800" b="1" i="0" dirty="0">
                <a:solidFill>
                  <a:srgbClr val="000000"/>
                </a:solidFill>
                <a:effectLst/>
                <a:latin typeface="Helvetica-Bold"/>
              </a:rPr>
            </a:br>
            <a:br>
              <a:rPr lang="en-GB" dirty="0"/>
            </a:br>
            <a:endParaRPr lang="en-GB" dirty="0"/>
          </a:p>
        </p:txBody>
      </p:sp>
      <p:sp>
        <p:nvSpPr>
          <p:cNvPr id="4" name="Slide Number Placeholder 3"/>
          <p:cNvSpPr>
            <a:spLocks noGrp="1"/>
          </p:cNvSpPr>
          <p:nvPr>
            <p:ph type="sldNum" sz="quarter" idx="5"/>
          </p:nvPr>
        </p:nvSpPr>
        <p:spPr/>
        <p:txBody>
          <a:bodyPr/>
          <a:lstStyle/>
          <a:p>
            <a:fld id="{900B8651-D313-4300-801F-836567026953}" type="slidenum">
              <a:rPr lang="en-US" smtClean="0"/>
              <a:pPr/>
              <a:t>16</a:t>
            </a:fld>
            <a:endParaRPr lang="en-US" dirty="0"/>
          </a:p>
        </p:txBody>
      </p:sp>
    </p:spTree>
    <p:extLst>
      <p:ext uri="{BB962C8B-B14F-4D97-AF65-F5344CB8AC3E}">
        <p14:creationId xmlns:p14="http://schemas.microsoft.com/office/powerpoint/2010/main" val="20635868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814388"/>
            <a:ext cx="6197600" cy="3486150"/>
          </a:xfrm>
        </p:spPr>
      </p:sp>
      <p:sp>
        <p:nvSpPr>
          <p:cNvPr id="3" name="Notes Placeholder 2"/>
          <p:cNvSpPr>
            <a:spLocks noGrp="1"/>
          </p:cNvSpPr>
          <p:nvPr>
            <p:ph type="body" idx="1"/>
          </p:nvPr>
        </p:nvSpPr>
        <p:spPr/>
        <p:txBody>
          <a:bodyPr/>
          <a:lstStyle/>
          <a:p>
            <a:r>
              <a:rPr lang="en-US" dirty="0"/>
              <a:t>Time convergence and iterations from the beginning</a:t>
            </a:r>
            <a:endParaRPr lang="en-GB" dirty="0"/>
          </a:p>
        </p:txBody>
      </p:sp>
      <p:sp>
        <p:nvSpPr>
          <p:cNvPr id="4" name="Slide Number Placeholder 3"/>
          <p:cNvSpPr>
            <a:spLocks noGrp="1"/>
          </p:cNvSpPr>
          <p:nvPr>
            <p:ph type="sldNum" sz="quarter" idx="5"/>
          </p:nvPr>
        </p:nvSpPr>
        <p:spPr/>
        <p:txBody>
          <a:bodyPr/>
          <a:lstStyle/>
          <a:p>
            <a:fld id="{900B8651-D313-4300-801F-836567026953}" type="slidenum">
              <a:rPr lang="en-US" smtClean="0"/>
              <a:pPr/>
              <a:t>17</a:t>
            </a:fld>
            <a:endParaRPr lang="en-US" dirty="0"/>
          </a:p>
        </p:txBody>
      </p:sp>
    </p:spTree>
    <p:extLst>
      <p:ext uri="{BB962C8B-B14F-4D97-AF65-F5344CB8AC3E}">
        <p14:creationId xmlns:p14="http://schemas.microsoft.com/office/powerpoint/2010/main" val="37744114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814388"/>
            <a:ext cx="6197600" cy="3486150"/>
          </a:xfrm>
        </p:spPr>
      </p:sp>
      <p:sp>
        <p:nvSpPr>
          <p:cNvPr id="3" name="Notes Placeholder 2"/>
          <p:cNvSpPr>
            <a:spLocks noGrp="1"/>
          </p:cNvSpPr>
          <p:nvPr>
            <p:ph type="body" idx="1"/>
          </p:nvPr>
        </p:nvSpPr>
        <p:spPr/>
        <p:txBody>
          <a:bodyPr/>
          <a:lstStyle/>
          <a:p>
            <a:r>
              <a:rPr lang="en-US" dirty="0"/>
              <a:t>Clock Tree insertion from the beginning</a:t>
            </a:r>
          </a:p>
          <a:p>
            <a:r>
              <a:rPr lang="en-US" dirty="0"/>
              <a:t>Point 2 is detailed routing</a:t>
            </a:r>
          </a:p>
          <a:p>
            <a:r>
              <a:rPr lang="en-US" dirty="0"/>
              <a:t>Point 3 is parasitic extraction</a:t>
            </a:r>
          </a:p>
        </p:txBody>
      </p:sp>
      <p:sp>
        <p:nvSpPr>
          <p:cNvPr id="4" name="Slide Number Placeholder 3"/>
          <p:cNvSpPr>
            <a:spLocks noGrp="1"/>
          </p:cNvSpPr>
          <p:nvPr>
            <p:ph type="sldNum" sz="quarter" idx="5"/>
          </p:nvPr>
        </p:nvSpPr>
        <p:spPr/>
        <p:txBody>
          <a:bodyPr/>
          <a:lstStyle/>
          <a:p>
            <a:fld id="{900B8651-D313-4300-801F-836567026953}" type="slidenum">
              <a:rPr lang="en-US" smtClean="0"/>
              <a:pPr/>
              <a:t>18</a:t>
            </a:fld>
            <a:endParaRPr lang="en-US" dirty="0"/>
          </a:p>
        </p:txBody>
      </p:sp>
    </p:spTree>
    <p:extLst>
      <p:ext uri="{BB962C8B-B14F-4D97-AF65-F5344CB8AC3E}">
        <p14:creationId xmlns:p14="http://schemas.microsoft.com/office/powerpoint/2010/main" val="2084362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814388"/>
            <a:ext cx="6197600" cy="3486150"/>
          </a:xfrm>
        </p:spPr>
      </p:sp>
      <p:sp>
        <p:nvSpPr>
          <p:cNvPr id="3" name="Notes Placeholder 2"/>
          <p:cNvSpPr>
            <a:spLocks noGrp="1"/>
          </p:cNvSpPr>
          <p:nvPr>
            <p:ph type="body" idx="1"/>
          </p:nvPr>
        </p:nvSpPr>
        <p:spPr/>
        <p:txBody>
          <a:bodyPr/>
          <a:lstStyle/>
          <a:p>
            <a:r>
              <a:rPr lang="en-US" dirty="0"/>
              <a:t>Static time analysis from beginning</a:t>
            </a:r>
          </a:p>
          <a:p>
            <a:r>
              <a:rPr lang="en-US" dirty="0"/>
              <a:t>Timing fixes from point 3</a:t>
            </a:r>
            <a:endParaRPr lang="en-GB" dirty="0"/>
          </a:p>
        </p:txBody>
      </p:sp>
      <p:sp>
        <p:nvSpPr>
          <p:cNvPr id="4" name="Slide Number Placeholder 3"/>
          <p:cNvSpPr>
            <a:spLocks noGrp="1"/>
          </p:cNvSpPr>
          <p:nvPr>
            <p:ph type="sldNum" sz="quarter" idx="5"/>
          </p:nvPr>
        </p:nvSpPr>
        <p:spPr/>
        <p:txBody>
          <a:bodyPr/>
          <a:lstStyle/>
          <a:p>
            <a:fld id="{900B8651-D313-4300-801F-836567026953}" type="slidenum">
              <a:rPr lang="en-US" smtClean="0"/>
              <a:pPr/>
              <a:t>19</a:t>
            </a:fld>
            <a:endParaRPr lang="en-US" dirty="0"/>
          </a:p>
        </p:txBody>
      </p:sp>
    </p:spTree>
    <p:extLst>
      <p:ext uri="{BB962C8B-B14F-4D97-AF65-F5344CB8AC3E}">
        <p14:creationId xmlns:p14="http://schemas.microsoft.com/office/powerpoint/2010/main" val="33177235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814388"/>
            <a:ext cx="6197600" cy="3486150"/>
          </a:xfrm>
        </p:spPr>
      </p:sp>
      <p:sp>
        <p:nvSpPr>
          <p:cNvPr id="3" name="Notes Placeholder 2"/>
          <p:cNvSpPr>
            <a:spLocks noGrp="1"/>
          </p:cNvSpPr>
          <p:nvPr>
            <p:ph type="body" idx="1"/>
          </p:nvPr>
        </p:nvSpPr>
        <p:spPr/>
        <p:txBody>
          <a:bodyPr/>
          <a:lstStyle/>
          <a:p>
            <a:r>
              <a:rPr lang="en-US" dirty="0"/>
              <a:t>Checking power in the point 2</a:t>
            </a:r>
          </a:p>
          <a:p>
            <a:r>
              <a:rPr lang="en-US" dirty="0"/>
              <a:t>DRC, LVS and Antenna from point 4</a:t>
            </a:r>
            <a:endParaRPr lang="en-GB" dirty="0"/>
          </a:p>
        </p:txBody>
      </p:sp>
      <p:sp>
        <p:nvSpPr>
          <p:cNvPr id="4" name="Slide Number Placeholder 3"/>
          <p:cNvSpPr>
            <a:spLocks noGrp="1"/>
          </p:cNvSpPr>
          <p:nvPr>
            <p:ph type="sldNum" sz="quarter" idx="5"/>
          </p:nvPr>
        </p:nvSpPr>
        <p:spPr/>
        <p:txBody>
          <a:bodyPr/>
          <a:lstStyle/>
          <a:p>
            <a:fld id="{900B8651-D313-4300-801F-836567026953}" type="slidenum">
              <a:rPr lang="en-US" smtClean="0"/>
              <a:pPr/>
              <a:t>20</a:t>
            </a:fld>
            <a:endParaRPr lang="en-US" dirty="0"/>
          </a:p>
        </p:txBody>
      </p:sp>
    </p:spTree>
    <p:extLst>
      <p:ext uri="{BB962C8B-B14F-4D97-AF65-F5344CB8AC3E}">
        <p14:creationId xmlns:p14="http://schemas.microsoft.com/office/powerpoint/2010/main" val="88483984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8.jpeg"/><Relationship Id="rId1" Type="http://schemas.openxmlformats.org/officeDocument/2006/relationships/slideMaster" Target="../slideMasters/slideMaster1.xml"/><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5.svg"/></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81801A5-8B97-4248-BC1F-30EED1BE8E2A}"/>
              </a:ext>
            </a:extLst>
          </p:cNvPr>
          <p:cNvSpPr txBox="1"/>
          <p:nvPr userDrawn="1"/>
        </p:nvSpPr>
        <p:spPr>
          <a:xfrm>
            <a:off x="2836333" y="-1100667"/>
            <a:ext cx="0" cy="0"/>
          </a:xfrm>
          <a:prstGeom prst="rect">
            <a:avLst/>
          </a:prstGeom>
          <a:noFill/>
        </p:spPr>
        <p:txBody>
          <a:bodyPr wrap="none" lIns="0" tIns="0" rIns="0" bIns="0" rtlCol="0">
            <a:noAutofit/>
          </a:bodyPr>
          <a:lstStyle/>
          <a:p>
            <a:pPr marL="228600" indent="-228600" defTabSz="457200">
              <a:spcBef>
                <a:spcPts val="1000"/>
              </a:spcBef>
              <a:buClr>
                <a:srgbClr val="1E4056"/>
              </a:buClr>
              <a:buSzPct val="75000"/>
              <a:buFont typeface="Barlow"/>
              <a:buChar char="►"/>
            </a:pPr>
            <a:endParaRPr lang="en-US" sz="2000" dirty="0">
              <a:solidFill>
                <a:srgbClr val="000000"/>
              </a:solidFill>
            </a:endParaRPr>
          </a:p>
        </p:txBody>
      </p:sp>
      <p:pic>
        <p:nvPicPr>
          <p:cNvPr id="25" name="Graphic 24">
            <a:extLst>
              <a:ext uri="{FF2B5EF4-FFF2-40B4-BE49-F238E27FC236}">
                <a16:creationId xmlns:a16="http://schemas.microsoft.com/office/drawing/2014/main" id="{9C0A6AB0-9BB4-1E43-9F1F-3CEBCAC113FA}"/>
              </a:ext>
            </a:extLst>
          </p:cNvPr>
          <p:cNvPicPr>
            <a:picLocks noChangeAspect="1"/>
          </p:cNvPicPr>
          <p:nvPr userDrawn="1"/>
        </p:nvPicPr>
        <p:blipFill rotWithShape="1">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l="983" t="31368" r="520" b="18339"/>
          <a:stretch/>
        </p:blipFill>
        <p:spPr>
          <a:xfrm>
            <a:off x="0" y="-5203"/>
            <a:ext cx="12192000" cy="6863204"/>
          </a:xfrm>
          <a:prstGeom prst="rect">
            <a:avLst/>
          </a:prstGeom>
        </p:spPr>
      </p:pic>
      <p:sp>
        <p:nvSpPr>
          <p:cNvPr id="26" name="Rectangle 25">
            <a:extLst>
              <a:ext uri="{FF2B5EF4-FFF2-40B4-BE49-F238E27FC236}">
                <a16:creationId xmlns:a16="http://schemas.microsoft.com/office/drawing/2014/main" id="{91B97B1F-8B2D-7041-9104-AECAAA0D72FD}"/>
              </a:ext>
            </a:extLst>
          </p:cNvPr>
          <p:cNvSpPr/>
          <p:nvPr userDrawn="1"/>
        </p:nvSpPr>
        <p:spPr>
          <a:xfrm>
            <a:off x="0" y="-5204"/>
            <a:ext cx="6281680" cy="6863204"/>
          </a:xfrm>
          <a:prstGeom prst="rect">
            <a:avLst/>
          </a:prstGeom>
          <a:gradFill>
            <a:gsLst>
              <a:gs pos="0">
                <a:schemeClr val="accent2">
                  <a:lumMod val="50000"/>
                  <a:alpha val="0"/>
                </a:schemeClr>
              </a:gs>
              <a:gs pos="100000">
                <a:schemeClr val="accent2">
                  <a:lumMod val="50000"/>
                  <a:alpha val="49901"/>
                </a:schemeClr>
              </a:gs>
            </a:gsLst>
            <a:lin ang="10800000" scaled="1"/>
          </a:gra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27" name="Picture 16">
            <a:extLst>
              <a:ext uri="{FF2B5EF4-FFF2-40B4-BE49-F238E27FC236}">
                <a16:creationId xmlns:a16="http://schemas.microsoft.com/office/drawing/2014/main" id="{68BA96D0-D231-8543-9A40-53B148E3E277}"/>
              </a:ext>
            </a:extLst>
          </p:cNvPr>
          <p:cNvPicPr>
            <a:picLocks noChangeAspect="1"/>
          </p:cNvPicPr>
          <p:nvPr userDrawn="1"/>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rcRect/>
          <a:stretch/>
        </p:blipFill>
        <p:spPr>
          <a:xfrm>
            <a:off x="347472" y="412047"/>
            <a:ext cx="1546299" cy="623945"/>
          </a:xfrm>
          <a:prstGeom prst="rect">
            <a:avLst/>
          </a:prstGeom>
        </p:spPr>
      </p:pic>
      <p:sp>
        <p:nvSpPr>
          <p:cNvPr id="28" name="Text Placeholder 2">
            <a:extLst>
              <a:ext uri="{FF2B5EF4-FFF2-40B4-BE49-F238E27FC236}">
                <a16:creationId xmlns:a16="http://schemas.microsoft.com/office/drawing/2014/main" id="{0BAFA5AC-215B-3841-96C1-5949DA8341F2}"/>
              </a:ext>
            </a:extLst>
          </p:cNvPr>
          <p:cNvSpPr>
            <a:spLocks noGrp="1"/>
          </p:cNvSpPr>
          <p:nvPr>
            <p:ph type="body" idx="1" hasCustomPrompt="1"/>
          </p:nvPr>
        </p:nvSpPr>
        <p:spPr>
          <a:xfrm>
            <a:off x="342900" y="4587041"/>
            <a:ext cx="5570538" cy="276999"/>
          </a:xfrm>
        </p:spPr>
        <p:txBody>
          <a:bodyPr wrap="square" tIns="0" anchor="t">
            <a:spAutoFit/>
          </a:bodyPr>
          <a:lstStyle>
            <a:lvl1pPr marL="0" indent="0">
              <a:lnSpc>
                <a:spcPct val="90000"/>
              </a:lnSpc>
              <a:spcBef>
                <a:spcPts val="0"/>
              </a:spcBef>
              <a:buNone/>
              <a:defRPr lang="en-US" sz="2000" b="0" i="0" kern="1200" cap="none" baseline="0" dirty="0">
                <a:solidFill>
                  <a:schemeClr val="accent1">
                    <a:lumMod val="20000"/>
                    <a:lumOff val="80000"/>
                  </a:schemeClr>
                </a:solidFill>
                <a:latin typeface="Barlow" pitchFamily="2" charset="77"/>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marL="0" lvl="0" indent="0" algn="l" defTabSz="457200" rtl="0" eaLnBrk="1" latinLnBrk="0" hangingPunct="1">
              <a:spcBef>
                <a:spcPct val="20000"/>
              </a:spcBef>
              <a:buClr>
                <a:schemeClr val="bg2"/>
              </a:buClr>
              <a:buSzPct val="65000"/>
              <a:buFont typeface="Barlow"/>
              <a:buNone/>
            </a:pPr>
            <a:r>
              <a:rPr lang="en-US" dirty="0"/>
              <a:t>Click to Add Presenter/Subheading</a:t>
            </a:r>
          </a:p>
        </p:txBody>
      </p:sp>
      <p:sp>
        <p:nvSpPr>
          <p:cNvPr id="29" name="Text Placeholder 6">
            <a:extLst>
              <a:ext uri="{FF2B5EF4-FFF2-40B4-BE49-F238E27FC236}">
                <a16:creationId xmlns:a16="http://schemas.microsoft.com/office/drawing/2014/main" id="{07DA987C-20E5-6645-A0B0-F16877035E4C}"/>
              </a:ext>
            </a:extLst>
          </p:cNvPr>
          <p:cNvSpPr>
            <a:spLocks noGrp="1"/>
          </p:cNvSpPr>
          <p:nvPr>
            <p:ph type="body" sz="quarter" idx="12" hasCustomPrompt="1"/>
          </p:nvPr>
        </p:nvSpPr>
        <p:spPr>
          <a:xfrm>
            <a:off x="342900" y="3824707"/>
            <a:ext cx="5570538" cy="664797"/>
          </a:xfrm>
          <a:prstGeom prst="rect">
            <a:avLst/>
          </a:prstGeom>
        </p:spPr>
        <p:txBody>
          <a:bodyPr wrap="square" lIns="0" tIns="0" rIns="0" bIns="0" anchor="b">
            <a:spAutoFit/>
          </a:bodyPr>
          <a:lstStyle>
            <a:lvl1pPr marL="0" indent="0">
              <a:lnSpc>
                <a:spcPct val="90000"/>
              </a:lnSpc>
              <a:buNone/>
              <a:defRPr lang="en-US" sz="4800" b="0" i="0" kern="1200" baseline="0" dirty="0">
                <a:solidFill>
                  <a:schemeClr val="bg1"/>
                </a:solidFill>
                <a:latin typeface="Barlow" pitchFamily="2" charset="77"/>
                <a:ea typeface="+mj-ea"/>
                <a:cs typeface="+mj-cs"/>
              </a:defRPr>
            </a:lvl1pPr>
          </a:lstStyle>
          <a:p>
            <a:pPr marL="0" lvl="0" indent="0" algn="l" defTabSz="457200" rtl="0" eaLnBrk="1" latinLnBrk="0" hangingPunct="1">
              <a:spcBef>
                <a:spcPts val="1000"/>
              </a:spcBef>
              <a:buClr>
                <a:schemeClr val="bg2"/>
              </a:buClr>
              <a:buSzPct val="75000"/>
              <a:buFont typeface="Barlow"/>
              <a:buNone/>
            </a:pPr>
            <a:r>
              <a:rPr lang="en-US" dirty="0"/>
              <a:t>Click to Edit</a:t>
            </a:r>
          </a:p>
        </p:txBody>
      </p:sp>
      <p:sp>
        <p:nvSpPr>
          <p:cNvPr id="30" name="Rectangle 29">
            <a:extLst>
              <a:ext uri="{FF2B5EF4-FFF2-40B4-BE49-F238E27FC236}">
                <a16:creationId xmlns:a16="http://schemas.microsoft.com/office/drawing/2014/main" id="{C11C654B-FE14-FB45-8249-7D9D92995BA2}"/>
              </a:ext>
            </a:extLst>
          </p:cNvPr>
          <p:cNvSpPr/>
          <p:nvPr userDrawn="1"/>
        </p:nvSpPr>
        <p:spPr>
          <a:xfrm>
            <a:off x="0" y="6606769"/>
            <a:ext cx="10629899" cy="251231"/>
          </a:xfrm>
          <a:prstGeom prst="rect">
            <a:avLst/>
          </a:prstGeom>
          <a:gradFill flip="none" rotWithShape="1">
            <a:gsLst>
              <a:gs pos="90000">
                <a:schemeClr val="accent2"/>
              </a:gs>
              <a:gs pos="0">
                <a:schemeClr val="accent1"/>
              </a:gs>
            </a:gsLst>
            <a:lin ang="10800000" scaled="1"/>
            <a:tileRect/>
          </a:gradFill>
        </p:spPr>
        <p:txBody>
          <a:bodyPr vert="horz" lIns="338328" tIns="91440" rIns="91440" bIns="91440" rtlCol="0" anchor="ctr" anchorCtr="0"/>
          <a:lstStyle/>
          <a:p>
            <a:pPr lvl="0"/>
            <a:endParaRPr lang="en-US" sz="900" b="0" i="0">
              <a:solidFill>
                <a:schemeClr val="bg1"/>
              </a:solidFill>
              <a:latin typeface="Barlow" pitchFamily="2" charset="77"/>
              <a:cs typeface="Arial Black" panose="020B0604020202020204" pitchFamily="34" charset="0"/>
            </a:endParaRPr>
          </a:p>
        </p:txBody>
      </p:sp>
      <p:sp>
        <p:nvSpPr>
          <p:cNvPr id="13" name="Footer Placeholder 1">
            <a:extLst>
              <a:ext uri="{FF2B5EF4-FFF2-40B4-BE49-F238E27FC236}">
                <a16:creationId xmlns:a16="http://schemas.microsoft.com/office/drawing/2014/main" id="{7084A994-876E-774C-A507-104A2FF008FC}"/>
              </a:ext>
            </a:extLst>
          </p:cNvPr>
          <p:cNvSpPr>
            <a:spLocks noGrp="1"/>
          </p:cNvSpPr>
          <p:nvPr>
            <p:ph type="ftr" sz="quarter" idx="3"/>
          </p:nvPr>
        </p:nvSpPr>
        <p:spPr>
          <a:xfrm>
            <a:off x="342900" y="6616018"/>
            <a:ext cx="8059640" cy="241982"/>
          </a:xfrm>
          <a:prstGeom prst="rect">
            <a:avLst/>
          </a:prstGeom>
          <a:noFill/>
        </p:spPr>
        <p:txBody>
          <a:bodyPr vert="horz" lIns="0" tIns="0" rIns="182880" bIns="0" rtlCol="0" anchor="ctr" anchorCtr="0">
            <a:noAutofit/>
          </a:bodyPr>
          <a:lstStyle>
            <a:lvl1pPr>
              <a:lnSpc>
                <a:spcPct val="80000"/>
              </a:lnSpc>
              <a:defRPr lang="en-US" sz="900" b="0" i="0" smtClean="0">
                <a:solidFill>
                  <a:schemeClr val="bg1"/>
                </a:solidFill>
                <a:latin typeface="Barlow" pitchFamily="2" charset="77"/>
                <a:cs typeface="Arial Black" panose="020B0604020202020204" pitchFamily="34" charset="0"/>
              </a:defRPr>
            </a:lvl1pPr>
          </a:lstStyle>
          <a:p>
            <a:r>
              <a:rPr lang="en-US"/>
              <a:t>©2022 Analog Devices, Inc. </a:t>
            </a:r>
            <a:endParaRPr lang="en-US" dirty="0"/>
          </a:p>
        </p:txBody>
      </p:sp>
      <p:sp>
        <p:nvSpPr>
          <p:cNvPr id="14" name="Slide Number Placeholder 3">
            <a:extLst>
              <a:ext uri="{FF2B5EF4-FFF2-40B4-BE49-F238E27FC236}">
                <a16:creationId xmlns:a16="http://schemas.microsoft.com/office/drawing/2014/main" id="{DFC1328E-D267-9B45-9570-96B12FEA03CE}"/>
              </a:ext>
            </a:extLst>
          </p:cNvPr>
          <p:cNvSpPr>
            <a:spLocks noGrp="1"/>
          </p:cNvSpPr>
          <p:nvPr>
            <p:ph type="sldNum" sz="quarter" idx="4"/>
          </p:nvPr>
        </p:nvSpPr>
        <p:spPr>
          <a:xfrm>
            <a:off x="10629901" y="6613018"/>
            <a:ext cx="1219199" cy="241982"/>
          </a:xfrm>
          <a:prstGeom prst="rect">
            <a:avLst/>
          </a:prstGeom>
        </p:spPr>
        <p:txBody>
          <a:bodyPr vert="horz" lIns="182880" tIns="0" rIns="0" bIns="0" rtlCol="0" anchor="ctr" anchorCtr="0"/>
          <a:lstStyle>
            <a:lvl1pPr algn="r">
              <a:lnSpc>
                <a:spcPct val="80000"/>
              </a:lnSpc>
              <a:defRPr kumimoji="0" lang="en-US" sz="1000" b="1" i="0" u="none" strike="noStrike" cap="none" spc="0" normalizeH="0" baseline="0" smtClean="0">
                <a:ln>
                  <a:noFill/>
                </a:ln>
                <a:solidFill>
                  <a:schemeClr val="bg1"/>
                </a:solidFill>
                <a:effectLst/>
                <a:uLnTx/>
                <a:uFillTx/>
                <a:latin typeface="Barlow" pitchFamily="2" charset="77"/>
              </a:defRPr>
            </a:lvl1pPr>
          </a:lstStyle>
          <a:p>
            <a:pPr>
              <a:defRPr/>
            </a:pPr>
            <a:fld id="{A9CE67A1-BA7F-A74E-B5D7-615746DEEC2B}" type="slidenum">
              <a:rPr lang="en-US" smtClean="0"/>
              <a:pPr>
                <a:defRPr/>
              </a:pPr>
              <a:t>‹#›</a:t>
            </a:fld>
            <a:endParaRPr lang="en-US" baseline="-11000" dirty="0"/>
          </a:p>
        </p:txBody>
      </p:sp>
      <p:sp>
        <p:nvSpPr>
          <p:cNvPr id="15" name="Date Placeholder 3">
            <a:extLst>
              <a:ext uri="{FF2B5EF4-FFF2-40B4-BE49-F238E27FC236}">
                <a16:creationId xmlns:a16="http://schemas.microsoft.com/office/drawing/2014/main" id="{EA1B3B0B-FCA0-194C-BBF9-5976E2040531}"/>
              </a:ext>
            </a:extLst>
          </p:cNvPr>
          <p:cNvSpPr>
            <a:spLocks noGrp="1"/>
          </p:cNvSpPr>
          <p:nvPr>
            <p:ph type="dt" sz="half" idx="2"/>
          </p:nvPr>
        </p:nvSpPr>
        <p:spPr>
          <a:xfrm>
            <a:off x="8402541" y="6616018"/>
            <a:ext cx="2227359" cy="241982"/>
          </a:xfrm>
          <a:prstGeom prst="rect">
            <a:avLst/>
          </a:prstGeom>
        </p:spPr>
        <p:txBody>
          <a:bodyPr lIns="0" tIns="0" rIns="182880" bIns="0" anchor="ctr" anchorCtr="0"/>
          <a:lstStyle>
            <a:lvl1pPr algn="r">
              <a:lnSpc>
                <a:spcPct val="80000"/>
              </a:lnSpc>
              <a:defRPr lang="en-US" sz="1000" b="0" i="0" kern="1200" smtClean="0">
                <a:solidFill>
                  <a:schemeClr val="bg1"/>
                </a:solidFill>
                <a:latin typeface="Barlow" pitchFamily="2" charset="77"/>
                <a:ea typeface="+mn-ea"/>
                <a:cs typeface="+mn-cs"/>
              </a:defRPr>
            </a:lvl1pPr>
          </a:lstStyle>
          <a:p>
            <a:fld id="{FE7A9806-8D44-470F-A42A-B0BB34D8E567}" type="datetime3">
              <a:rPr lang="en-US" smtClean="0"/>
              <a:t>12 November 2022</a:t>
            </a:fld>
            <a:endParaRPr lang="en-US" dirty="0"/>
          </a:p>
        </p:txBody>
      </p:sp>
    </p:spTree>
    <p:extLst>
      <p:ext uri="{BB962C8B-B14F-4D97-AF65-F5344CB8AC3E}">
        <p14:creationId xmlns:p14="http://schemas.microsoft.com/office/powerpoint/2010/main" val="19443918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Section Header">
    <p:bg>
      <p:bgPr>
        <a:blipFill dpi="0" rotWithShape="1">
          <a:blip r:embed="rId2" cstate="screen">
            <a:alphaModFix amt="50000"/>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B6EEBE8-797C-CF45-BCEA-46B6F8BDF2A6}"/>
              </a:ext>
            </a:extLst>
          </p:cNvPr>
          <p:cNvSpPr txBox="1"/>
          <p:nvPr userDrawn="1"/>
        </p:nvSpPr>
        <p:spPr>
          <a:xfrm>
            <a:off x="23045738" y="1928813"/>
            <a:ext cx="0" cy="0"/>
          </a:xfrm>
          <a:prstGeom prst="rect">
            <a:avLst/>
          </a:prstGeom>
          <a:noFill/>
        </p:spPr>
        <p:txBody>
          <a:bodyPr wrap="none" lIns="0" tIns="0" rIns="0" bIns="0" rtlCol="0">
            <a:noAutofit/>
          </a:bodyPr>
          <a:lstStyle/>
          <a:p>
            <a:pPr marL="228600" indent="-228600" defTabSz="457200">
              <a:spcBef>
                <a:spcPts val="1000"/>
              </a:spcBef>
              <a:buClr>
                <a:srgbClr val="1E4056"/>
              </a:buClr>
              <a:buSzPct val="75000"/>
              <a:buFont typeface="Barlow"/>
              <a:buChar char="►"/>
            </a:pPr>
            <a:endParaRPr lang="en-US" sz="2000" dirty="0">
              <a:solidFill>
                <a:srgbClr val="000000"/>
              </a:solidFill>
            </a:endParaRPr>
          </a:p>
        </p:txBody>
      </p:sp>
      <p:pic>
        <p:nvPicPr>
          <p:cNvPr id="21" name="Graphic 20">
            <a:extLst>
              <a:ext uri="{FF2B5EF4-FFF2-40B4-BE49-F238E27FC236}">
                <a16:creationId xmlns:a16="http://schemas.microsoft.com/office/drawing/2014/main" id="{8AC56CD1-FBEE-0E42-B197-B760B74435A1}"/>
              </a:ext>
            </a:extLst>
          </p:cNvPr>
          <p:cNvPicPr>
            <a:picLocks noChangeAspect="1"/>
          </p:cNvPicPr>
          <p:nvPr userDrawn="1"/>
        </p:nvPicPr>
        <p:blipFill rotWithShape="1">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l="983" t="31368" r="520" b="18339"/>
          <a:stretch/>
        </p:blipFill>
        <p:spPr>
          <a:xfrm>
            <a:off x="0" y="-5203"/>
            <a:ext cx="12192000" cy="6863204"/>
          </a:xfrm>
          <a:prstGeom prst="rect">
            <a:avLst/>
          </a:prstGeom>
        </p:spPr>
      </p:pic>
      <p:sp>
        <p:nvSpPr>
          <p:cNvPr id="22" name="Rectangle 21">
            <a:extLst>
              <a:ext uri="{FF2B5EF4-FFF2-40B4-BE49-F238E27FC236}">
                <a16:creationId xmlns:a16="http://schemas.microsoft.com/office/drawing/2014/main" id="{8364CBD1-C300-DD47-9E62-DB8A672B2069}"/>
              </a:ext>
            </a:extLst>
          </p:cNvPr>
          <p:cNvSpPr/>
          <p:nvPr userDrawn="1"/>
        </p:nvSpPr>
        <p:spPr>
          <a:xfrm>
            <a:off x="0" y="-5204"/>
            <a:ext cx="6095999" cy="6863204"/>
          </a:xfrm>
          <a:prstGeom prst="rect">
            <a:avLst/>
          </a:prstGeom>
          <a:gradFill>
            <a:gsLst>
              <a:gs pos="0">
                <a:schemeClr val="bg1">
                  <a:alpha val="0"/>
                </a:schemeClr>
              </a:gs>
              <a:gs pos="100000">
                <a:schemeClr val="bg1">
                  <a:alpha val="50000"/>
                </a:schemeClr>
              </a:gs>
            </a:gsLst>
            <a:lin ang="10800000" scaled="1"/>
          </a:gra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3" name="TextBox 22">
            <a:extLst>
              <a:ext uri="{FF2B5EF4-FFF2-40B4-BE49-F238E27FC236}">
                <a16:creationId xmlns:a16="http://schemas.microsoft.com/office/drawing/2014/main" id="{91BC8680-FDB5-4F4B-8DFD-CE546990D5D4}"/>
              </a:ext>
            </a:extLst>
          </p:cNvPr>
          <p:cNvSpPr txBox="1"/>
          <p:nvPr userDrawn="1"/>
        </p:nvSpPr>
        <p:spPr>
          <a:xfrm>
            <a:off x="9300117" y="412595"/>
            <a:ext cx="0" cy="0"/>
          </a:xfrm>
          <a:prstGeom prst="rect">
            <a:avLst/>
          </a:prstGeom>
          <a:noFill/>
        </p:spPr>
        <p:txBody>
          <a:bodyPr wrap="none" lIns="0" tIns="0" rIns="0" bIns="0" rtlCol="0">
            <a:noAutofit/>
          </a:bodyPr>
          <a:lstStyle/>
          <a:p>
            <a:pPr marL="228600" indent="-228600" defTabSz="457200">
              <a:spcBef>
                <a:spcPts val="1000"/>
              </a:spcBef>
              <a:buClr>
                <a:srgbClr val="1E4056"/>
              </a:buClr>
              <a:buSzPct val="75000"/>
              <a:buFont typeface="Barlow"/>
              <a:buChar char="►"/>
            </a:pPr>
            <a:endParaRPr lang="en-US" sz="2000" b="0" i="0" dirty="0">
              <a:solidFill>
                <a:srgbClr val="000000"/>
              </a:solidFill>
              <a:latin typeface="Barlow" pitchFamily="2" charset="77"/>
            </a:endParaRPr>
          </a:p>
        </p:txBody>
      </p:sp>
      <p:pic>
        <p:nvPicPr>
          <p:cNvPr id="24" name="Picture 16">
            <a:extLst>
              <a:ext uri="{FF2B5EF4-FFF2-40B4-BE49-F238E27FC236}">
                <a16:creationId xmlns:a16="http://schemas.microsoft.com/office/drawing/2014/main" id="{38DD1F27-AFE8-9E47-9C20-1F88A4CD777E}"/>
              </a:ext>
            </a:extLst>
          </p:cNvPr>
          <p:cNvPicPr>
            <a:picLocks noChangeAspect="1"/>
          </p:cNvPicPr>
          <p:nvPr userDrawn="1"/>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rcRect/>
          <a:stretch/>
        </p:blipFill>
        <p:spPr>
          <a:xfrm>
            <a:off x="347472" y="412047"/>
            <a:ext cx="1546299" cy="623945"/>
          </a:xfrm>
          <a:prstGeom prst="rect">
            <a:avLst/>
          </a:prstGeom>
        </p:spPr>
      </p:pic>
      <p:sp>
        <p:nvSpPr>
          <p:cNvPr id="25" name="Text Placeholder 8">
            <a:extLst>
              <a:ext uri="{FF2B5EF4-FFF2-40B4-BE49-F238E27FC236}">
                <a16:creationId xmlns:a16="http://schemas.microsoft.com/office/drawing/2014/main" id="{846AB6BC-FF23-D64E-A9A3-50A9B18219C9}"/>
              </a:ext>
            </a:extLst>
          </p:cNvPr>
          <p:cNvSpPr>
            <a:spLocks noGrp="1"/>
          </p:cNvSpPr>
          <p:nvPr>
            <p:ph type="body" sz="quarter" idx="13" hasCustomPrompt="1"/>
          </p:nvPr>
        </p:nvSpPr>
        <p:spPr>
          <a:xfrm>
            <a:off x="347472" y="4590288"/>
            <a:ext cx="5565966" cy="246221"/>
          </a:xfrm>
          <a:prstGeom prst="rect">
            <a:avLst/>
          </a:prstGeom>
        </p:spPr>
        <p:txBody>
          <a:bodyPr wrap="square" lIns="0" tIns="0" rIns="0" bIns="0" anchor="t" anchorCtr="0">
            <a:spAutoFit/>
          </a:bodyPr>
          <a:lstStyle>
            <a:lvl1pPr marL="342900" indent="-342900">
              <a:spcBef>
                <a:spcPts val="0"/>
              </a:spcBef>
              <a:buNone/>
              <a:defRPr lang="en-US" sz="2000" b="0" i="0" kern="1200" cap="none" baseline="0" dirty="0" smtClean="0">
                <a:solidFill>
                  <a:schemeClr val="accent2"/>
                </a:solidFill>
                <a:latin typeface="Barlow" pitchFamily="2" charset="77"/>
                <a:ea typeface="+mn-ea"/>
                <a:cs typeface="+mn-cs"/>
              </a:defRPr>
            </a:lvl1pPr>
            <a:lvl2pPr marL="0" indent="0">
              <a:buFont typeface="Arial" panose="020B0604020202020204" pitchFamily="34" charset="0"/>
              <a:buNone/>
              <a:defRPr lang="en-US" sz="1500" i="1" kern="1200" dirty="0" smtClean="0">
                <a:solidFill>
                  <a:schemeClr val="accent2">
                    <a:lumMod val="10000"/>
                    <a:lumOff val="90000"/>
                  </a:schemeClr>
                </a:solidFill>
                <a:latin typeface="+mn-lt"/>
                <a:ea typeface="+mn-ea"/>
                <a:cs typeface="+mn-cs"/>
              </a:defRPr>
            </a:lvl2pPr>
          </a:lstStyle>
          <a:p>
            <a:pPr marL="0" lvl="0" indent="0" algn="l" defTabSz="457200" rtl="0" eaLnBrk="1" latinLnBrk="0" hangingPunct="1">
              <a:spcBef>
                <a:spcPct val="20000"/>
              </a:spcBef>
            </a:pPr>
            <a:r>
              <a:rPr lang="en-US" dirty="0"/>
              <a:t>Click To Add Presenter/Subheading</a:t>
            </a:r>
          </a:p>
        </p:txBody>
      </p:sp>
      <p:sp>
        <p:nvSpPr>
          <p:cNvPr id="26" name="Title Placeholder 2">
            <a:extLst>
              <a:ext uri="{FF2B5EF4-FFF2-40B4-BE49-F238E27FC236}">
                <a16:creationId xmlns:a16="http://schemas.microsoft.com/office/drawing/2014/main" id="{D37A55A4-1BD2-674A-9626-60AB1AEE3D5B}"/>
              </a:ext>
            </a:extLst>
          </p:cNvPr>
          <p:cNvSpPr>
            <a:spLocks noGrp="1"/>
          </p:cNvSpPr>
          <p:nvPr>
            <p:ph type="title" hasCustomPrompt="1"/>
          </p:nvPr>
        </p:nvSpPr>
        <p:spPr>
          <a:xfrm>
            <a:off x="347472" y="3827812"/>
            <a:ext cx="5565966" cy="664797"/>
          </a:xfrm>
          <a:prstGeom prst="rect">
            <a:avLst/>
          </a:prstGeom>
          <a:noFill/>
        </p:spPr>
        <p:txBody>
          <a:bodyPr vert="horz" wrap="square" lIns="0" tIns="0" rIns="0" bIns="0" rtlCol="0" anchor="b">
            <a:spAutoFit/>
          </a:bodyPr>
          <a:lstStyle>
            <a:lvl1pPr>
              <a:lnSpc>
                <a:spcPct val="90000"/>
              </a:lnSpc>
              <a:spcBef>
                <a:spcPts val="0"/>
              </a:spcBef>
              <a:defRPr lang="en-US" sz="4800" i="0" dirty="0">
                <a:solidFill>
                  <a:schemeClr val="tx2"/>
                </a:solidFill>
              </a:defRPr>
            </a:lvl1pPr>
          </a:lstStyle>
          <a:p>
            <a:pPr lvl="0">
              <a:spcBef>
                <a:spcPts val="1000"/>
              </a:spcBef>
              <a:buClr>
                <a:schemeClr val="bg2"/>
              </a:buClr>
              <a:buSzPct val="75000"/>
              <a:buFont typeface="Barlow"/>
            </a:pPr>
            <a:r>
              <a:rPr lang="en-US" dirty="0"/>
              <a:t>Click to Edit</a:t>
            </a:r>
          </a:p>
        </p:txBody>
      </p:sp>
      <p:sp>
        <p:nvSpPr>
          <p:cNvPr id="27" name="Rectangle 26">
            <a:extLst>
              <a:ext uri="{FF2B5EF4-FFF2-40B4-BE49-F238E27FC236}">
                <a16:creationId xmlns:a16="http://schemas.microsoft.com/office/drawing/2014/main" id="{544C4FA3-E45E-424A-9BD3-1455471E946D}"/>
              </a:ext>
            </a:extLst>
          </p:cNvPr>
          <p:cNvSpPr/>
          <p:nvPr userDrawn="1"/>
        </p:nvSpPr>
        <p:spPr>
          <a:xfrm>
            <a:off x="0" y="6606769"/>
            <a:ext cx="10629899" cy="251231"/>
          </a:xfrm>
          <a:prstGeom prst="rect">
            <a:avLst/>
          </a:prstGeom>
          <a:gradFill flip="none" rotWithShape="1">
            <a:gsLst>
              <a:gs pos="90000">
                <a:schemeClr val="accent2"/>
              </a:gs>
              <a:gs pos="0">
                <a:schemeClr val="accent1"/>
              </a:gs>
            </a:gsLst>
            <a:lin ang="10800000" scaled="1"/>
            <a:tileRect/>
          </a:gradFill>
        </p:spPr>
        <p:txBody>
          <a:bodyPr vert="horz" lIns="338328" tIns="91440" rIns="91440" bIns="91440" rtlCol="0" anchor="ctr" anchorCtr="0"/>
          <a:lstStyle/>
          <a:p>
            <a:pPr lvl="0"/>
            <a:endParaRPr lang="en-US" sz="900" b="0" i="0">
              <a:solidFill>
                <a:schemeClr val="bg1"/>
              </a:solidFill>
              <a:latin typeface="Barlow" pitchFamily="2" charset="77"/>
              <a:cs typeface="Arial Black" panose="020B0604020202020204" pitchFamily="34" charset="0"/>
            </a:endParaRPr>
          </a:p>
        </p:txBody>
      </p:sp>
      <p:sp>
        <p:nvSpPr>
          <p:cNvPr id="13" name="Footer Placeholder 1">
            <a:extLst>
              <a:ext uri="{FF2B5EF4-FFF2-40B4-BE49-F238E27FC236}">
                <a16:creationId xmlns:a16="http://schemas.microsoft.com/office/drawing/2014/main" id="{7A06C9D6-1966-FF45-88E4-859637CF1FF0}"/>
              </a:ext>
            </a:extLst>
          </p:cNvPr>
          <p:cNvSpPr>
            <a:spLocks noGrp="1"/>
          </p:cNvSpPr>
          <p:nvPr>
            <p:ph type="ftr" sz="quarter" idx="3"/>
          </p:nvPr>
        </p:nvSpPr>
        <p:spPr>
          <a:xfrm>
            <a:off x="342900" y="6616018"/>
            <a:ext cx="8059640" cy="241982"/>
          </a:xfrm>
          <a:prstGeom prst="rect">
            <a:avLst/>
          </a:prstGeom>
          <a:noFill/>
        </p:spPr>
        <p:txBody>
          <a:bodyPr vert="horz" lIns="0" tIns="0" rIns="182880" bIns="0" rtlCol="0" anchor="ctr" anchorCtr="0">
            <a:noAutofit/>
          </a:bodyPr>
          <a:lstStyle>
            <a:lvl1pPr>
              <a:lnSpc>
                <a:spcPct val="80000"/>
              </a:lnSpc>
              <a:defRPr lang="en-US" sz="900" b="0" i="0" smtClean="0">
                <a:solidFill>
                  <a:schemeClr val="bg1"/>
                </a:solidFill>
                <a:latin typeface="Barlow" pitchFamily="2" charset="77"/>
                <a:cs typeface="Arial Black" panose="020B0604020202020204" pitchFamily="34" charset="0"/>
              </a:defRPr>
            </a:lvl1pPr>
          </a:lstStyle>
          <a:p>
            <a:r>
              <a:rPr lang="en-US"/>
              <a:t>©2022 Analog Devices, Inc. </a:t>
            </a:r>
            <a:endParaRPr lang="en-US" dirty="0"/>
          </a:p>
        </p:txBody>
      </p:sp>
      <p:sp>
        <p:nvSpPr>
          <p:cNvPr id="14" name="Slide Number Placeholder 3">
            <a:extLst>
              <a:ext uri="{FF2B5EF4-FFF2-40B4-BE49-F238E27FC236}">
                <a16:creationId xmlns:a16="http://schemas.microsoft.com/office/drawing/2014/main" id="{348A6DA5-3CBE-2540-889B-02D2E0478F93}"/>
              </a:ext>
            </a:extLst>
          </p:cNvPr>
          <p:cNvSpPr>
            <a:spLocks noGrp="1"/>
          </p:cNvSpPr>
          <p:nvPr>
            <p:ph type="sldNum" sz="quarter" idx="4"/>
          </p:nvPr>
        </p:nvSpPr>
        <p:spPr>
          <a:xfrm>
            <a:off x="10629901" y="6613018"/>
            <a:ext cx="1219199" cy="241982"/>
          </a:xfrm>
          <a:prstGeom prst="rect">
            <a:avLst/>
          </a:prstGeom>
        </p:spPr>
        <p:txBody>
          <a:bodyPr vert="horz" lIns="182880" tIns="0" rIns="0" bIns="0" rtlCol="0" anchor="ctr" anchorCtr="0"/>
          <a:lstStyle>
            <a:lvl1pPr algn="r">
              <a:lnSpc>
                <a:spcPct val="80000"/>
              </a:lnSpc>
              <a:defRPr kumimoji="0" lang="en-US" sz="1000" b="1" i="0" u="none" strike="noStrike" cap="none" spc="0" normalizeH="0" baseline="0" smtClean="0">
                <a:ln>
                  <a:noFill/>
                </a:ln>
                <a:solidFill>
                  <a:schemeClr val="tx2">
                    <a:lumMod val="60000"/>
                    <a:lumOff val="40000"/>
                  </a:schemeClr>
                </a:solidFill>
                <a:effectLst/>
                <a:uLnTx/>
                <a:uFillTx/>
                <a:latin typeface="Barlow" pitchFamily="2" charset="77"/>
              </a:defRPr>
            </a:lvl1pPr>
          </a:lstStyle>
          <a:p>
            <a:pPr>
              <a:defRPr/>
            </a:pPr>
            <a:fld id="{A9CE67A1-BA7F-A74E-B5D7-615746DEEC2B}" type="slidenum">
              <a:rPr lang="en-US" smtClean="0"/>
              <a:pPr>
                <a:defRPr/>
              </a:pPr>
              <a:t>‹#›</a:t>
            </a:fld>
            <a:endParaRPr lang="en-US" baseline="-11000" dirty="0"/>
          </a:p>
        </p:txBody>
      </p:sp>
      <p:sp>
        <p:nvSpPr>
          <p:cNvPr id="15" name="Date Placeholder 3">
            <a:extLst>
              <a:ext uri="{FF2B5EF4-FFF2-40B4-BE49-F238E27FC236}">
                <a16:creationId xmlns:a16="http://schemas.microsoft.com/office/drawing/2014/main" id="{76272179-8E7E-FC4E-9269-CB6734C0C570}"/>
              </a:ext>
            </a:extLst>
          </p:cNvPr>
          <p:cNvSpPr>
            <a:spLocks noGrp="1"/>
          </p:cNvSpPr>
          <p:nvPr>
            <p:ph type="dt" sz="half" idx="2"/>
          </p:nvPr>
        </p:nvSpPr>
        <p:spPr>
          <a:xfrm>
            <a:off x="8402541" y="6616018"/>
            <a:ext cx="2227359" cy="241982"/>
          </a:xfrm>
          <a:prstGeom prst="rect">
            <a:avLst/>
          </a:prstGeom>
        </p:spPr>
        <p:txBody>
          <a:bodyPr lIns="0" tIns="0" rIns="182880" bIns="0" anchor="ctr" anchorCtr="0"/>
          <a:lstStyle>
            <a:lvl1pPr algn="r">
              <a:lnSpc>
                <a:spcPct val="80000"/>
              </a:lnSpc>
              <a:defRPr lang="en-US" sz="1000" b="0" i="0" kern="1200" smtClean="0">
                <a:solidFill>
                  <a:schemeClr val="bg1"/>
                </a:solidFill>
                <a:latin typeface="Barlow" pitchFamily="2" charset="77"/>
                <a:ea typeface="+mn-ea"/>
                <a:cs typeface="+mn-cs"/>
              </a:defRPr>
            </a:lvl1pPr>
          </a:lstStyle>
          <a:p>
            <a:fld id="{75E1FC71-41A5-4707-AA2A-6D924C0000AC}" type="datetime3">
              <a:rPr lang="en-US" smtClean="0"/>
              <a:t>12 November 2022</a:t>
            </a:fld>
            <a:endParaRPr lang="en-US" dirty="0"/>
          </a:p>
        </p:txBody>
      </p:sp>
    </p:spTree>
    <p:extLst>
      <p:ext uri="{BB962C8B-B14F-4D97-AF65-F5344CB8AC3E}">
        <p14:creationId xmlns:p14="http://schemas.microsoft.com/office/powerpoint/2010/main" val="3615001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bg>
      <p:bgPr>
        <a:blipFill dpi="0" rotWithShape="1">
          <a:blip r:embed="rId2" cstate="screen">
            <a:alphaModFix amt="0"/>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5" name="Content Placeholder 2"/>
          <p:cNvSpPr>
            <a:spLocks noGrp="1"/>
          </p:cNvSpPr>
          <p:nvPr>
            <p:ph idx="1"/>
          </p:nvPr>
        </p:nvSpPr>
        <p:spPr>
          <a:xfrm>
            <a:off x="355600" y="1066800"/>
            <a:ext cx="10274300" cy="4914900"/>
          </a:xfrm>
        </p:spPr>
        <p:txBody>
          <a:bodyPr lIns="0" tIns="0" rIns="0" bIns="0" anchor="t" anchorCtr="0"/>
          <a:lstStyle>
            <a:lvl1pPr marL="228600" indent="-228600">
              <a:buFont typeface="Arial" panose="020B0604020202020204" pitchFamily="34" charset="0"/>
              <a:buChar char="►"/>
              <a:defRPr/>
            </a:lvl1pPr>
            <a:lvl2pPr marL="457200" indent="-228600" algn="l" defTabSz="457200" rtl="0" eaLnBrk="1" latinLnBrk="0" hangingPunct="1">
              <a:spcBef>
                <a:spcPct val="20000"/>
              </a:spcBef>
              <a:buClr>
                <a:srgbClr val="1E4056"/>
              </a:buClr>
              <a:buFont typeface="Wingdings" charset="2"/>
              <a:buChar char="§"/>
              <a:defRPr/>
            </a:lvl2pPr>
            <a:lvl3pPr marL="685800" indent="-228600" algn="l" defTabSz="457200" rtl="0" eaLnBrk="1" latinLnBrk="0" hangingPunct="1">
              <a:spcBef>
                <a:spcPct val="20000"/>
              </a:spcBef>
              <a:buClr>
                <a:srgbClr val="1E4056"/>
              </a:buClr>
              <a:buSzPct val="100000"/>
              <a:buFont typeface="Wingdings" panose="05000000000000000000" pitchFamily="2" charset="2"/>
              <a:buChar char="§"/>
              <a:defRPr/>
            </a:lvl3pPr>
            <a:lvl4pPr marL="914400" indent="-228600" algn="l" defTabSz="457200" rtl="0" eaLnBrk="1" latinLnBrk="0" hangingPunct="1">
              <a:spcBef>
                <a:spcPct val="20000"/>
              </a:spcBef>
              <a:buClr>
                <a:srgbClr val="1E4056"/>
              </a:buClr>
              <a:buSzPct val="100000"/>
              <a:buFont typeface="Wingdings" panose="05000000000000000000" pitchFamily="2" charset="2"/>
              <a:buChar char="§"/>
              <a:defRPr/>
            </a:lvl4pPr>
            <a:lvl5pPr marL="1143000" indent="-228600" algn="l" defTabSz="457200" rtl="0" eaLnBrk="1" latinLnBrk="0" hangingPunct="1">
              <a:spcBef>
                <a:spcPct val="20000"/>
              </a:spcBef>
              <a:buClr>
                <a:srgbClr val="1E4056"/>
              </a:buClr>
              <a:buSzPct val="100000"/>
              <a:buFont typeface="Wingdings" panose="05000000000000000000" pitchFamily="2" charset="2"/>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extBox 1">
            <a:extLst>
              <a:ext uri="{FF2B5EF4-FFF2-40B4-BE49-F238E27FC236}">
                <a16:creationId xmlns:a16="http://schemas.microsoft.com/office/drawing/2014/main" id="{1F21C2DA-52B1-DD43-A3B6-C3CA586AC7A6}"/>
              </a:ext>
            </a:extLst>
          </p:cNvPr>
          <p:cNvSpPr txBox="1"/>
          <p:nvPr userDrawn="1"/>
        </p:nvSpPr>
        <p:spPr>
          <a:xfrm>
            <a:off x="12056533" y="1557867"/>
            <a:ext cx="0" cy="0"/>
          </a:xfrm>
          <a:prstGeom prst="rect">
            <a:avLst/>
          </a:prstGeom>
          <a:noFill/>
        </p:spPr>
        <p:txBody>
          <a:bodyPr wrap="none" lIns="0" tIns="0" rIns="0" bIns="0" rtlCol="0">
            <a:noAutofit/>
          </a:bodyPr>
          <a:lstStyle/>
          <a:p>
            <a:pPr marL="228600" indent="-228600" defTabSz="457200">
              <a:spcBef>
                <a:spcPts val="1000"/>
              </a:spcBef>
              <a:buClr>
                <a:srgbClr val="1E4056"/>
              </a:buClr>
              <a:buSzPct val="75000"/>
              <a:buFont typeface="Barlow"/>
              <a:buChar char="►"/>
            </a:pPr>
            <a:endParaRPr lang="en-US" sz="2000" b="0" i="0" dirty="0">
              <a:solidFill>
                <a:srgbClr val="000000"/>
              </a:solidFill>
              <a:latin typeface="Barlow" pitchFamily="2" charset="77"/>
            </a:endParaRPr>
          </a:p>
        </p:txBody>
      </p:sp>
      <p:sp>
        <p:nvSpPr>
          <p:cNvPr id="11" name="Title 5">
            <a:extLst>
              <a:ext uri="{FF2B5EF4-FFF2-40B4-BE49-F238E27FC236}">
                <a16:creationId xmlns:a16="http://schemas.microsoft.com/office/drawing/2014/main" id="{DFAA90AC-9B0A-AB4E-ABA9-347CBDC29714}"/>
              </a:ext>
            </a:extLst>
          </p:cNvPr>
          <p:cNvSpPr>
            <a:spLocks noGrp="1"/>
          </p:cNvSpPr>
          <p:nvPr>
            <p:ph type="title" hasCustomPrompt="1"/>
          </p:nvPr>
        </p:nvSpPr>
        <p:spPr>
          <a:xfrm>
            <a:off x="342900" y="219456"/>
            <a:ext cx="10287000" cy="470898"/>
          </a:xfrm>
          <a:prstGeom prst="callout1">
            <a:avLst>
              <a:gd name="adj1" fmla="val 103511"/>
              <a:gd name="adj2" fmla="val 100069"/>
              <a:gd name="adj3" fmla="val 103502"/>
              <a:gd name="adj4" fmla="val -3408"/>
            </a:avLst>
          </a:prstGeom>
          <a:noFill/>
          <a:ln w="50800">
            <a:gradFill flip="none" rotWithShape="1">
              <a:gsLst>
                <a:gs pos="0">
                  <a:schemeClr val="accent2"/>
                </a:gs>
                <a:gs pos="100000">
                  <a:schemeClr val="accent1"/>
                </a:gs>
              </a:gsLst>
              <a:lin ang="0" scaled="1"/>
              <a:tileRect/>
            </a:gradFill>
          </a:ln>
        </p:spPr>
        <p:txBody>
          <a:bodyPr vert="horz" wrap="square" lIns="0" tIns="0" rIns="0" bIns="27432" rtlCol="0" anchor="t" anchorCtr="0">
            <a:spAutoFit/>
          </a:bodyPr>
          <a:lstStyle>
            <a:lvl1pPr marL="0" indent="0" algn="l" defTabSz="457200" rtl="0" eaLnBrk="1" latinLnBrk="0" hangingPunct="1">
              <a:lnSpc>
                <a:spcPct val="80000"/>
              </a:lnSpc>
              <a:spcBef>
                <a:spcPct val="0"/>
              </a:spcBef>
              <a:buNone/>
              <a:defRPr lang="en-US" sz="3600" b="0" i="0" kern="1200" baseline="0" dirty="0">
                <a:solidFill>
                  <a:schemeClr val="accent2"/>
                </a:solidFill>
                <a:latin typeface="Barlow" pitchFamily="2" charset="77"/>
                <a:ea typeface="+mj-ea"/>
                <a:cs typeface="+mj-cs"/>
              </a:defRPr>
            </a:lvl1pPr>
          </a:lstStyle>
          <a:p>
            <a:pPr lvl="0"/>
            <a:r>
              <a:rPr lang="en-US" dirty="0"/>
              <a:t>Click to Edit</a:t>
            </a:r>
          </a:p>
        </p:txBody>
      </p:sp>
      <p:sp>
        <p:nvSpPr>
          <p:cNvPr id="9" name="Footer Placeholder 1">
            <a:extLst>
              <a:ext uri="{FF2B5EF4-FFF2-40B4-BE49-F238E27FC236}">
                <a16:creationId xmlns:a16="http://schemas.microsoft.com/office/drawing/2014/main" id="{6814554B-F7E7-D444-A874-1C7C087F2F6F}"/>
              </a:ext>
            </a:extLst>
          </p:cNvPr>
          <p:cNvSpPr>
            <a:spLocks noGrp="1"/>
          </p:cNvSpPr>
          <p:nvPr>
            <p:ph type="ftr" sz="quarter" idx="3"/>
          </p:nvPr>
        </p:nvSpPr>
        <p:spPr>
          <a:xfrm>
            <a:off x="342900" y="6616018"/>
            <a:ext cx="8059640" cy="241982"/>
          </a:xfrm>
          <a:prstGeom prst="rect">
            <a:avLst/>
          </a:prstGeom>
          <a:noFill/>
        </p:spPr>
        <p:txBody>
          <a:bodyPr vert="horz" lIns="0" tIns="91440" rIns="91440" bIns="91440" rtlCol="0" anchor="ctr" anchorCtr="0">
            <a:noAutofit/>
          </a:bodyPr>
          <a:lstStyle>
            <a:lvl1pPr>
              <a:lnSpc>
                <a:spcPct val="80000"/>
              </a:lnSpc>
              <a:defRPr lang="en-US" sz="900" b="0" i="0" smtClean="0">
                <a:solidFill>
                  <a:schemeClr val="bg1"/>
                </a:solidFill>
                <a:latin typeface="Barlow" pitchFamily="2" charset="77"/>
                <a:cs typeface="Arial Black" panose="020B0604020202020204" pitchFamily="34" charset="0"/>
              </a:defRPr>
            </a:lvl1pPr>
          </a:lstStyle>
          <a:p>
            <a:r>
              <a:rPr lang="en-US"/>
              <a:t>©2022 Analog Devices, Inc. </a:t>
            </a:r>
            <a:endParaRPr lang="en-US" dirty="0"/>
          </a:p>
        </p:txBody>
      </p:sp>
      <p:sp>
        <p:nvSpPr>
          <p:cNvPr id="10" name="Slide Number Placeholder 3">
            <a:extLst>
              <a:ext uri="{FF2B5EF4-FFF2-40B4-BE49-F238E27FC236}">
                <a16:creationId xmlns:a16="http://schemas.microsoft.com/office/drawing/2014/main" id="{EDE1375A-B2FA-C741-B6ED-A8569C3278C6}"/>
              </a:ext>
            </a:extLst>
          </p:cNvPr>
          <p:cNvSpPr>
            <a:spLocks noGrp="1"/>
          </p:cNvSpPr>
          <p:nvPr>
            <p:ph type="sldNum" sz="quarter" idx="4"/>
          </p:nvPr>
        </p:nvSpPr>
        <p:spPr>
          <a:xfrm>
            <a:off x="10629901" y="6613018"/>
            <a:ext cx="1219199" cy="241982"/>
          </a:xfrm>
          <a:prstGeom prst="rect">
            <a:avLst/>
          </a:prstGeom>
        </p:spPr>
        <p:txBody>
          <a:bodyPr vert="horz" lIns="91440" tIns="91440" rIns="0" bIns="91440" rtlCol="0" anchor="ctr" anchorCtr="0"/>
          <a:lstStyle>
            <a:lvl1pPr algn="r">
              <a:lnSpc>
                <a:spcPct val="80000"/>
              </a:lnSpc>
              <a:defRPr kumimoji="0" lang="en-US" sz="1000" b="1" i="0" u="none" strike="noStrike" cap="none" spc="0" normalizeH="0" baseline="0" smtClean="0">
                <a:ln>
                  <a:noFill/>
                </a:ln>
                <a:solidFill>
                  <a:schemeClr val="tx2">
                    <a:lumMod val="60000"/>
                    <a:lumOff val="40000"/>
                  </a:schemeClr>
                </a:solidFill>
                <a:effectLst/>
                <a:uLnTx/>
                <a:uFillTx/>
                <a:latin typeface="Barlow" pitchFamily="2" charset="77"/>
              </a:defRPr>
            </a:lvl1pPr>
          </a:lstStyle>
          <a:p>
            <a:pPr>
              <a:defRPr/>
            </a:pPr>
            <a:fld id="{A9CE67A1-BA7F-A74E-B5D7-615746DEEC2B}" type="slidenum">
              <a:rPr lang="en-US" smtClean="0"/>
              <a:pPr>
                <a:defRPr/>
              </a:pPr>
              <a:t>‹#›</a:t>
            </a:fld>
            <a:endParaRPr lang="en-US" baseline="-11000" dirty="0"/>
          </a:p>
        </p:txBody>
      </p:sp>
      <p:sp>
        <p:nvSpPr>
          <p:cNvPr id="12" name="Date Placeholder 3">
            <a:extLst>
              <a:ext uri="{FF2B5EF4-FFF2-40B4-BE49-F238E27FC236}">
                <a16:creationId xmlns:a16="http://schemas.microsoft.com/office/drawing/2014/main" id="{67561257-280D-EC46-BB4D-FCABCCE29F81}"/>
              </a:ext>
            </a:extLst>
          </p:cNvPr>
          <p:cNvSpPr>
            <a:spLocks noGrp="1"/>
          </p:cNvSpPr>
          <p:nvPr>
            <p:ph type="dt" sz="half" idx="2"/>
          </p:nvPr>
        </p:nvSpPr>
        <p:spPr>
          <a:xfrm>
            <a:off x="8402541" y="6616018"/>
            <a:ext cx="2227359" cy="241982"/>
          </a:xfrm>
          <a:prstGeom prst="rect">
            <a:avLst/>
          </a:prstGeom>
        </p:spPr>
        <p:txBody>
          <a:bodyPr lIns="0" tIns="0" rIns="182880" bIns="0" anchor="ctr" anchorCtr="0"/>
          <a:lstStyle>
            <a:lvl1pPr algn="r">
              <a:lnSpc>
                <a:spcPct val="80000"/>
              </a:lnSpc>
              <a:defRPr lang="en-US" sz="1000" b="0" i="0" kern="1200" smtClean="0">
                <a:solidFill>
                  <a:schemeClr val="bg1"/>
                </a:solidFill>
                <a:latin typeface="Barlow" pitchFamily="2" charset="77"/>
                <a:ea typeface="+mn-ea"/>
                <a:cs typeface="+mn-cs"/>
              </a:defRPr>
            </a:lvl1pPr>
          </a:lstStyle>
          <a:p>
            <a:fld id="{EAFD7BB1-AB7F-4336-A8B3-6627E5D36FE4}" type="datetime3">
              <a:rPr lang="en-US" smtClean="0"/>
              <a:t>12 November 2022</a:t>
            </a:fld>
            <a:endParaRPr lang="en-US" dirty="0"/>
          </a:p>
        </p:txBody>
      </p:sp>
    </p:spTree>
    <p:extLst>
      <p:ext uri="{BB962C8B-B14F-4D97-AF65-F5344CB8AC3E}">
        <p14:creationId xmlns:p14="http://schemas.microsoft.com/office/powerpoint/2010/main" val="18547308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emf"/><Relationship Id="rId5" Type="http://schemas.openxmlformats.org/officeDocument/2006/relationships/image" Target="../media/image1.jpe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5" cstate="screen">
            <a:alphaModFix amt="50000"/>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Title Placeholder 2"/>
          <p:cNvSpPr>
            <a:spLocks noGrp="1"/>
          </p:cNvSpPr>
          <p:nvPr>
            <p:ph type="title"/>
          </p:nvPr>
        </p:nvSpPr>
        <p:spPr>
          <a:xfrm>
            <a:off x="342900" y="218135"/>
            <a:ext cx="10299699" cy="470898"/>
          </a:xfrm>
          <a:prstGeom prst="rect">
            <a:avLst/>
          </a:prstGeom>
          <a:noFill/>
        </p:spPr>
        <p:txBody>
          <a:bodyPr vert="horz" wrap="square" lIns="0" tIns="0" rIns="0" bIns="27432" rtlCol="0" anchor="t" anchorCtr="0">
            <a:spAutoFit/>
          </a:bodyPr>
          <a:lstStyle/>
          <a:p>
            <a:r>
              <a:rPr lang="en-US" dirty="0"/>
              <a:t>Click to Edit</a:t>
            </a:r>
          </a:p>
        </p:txBody>
      </p:sp>
      <p:sp>
        <p:nvSpPr>
          <p:cNvPr id="11" name="Text Placeholder 2"/>
          <p:cNvSpPr>
            <a:spLocks noGrp="1"/>
          </p:cNvSpPr>
          <p:nvPr>
            <p:ph type="body" idx="1"/>
          </p:nvPr>
        </p:nvSpPr>
        <p:spPr>
          <a:xfrm>
            <a:off x="355600" y="1066800"/>
            <a:ext cx="10286999" cy="4914900"/>
          </a:xfrm>
          <a:prstGeom prst="rect">
            <a:avLst/>
          </a:prstGeom>
        </p:spPr>
        <p:txBody>
          <a:bodyPr vert="horz" lIns="0" tIns="228600" rIns="0" bIns="0" rtlCol="0" anchor="ctr" anchorCtr="0">
            <a:normAutofit/>
          </a:bodyPr>
          <a:lstStyle/>
          <a:p>
            <a:pPr lvl="0"/>
            <a:r>
              <a:rPr lang="en-US" dirty="0"/>
              <a:t>Click to edit</a:t>
            </a:r>
          </a:p>
          <a:p>
            <a:pPr marL="457200" lvl="1" indent="-228600" algn="l" defTabSz="457200" rtl="0" eaLnBrk="1" latinLnBrk="0" hangingPunct="1">
              <a:spcBef>
                <a:spcPct val="20000"/>
              </a:spcBef>
              <a:buClr>
                <a:srgbClr val="1E4056"/>
              </a:buClr>
              <a:buFont typeface="Wingdings" charset="2"/>
              <a:buChar char="§"/>
            </a:pPr>
            <a:r>
              <a:rPr lang="en-US" dirty="0"/>
              <a:t>Second level</a:t>
            </a:r>
          </a:p>
          <a:p>
            <a:pPr marL="685800" lvl="2" indent="-228600" algn="l" defTabSz="457200" rtl="0" eaLnBrk="1" latinLnBrk="0" hangingPunct="1">
              <a:spcBef>
                <a:spcPct val="20000"/>
              </a:spcBef>
              <a:buClr>
                <a:srgbClr val="1E4056"/>
              </a:buClr>
              <a:buSzPct val="100000"/>
              <a:buFont typeface="Wingdings" panose="05000000000000000000" pitchFamily="2" charset="2"/>
              <a:buChar char="§"/>
            </a:pPr>
            <a:r>
              <a:rPr lang="en-US" dirty="0"/>
              <a:t>Third level</a:t>
            </a:r>
          </a:p>
          <a:p>
            <a:pPr marL="914400" lvl="3" indent="-228600" algn="l" defTabSz="457200" rtl="0" eaLnBrk="1" latinLnBrk="0" hangingPunct="1">
              <a:spcBef>
                <a:spcPct val="20000"/>
              </a:spcBef>
              <a:buClr>
                <a:srgbClr val="1E4056"/>
              </a:buClr>
              <a:buSzPct val="100000"/>
              <a:buFont typeface="Wingdings" panose="05000000000000000000" pitchFamily="2" charset="2"/>
              <a:buChar char="§"/>
            </a:pPr>
            <a:r>
              <a:rPr lang="en-US" dirty="0"/>
              <a:t>Fourth level</a:t>
            </a:r>
          </a:p>
          <a:p>
            <a:pPr marL="1143000" lvl="4" indent="-228600" algn="l" defTabSz="457200" rtl="0" eaLnBrk="1" latinLnBrk="0" hangingPunct="1">
              <a:spcBef>
                <a:spcPct val="20000"/>
              </a:spcBef>
              <a:buClr>
                <a:srgbClr val="1E4056"/>
              </a:buClr>
              <a:buSzPct val="100000"/>
              <a:buFont typeface="Wingdings" panose="05000000000000000000" pitchFamily="2" charset="2"/>
              <a:buChar char="§"/>
            </a:pPr>
            <a:r>
              <a:rPr lang="en-US" dirty="0"/>
              <a:t>Fifth level</a:t>
            </a:r>
          </a:p>
        </p:txBody>
      </p:sp>
      <p:pic>
        <p:nvPicPr>
          <p:cNvPr id="12" name="Picture 11"/>
          <p:cNvPicPr>
            <a:picLocks noChangeAspect="1"/>
          </p:cNvPicPr>
          <p:nvPr userDrawn="1"/>
        </p:nvPicPr>
        <p:blipFill>
          <a:blip r:embed="rId6" cstate="screen">
            <a:extLst>
              <a:ext uri="{28A0092B-C50C-407E-A947-70E740481C1C}">
                <a14:useLocalDpi xmlns:a14="http://schemas.microsoft.com/office/drawing/2010/main"/>
              </a:ext>
            </a:extLst>
          </a:blip>
          <a:stretch>
            <a:fillRect/>
          </a:stretch>
        </p:blipFill>
        <p:spPr>
          <a:xfrm>
            <a:off x="10919678" y="236303"/>
            <a:ext cx="991639" cy="398355"/>
          </a:xfrm>
          <a:prstGeom prst="rect">
            <a:avLst/>
          </a:prstGeom>
          <a:noFill/>
          <a:ln>
            <a:noFill/>
          </a:ln>
        </p:spPr>
      </p:pic>
      <p:sp>
        <p:nvSpPr>
          <p:cNvPr id="20" name="Rectangle 19">
            <a:extLst>
              <a:ext uri="{FF2B5EF4-FFF2-40B4-BE49-F238E27FC236}">
                <a16:creationId xmlns:a16="http://schemas.microsoft.com/office/drawing/2014/main" id="{C82B608A-8973-E74F-9000-3CD5D7893E6F}"/>
              </a:ext>
            </a:extLst>
          </p:cNvPr>
          <p:cNvSpPr/>
          <p:nvPr userDrawn="1"/>
        </p:nvSpPr>
        <p:spPr>
          <a:xfrm>
            <a:off x="0" y="6606769"/>
            <a:ext cx="10629899" cy="251231"/>
          </a:xfrm>
          <a:prstGeom prst="rect">
            <a:avLst/>
          </a:prstGeom>
          <a:gradFill flip="none" rotWithShape="1">
            <a:gsLst>
              <a:gs pos="90000">
                <a:schemeClr val="accent2"/>
              </a:gs>
              <a:gs pos="0">
                <a:schemeClr val="accent1"/>
              </a:gs>
            </a:gsLst>
            <a:lin ang="10800000" scaled="1"/>
            <a:tileRect/>
          </a:gradFill>
        </p:spPr>
        <p:txBody>
          <a:bodyPr vert="horz" lIns="338328" tIns="91440" rIns="91440" bIns="91440" rtlCol="0" anchor="ctr" anchorCtr="0"/>
          <a:lstStyle/>
          <a:p>
            <a:pPr lvl="0"/>
            <a:endParaRPr lang="en-US" sz="900" b="0" i="0">
              <a:solidFill>
                <a:schemeClr val="bg1"/>
              </a:solidFill>
              <a:latin typeface="Barlow" pitchFamily="2" charset="77"/>
              <a:cs typeface="Arial Black" panose="020B0604020202020204" pitchFamily="34" charset="0"/>
            </a:endParaRPr>
          </a:p>
        </p:txBody>
      </p:sp>
      <p:sp>
        <p:nvSpPr>
          <p:cNvPr id="2" name="Footer Placeholder 1">
            <a:extLst>
              <a:ext uri="{FF2B5EF4-FFF2-40B4-BE49-F238E27FC236}">
                <a16:creationId xmlns:a16="http://schemas.microsoft.com/office/drawing/2014/main" id="{C8A8D3E2-8096-4AF5-B142-B8C380533715}"/>
              </a:ext>
            </a:extLst>
          </p:cNvPr>
          <p:cNvSpPr>
            <a:spLocks noGrp="1"/>
          </p:cNvSpPr>
          <p:nvPr>
            <p:ph type="ftr" sz="quarter" idx="3"/>
          </p:nvPr>
        </p:nvSpPr>
        <p:spPr>
          <a:xfrm>
            <a:off x="342900" y="6616018"/>
            <a:ext cx="8059640" cy="241982"/>
          </a:xfrm>
          <a:prstGeom prst="rect">
            <a:avLst/>
          </a:prstGeom>
          <a:noFill/>
        </p:spPr>
        <p:txBody>
          <a:bodyPr vert="horz" lIns="0" tIns="91440" rIns="91440" bIns="91440" rtlCol="0" anchor="ctr" anchorCtr="0">
            <a:noAutofit/>
          </a:bodyPr>
          <a:lstStyle>
            <a:lvl1pPr>
              <a:lnSpc>
                <a:spcPct val="80000"/>
              </a:lnSpc>
              <a:defRPr lang="en-US" sz="900" b="0" i="0" smtClean="0">
                <a:solidFill>
                  <a:schemeClr val="bg1"/>
                </a:solidFill>
                <a:latin typeface="Barlow" pitchFamily="2" charset="77"/>
                <a:cs typeface="Arial Black" panose="020B0604020202020204" pitchFamily="34" charset="0"/>
              </a:defRPr>
            </a:lvl1pPr>
          </a:lstStyle>
          <a:p>
            <a:r>
              <a:rPr lang="en-US"/>
              <a:t>©2022 Analog Devices, Inc. </a:t>
            </a:r>
            <a:endParaRPr lang="en-US" dirty="0"/>
          </a:p>
        </p:txBody>
      </p:sp>
      <p:sp>
        <p:nvSpPr>
          <p:cNvPr id="4" name="Slide Number Placeholder 3">
            <a:extLst>
              <a:ext uri="{FF2B5EF4-FFF2-40B4-BE49-F238E27FC236}">
                <a16:creationId xmlns:a16="http://schemas.microsoft.com/office/drawing/2014/main" id="{3F975B83-C1F8-4E53-8C02-280E1ED424B7}"/>
              </a:ext>
            </a:extLst>
          </p:cNvPr>
          <p:cNvSpPr>
            <a:spLocks noGrp="1"/>
          </p:cNvSpPr>
          <p:nvPr>
            <p:ph type="sldNum" sz="quarter" idx="4"/>
          </p:nvPr>
        </p:nvSpPr>
        <p:spPr>
          <a:xfrm>
            <a:off x="10629901" y="6613018"/>
            <a:ext cx="1219199" cy="241982"/>
          </a:xfrm>
          <a:prstGeom prst="rect">
            <a:avLst/>
          </a:prstGeom>
        </p:spPr>
        <p:txBody>
          <a:bodyPr vert="horz" lIns="91440" tIns="91440" rIns="0" bIns="91440" rtlCol="0" anchor="ctr" anchorCtr="0"/>
          <a:lstStyle>
            <a:lvl1pPr algn="r">
              <a:lnSpc>
                <a:spcPct val="80000"/>
              </a:lnSpc>
              <a:defRPr kumimoji="0" lang="en-US" sz="1000" b="1" i="0" u="none" strike="noStrike" cap="none" spc="0" normalizeH="0" baseline="0" smtClean="0">
                <a:ln>
                  <a:noFill/>
                </a:ln>
                <a:solidFill>
                  <a:schemeClr val="tx2">
                    <a:lumMod val="60000"/>
                    <a:lumOff val="40000"/>
                  </a:schemeClr>
                </a:solidFill>
                <a:effectLst/>
                <a:uLnTx/>
                <a:uFillTx/>
                <a:latin typeface="Barlow" pitchFamily="2" charset="77"/>
              </a:defRPr>
            </a:lvl1pPr>
          </a:lstStyle>
          <a:p>
            <a:pPr>
              <a:defRPr/>
            </a:pPr>
            <a:fld id="{A9CE67A1-BA7F-A74E-B5D7-615746DEEC2B}" type="slidenum">
              <a:rPr lang="en-US" smtClean="0"/>
              <a:pPr>
                <a:defRPr/>
              </a:pPr>
              <a:t>‹#›</a:t>
            </a:fld>
            <a:endParaRPr lang="en-US" baseline="-11000" dirty="0"/>
          </a:p>
        </p:txBody>
      </p:sp>
      <p:sp>
        <p:nvSpPr>
          <p:cNvPr id="9" name="Date Placeholder 3">
            <a:extLst>
              <a:ext uri="{FF2B5EF4-FFF2-40B4-BE49-F238E27FC236}">
                <a16:creationId xmlns:a16="http://schemas.microsoft.com/office/drawing/2014/main" id="{4CE817F5-DA59-4CF8-A065-2F8C60D2ECF4}"/>
              </a:ext>
            </a:extLst>
          </p:cNvPr>
          <p:cNvSpPr>
            <a:spLocks noGrp="1"/>
          </p:cNvSpPr>
          <p:nvPr>
            <p:ph type="dt" sz="half" idx="2"/>
          </p:nvPr>
        </p:nvSpPr>
        <p:spPr>
          <a:xfrm>
            <a:off x="8402541" y="6616018"/>
            <a:ext cx="2227359" cy="241982"/>
          </a:xfrm>
          <a:prstGeom prst="rect">
            <a:avLst/>
          </a:prstGeom>
        </p:spPr>
        <p:txBody>
          <a:bodyPr lIns="0" tIns="0" rIns="182880" bIns="0" anchor="ctr" anchorCtr="0"/>
          <a:lstStyle>
            <a:lvl1pPr algn="r">
              <a:lnSpc>
                <a:spcPct val="80000"/>
              </a:lnSpc>
              <a:defRPr lang="en-US" sz="1000" b="0" i="0" kern="1200" smtClean="0">
                <a:solidFill>
                  <a:schemeClr val="bg1"/>
                </a:solidFill>
                <a:latin typeface="Barlow" pitchFamily="2" charset="77"/>
                <a:ea typeface="+mn-ea"/>
                <a:cs typeface="+mn-cs"/>
              </a:defRPr>
            </a:lvl1pPr>
          </a:lstStyle>
          <a:p>
            <a:fld id="{B7E9607F-8B9B-4283-A10B-E032341A492F}" type="datetime3">
              <a:rPr lang="en-US" smtClean="0"/>
              <a:t>12 November 2022</a:t>
            </a:fld>
            <a:endParaRPr lang="en-US" dirty="0"/>
          </a:p>
        </p:txBody>
      </p:sp>
      <p:sp>
        <p:nvSpPr>
          <p:cNvPr id="5" name="TextBox 4">
            <a:extLst>
              <a:ext uri="{FF2B5EF4-FFF2-40B4-BE49-F238E27FC236}">
                <a16:creationId xmlns:a16="http://schemas.microsoft.com/office/drawing/2014/main" id="{D4D93659-4415-8C41-805C-01463B0FE599}"/>
              </a:ext>
            </a:extLst>
          </p:cNvPr>
          <p:cNvSpPr txBox="1"/>
          <p:nvPr userDrawn="1"/>
        </p:nvSpPr>
        <p:spPr>
          <a:xfrm>
            <a:off x="2193324" y="2860589"/>
            <a:ext cx="0" cy="0"/>
          </a:xfrm>
          <a:prstGeom prst="rect">
            <a:avLst/>
          </a:prstGeom>
          <a:noFill/>
        </p:spPr>
        <p:txBody>
          <a:bodyPr wrap="none" lIns="0" tIns="0" rIns="0" bIns="0" rtlCol="0">
            <a:noAutofit/>
          </a:bodyPr>
          <a:lstStyle/>
          <a:p>
            <a:pPr marL="228600" indent="-228600" defTabSz="457200">
              <a:spcBef>
                <a:spcPts val="1000"/>
              </a:spcBef>
              <a:buClr>
                <a:srgbClr val="1E4056"/>
              </a:buClr>
              <a:buSzPct val="75000"/>
              <a:buFont typeface="Barlow"/>
              <a:buChar char="►"/>
            </a:pPr>
            <a:endParaRPr lang="en-US" sz="2000" dirty="0">
              <a:solidFill>
                <a:srgbClr val="000000"/>
              </a:solidFill>
            </a:endParaRPr>
          </a:p>
        </p:txBody>
      </p:sp>
    </p:spTree>
    <p:extLst>
      <p:ext uri="{BB962C8B-B14F-4D97-AF65-F5344CB8AC3E}">
        <p14:creationId xmlns:p14="http://schemas.microsoft.com/office/powerpoint/2010/main" val="2485717151"/>
      </p:ext>
    </p:extLst>
  </p:cSld>
  <p:clrMap bg1="lt1" tx1="dk1" bg2="lt2" tx2="dk2" accent1="accent1" accent2="accent2" accent3="accent3" accent4="accent4" accent5="accent5" accent6="accent6" hlink="hlink" folHlink="folHlink"/>
  <p:sldLayoutIdLst>
    <p:sldLayoutId id="2147483713" r:id="rId1"/>
    <p:sldLayoutId id="2147483714" r:id="rId2"/>
    <p:sldLayoutId id="2147483715" r:id="rId3"/>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txStyles>
    <p:titleStyle>
      <a:lvl1pPr marL="0" indent="0" algn="l" defTabSz="457200" rtl="0" eaLnBrk="1" latinLnBrk="0" hangingPunct="1">
        <a:lnSpc>
          <a:spcPct val="80000"/>
        </a:lnSpc>
        <a:spcBef>
          <a:spcPct val="0"/>
        </a:spcBef>
        <a:buNone/>
        <a:defRPr sz="3600" b="0" i="0" kern="1200" spc="-100" baseline="0">
          <a:solidFill>
            <a:schemeClr val="accent2"/>
          </a:solidFill>
          <a:latin typeface="Barlow" pitchFamily="2" charset="77"/>
          <a:ea typeface="+mj-ea"/>
          <a:cs typeface="+mj-cs"/>
        </a:defRPr>
      </a:lvl1pPr>
    </p:titleStyle>
    <p:bodyStyle>
      <a:lvl1pPr marL="228600" indent="-228600" algn="l" defTabSz="457200" rtl="0" eaLnBrk="1" latinLnBrk="0" hangingPunct="1">
        <a:lnSpc>
          <a:spcPct val="90000"/>
        </a:lnSpc>
        <a:spcBef>
          <a:spcPts val="1000"/>
        </a:spcBef>
        <a:spcAft>
          <a:spcPts val="400"/>
        </a:spcAft>
        <a:buClr>
          <a:schemeClr val="bg2"/>
        </a:buClr>
        <a:buSzPct val="65000"/>
        <a:buFont typeface="Arial" panose="020B0604020202020204" pitchFamily="34" charset="0"/>
        <a:buChar char="►"/>
        <a:defRPr lang="en-US" sz="2600" b="0" i="0" kern="1200" baseline="0" dirty="0" smtClean="0">
          <a:solidFill>
            <a:srgbClr val="000000"/>
          </a:solidFill>
          <a:latin typeface="Barlow" pitchFamily="2" charset="77"/>
          <a:ea typeface="+mn-ea"/>
          <a:cs typeface="+mn-cs"/>
        </a:defRPr>
      </a:lvl1pPr>
      <a:lvl2pPr marL="514350" indent="-285750" algn="l" defTabSz="457200" rtl="0" eaLnBrk="1" latinLnBrk="0" hangingPunct="1">
        <a:lnSpc>
          <a:spcPct val="90000"/>
        </a:lnSpc>
        <a:spcBef>
          <a:spcPct val="20000"/>
        </a:spcBef>
        <a:spcAft>
          <a:spcPts val="400"/>
        </a:spcAft>
        <a:buClr>
          <a:schemeClr val="bg2"/>
        </a:buClr>
        <a:buFont typeface="Arial"/>
        <a:buChar char="–"/>
        <a:defRPr lang="en-US" sz="2000" b="0" i="0" kern="1200" baseline="0" dirty="0" smtClean="0">
          <a:solidFill>
            <a:srgbClr val="000000"/>
          </a:solidFill>
          <a:latin typeface="Barlow" pitchFamily="2" charset="77"/>
          <a:ea typeface="+mn-ea"/>
          <a:cs typeface="+mn-cs"/>
        </a:defRPr>
      </a:lvl2pPr>
      <a:lvl3pPr marL="742950" indent="-285750" algn="l" defTabSz="457200" rtl="0" eaLnBrk="1" latinLnBrk="0" hangingPunct="1">
        <a:lnSpc>
          <a:spcPct val="90000"/>
        </a:lnSpc>
        <a:spcBef>
          <a:spcPct val="20000"/>
        </a:spcBef>
        <a:spcAft>
          <a:spcPts val="400"/>
        </a:spcAft>
        <a:buClr>
          <a:schemeClr val="bg2"/>
        </a:buClr>
        <a:buFont typeface="Arial"/>
        <a:buChar char="•"/>
        <a:defRPr lang="en-US" sz="1800" b="0" i="0" kern="1200" baseline="0" dirty="0" smtClean="0">
          <a:solidFill>
            <a:srgbClr val="000000"/>
          </a:solidFill>
          <a:latin typeface="Barlow" pitchFamily="2" charset="77"/>
          <a:ea typeface="+mn-ea"/>
          <a:cs typeface="+mn-cs"/>
        </a:defRPr>
      </a:lvl3pPr>
      <a:lvl4pPr marL="971550" indent="-285750" algn="l" defTabSz="457200" rtl="0" eaLnBrk="1" latinLnBrk="0" hangingPunct="1">
        <a:lnSpc>
          <a:spcPct val="90000"/>
        </a:lnSpc>
        <a:spcBef>
          <a:spcPct val="20000"/>
        </a:spcBef>
        <a:spcAft>
          <a:spcPts val="400"/>
        </a:spcAft>
        <a:buClr>
          <a:schemeClr val="bg2"/>
        </a:buClr>
        <a:buFont typeface="Arial"/>
        <a:buChar char="–"/>
        <a:defRPr lang="en-US" sz="1200" b="0" i="0" kern="1200" dirty="0" smtClean="0">
          <a:solidFill>
            <a:srgbClr val="000000"/>
          </a:solidFill>
          <a:latin typeface="Barlow" pitchFamily="2" charset="77"/>
          <a:ea typeface="+mn-ea"/>
          <a:cs typeface="+mn-cs"/>
        </a:defRPr>
      </a:lvl4pPr>
      <a:lvl5pPr marL="2057400" indent="-228600" algn="l" defTabSz="457200" rtl="0" eaLnBrk="1" latinLnBrk="0" hangingPunct="1">
        <a:lnSpc>
          <a:spcPct val="90000"/>
        </a:lnSpc>
        <a:spcBef>
          <a:spcPct val="20000"/>
        </a:spcBef>
        <a:spcAft>
          <a:spcPts val="400"/>
        </a:spcAft>
        <a:buClr>
          <a:schemeClr val="bg2"/>
        </a:buClr>
        <a:buFont typeface="Arial"/>
        <a:buChar char="»"/>
        <a:defRPr lang="en-US" sz="1200" b="0" i="0" kern="1200" baseline="0" dirty="0">
          <a:solidFill>
            <a:srgbClr val="000000"/>
          </a:solidFill>
          <a:latin typeface="Barlow" pitchFamily="2" charset="77"/>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0" pos="3949">
          <p15:clr>
            <a:srgbClr val="F26B43"/>
          </p15:clr>
        </p15:guide>
        <p15:guide id="1" orient="horz" pos="3768">
          <p15:clr>
            <a:srgbClr val="F26B43"/>
          </p15:clr>
        </p15:guide>
        <p15:guide id="2" pos="216">
          <p15:clr>
            <a:srgbClr val="F26B43"/>
          </p15:clr>
        </p15:guide>
        <p15:guide id="3" pos="7464">
          <p15:clr>
            <a:srgbClr val="F26B43"/>
          </p15:clr>
        </p15:guide>
        <p15:guide id="4" orient="horz" pos="528">
          <p15:clr>
            <a:srgbClr val="F26B43"/>
          </p15:clr>
        </p15:guide>
        <p15:guide id="5" pos="3725">
          <p15:clr>
            <a:srgbClr val="F26B43"/>
          </p15:clr>
        </p15:guide>
        <p15:guide id="6" orient="horz" pos="672">
          <p15:clr>
            <a:srgbClr val="F26B43"/>
          </p15:clr>
        </p15:guide>
        <p15:guide id="7" pos="6696">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hyperlink" Target="https://www.google.com/url?sa=i&amp;url=https%3A%2F%2Fwww.callcentrehelper.com%2Fnice-introduces-new-microsoft-teams-integration-to-cxone-167217.htm&amp;psig=AOvVaw3CbKMMgaJ6uVoJgrDAV5nC&amp;ust=1668083050887000&amp;source=images&amp;cd=vfe&amp;ved=0CA0QjRxqFwoTCLD2lOCLofsCFQAAAAAdAAAAABAE" TargetMode="Externa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hyperlink" Target="https://en.wikipedia.org/wiki/Steiner_tree_problem" TargetMode="Externa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hyperlink" Target="https://www.google.com/imgres?imgurl=https%3A%2F%2Fsarvangsanghavi.files.wordpress.com%2F2016%2F11%2Fantenna_breakdown.png%3Fw%3D660&amp;imgrefurl=https%3A%2F%2Fsarvangsanghavi.wordpress.com%2F2016%2F11%2F28%2Fprocess-antenna-rule%2F&amp;tbnid=Yg1A2vXwWMiO7M&amp;vet=12ahUKEwi_zvDRjKf7AhWJ34UKHTdFD04QMyggegUIARCHAg..i&amp;docid=anwVndM9JGOJvM&amp;w=660&amp;h=222&amp;q=antenna%20effect%20in%20vlsi&amp;ved=2ahUKEwi_zvDRjKf7AhWJ34UKHTdFD04QMyggegUIARCHAg" TargetMode="External"/><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18.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C438D909-D066-2449-B22A-2B1EEA3D2FFD}"/>
              </a:ext>
            </a:extLst>
          </p:cNvPr>
          <p:cNvSpPr>
            <a:spLocks noGrp="1"/>
          </p:cNvSpPr>
          <p:nvPr>
            <p:ph type="body" idx="1"/>
          </p:nvPr>
        </p:nvSpPr>
        <p:spPr>
          <a:xfrm>
            <a:off x="342900" y="4587041"/>
            <a:ext cx="6470276" cy="553998"/>
          </a:xfrm>
        </p:spPr>
        <p:txBody>
          <a:bodyPr/>
          <a:lstStyle/>
          <a:p>
            <a:r>
              <a:rPr lang="en-US" dirty="0"/>
              <a:t>Reuse Methodology Manual for System-On-Chip Designs</a:t>
            </a:r>
          </a:p>
        </p:txBody>
      </p:sp>
      <p:sp>
        <p:nvSpPr>
          <p:cNvPr id="7" name="Text Placeholder 6">
            <a:extLst>
              <a:ext uri="{FF2B5EF4-FFF2-40B4-BE49-F238E27FC236}">
                <a16:creationId xmlns:a16="http://schemas.microsoft.com/office/drawing/2014/main" id="{550F983F-8671-C045-8D77-8BA3DBF89922}"/>
              </a:ext>
            </a:extLst>
          </p:cNvPr>
          <p:cNvSpPr>
            <a:spLocks noGrp="1"/>
          </p:cNvSpPr>
          <p:nvPr>
            <p:ph type="body" sz="quarter" idx="12"/>
          </p:nvPr>
        </p:nvSpPr>
        <p:spPr>
          <a:xfrm>
            <a:off x="342899" y="2495112"/>
            <a:ext cx="8303796" cy="1994392"/>
          </a:xfrm>
        </p:spPr>
        <p:txBody>
          <a:bodyPr/>
          <a:lstStyle/>
          <a:p>
            <a:r>
              <a:rPr lang="en-US" dirty="0"/>
              <a:t>Chapter 10: System Integration With Reusable Macros</a:t>
            </a:r>
          </a:p>
        </p:txBody>
      </p:sp>
      <p:sp>
        <p:nvSpPr>
          <p:cNvPr id="3" name="Footer Placeholder 2">
            <a:extLst>
              <a:ext uri="{FF2B5EF4-FFF2-40B4-BE49-F238E27FC236}">
                <a16:creationId xmlns:a16="http://schemas.microsoft.com/office/drawing/2014/main" id="{26A78CC7-C0D2-AC43-BD98-28E9A2C31B6B}"/>
              </a:ext>
            </a:extLst>
          </p:cNvPr>
          <p:cNvSpPr>
            <a:spLocks noGrp="1"/>
          </p:cNvSpPr>
          <p:nvPr>
            <p:ph type="ftr" sz="quarter" idx="3"/>
          </p:nvPr>
        </p:nvSpPr>
        <p:spPr/>
        <p:txBody>
          <a:bodyPr>
            <a:normAutofit/>
          </a:bodyPr>
          <a:lstStyle/>
          <a:p>
            <a:r>
              <a:rPr lang="en-US"/>
              <a:t>©2022 Analog Devices, Inc. </a:t>
            </a:r>
            <a:endParaRPr lang="en-US" dirty="0"/>
          </a:p>
        </p:txBody>
      </p:sp>
      <p:sp>
        <p:nvSpPr>
          <p:cNvPr id="2" name="Date Placeholder 1">
            <a:extLst>
              <a:ext uri="{FF2B5EF4-FFF2-40B4-BE49-F238E27FC236}">
                <a16:creationId xmlns:a16="http://schemas.microsoft.com/office/drawing/2014/main" id="{3AEFC6CC-B436-497C-85D7-DBAEA1EB28CB}"/>
              </a:ext>
            </a:extLst>
          </p:cNvPr>
          <p:cNvSpPr>
            <a:spLocks noGrp="1"/>
          </p:cNvSpPr>
          <p:nvPr>
            <p:ph type="dt" sz="half" idx="2"/>
          </p:nvPr>
        </p:nvSpPr>
        <p:spPr/>
        <p:txBody>
          <a:bodyPr/>
          <a:lstStyle/>
          <a:p>
            <a:fld id="{430F8550-9198-4116-B655-9B08CBD80A03}" type="datetime3">
              <a:rPr lang="en-US" smtClean="0"/>
              <a:t>12 November 2022</a:t>
            </a:fld>
            <a:endParaRPr lang="en-US" dirty="0"/>
          </a:p>
        </p:txBody>
      </p:sp>
      <p:sp>
        <p:nvSpPr>
          <p:cNvPr id="4" name="Slide Number Placeholder 3">
            <a:extLst>
              <a:ext uri="{FF2B5EF4-FFF2-40B4-BE49-F238E27FC236}">
                <a16:creationId xmlns:a16="http://schemas.microsoft.com/office/drawing/2014/main" id="{A58A6B8A-2262-46A8-863B-A6AB13D75060}"/>
              </a:ext>
            </a:extLst>
          </p:cNvPr>
          <p:cNvSpPr>
            <a:spLocks noGrp="1"/>
          </p:cNvSpPr>
          <p:nvPr>
            <p:ph type="sldNum" sz="quarter" idx="4"/>
          </p:nvPr>
        </p:nvSpPr>
        <p:spPr/>
        <p:txBody>
          <a:bodyPr/>
          <a:lstStyle/>
          <a:p>
            <a:pPr>
              <a:defRPr/>
            </a:pPr>
            <a:fld id="{A9CE67A1-BA7F-A74E-B5D7-615746DEEC2B}" type="slidenum">
              <a:rPr lang="en-US" smtClean="0"/>
              <a:pPr>
                <a:defRPr/>
              </a:pPr>
              <a:t>1</a:t>
            </a:fld>
            <a:endParaRPr lang="en-US" baseline="-11000" dirty="0"/>
          </a:p>
        </p:txBody>
      </p:sp>
    </p:spTree>
    <p:extLst>
      <p:ext uri="{BB962C8B-B14F-4D97-AF65-F5344CB8AC3E}">
        <p14:creationId xmlns:p14="http://schemas.microsoft.com/office/powerpoint/2010/main" val="13433132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77F650F-E93C-4F7D-8AAD-C095630BE456}"/>
              </a:ext>
            </a:extLst>
          </p:cNvPr>
          <p:cNvSpPr>
            <a:spLocks noGrp="1"/>
          </p:cNvSpPr>
          <p:nvPr>
            <p:ph idx="1"/>
          </p:nvPr>
        </p:nvSpPr>
        <p:spPr/>
        <p:txBody>
          <a:bodyPr/>
          <a:lstStyle/>
          <a:p>
            <a:pPr marL="685800" lvl="1" indent="-457200">
              <a:buFont typeface="+mj-lt"/>
              <a:buAutoNum type="arabicPeriod"/>
            </a:pPr>
            <a:r>
              <a:rPr lang="en-US" dirty="0">
                <a:latin typeface="Times New Roman" panose="02020603050405020304" pitchFamily="18" charset="0"/>
                <a:cs typeface="Times New Roman" panose="02020603050405020304" pitchFamily="18" charset="0"/>
              </a:rPr>
              <a:t>Integration Overview</a:t>
            </a:r>
          </a:p>
          <a:p>
            <a:pPr marL="685800" lvl="1" indent="-457200">
              <a:buFont typeface="+mj-lt"/>
              <a:buAutoNum type="arabicPeriod"/>
            </a:pPr>
            <a:r>
              <a:rPr lang="en-US" dirty="0">
                <a:latin typeface="Times New Roman" panose="02020603050405020304" pitchFamily="18" charset="0"/>
                <a:cs typeface="Times New Roman" panose="02020603050405020304" pitchFamily="18" charset="0"/>
              </a:rPr>
              <a:t>Integrating soft macros</a:t>
            </a:r>
          </a:p>
          <a:p>
            <a:pPr marL="685800" lvl="1" indent="-457200">
              <a:buFont typeface="+mj-lt"/>
              <a:buAutoNum type="arabicPeriod"/>
            </a:pPr>
            <a:r>
              <a:rPr lang="en-US" dirty="0">
                <a:latin typeface="Times New Roman" panose="02020603050405020304" pitchFamily="18" charset="0"/>
                <a:cs typeface="Times New Roman" panose="02020603050405020304" pitchFamily="18" charset="0"/>
              </a:rPr>
              <a:t>Integrating hard macros</a:t>
            </a:r>
          </a:p>
          <a:p>
            <a:pPr marL="685800" lvl="1" indent="-457200">
              <a:buFont typeface="+mj-lt"/>
              <a:buAutoNum type="arabicPeriod"/>
            </a:pPr>
            <a:r>
              <a:rPr lang="en-US" dirty="0">
                <a:latin typeface="Times New Roman" panose="02020603050405020304" pitchFamily="18" charset="0"/>
                <a:cs typeface="Times New Roman" panose="02020603050405020304" pitchFamily="18" charset="0"/>
              </a:rPr>
              <a:t>Integrating RAMs and Datapath generators</a:t>
            </a:r>
          </a:p>
          <a:p>
            <a:pPr marL="685800" lvl="1" indent="-457200">
              <a:buFont typeface="+mj-lt"/>
              <a:buAutoNum type="arabicPeriod"/>
            </a:pPr>
            <a:r>
              <a:rPr lang="en-US" dirty="0">
                <a:latin typeface="Times New Roman" panose="02020603050405020304" pitchFamily="18" charset="0"/>
                <a:cs typeface="Times New Roman" panose="02020603050405020304" pitchFamily="18" charset="0"/>
              </a:rPr>
              <a:t>Physical design</a:t>
            </a:r>
          </a:p>
          <a:p>
            <a:pPr lvl="1"/>
            <a:endParaRPr lang="en-US"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4A3B9023-179E-4AA0-A65F-CD08E3CA7504}"/>
              </a:ext>
            </a:extLst>
          </p:cNvPr>
          <p:cNvSpPr>
            <a:spLocks noGrp="1"/>
          </p:cNvSpPr>
          <p:nvPr>
            <p:ph type="title"/>
          </p:nvPr>
        </p:nvSpPr>
        <p:spPr/>
        <p:txBody>
          <a:bodyPr/>
          <a:lstStyle/>
          <a:p>
            <a:r>
              <a:rPr lang="en-US" dirty="0"/>
              <a:t>Chapter content</a:t>
            </a:r>
          </a:p>
        </p:txBody>
      </p:sp>
      <p:sp>
        <p:nvSpPr>
          <p:cNvPr id="4" name="Footer Placeholder 3">
            <a:extLst>
              <a:ext uri="{FF2B5EF4-FFF2-40B4-BE49-F238E27FC236}">
                <a16:creationId xmlns:a16="http://schemas.microsoft.com/office/drawing/2014/main" id="{C76F1DB5-D534-4952-AABB-629A085FA61F}"/>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FD74343D-D99B-4878-8A48-F64276F0691C}"/>
              </a:ext>
            </a:extLst>
          </p:cNvPr>
          <p:cNvSpPr>
            <a:spLocks noGrp="1"/>
          </p:cNvSpPr>
          <p:nvPr>
            <p:ph type="sldNum" sz="quarter" idx="4"/>
          </p:nvPr>
        </p:nvSpPr>
        <p:spPr/>
        <p:txBody>
          <a:bodyPr/>
          <a:lstStyle/>
          <a:p>
            <a:pPr>
              <a:defRPr/>
            </a:pPr>
            <a:fld id="{A9CE67A1-BA7F-A74E-B5D7-615746DEEC2B}" type="slidenum">
              <a:rPr lang="en-US" smtClean="0"/>
              <a:pPr>
                <a:defRPr/>
              </a:pPr>
              <a:t>2</a:t>
            </a:fld>
            <a:endParaRPr lang="en-US" baseline="-11000" dirty="0"/>
          </a:p>
        </p:txBody>
      </p:sp>
      <p:sp>
        <p:nvSpPr>
          <p:cNvPr id="6" name="Date Placeholder 5">
            <a:extLst>
              <a:ext uri="{FF2B5EF4-FFF2-40B4-BE49-F238E27FC236}">
                <a16:creationId xmlns:a16="http://schemas.microsoft.com/office/drawing/2014/main" id="{EE37DA8C-4E6D-4F89-890E-48684285BBF5}"/>
              </a:ext>
            </a:extLst>
          </p:cNvPr>
          <p:cNvSpPr>
            <a:spLocks noGrp="1"/>
          </p:cNvSpPr>
          <p:nvPr>
            <p:ph type="dt" sz="half" idx="2"/>
          </p:nvPr>
        </p:nvSpPr>
        <p:spPr/>
        <p:txBody>
          <a:bodyPr/>
          <a:lstStyle/>
          <a:p>
            <a:fld id="{4F68034E-5448-46F8-9344-AFA6D74952E0}" type="datetime3">
              <a:rPr lang="en-US" smtClean="0"/>
              <a:t>12 November 2022</a:t>
            </a:fld>
            <a:endParaRPr lang="en-US" dirty="0"/>
          </a:p>
        </p:txBody>
      </p:sp>
      <p:pic>
        <p:nvPicPr>
          <p:cNvPr id="1026" name="Picture 2" descr="NICE Introduces New Microsoft Teams Integration to CXone">
            <a:hlinkClick r:id="rId2"/>
            <a:extLst>
              <a:ext uri="{FF2B5EF4-FFF2-40B4-BE49-F238E27FC236}">
                <a16:creationId xmlns:a16="http://schemas.microsoft.com/office/drawing/2014/main" id="{7F472424-CD1F-7831-91D2-D75270571EB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10999" y="2442839"/>
            <a:ext cx="3183082" cy="1842837"/>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0F6E971D-8B1C-E1CD-A96D-2C21E7847248}"/>
              </a:ext>
            </a:extLst>
          </p:cNvPr>
          <p:cNvSpPr txBox="1"/>
          <p:nvPr/>
        </p:nvSpPr>
        <p:spPr>
          <a:xfrm>
            <a:off x="7412854" y="4462794"/>
            <a:ext cx="914400" cy="914400"/>
          </a:xfrm>
          <a:prstGeom prst="rect">
            <a:avLst/>
          </a:prstGeom>
          <a:noFill/>
        </p:spPr>
        <p:txBody>
          <a:bodyPr wrap="none" lIns="0" tIns="0" rIns="0" bIns="0" rtlCol="0">
            <a:noAutofit/>
          </a:bodyPr>
          <a:lstStyle/>
          <a:p>
            <a:pPr defTabSz="457200">
              <a:spcBef>
                <a:spcPts val="1000"/>
              </a:spcBef>
              <a:buClr>
                <a:srgbClr val="1E4056"/>
              </a:buClr>
              <a:buSzPct val="75000"/>
            </a:pPr>
            <a:r>
              <a:rPr lang="en-US" sz="1200" dirty="0">
                <a:solidFill>
                  <a:srgbClr val="000000"/>
                </a:solidFill>
              </a:rPr>
              <a:t>Figure.1: Integration of blocks</a:t>
            </a:r>
            <a:endParaRPr lang="en-GB" sz="1200" dirty="0">
              <a:solidFill>
                <a:srgbClr val="000000"/>
              </a:solidFill>
            </a:endParaRPr>
          </a:p>
        </p:txBody>
      </p:sp>
    </p:spTree>
    <p:extLst>
      <p:ext uri="{BB962C8B-B14F-4D97-AF65-F5344CB8AC3E}">
        <p14:creationId xmlns:p14="http://schemas.microsoft.com/office/powerpoint/2010/main" val="17034551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664FD15-CDBD-8AC9-5B71-9FB6F81B0AFD}"/>
              </a:ext>
            </a:extLst>
          </p:cNvPr>
          <p:cNvSpPr>
            <a:spLocks noGrp="1"/>
          </p:cNvSpPr>
          <p:nvPr>
            <p:ph idx="1"/>
          </p:nvPr>
        </p:nvSpPr>
        <p:spPr/>
        <p:txBody>
          <a:bodyPr/>
          <a:lstStyle/>
          <a:p>
            <a:r>
              <a:rPr lang="en-US" dirty="0"/>
              <a:t>We saw previously how to design a reusable individual block. Now, we will see how to assemble these blocks into the final chip.</a:t>
            </a:r>
          </a:p>
          <a:p>
            <a:r>
              <a:rPr lang="en-GB" dirty="0"/>
              <a:t>The process of integrating the blocks and doing the physical design can be broken onto the following steps:</a:t>
            </a:r>
          </a:p>
          <a:p>
            <a:pPr lvl="1"/>
            <a:r>
              <a:rPr lang="en-GB" dirty="0"/>
              <a:t>Selecting IP blocks and preparing them for integration</a:t>
            </a:r>
          </a:p>
          <a:p>
            <a:pPr lvl="1"/>
            <a:r>
              <a:rPr lang="en-GB" dirty="0"/>
              <a:t>Integrating all blocks into the top-level RTL</a:t>
            </a:r>
          </a:p>
          <a:p>
            <a:pPr lvl="1"/>
            <a:r>
              <a:rPr lang="en-GB" dirty="0"/>
              <a:t>Floorplaning and timing model generation</a:t>
            </a:r>
          </a:p>
          <a:p>
            <a:pPr lvl="1"/>
            <a:r>
              <a:rPr lang="en-GB" dirty="0"/>
              <a:t>Synthesis and initial timing analysis</a:t>
            </a:r>
          </a:p>
          <a:p>
            <a:pPr lvl="1"/>
            <a:r>
              <a:rPr lang="en-GB" dirty="0"/>
              <a:t>Physical synthesis and timing analysis with iteration until timing closure</a:t>
            </a:r>
          </a:p>
          <a:p>
            <a:pPr lvl="1"/>
            <a:r>
              <a:rPr lang="en-GB" dirty="0"/>
              <a:t>Detailed route, timing verification and power analysis</a:t>
            </a:r>
          </a:p>
          <a:p>
            <a:pPr lvl="1"/>
            <a:r>
              <a:rPr lang="en-GB" dirty="0"/>
              <a:t>Physical verification of the design</a:t>
            </a:r>
          </a:p>
        </p:txBody>
      </p:sp>
      <p:sp>
        <p:nvSpPr>
          <p:cNvPr id="3" name="Title 2">
            <a:extLst>
              <a:ext uri="{FF2B5EF4-FFF2-40B4-BE49-F238E27FC236}">
                <a16:creationId xmlns:a16="http://schemas.microsoft.com/office/drawing/2014/main" id="{BE729260-FE1E-CE42-AB98-7A1449AC82A2}"/>
              </a:ext>
            </a:extLst>
          </p:cNvPr>
          <p:cNvSpPr>
            <a:spLocks noGrp="1"/>
          </p:cNvSpPr>
          <p:nvPr>
            <p:ph type="title"/>
          </p:nvPr>
        </p:nvSpPr>
        <p:spPr/>
        <p:txBody>
          <a:bodyPr/>
          <a:lstStyle/>
          <a:p>
            <a:r>
              <a:rPr lang="en-US" dirty="0"/>
              <a:t>1- Integration Overview</a:t>
            </a:r>
            <a:endParaRPr lang="en-GB" dirty="0"/>
          </a:p>
        </p:txBody>
      </p:sp>
      <p:sp>
        <p:nvSpPr>
          <p:cNvPr id="4" name="Footer Placeholder 3">
            <a:extLst>
              <a:ext uri="{FF2B5EF4-FFF2-40B4-BE49-F238E27FC236}">
                <a16:creationId xmlns:a16="http://schemas.microsoft.com/office/drawing/2014/main" id="{8F423128-ACBC-9A92-6540-48E50D1CA24C}"/>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51E0935A-9BF6-E3A9-8C77-65CBF8016640}"/>
              </a:ext>
            </a:extLst>
          </p:cNvPr>
          <p:cNvSpPr>
            <a:spLocks noGrp="1"/>
          </p:cNvSpPr>
          <p:nvPr>
            <p:ph type="sldNum" sz="quarter" idx="4"/>
          </p:nvPr>
        </p:nvSpPr>
        <p:spPr/>
        <p:txBody>
          <a:bodyPr/>
          <a:lstStyle/>
          <a:p>
            <a:pPr>
              <a:defRPr/>
            </a:pPr>
            <a:fld id="{A9CE67A1-BA7F-A74E-B5D7-615746DEEC2B}" type="slidenum">
              <a:rPr lang="en-US" smtClean="0"/>
              <a:pPr>
                <a:defRPr/>
              </a:pPr>
              <a:t>3</a:t>
            </a:fld>
            <a:endParaRPr lang="en-US" baseline="-11000" dirty="0"/>
          </a:p>
        </p:txBody>
      </p:sp>
      <p:sp>
        <p:nvSpPr>
          <p:cNvPr id="6" name="Date Placeholder 5">
            <a:extLst>
              <a:ext uri="{FF2B5EF4-FFF2-40B4-BE49-F238E27FC236}">
                <a16:creationId xmlns:a16="http://schemas.microsoft.com/office/drawing/2014/main" id="{294642E6-5541-C9DC-7F97-4C9A511F37CC}"/>
              </a:ext>
            </a:extLst>
          </p:cNvPr>
          <p:cNvSpPr>
            <a:spLocks noGrp="1"/>
          </p:cNvSpPr>
          <p:nvPr>
            <p:ph type="dt" sz="half" idx="2"/>
          </p:nvPr>
        </p:nvSpPr>
        <p:spPr/>
        <p:txBody>
          <a:bodyPr/>
          <a:lstStyle/>
          <a:p>
            <a:fld id="{EAFD7BB1-AB7F-4336-A8B3-6627E5D36FE4}" type="datetime3">
              <a:rPr lang="en-US" smtClean="0"/>
              <a:t>12 November 2022</a:t>
            </a:fld>
            <a:endParaRPr lang="en-US" dirty="0"/>
          </a:p>
        </p:txBody>
      </p:sp>
    </p:spTree>
    <p:extLst>
      <p:ext uri="{BB962C8B-B14F-4D97-AF65-F5344CB8AC3E}">
        <p14:creationId xmlns:p14="http://schemas.microsoft.com/office/powerpoint/2010/main" val="7593079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500"/>
                                        <p:tgtEl>
                                          <p:spTgt spid="2">
                                            <p:txEl>
                                              <p:pRg st="1" end="1"/>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animEffect transition="in" filter="fade">
                                      <p:cBhvr>
                                        <p:cTn id="15" dur="500"/>
                                        <p:tgtEl>
                                          <p:spTgt spid="2">
                                            <p:txEl>
                                              <p:pRg st="2" end="2"/>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2">
                                            <p:txEl>
                                              <p:pRg st="3" end="3"/>
                                            </p:txEl>
                                          </p:spTgt>
                                        </p:tgtEl>
                                        <p:attrNameLst>
                                          <p:attrName>style.visibility</p:attrName>
                                        </p:attrNameLst>
                                      </p:cBhvr>
                                      <p:to>
                                        <p:strVal val="visible"/>
                                      </p:to>
                                    </p:set>
                                    <p:animEffect transition="in" filter="fade">
                                      <p:cBhvr>
                                        <p:cTn id="18" dur="500"/>
                                        <p:tgtEl>
                                          <p:spTgt spid="2">
                                            <p:txEl>
                                              <p:pRg st="3" end="3"/>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2">
                                            <p:txEl>
                                              <p:pRg st="4" end="4"/>
                                            </p:txEl>
                                          </p:spTgt>
                                        </p:tgtEl>
                                        <p:attrNameLst>
                                          <p:attrName>style.visibility</p:attrName>
                                        </p:attrNameLst>
                                      </p:cBhvr>
                                      <p:to>
                                        <p:strVal val="visible"/>
                                      </p:to>
                                    </p:set>
                                    <p:animEffect transition="in" filter="fade">
                                      <p:cBhvr>
                                        <p:cTn id="21" dur="500"/>
                                        <p:tgtEl>
                                          <p:spTgt spid="2">
                                            <p:txEl>
                                              <p:pRg st="4" end="4"/>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2">
                                            <p:txEl>
                                              <p:pRg st="5" end="5"/>
                                            </p:txEl>
                                          </p:spTgt>
                                        </p:tgtEl>
                                        <p:attrNameLst>
                                          <p:attrName>style.visibility</p:attrName>
                                        </p:attrNameLst>
                                      </p:cBhvr>
                                      <p:to>
                                        <p:strVal val="visible"/>
                                      </p:to>
                                    </p:set>
                                    <p:animEffect transition="in" filter="fade">
                                      <p:cBhvr>
                                        <p:cTn id="24" dur="500"/>
                                        <p:tgtEl>
                                          <p:spTgt spid="2">
                                            <p:txEl>
                                              <p:pRg st="5" end="5"/>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2">
                                            <p:txEl>
                                              <p:pRg st="6" end="6"/>
                                            </p:txEl>
                                          </p:spTgt>
                                        </p:tgtEl>
                                        <p:attrNameLst>
                                          <p:attrName>style.visibility</p:attrName>
                                        </p:attrNameLst>
                                      </p:cBhvr>
                                      <p:to>
                                        <p:strVal val="visible"/>
                                      </p:to>
                                    </p:set>
                                    <p:animEffect transition="in" filter="fade">
                                      <p:cBhvr>
                                        <p:cTn id="27" dur="500"/>
                                        <p:tgtEl>
                                          <p:spTgt spid="2">
                                            <p:txEl>
                                              <p:pRg st="6" end="6"/>
                                            </p:txEl>
                                          </p:spTgt>
                                        </p:tgtEl>
                                      </p:cBhvr>
                                    </p:animEffect>
                                  </p:childTnLst>
                                </p:cTn>
                              </p:par>
                              <p:par>
                                <p:cTn id="28" presetID="10" presetClass="entr" presetSubtype="0" fill="hold" nodeType="withEffect">
                                  <p:stCondLst>
                                    <p:cond delay="0"/>
                                  </p:stCondLst>
                                  <p:childTnLst>
                                    <p:set>
                                      <p:cBhvr>
                                        <p:cTn id="29" dur="1" fill="hold">
                                          <p:stCondLst>
                                            <p:cond delay="0"/>
                                          </p:stCondLst>
                                        </p:cTn>
                                        <p:tgtEl>
                                          <p:spTgt spid="2">
                                            <p:txEl>
                                              <p:pRg st="7" end="7"/>
                                            </p:txEl>
                                          </p:spTgt>
                                        </p:tgtEl>
                                        <p:attrNameLst>
                                          <p:attrName>style.visibility</p:attrName>
                                        </p:attrNameLst>
                                      </p:cBhvr>
                                      <p:to>
                                        <p:strVal val="visible"/>
                                      </p:to>
                                    </p:set>
                                    <p:animEffect transition="in" filter="fade">
                                      <p:cBhvr>
                                        <p:cTn id="30" dur="500"/>
                                        <p:tgtEl>
                                          <p:spTgt spid="2">
                                            <p:txEl>
                                              <p:pRg st="7" end="7"/>
                                            </p:txEl>
                                          </p:spTgt>
                                        </p:tgtEl>
                                      </p:cBhvr>
                                    </p:animEffect>
                                  </p:childTnLst>
                                </p:cTn>
                              </p:par>
                              <p:par>
                                <p:cTn id="31" presetID="10" presetClass="entr" presetSubtype="0" fill="hold" nodeType="withEffect">
                                  <p:stCondLst>
                                    <p:cond delay="0"/>
                                  </p:stCondLst>
                                  <p:childTnLst>
                                    <p:set>
                                      <p:cBhvr>
                                        <p:cTn id="32" dur="1" fill="hold">
                                          <p:stCondLst>
                                            <p:cond delay="0"/>
                                          </p:stCondLst>
                                        </p:cTn>
                                        <p:tgtEl>
                                          <p:spTgt spid="2">
                                            <p:txEl>
                                              <p:pRg st="8" end="8"/>
                                            </p:txEl>
                                          </p:spTgt>
                                        </p:tgtEl>
                                        <p:attrNameLst>
                                          <p:attrName>style.visibility</p:attrName>
                                        </p:attrNameLst>
                                      </p:cBhvr>
                                      <p:to>
                                        <p:strVal val="visible"/>
                                      </p:to>
                                    </p:set>
                                    <p:animEffect transition="in" filter="fade">
                                      <p:cBhvr>
                                        <p:cTn id="33" dur="500"/>
                                        <p:tgtEl>
                                          <p:spTgt spid="2">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BD73353-CD3B-58D4-974C-CB5CEE89F835}"/>
              </a:ext>
            </a:extLst>
          </p:cNvPr>
          <p:cNvSpPr>
            <a:spLocks noGrp="1"/>
          </p:cNvSpPr>
          <p:nvPr>
            <p:ph idx="1"/>
          </p:nvPr>
        </p:nvSpPr>
        <p:spPr/>
        <p:txBody>
          <a:bodyPr/>
          <a:lstStyle/>
          <a:p>
            <a:pPr>
              <a:buFont typeface="Wingdings" panose="05000000000000000000" pitchFamily="2" charset="2"/>
              <a:buChar char="v"/>
            </a:pPr>
            <a:r>
              <a:rPr lang="en-US" b="1" u="sng" dirty="0"/>
              <a:t>Problems in integrating IP</a:t>
            </a:r>
          </a:p>
          <a:p>
            <a:pPr lvl="1"/>
            <a:r>
              <a:rPr lang="en-GB" dirty="0"/>
              <a:t>We do great job in decomposing the design well into blocks, but we find issue while integrating those blocks such as:</a:t>
            </a:r>
          </a:p>
          <a:p>
            <a:pPr lvl="2"/>
            <a:r>
              <a:rPr lang="en-GB" dirty="0"/>
              <a:t>Low level interfaces do not work (e.g. handshake signal is inverted)</a:t>
            </a:r>
          </a:p>
          <a:p>
            <a:pPr lvl="2"/>
            <a:r>
              <a:rPr lang="en-GB" dirty="0"/>
              <a:t>Misunderstanding of the block’s functionality</a:t>
            </a:r>
          </a:p>
          <a:p>
            <a:pPr lvl="2"/>
            <a:r>
              <a:rPr lang="en-GB" dirty="0"/>
              <a:t>Functional bugs in the design</a:t>
            </a:r>
          </a:p>
          <a:p>
            <a:pPr marL="457200" lvl="2" indent="0">
              <a:buNone/>
            </a:pPr>
            <a:r>
              <a:rPr lang="en-GB" dirty="0"/>
              <a:t>These problems can be easily fixed with the presence of the block designers and the system architect.</a:t>
            </a:r>
          </a:p>
          <a:p>
            <a:pPr marL="457200" marR="0" lvl="1" indent="-228600" algn="l" defTabSz="457200" rtl="0" eaLnBrk="1" fontAlgn="auto" latinLnBrk="0" hangingPunct="1">
              <a:lnSpc>
                <a:spcPct val="90000"/>
              </a:lnSpc>
              <a:spcBef>
                <a:spcPct val="20000"/>
              </a:spcBef>
              <a:spcAft>
                <a:spcPts val="400"/>
              </a:spcAft>
              <a:buClr>
                <a:srgbClr val="1E4056"/>
              </a:buClr>
              <a:buSzTx/>
              <a:buFont typeface="Wingdings" charset="2"/>
              <a:buChar char="§"/>
              <a:tabLst/>
              <a:defRPr/>
            </a:pPr>
            <a:r>
              <a:rPr lang="en-GB" dirty="0"/>
              <a:t>For an IP that is obtained from external source, some other problems that occur:</a:t>
            </a:r>
          </a:p>
          <a:p>
            <a:pPr lvl="2">
              <a:defRPr/>
            </a:pPr>
            <a:r>
              <a:rPr kumimoji="0" lang="en-GB" b="0" i="0" u="none" strike="noStrike" kern="1200" cap="none" spc="0" normalizeH="0" baseline="0" noProof="0" dirty="0">
                <a:ln>
                  <a:noFill/>
                </a:ln>
                <a:solidFill>
                  <a:srgbClr val="000000"/>
                </a:solidFill>
                <a:effectLst/>
                <a:uLnTx/>
                <a:uFillTx/>
                <a:latin typeface="Barlow" pitchFamily="2" charset="77"/>
                <a:ea typeface="+mn-ea"/>
                <a:cs typeface="+mn-cs"/>
              </a:rPr>
              <a:t>Someone needs to be familiar with the IP</a:t>
            </a:r>
          </a:p>
          <a:p>
            <a:pPr lvl="2">
              <a:defRPr/>
            </a:pPr>
            <a:r>
              <a:rPr lang="en-GB" dirty="0"/>
              <a:t>Documentation is incomplete, thus understanding is harder</a:t>
            </a:r>
          </a:p>
          <a:p>
            <a:pPr lvl="2">
              <a:defRPr/>
            </a:pPr>
            <a:r>
              <a:rPr kumimoji="0" lang="en-GB" b="0" i="0" u="none" strike="noStrike" kern="1200" cap="none" spc="0" normalizeH="0" baseline="0" noProof="0" dirty="0">
                <a:ln>
                  <a:noFill/>
                </a:ln>
                <a:solidFill>
                  <a:srgbClr val="000000"/>
                </a:solidFill>
                <a:effectLst/>
                <a:uLnTx/>
                <a:uFillTx/>
                <a:latin typeface="Barlow" pitchFamily="2" charset="77"/>
                <a:ea typeface="+mn-ea"/>
                <a:cs typeface="+mn-cs"/>
              </a:rPr>
              <a:t>Interface of the IP does not match the interface of the system bus</a:t>
            </a:r>
          </a:p>
          <a:p>
            <a:pPr lvl="2">
              <a:defRPr/>
            </a:pPr>
            <a:r>
              <a:rPr lang="en-GB" dirty="0"/>
              <a:t>Limited support is available from the IP provider</a:t>
            </a:r>
            <a:endParaRPr kumimoji="0" lang="en-GB" b="0" i="0" u="none" strike="noStrike" kern="1200" cap="none" spc="0" normalizeH="0" baseline="0" noProof="0" dirty="0">
              <a:ln>
                <a:noFill/>
              </a:ln>
              <a:solidFill>
                <a:srgbClr val="000000"/>
              </a:solidFill>
              <a:effectLst/>
              <a:uLnTx/>
              <a:uFillTx/>
              <a:latin typeface="Barlow" pitchFamily="2" charset="77"/>
              <a:ea typeface="+mn-ea"/>
              <a:cs typeface="+mn-cs"/>
            </a:endParaRPr>
          </a:p>
          <a:p>
            <a:pPr marL="457200" lvl="2" indent="0">
              <a:buNone/>
            </a:pPr>
            <a:endParaRPr lang="en-GB" dirty="0"/>
          </a:p>
        </p:txBody>
      </p:sp>
      <p:sp>
        <p:nvSpPr>
          <p:cNvPr id="3" name="Title 2">
            <a:extLst>
              <a:ext uri="{FF2B5EF4-FFF2-40B4-BE49-F238E27FC236}">
                <a16:creationId xmlns:a16="http://schemas.microsoft.com/office/drawing/2014/main" id="{903A678B-0387-6E85-A30C-D15CAED57272}"/>
              </a:ext>
            </a:extLst>
          </p:cNvPr>
          <p:cNvSpPr>
            <a:spLocks noGrp="1"/>
          </p:cNvSpPr>
          <p:nvPr>
            <p:ph type="title"/>
          </p:nvPr>
        </p:nvSpPr>
        <p:spPr/>
        <p:txBody>
          <a:bodyPr/>
          <a:lstStyle/>
          <a:p>
            <a:r>
              <a:rPr lang="en-US" dirty="0"/>
              <a:t>2- Integrating Macros</a:t>
            </a:r>
            <a:endParaRPr lang="en-GB" dirty="0"/>
          </a:p>
        </p:txBody>
      </p:sp>
      <p:sp>
        <p:nvSpPr>
          <p:cNvPr id="4" name="Footer Placeholder 3">
            <a:extLst>
              <a:ext uri="{FF2B5EF4-FFF2-40B4-BE49-F238E27FC236}">
                <a16:creationId xmlns:a16="http://schemas.microsoft.com/office/drawing/2014/main" id="{67DF4F6B-2959-7190-407E-A674B5787AF5}"/>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E0D45189-FA4E-177B-873B-708428156471}"/>
              </a:ext>
            </a:extLst>
          </p:cNvPr>
          <p:cNvSpPr>
            <a:spLocks noGrp="1"/>
          </p:cNvSpPr>
          <p:nvPr>
            <p:ph type="sldNum" sz="quarter" idx="4"/>
          </p:nvPr>
        </p:nvSpPr>
        <p:spPr/>
        <p:txBody>
          <a:bodyPr/>
          <a:lstStyle/>
          <a:p>
            <a:pPr>
              <a:defRPr/>
            </a:pPr>
            <a:fld id="{A9CE67A1-BA7F-A74E-B5D7-615746DEEC2B}" type="slidenum">
              <a:rPr lang="en-US" smtClean="0"/>
              <a:pPr>
                <a:defRPr/>
              </a:pPr>
              <a:t>4</a:t>
            </a:fld>
            <a:endParaRPr lang="en-US" baseline="-11000" dirty="0"/>
          </a:p>
        </p:txBody>
      </p:sp>
      <p:sp>
        <p:nvSpPr>
          <p:cNvPr id="6" name="Date Placeholder 5">
            <a:extLst>
              <a:ext uri="{FF2B5EF4-FFF2-40B4-BE49-F238E27FC236}">
                <a16:creationId xmlns:a16="http://schemas.microsoft.com/office/drawing/2014/main" id="{3496CC5C-EF3F-F391-02A9-DB60C3E81FC9}"/>
              </a:ext>
            </a:extLst>
          </p:cNvPr>
          <p:cNvSpPr>
            <a:spLocks noGrp="1"/>
          </p:cNvSpPr>
          <p:nvPr>
            <p:ph type="dt" sz="half" idx="2"/>
          </p:nvPr>
        </p:nvSpPr>
        <p:spPr/>
        <p:txBody>
          <a:bodyPr/>
          <a:lstStyle/>
          <a:p>
            <a:fld id="{EAFD7BB1-AB7F-4336-A8B3-6627E5D36FE4}" type="datetime3">
              <a:rPr lang="en-US" smtClean="0"/>
              <a:t>12 November 2022</a:t>
            </a:fld>
            <a:endParaRPr lang="en-US" dirty="0"/>
          </a:p>
        </p:txBody>
      </p:sp>
      <p:pic>
        <p:nvPicPr>
          <p:cNvPr id="8" name="Picture 7">
            <a:extLst>
              <a:ext uri="{FF2B5EF4-FFF2-40B4-BE49-F238E27FC236}">
                <a16:creationId xmlns:a16="http://schemas.microsoft.com/office/drawing/2014/main" id="{45E7E58A-5816-4548-3D41-7BFC6BB356CD}"/>
              </a:ext>
            </a:extLst>
          </p:cNvPr>
          <p:cNvPicPr>
            <a:picLocks noChangeAspect="1"/>
          </p:cNvPicPr>
          <p:nvPr/>
        </p:nvPicPr>
        <p:blipFill rotWithShape="1">
          <a:blip r:embed="rId2"/>
          <a:srcRect t="60721"/>
          <a:stretch/>
        </p:blipFill>
        <p:spPr>
          <a:xfrm>
            <a:off x="8029668" y="4430650"/>
            <a:ext cx="4162332" cy="1136527"/>
          </a:xfrm>
          <a:prstGeom prst="rect">
            <a:avLst/>
          </a:prstGeom>
        </p:spPr>
      </p:pic>
      <p:sp>
        <p:nvSpPr>
          <p:cNvPr id="9" name="TextBox 8">
            <a:extLst>
              <a:ext uri="{FF2B5EF4-FFF2-40B4-BE49-F238E27FC236}">
                <a16:creationId xmlns:a16="http://schemas.microsoft.com/office/drawing/2014/main" id="{30E54CA2-84EB-802D-4EB8-1F625E47700F}"/>
              </a:ext>
            </a:extLst>
          </p:cNvPr>
          <p:cNvSpPr txBox="1"/>
          <p:nvPr/>
        </p:nvSpPr>
        <p:spPr>
          <a:xfrm>
            <a:off x="9059020" y="5567177"/>
            <a:ext cx="914400" cy="914400"/>
          </a:xfrm>
          <a:prstGeom prst="rect">
            <a:avLst/>
          </a:prstGeom>
          <a:noFill/>
        </p:spPr>
        <p:txBody>
          <a:bodyPr wrap="none" lIns="0" tIns="0" rIns="0" bIns="0" rtlCol="0">
            <a:noAutofit/>
          </a:bodyPr>
          <a:lstStyle/>
          <a:p>
            <a:pPr defTabSz="457200">
              <a:spcBef>
                <a:spcPts val="1000"/>
              </a:spcBef>
              <a:buClr>
                <a:srgbClr val="1E4056"/>
              </a:buClr>
              <a:buSzPct val="75000"/>
            </a:pPr>
            <a:r>
              <a:rPr lang="en-US" sz="1050" dirty="0">
                <a:solidFill>
                  <a:srgbClr val="000000"/>
                </a:solidFill>
              </a:rPr>
              <a:t>Figure.2: Standard system buses</a:t>
            </a:r>
            <a:endParaRPr lang="en-GB" sz="1050" dirty="0">
              <a:solidFill>
                <a:srgbClr val="000000"/>
              </a:solidFill>
            </a:endParaRPr>
          </a:p>
        </p:txBody>
      </p:sp>
    </p:spTree>
    <p:extLst>
      <p:ext uri="{BB962C8B-B14F-4D97-AF65-F5344CB8AC3E}">
        <p14:creationId xmlns:p14="http://schemas.microsoft.com/office/powerpoint/2010/main" val="12926447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fade">
                                      <p:cBhvr>
                                        <p:cTn id="7" dur="500"/>
                                        <p:tgtEl>
                                          <p:spTgt spid="2">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
                                            <p:txEl>
                                              <p:pRg st="2" end="2"/>
                                            </p:txEl>
                                          </p:spTgt>
                                        </p:tgtEl>
                                        <p:attrNameLst>
                                          <p:attrName>style.visibility</p:attrName>
                                        </p:attrNameLst>
                                      </p:cBhvr>
                                      <p:to>
                                        <p:strVal val="visible"/>
                                      </p:to>
                                    </p:set>
                                    <p:animEffect transition="in" filter="fade">
                                      <p:cBhvr>
                                        <p:cTn id="10" dur="500"/>
                                        <p:tgtEl>
                                          <p:spTgt spid="2">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2">
                                            <p:txEl>
                                              <p:pRg st="3" end="3"/>
                                            </p:txEl>
                                          </p:spTgt>
                                        </p:tgtEl>
                                        <p:attrNameLst>
                                          <p:attrName>style.visibility</p:attrName>
                                        </p:attrNameLst>
                                      </p:cBhvr>
                                      <p:to>
                                        <p:strVal val="visible"/>
                                      </p:to>
                                    </p:set>
                                    <p:animEffect transition="in" filter="fade">
                                      <p:cBhvr>
                                        <p:cTn id="13" dur="500"/>
                                        <p:tgtEl>
                                          <p:spTgt spid="2">
                                            <p:txEl>
                                              <p:pRg st="3" end="3"/>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2">
                                            <p:txEl>
                                              <p:pRg st="4" end="4"/>
                                            </p:txEl>
                                          </p:spTgt>
                                        </p:tgtEl>
                                        <p:attrNameLst>
                                          <p:attrName>style.visibility</p:attrName>
                                        </p:attrNameLst>
                                      </p:cBhvr>
                                      <p:to>
                                        <p:strVal val="visible"/>
                                      </p:to>
                                    </p:set>
                                    <p:animEffect transition="in" filter="fade">
                                      <p:cBhvr>
                                        <p:cTn id="16" dur="500"/>
                                        <p:tgtEl>
                                          <p:spTgt spid="2">
                                            <p:txEl>
                                              <p:pRg st="4" end="4"/>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2">
                                            <p:txEl>
                                              <p:pRg st="5" end="5"/>
                                            </p:txEl>
                                          </p:spTgt>
                                        </p:tgtEl>
                                        <p:attrNameLst>
                                          <p:attrName>style.visibility</p:attrName>
                                        </p:attrNameLst>
                                      </p:cBhvr>
                                      <p:to>
                                        <p:strVal val="visible"/>
                                      </p:to>
                                    </p:set>
                                    <p:animEffect transition="in" filter="fade">
                                      <p:cBhvr>
                                        <p:cTn id="19" dur="500"/>
                                        <p:tgtEl>
                                          <p:spTgt spid="2">
                                            <p:txEl>
                                              <p:pRg st="5" end="5"/>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2">
                                            <p:txEl>
                                              <p:pRg st="6" end="6"/>
                                            </p:txEl>
                                          </p:spTgt>
                                        </p:tgtEl>
                                        <p:attrNameLst>
                                          <p:attrName>style.visibility</p:attrName>
                                        </p:attrNameLst>
                                      </p:cBhvr>
                                      <p:to>
                                        <p:strVal val="visible"/>
                                      </p:to>
                                    </p:set>
                                    <p:animEffect transition="in" filter="fade">
                                      <p:cBhvr>
                                        <p:cTn id="24" dur="500"/>
                                        <p:tgtEl>
                                          <p:spTgt spid="2">
                                            <p:txEl>
                                              <p:pRg st="6" end="6"/>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2">
                                            <p:txEl>
                                              <p:pRg st="7" end="7"/>
                                            </p:txEl>
                                          </p:spTgt>
                                        </p:tgtEl>
                                        <p:attrNameLst>
                                          <p:attrName>style.visibility</p:attrName>
                                        </p:attrNameLst>
                                      </p:cBhvr>
                                      <p:to>
                                        <p:strVal val="visible"/>
                                      </p:to>
                                    </p:set>
                                    <p:animEffect transition="in" filter="fade">
                                      <p:cBhvr>
                                        <p:cTn id="27" dur="500"/>
                                        <p:tgtEl>
                                          <p:spTgt spid="2">
                                            <p:txEl>
                                              <p:pRg st="7" end="7"/>
                                            </p:txEl>
                                          </p:spTgt>
                                        </p:tgtEl>
                                      </p:cBhvr>
                                    </p:animEffect>
                                  </p:childTnLst>
                                </p:cTn>
                              </p:par>
                              <p:par>
                                <p:cTn id="28" presetID="10" presetClass="entr" presetSubtype="0" fill="hold" nodeType="withEffect">
                                  <p:stCondLst>
                                    <p:cond delay="0"/>
                                  </p:stCondLst>
                                  <p:childTnLst>
                                    <p:set>
                                      <p:cBhvr>
                                        <p:cTn id="29" dur="1" fill="hold">
                                          <p:stCondLst>
                                            <p:cond delay="0"/>
                                          </p:stCondLst>
                                        </p:cTn>
                                        <p:tgtEl>
                                          <p:spTgt spid="2">
                                            <p:txEl>
                                              <p:pRg st="8" end="8"/>
                                            </p:txEl>
                                          </p:spTgt>
                                        </p:tgtEl>
                                        <p:attrNameLst>
                                          <p:attrName>style.visibility</p:attrName>
                                        </p:attrNameLst>
                                      </p:cBhvr>
                                      <p:to>
                                        <p:strVal val="visible"/>
                                      </p:to>
                                    </p:set>
                                    <p:animEffect transition="in" filter="fade">
                                      <p:cBhvr>
                                        <p:cTn id="30" dur="500"/>
                                        <p:tgtEl>
                                          <p:spTgt spid="2">
                                            <p:txEl>
                                              <p:pRg st="8" end="8"/>
                                            </p:txEl>
                                          </p:spTgt>
                                        </p:tgtEl>
                                      </p:cBhvr>
                                    </p:animEffect>
                                  </p:childTnLst>
                                </p:cTn>
                              </p:par>
                              <p:par>
                                <p:cTn id="31" presetID="10" presetClass="entr" presetSubtype="0" fill="hold" nodeType="withEffect">
                                  <p:stCondLst>
                                    <p:cond delay="0"/>
                                  </p:stCondLst>
                                  <p:childTnLst>
                                    <p:set>
                                      <p:cBhvr>
                                        <p:cTn id="32" dur="1" fill="hold">
                                          <p:stCondLst>
                                            <p:cond delay="0"/>
                                          </p:stCondLst>
                                        </p:cTn>
                                        <p:tgtEl>
                                          <p:spTgt spid="2">
                                            <p:txEl>
                                              <p:pRg st="9" end="9"/>
                                            </p:txEl>
                                          </p:spTgt>
                                        </p:tgtEl>
                                        <p:attrNameLst>
                                          <p:attrName>style.visibility</p:attrName>
                                        </p:attrNameLst>
                                      </p:cBhvr>
                                      <p:to>
                                        <p:strVal val="visible"/>
                                      </p:to>
                                    </p:set>
                                    <p:animEffect transition="in" filter="fade">
                                      <p:cBhvr>
                                        <p:cTn id="33" dur="500"/>
                                        <p:tgtEl>
                                          <p:spTgt spid="2">
                                            <p:txEl>
                                              <p:pRg st="9" end="9"/>
                                            </p:txEl>
                                          </p:spTgt>
                                        </p:tgtEl>
                                      </p:cBhvr>
                                    </p:animEffect>
                                  </p:childTnLst>
                                </p:cTn>
                              </p:par>
                              <p:par>
                                <p:cTn id="34" presetID="10" presetClass="entr" presetSubtype="0" fill="hold" nodeType="withEffect">
                                  <p:stCondLst>
                                    <p:cond delay="0"/>
                                  </p:stCondLst>
                                  <p:childTnLst>
                                    <p:set>
                                      <p:cBhvr>
                                        <p:cTn id="35" dur="1" fill="hold">
                                          <p:stCondLst>
                                            <p:cond delay="0"/>
                                          </p:stCondLst>
                                        </p:cTn>
                                        <p:tgtEl>
                                          <p:spTgt spid="2">
                                            <p:txEl>
                                              <p:pRg st="10" end="10"/>
                                            </p:txEl>
                                          </p:spTgt>
                                        </p:tgtEl>
                                        <p:attrNameLst>
                                          <p:attrName>style.visibility</p:attrName>
                                        </p:attrNameLst>
                                      </p:cBhvr>
                                      <p:to>
                                        <p:strVal val="visible"/>
                                      </p:to>
                                    </p:set>
                                    <p:animEffect transition="in" filter="fade">
                                      <p:cBhvr>
                                        <p:cTn id="36" dur="500"/>
                                        <p:tgtEl>
                                          <p:spTgt spid="2">
                                            <p:txEl>
                                              <p:pRg st="10" end="10"/>
                                            </p:txEl>
                                          </p:spTgt>
                                        </p:tgtEl>
                                      </p:cBhvr>
                                    </p:animEffect>
                                  </p:childTnLst>
                                </p:cTn>
                              </p:par>
                              <p:par>
                                <p:cTn id="37" presetID="10" presetClass="entr" presetSubtype="0" fill="hold" nodeType="withEffect">
                                  <p:stCondLst>
                                    <p:cond delay="0"/>
                                  </p:stCondLst>
                                  <p:childTnLst>
                                    <p:set>
                                      <p:cBhvr>
                                        <p:cTn id="38" dur="1" fill="hold">
                                          <p:stCondLst>
                                            <p:cond delay="0"/>
                                          </p:stCondLst>
                                        </p:cTn>
                                        <p:tgtEl>
                                          <p:spTgt spid="8"/>
                                        </p:tgtEl>
                                        <p:attrNameLst>
                                          <p:attrName>style.visibility</p:attrName>
                                        </p:attrNameLst>
                                      </p:cBhvr>
                                      <p:to>
                                        <p:strVal val="visible"/>
                                      </p:to>
                                    </p:set>
                                    <p:animEffect transition="in" filter="fade">
                                      <p:cBhvr>
                                        <p:cTn id="39" dur="500"/>
                                        <p:tgtEl>
                                          <p:spTgt spid="8"/>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9"/>
                                        </p:tgtEl>
                                        <p:attrNameLst>
                                          <p:attrName>style.visibility</p:attrName>
                                        </p:attrNameLst>
                                      </p:cBhvr>
                                      <p:to>
                                        <p:strVal val="visible"/>
                                      </p:to>
                                    </p:set>
                                    <p:animEffect transition="in" filter="fade">
                                      <p:cBhvr>
                                        <p:cTn id="4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CD460F7-FCDD-B9AF-3891-17C6BF1AA57B}"/>
              </a:ext>
            </a:extLst>
          </p:cNvPr>
          <p:cNvSpPr>
            <a:spLocks noGrp="1"/>
          </p:cNvSpPr>
          <p:nvPr>
            <p:ph idx="1"/>
          </p:nvPr>
        </p:nvSpPr>
        <p:spPr>
          <a:xfrm>
            <a:off x="355600" y="1066800"/>
            <a:ext cx="10274300" cy="4914900"/>
          </a:xfrm>
        </p:spPr>
        <p:txBody>
          <a:bodyPr/>
          <a:lstStyle/>
          <a:p>
            <a:pPr marR="0" lvl="0" algn="l" defTabSz="457200" rtl="0" eaLnBrk="1" fontAlgn="auto" latinLnBrk="0" hangingPunct="1">
              <a:lnSpc>
                <a:spcPct val="90000"/>
              </a:lnSpc>
              <a:spcBef>
                <a:spcPts val="1000"/>
              </a:spcBef>
              <a:spcAft>
                <a:spcPts val="400"/>
              </a:spcAft>
              <a:buClr>
                <a:srgbClr val="B1B3B3"/>
              </a:buClr>
              <a:buSzPct val="65000"/>
              <a:buFont typeface="Wingdings" panose="05000000000000000000" pitchFamily="2" charset="2"/>
              <a:buChar char="v"/>
              <a:tabLst/>
              <a:defRPr/>
            </a:pPr>
            <a:r>
              <a:rPr kumimoji="0" lang="en-US" sz="2600" b="1" i="0" u="sng" strike="noStrike" kern="1200" cap="none" spc="0" normalizeH="0" baseline="0" noProof="0" dirty="0">
                <a:ln>
                  <a:noFill/>
                </a:ln>
                <a:solidFill>
                  <a:srgbClr val="000000"/>
                </a:solidFill>
                <a:effectLst/>
                <a:uLnTx/>
                <a:uFillTx/>
                <a:latin typeface="Barlow" pitchFamily="2" charset="77"/>
                <a:ea typeface="+mn-ea"/>
                <a:cs typeface="+mn-cs"/>
              </a:rPr>
              <a:t>Problems in integrating IP</a:t>
            </a:r>
          </a:p>
          <a:p>
            <a:pPr lvl="1">
              <a:buClr>
                <a:srgbClr val="B1B3B3"/>
              </a:buClr>
              <a:defRPr/>
            </a:pPr>
            <a:r>
              <a:rPr kumimoji="0" lang="en-US" i="0" strike="noStrike" kern="1200" cap="none" spc="0" normalizeH="0" baseline="0" noProof="0" dirty="0">
                <a:ln>
                  <a:noFill/>
                </a:ln>
                <a:solidFill>
                  <a:srgbClr val="000000"/>
                </a:solidFill>
                <a:effectLst/>
                <a:uLnTx/>
                <a:uFillTx/>
                <a:latin typeface="Barlow" pitchFamily="2" charset="77"/>
                <a:ea typeface="+mn-ea"/>
                <a:cs typeface="+mn-cs"/>
              </a:rPr>
              <a:t>Some purchased IPs need designed additional blocks to pass data to and from it.</a:t>
            </a:r>
          </a:p>
          <a:p>
            <a:pPr lvl="1">
              <a:buClr>
                <a:srgbClr val="B1B3B3"/>
              </a:buClr>
              <a:defRPr/>
            </a:pPr>
            <a:r>
              <a:rPr lang="en-US" dirty="0"/>
              <a:t>The detailed handshake may differ as in figure.3 (e.g. one block may require “ready for data” signal from the target while the target expect “request for write” before sending data).</a:t>
            </a:r>
          </a:p>
          <a:p>
            <a:pPr lvl="1">
              <a:buClr>
                <a:srgbClr val="B1B3B3"/>
              </a:buClr>
              <a:defRPr/>
            </a:pPr>
            <a:r>
              <a:rPr kumimoji="0" lang="en-US" i="0" strike="noStrike" kern="1200" cap="none" spc="0" normalizeH="0" baseline="0" noProof="0" dirty="0">
                <a:ln>
                  <a:noFill/>
                </a:ln>
                <a:solidFill>
                  <a:srgbClr val="000000"/>
                </a:solidFill>
                <a:effectLst/>
                <a:uLnTx/>
                <a:uFillTx/>
                <a:latin typeface="Barlow" pitchFamily="2" charset="77"/>
                <a:ea typeface="+mn-ea"/>
                <a:cs typeface="+mn-cs"/>
              </a:rPr>
              <a:t>In higher level</a:t>
            </a:r>
            <a:r>
              <a:rPr lang="en-US" dirty="0"/>
              <a:t> , blocks may have different kinds of transactions: posted writes, burst reads and interrupted transactions. These are more difficult to resolve</a:t>
            </a:r>
            <a:r>
              <a:rPr lang="en-GB" dirty="0"/>
              <a:t>.</a:t>
            </a:r>
          </a:p>
          <a:p>
            <a:pPr lvl="1">
              <a:buClr>
                <a:srgbClr val="B1B3B3"/>
              </a:buClr>
              <a:defRPr/>
            </a:pPr>
            <a:endParaRPr kumimoji="0" lang="en-GB" i="0" strike="noStrike" kern="1200" cap="none" spc="0" normalizeH="0" baseline="0" noProof="0" dirty="0">
              <a:ln>
                <a:noFill/>
              </a:ln>
              <a:solidFill>
                <a:srgbClr val="000000"/>
              </a:solidFill>
              <a:effectLst/>
              <a:uLnTx/>
              <a:uFillTx/>
              <a:latin typeface="Barlow" pitchFamily="2" charset="77"/>
              <a:ea typeface="+mn-ea"/>
              <a:cs typeface="+mn-cs"/>
            </a:endParaRPr>
          </a:p>
          <a:p>
            <a:pPr lvl="1">
              <a:buClr>
                <a:srgbClr val="B1B3B3"/>
              </a:buClr>
              <a:defRPr/>
            </a:pPr>
            <a:endParaRPr lang="en-GB" dirty="0"/>
          </a:p>
          <a:p>
            <a:pPr marL="228600" lvl="1" indent="0">
              <a:buClr>
                <a:srgbClr val="B1B3B3"/>
              </a:buClr>
              <a:buNone/>
              <a:defRPr/>
            </a:pPr>
            <a:r>
              <a:rPr kumimoji="0" lang="en-GB" i="0" strike="noStrike" kern="1200" cap="none" spc="0" normalizeH="0" baseline="0" noProof="0" dirty="0">
                <a:ln>
                  <a:noFill/>
                </a:ln>
                <a:solidFill>
                  <a:srgbClr val="000000"/>
                </a:solidFill>
                <a:effectLst/>
                <a:uLnTx/>
                <a:uFillTx/>
                <a:latin typeface="Barlow" pitchFamily="2" charset="77"/>
                <a:ea typeface="+mn-ea"/>
                <a:cs typeface="+mn-cs"/>
              </a:rPr>
              <a:t>Now let’s talk about </a:t>
            </a:r>
            <a:r>
              <a:rPr kumimoji="0" lang="en-US" i="0" strike="noStrike" kern="1200" cap="none" spc="0" normalizeH="0" baseline="0" noProof="0" dirty="0">
                <a:ln>
                  <a:noFill/>
                </a:ln>
                <a:solidFill>
                  <a:srgbClr val="000000"/>
                </a:solidFill>
                <a:effectLst/>
                <a:uLnTx/>
                <a:uFillTx/>
                <a:latin typeface="Barlow" pitchFamily="2" charset="77"/>
                <a:ea typeface="+mn-ea"/>
                <a:cs typeface="+mn-cs"/>
              </a:rPr>
              <a:t>Strategies for Managing Interfacing Issues..</a:t>
            </a:r>
          </a:p>
          <a:p>
            <a:pPr marL="228600" lvl="1" indent="0">
              <a:buClr>
                <a:srgbClr val="B1B3B3"/>
              </a:buClr>
              <a:buNone/>
              <a:defRPr/>
            </a:pPr>
            <a:endParaRPr kumimoji="0" lang="en-US" i="0" strike="noStrike" kern="1200" cap="none" spc="0" normalizeH="0" baseline="0" noProof="0" dirty="0">
              <a:ln>
                <a:noFill/>
              </a:ln>
              <a:solidFill>
                <a:srgbClr val="000000"/>
              </a:solidFill>
              <a:effectLst/>
              <a:uLnTx/>
              <a:uFillTx/>
              <a:latin typeface="Barlow" pitchFamily="2" charset="77"/>
              <a:ea typeface="+mn-ea"/>
              <a:cs typeface="+mn-cs"/>
            </a:endParaRPr>
          </a:p>
        </p:txBody>
      </p:sp>
      <p:sp>
        <p:nvSpPr>
          <p:cNvPr id="3" name="Title 2">
            <a:extLst>
              <a:ext uri="{FF2B5EF4-FFF2-40B4-BE49-F238E27FC236}">
                <a16:creationId xmlns:a16="http://schemas.microsoft.com/office/drawing/2014/main" id="{8AE60FD8-9CEF-6CE6-4EDD-9988FCFCCEB4}"/>
              </a:ext>
            </a:extLst>
          </p:cNvPr>
          <p:cNvSpPr>
            <a:spLocks noGrp="1"/>
          </p:cNvSpPr>
          <p:nvPr>
            <p:ph type="title"/>
          </p:nvPr>
        </p:nvSpPr>
        <p:spPr/>
        <p:txBody>
          <a:bodyPr/>
          <a:lstStyle/>
          <a:p>
            <a:r>
              <a:rPr lang="en-US" dirty="0"/>
              <a:t>2- Integrating Macros</a:t>
            </a:r>
            <a:endParaRPr lang="en-GB" dirty="0"/>
          </a:p>
        </p:txBody>
      </p:sp>
      <p:sp>
        <p:nvSpPr>
          <p:cNvPr id="4" name="Footer Placeholder 3">
            <a:extLst>
              <a:ext uri="{FF2B5EF4-FFF2-40B4-BE49-F238E27FC236}">
                <a16:creationId xmlns:a16="http://schemas.microsoft.com/office/drawing/2014/main" id="{51763540-AEA7-BD4A-BEDA-6B70390E38F3}"/>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AB1CCFFA-6477-4121-7767-30476C22855C}"/>
              </a:ext>
            </a:extLst>
          </p:cNvPr>
          <p:cNvSpPr>
            <a:spLocks noGrp="1"/>
          </p:cNvSpPr>
          <p:nvPr>
            <p:ph type="sldNum" sz="quarter" idx="4"/>
          </p:nvPr>
        </p:nvSpPr>
        <p:spPr/>
        <p:txBody>
          <a:bodyPr/>
          <a:lstStyle/>
          <a:p>
            <a:pPr>
              <a:defRPr/>
            </a:pPr>
            <a:fld id="{A9CE67A1-BA7F-A74E-B5D7-615746DEEC2B}" type="slidenum">
              <a:rPr lang="en-US" smtClean="0"/>
              <a:pPr>
                <a:defRPr/>
              </a:pPr>
              <a:t>5</a:t>
            </a:fld>
            <a:endParaRPr lang="en-US" baseline="-11000" dirty="0"/>
          </a:p>
        </p:txBody>
      </p:sp>
      <p:sp>
        <p:nvSpPr>
          <p:cNvPr id="15" name="Rectangle 14">
            <a:extLst>
              <a:ext uri="{FF2B5EF4-FFF2-40B4-BE49-F238E27FC236}">
                <a16:creationId xmlns:a16="http://schemas.microsoft.com/office/drawing/2014/main" id="{27957AB8-BF08-400D-36DD-32C2CC02516B}"/>
              </a:ext>
            </a:extLst>
          </p:cNvPr>
          <p:cNvSpPr/>
          <p:nvPr/>
        </p:nvSpPr>
        <p:spPr>
          <a:xfrm>
            <a:off x="8536642" y="3524250"/>
            <a:ext cx="3230282" cy="1246094"/>
          </a:xfrm>
          <a:prstGeom prst="rect">
            <a:avLst/>
          </a:prstGeom>
          <a:solidFill>
            <a:schemeClr val="bg2">
              <a:lumMod val="60000"/>
              <a:lumOff val="40000"/>
            </a:schemeClr>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855CBDED-8ABD-B19D-CD9D-1D7534C99B93}"/>
              </a:ext>
            </a:extLst>
          </p:cNvPr>
          <p:cNvSpPr/>
          <p:nvPr/>
        </p:nvSpPr>
        <p:spPr>
          <a:xfrm>
            <a:off x="9027460" y="3738282"/>
            <a:ext cx="797858" cy="627530"/>
          </a:xfrm>
          <a:prstGeom prst="rect">
            <a:avLst/>
          </a:prstGeom>
          <a:solidFill>
            <a:schemeClr val="bg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D45C843B-9564-FFBD-BCA5-D9ADE10ECAA4}"/>
              </a:ext>
            </a:extLst>
          </p:cNvPr>
          <p:cNvSpPr/>
          <p:nvPr/>
        </p:nvSpPr>
        <p:spPr>
          <a:xfrm>
            <a:off x="10478248" y="3738282"/>
            <a:ext cx="797858" cy="627530"/>
          </a:xfrm>
          <a:prstGeom prst="rect">
            <a:avLst/>
          </a:prstGeom>
          <a:solidFill>
            <a:schemeClr val="bg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6" name="Date Placeholder 5">
            <a:extLst>
              <a:ext uri="{FF2B5EF4-FFF2-40B4-BE49-F238E27FC236}">
                <a16:creationId xmlns:a16="http://schemas.microsoft.com/office/drawing/2014/main" id="{3CC9A71D-F9BF-41D4-F805-2C7286FCCE14}"/>
              </a:ext>
            </a:extLst>
          </p:cNvPr>
          <p:cNvSpPr>
            <a:spLocks noGrp="1"/>
          </p:cNvSpPr>
          <p:nvPr>
            <p:ph type="dt" sz="half" idx="2"/>
          </p:nvPr>
        </p:nvSpPr>
        <p:spPr/>
        <p:txBody>
          <a:bodyPr/>
          <a:lstStyle/>
          <a:p>
            <a:fld id="{EAFD7BB1-AB7F-4336-A8B3-6627E5D36FE4}" type="datetime3">
              <a:rPr lang="en-US" smtClean="0"/>
              <a:t>12 November 2022</a:t>
            </a:fld>
            <a:endParaRPr lang="en-US" dirty="0"/>
          </a:p>
        </p:txBody>
      </p:sp>
      <p:cxnSp>
        <p:nvCxnSpPr>
          <p:cNvPr id="10" name="Straight Connector 9">
            <a:extLst>
              <a:ext uri="{FF2B5EF4-FFF2-40B4-BE49-F238E27FC236}">
                <a16:creationId xmlns:a16="http://schemas.microsoft.com/office/drawing/2014/main" id="{B37C301A-80E9-C847-FC92-7C8349DDB2D9}"/>
              </a:ext>
            </a:extLst>
          </p:cNvPr>
          <p:cNvCxnSpPr/>
          <p:nvPr/>
        </p:nvCxnSpPr>
        <p:spPr>
          <a:xfrm>
            <a:off x="9825318" y="3872753"/>
            <a:ext cx="652930" cy="0"/>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E060495B-F386-F56E-D9B7-FF930AA553DE}"/>
              </a:ext>
            </a:extLst>
          </p:cNvPr>
          <p:cNvCxnSpPr/>
          <p:nvPr/>
        </p:nvCxnSpPr>
        <p:spPr>
          <a:xfrm>
            <a:off x="9825318" y="4177553"/>
            <a:ext cx="652930" cy="0"/>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32A970FE-3682-72B4-2047-BB7DAC5EA61C}"/>
              </a:ext>
            </a:extLst>
          </p:cNvPr>
          <p:cNvSpPr txBox="1"/>
          <p:nvPr/>
        </p:nvSpPr>
        <p:spPr>
          <a:xfrm>
            <a:off x="9027460" y="3782970"/>
            <a:ext cx="804582" cy="582842"/>
          </a:xfrm>
          <a:prstGeom prst="rect">
            <a:avLst/>
          </a:prstGeom>
          <a:noFill/>
        </p:spPr>
        <p:txBody>
          <a:bodyPr wrap="square" lIns="0" tIns="0" rIns="0" bIns="0" rtlCol="0">
            <a:noAutofit/>
          </a:bodyPr>
          <a:lstStyle/>
          <a:p>
            <a:pPr algn="ctr" defTabSz="457200">
              <a:spcBef>
                <a:spcPts val="1000"/>
              </a:spcBef>
              <a:buClr>
                <a:srgbClr val="1E4056"/>
              </a:buClr>
              <a:buSzPct val="75000"/>
            </a:pPr>
            <a:r>
              <a:rPr lang="en-US" sz="1000" dirty="0">
                <a:solidFill>
                  <a:srgbClr val="000000"/>
                </a:solidFill>
              </a:rPr>
              <a:t>Master</a:t>
            </a:r>
          </a:p>
          <a:p>
            <a:pPr algn="ctr" defTabSz="457200">
              <a:spcBef>
                <a:spcPts val="1000"/>
              </a:spcBef>
              <a:buClr>
                <a:srgbClr val="1E4056"/>
              </a:buClr>
              <a:buSzPct val="75000"/>
            </a:pPr>
            <a:r>
              <a:rPr lang="en-US" sz="1000" dirty="0">
                <a:solidFill>
                  <a:srgbClr val="000000"/>
                </a:solidFill>
              </a:rPr>
              <a:t>“Wait for slave”</a:t>
            </a:r>
            <a:endParaRPr lang="en-GB" sz="1000" dirty="0">
              <a:solidFill>
                <a:srgbClr val="000000"/>
              </a:solidFill>
            </a:endParaRPr>
          </a:p>
        </p:txBody>
      </p:sp>
      <p:sp>
        <p:nvSpPr>
          <p:cNvPr id="13" name="TextBox 12">
            <a:extLst>
              <a:ext uri="{FF2B5EF4-FFF2-40B4-BE49-F238E27FC236}">
                <a16:creationId xmlns:a16="http://schemas.microsoft.com/office/drawing/2014/main" id="{3B9B1C13-C5AD-322C-C47E-EC190F785574}"/>
              </a:ext>
            </a:extLst>
          </p:cNvPr>
          <p:cNvSpPr txBox="1"/>
          <p:nvPr/>
        </p:nvSpPr>
        <p:spPr>
          <a:xfrm>
            <a:off x="10471525" y="3782970"/>
            <a:ext cx="804581" cy="582842"/>
          </a:xfrm>
          <a:prstGeom prst="rect">
            <a:avLst/>
          </a:prstGeom>
          <a:noFill/>
        </p:spPr>
        <p:txBody>
          <a:bodyPr wrap="square" lIns="0" tIns="0" rIns="0" bIns="0" rtlCol="0">
            <a:noAutofit/>
          </a:bodyPr>
          <a:lstStyle/>
          <a:p>
            <a:pPr algn="ctr" defTabSz="457200">
              <a:spcBef>
                <a:spcPts val="1000"/>
              </a:spcBef>
              <a:buClr>
                <a:srgbClr val="1E4056"/>
              </a:buClr>
              <a:buSzPct val="75000"/>
            </a:pPr>
            <a:r>
              <a:rPr lang="en-US" sz="1000" dirty="0">
                <a:solidFill>
                  <a:srgbClr val="000000"/>
                </a:solidFill>
              </a:rPr>
              <a:t>Slave</a:t>
            </a:r>
          </a:p>
          <a:p>
            <a:pPr algn="ctr" defTabSz="457200">
              <a:spcBef>
                <a:spcPts val="1000"/>
              </a:spcBef>
              <a:buClr>
                <a:srgbClr val="1E4056"/>
              </a:buClr>
              <a:buSzPct val="75000"/>
            </a:pPr>
            <a:r>
              <a:rPr lang="en-US" sz="1000" dirty="0">
                <a:solidFill>
                  <a:srgbClr val="000000"/>
                </a:solidFill>
              </a:rPr>
              <a:t>“Wait for master</a:t>
            </a:r>
            <a:endParaRPr lang="en-GB" sz="1000" dirty="0">
              <a:solidFill>
                <a:srgbClr val="000000"/>
              </a:solidFill>
            </a:endParaRPr>
          </a:p>
        </p:txBody>
      </p:sp>
      <p:sp>
        <p:nvSpPr>
          <p:cNvPr id="14" name="TextBox 13">
            <a:extLst>
              <a:ext uri="{FF2B5EF4-FFF2-40B4-BE49-F238E27FC236}">
                <a16:creationId xmlns:a16="http://schemas.microsoft.com/office/drawing/2014/main" id="{AB526615-7976-E533-93F7-F7E0B6B3F1FD}"/>
              </a:ext>
            </a:extLst>
          </p:cNvPr>
          <p:cNvSpPr txBox="1"/>
          <p:nvPr/>
        </p:nvSpPr>
        <p:spPr>
          <a:xfrm>
            <a:off x="9377831" y="4493131"/>
            <a:ext cx="1577788" cy="281696"/>
          </a:xfrm>
          <a:prstGeom prst="rect">
            <a:avLst/>
          </a:prstGeom>
          <a:noFill/>
        </p:spPr>
        <p:txBody>
          <a:bodyPr wrap="square" lIns="0" tIns="0" rIns="0" bIns="0" rtlCol="0">
            <a:noAutofit/>
          </a:bodyPr>
          <a:lstStyle/>
          <a:p>
            <a:pPr defTabSz="457200">
              <a:spcBef>
                <a:spcPts val="1000"/>
              </a:spcBef>
              <a:buClr>
                <a:srgbClr val="1E4056"/>
              </a:buClr>
              <a:buSzPct val="75000"/>
            </a:pPr>
            <a:r>
              <a:rPr lang="en-US" sz="1000" dirty="0">
                <a:solidFill>
                  <a:srgbClr val="000000"/>
                </a:solidFill>
              </a:rPr>
              <a:t>Figure.3: handshake conflict</a:t>
            </a:r>
            <a:endParaRPr lang="en-GB" sz="1000" dirty="0">
              <a:solidFill>
                <a:srgbClr val="000000"/>
              </a:solidFill>
            </a:endParaRPr>
          </a:p>
        </p:txBody>
      </p:sp>
    </p:spTree>
    <p:extLst>
      <p:ext uri="{BB962C8B-B14F-4D97-AF65-F5344CB8AC3E}">
        <p14:creationId xmlns:p14="http://schemas.microsoft.com/office/powerpoint/2010/main" val="6060105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fade">
                                      <p:cBhvr>
                                        <p:cTn id="7" dur="500"/>
                                        <p:tgtEl>
                                          <p:spTgt spid="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fade">
                                      <p:cBhvr>
                                        <p:cTn id="12" dur="500"/>
                                        <p:tgtEl>
                                          <p:spTgt spid="2">
                                            <p:txEl>
                                              <p:pRg st="2" end="2"/>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500"/>
                                        <p:tgtEl>
                                          <p:spTgt spid="15"/>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500"/>
                                        <p:tgtEl>
                                          <p:spTgt spid="8"/>
                                        </p:tgtEl>
                                      </p:cBhvr>
                                    </p:animEffect>
                                  </p:childTnLst>
                                </p:cTn>
                              </p:par>
                              <p:par>
                                <p:cTn id="22" presetID="10" presetClass="entr" presetSubtype="0" fill="hold"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500"/>
                                        <p:tgtEl>
                                          <p:spTgt spid="10"/>
                                        </p:tgtEl>
                                      </p:cBhvr>
                                    </p:animEffect>
                                  </p:childTnLst>
                                </p:cTn>
                              </p:par>
                              <p:par>
                                <p:cTn id="25" presetID="10" presetClass="entr" presetSubtype="0" fill="hold"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5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5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5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5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2">
                                            <p:txEl>
                                              <p:pRg st="3" end="3"/>
                                            </p:txEl>
                                          </p:spTgt>
                                        </p:tgtEl>
                                        <p:attrNameLst>
                                          <p:attrName>style.visibility</p:attrName>
                                        </p:attrNameLst>
                                      </p:cBhvr>
                                      <p:to>
                                        <p:strVal val="visible"/>
                                      </p:to>
                                    </p:set>
                                    <p:animEffect transition="in" filter="fade">
                                      <p:cBhvr>
                                        <p:cTn id="41" dur="500"/>
                                        <p:tgtEl>
                                          <p:spTgt spid="2">
                                            <p:txEl>
                                              <p:pRg st="3" end="3"/>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2">
                                            <p:txEl>
                                              <p:pRg st="6" end="6"/>
                                            </p:txEl>
                                          </p:spTgt>
                                        </p:tgtEl>
                                        <p:attrNameLst>
                                          <p:attrName>style.visibility</p:attrName>
                                        </p:attrNameLst>
                                      </p:cBhvr>
                                      <p:to>
                                        <p:strVal val="visible"/>
                                      </p:to>
                                    </p:set>
                                    <p:animEffect transition="in" filter="fade">
                                      <p:cBhvr>
                                        <p:cTn id="46" dur="500"/>
                                        <p:tgtEl>
                                          <p:spTgt spid="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7" grpId="0" animBg="1"/>
      <p:bldP spid="8" grpId="0" animBg="1"/>
      <p:bldP spid="12" grpId="0"/>
      <p:bldP spid="13" grpId="0"/>
      <p:bldP spid="1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670344E-E5EE-DAC2-8E21-1241C20A14BB}"/>
              </a:ext>
            </a:extLst>
          </p:cNvPr>
          <p:cNvSpPr>
            <a:spLocks noGrp="1"/>
          </p:cNvSpPr>
          <p:nvPr>
            <p:ph idx="1"/>
          </p:nvPr>
        </p:nvSpPr>
        <p:spPr/>
        <p:txBody>
          <a:bodyPr/>
          <a:lstStyle/>
          <a:p>
            <a:pPr>
              <a:buFont typeface="Wingdings" panose="05000000000000000000" pitchFamily="2" charset="2"/>
              <a:buChar char="v"/>
            </a:pPr>
            <a:r>
              <a:rPr lang="en-US" b="1" u="sng" dirty="0"/>
              <a:t>Strategies for Managing Interfacing Issues</a:t>
            </a:r>
          </a:p>
          <a:p>
            <a:pPr lvl="1">
              <a:buFont typeface="Wingdings" panose="05000000000000000000" pitchFamily="2" charset="2"/>
              <a:buChar char="§"/>
            </a:pPr>
            <a:r>
              <a:rPr lang="en-GB" dirty="0"/>
              <a:t>Some groups try to establish internal interfacing standards as it is hard to establish standards across the industry due to different designs’ power, performance and protocol needs.</a:t>
            </a:r>
          </a:p>
          <a:p>
            <a:pPr lvl="1">
              <a:buFont typeface="Wingdings" panose="05000000000000000000" pitchFamily="2" charset="2"/>
              <a:buChar char="§"/>
            </a:pPr>
            <a:r>
              <a:rPr lang="en-GB" dirty="0"/>
              <a:t>Some steps are considered to mitigate the problem:</a:t>
            </a:r>
          </a:p>
          <a:p>
            <a:pPr lvl="2"/>
            <a:r>
              <a:rPr lang="en-GB" dirty="0"/>
              <a:t>Plan the interfaces of external IPs and analyze them</a:t>
            </a:r>
          </a:p>
          <a:p>
            <a:pPr lvl="2"/>
            <a:r>
              <a:rPr lang="en-GB" dirty="0"/>
              <a:t>Keep all the interfaces simple (e.g. interfaces include data read and ready for data signals)</a:t>
            </a:r>
          </a:p>
          <a:p>
            <a:pPr lvl="2"/>
            <a:r>
              <a:rPr lang="en-GB" dirty="0"/>
              <a:t>Standardize on industry-standard buses (</a:t>
            </a:r>
            <a:r>
              <a:rPr lang="en-US" dirty="0"/>
              <a:t>AMBA, Avalon, </a:t>
            </a:r>
            <a:r>
              <a:rPr lang="en-US" dirty="0" err="1"/>
              <a:t>CoreConnect</a:t>
            </a:r>
            <a:r>
              <a:rPr lang="en-US" dirty="0"/>
              <a:t>, </a:t>
            </a:r>
            <a:r>
              <a:rPr lang="en-US" dirty="0" err="1"/>
              <a:t>STBus</a:t>
            </a:r>
            <a:r>
              <a:rPr lang="en-US" dirty="0"/>
              <a:t>, Wishbone)</a:t>
            </a:r>
          </a:p>
          <a:p>
            <a:pPr lvl="2"/>
            <a:r>
              <a:rPr lang="en-US" dirty="0"/>
              <a:t>Large investment on the successfully implemented and previously interfaced IPs.</a:t>
            </a:r>
          </a:p>
          <a:p>
            <a:pPr lvl="2"/>
            <a:r>
              <a:rPr lang="en-US" dirty="0"/>
              <a:t>Document the experience of using IPs. </a:t>
            </a:r>
            <a:endParaRPr lang="en-GB" dirty="0"/>
          </a:p>
        </p:txBody>
      </p:sp>
      <p:sp>
        <p:nvSpPr>
          <p:cNvPr id="3" name="Title 2">
            <a:extLst>
              <a:ext uri="{FF2B5EF4-FFF2-40B4-BE49-F238E27FC236}">
                <a16:creationId xmlns:a16="http://schemas.microsoft.com/office/drawing/2014/main" id="{8FFEB0DE-3033-971E-7AD9-2D8E19B51216}"/>
              </a:ext>
            </a:extLst>
          </p:cNvPr>
          <p:cNvSpPr>
            <a:spLocks noGrp="1"/>
          </p:cNvSpPr>
          <p:nvPr>
            <p:ph type="title"/>
          </p:nvPr>
        </p:nvSpPr>
        <p:spPr/>
        <p:txBody>
          <a:bodyPr/>
          <a:lstStyle/>
          <a:p>
            <a:r>
              <a:rPr lang="en-US" dirty="0"/>
              <a:t>2- Integrating Macros</a:t>
            </a:r>
            <a:endParaRPr lang="en-GB" dirty="0"/>
          </a:p>
        </p:txBody>
      </p:sp>
      <p:sp>
        <p:nvSpPr>
          <p:cNvPr id="4" name="Footer Placeholder 3">
            <a:extLst>
              <a:ext uri="{FF2B5EF4-FFF2-40B4-BE49-F238E27FC236}">
                <a16:creationId xmlns:a16="http://schemas.microsoft.com/office/drawing/2014/main" id="{4C864C8E-7E56-58D8-CD78-BF0FD0B8D083}"/>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95528790-4BBB-A7EA-B85F-1147BE76A459}"/>
              </a:ext>
            </a:extLst>
          </p:cNvPr>
          <p:cNvSpPr>
            <a:spLocks noGrp="1"/>
          </p:cNvSpPr>
          <p:nvPr>
            <p:ph type="sldNum" sz="quarter" idx="4"/>
          </p:nvPr>
        </p:nvSpPr>
        <p:spPr/>
        <p:txBody>
          <a:bodyPr/>
          <a:lstStyle/>
          <a:p>
            <a:pPr>
              <a:defRPr/>
            </a:pPr>
            <a:fld id="{A9CE67A1-BA7F-A74E-B5D7-615746DEEC2B}" type="slidenum">
              <a:rPr lang="en-US" smtClean="0"/>
              <a:pPr>
                <a:defRPr/>
              </a:pPr>
              <a:t>6</a:t>
            </a:fld>
            <a:endParaRPr lang="en-US" baseline="-11000" dirty="0"/>
          </a:p>
        </p:txBody>
      </p:sp>
      <p:sp>
        <p:nvSpPr>
          <p:cNvPr id="6" name="Date Placeholder 5">
            <a:extLst>
              <a:ext uri="{FF2B5EF4-FFF2-40B4-BE49-F238E27FC236}">
                <a16:creationId xmlns:a16="http://schemas.microsoft.com/office/drawing/2014/main" id="{A3D1A34D-60AC-FFA1-9CE5-7B418A42F0A0}"/>
              </a:ext>
            </a:extLst>
          </p:cNvPr>
          <p:cNvSpPr>
            <a:spLocks noGrp="1"/>
          </p:cNvSpPr>
          <p:nvPr>
            <p:ph type="dt" sz="half" idx="2"/>
          </p:nvPr>
        </p:nvSpPr>
        <p:spPr/>
        <p:txBody>
          <a:bodyPr/>
          <a:lstStyle/>
          <a:p>
            <a:fld id="{EAFD7BB1-AB7F-4336-A8B3-6627E5D36FE4}" type="datetime3">
              <a:rPr lang="en-US" smtClean="0"/>
              <a:t>12 November 2022</a:t>
            </a:fld>
            <a:endParaRPr lang="en-US" dirty="0"/>
          </a:p>
        </p:txBody>
      </p:sp>
    </p:spTree>
    <p:extLst>
      <p:ext uri="{BB962C8B-B14F-4D97-AF65-F5344CB8AC3E}">
        <p14:creationId xmlns:p14="http://schemas.microsoft.com/office/powerpoint/2010/main" val="22031472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fade">
                                      <p:cBhvr>
                                        <p:cTn id="7" dur="500"/>
                                        <p:tgtEl>
                                          <p:spTgt spid="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fade">
                                      <p:cBhvr>
                                        <p:cTn id="12" dur="500"/>
                                        <p:tgtEl>
                                          <p:spTgt spid="2">
                                            <p:txEl>
                                              <p:pRg st="2" end="2"/>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animEffect transition="in" filter="fade">
                                      <p:cBhvr>
                                        <p:cTn id="15" dur="500"/>
                                        <p:tgtEl>
                                          <p:spTgt spid="2">
                                            <p:txEl>
                                              <p:pRg st="3" end="3"/>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2">
                                            <p:txEl>
                                              <p:pRg st="4" end="4"/>
                                            </p:txEl>
                                          </p:spTgt>
                                        </p:tgtEl>
                                        <p:attrNameLst>
                                          <p:attrName>style.visibility</p:attrName>
                                        </p:attrNameLst>
                                      </p:cBhvr>
                                      <p:to>
                                        <p:strVal val="visible"/>
                                      </p:to>
                                    </p:set>
                                    <p:animEffect transition="in" filter="fade">
                                      <p:cBhvr>
                                        <p:cTn id="18" dur="500"/>
                                        <p:tgtEl>
                                          <p:spTgt spid="2">
                                            <p:txEl>
                                              <p:pRg st="4" end="4"/>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2">
                                            <p:txEl>
                                              <p:pRg st="5" end="5"/>
                                            </p:txEl>
                                          </p:spTgt>
                                        </p:tgtEl>
                                        <p:attrNameLst>
                                          <p:attrName>style.visibility</p:attrName>
                                        </p:attrNameLst>
                                      </p:cBhvr>
                                      <p:to>
                                        <p:strVal val="visible"/>
                                      </p:to>
                                    </p:set>
                                    <p:animEffect transition="in" filter="fade">
                                      <p:cBhvr>
                                        <p:cTn id="21" dur="500"/>
                                        <p:tgtEl>
                                          <p:spTgt spid="2">
                                            <p:txEl>
                                              <p:pRg st="5" end="5"/>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2">
                                            <p:txEl>
                                              <p:pRg st="6" end="6"/>
                                            </p:txEl>
                                          </p:spTgt>
                                        </p:tgtEl>
                                        <p:attrNameLst>
                                          <p:attrName>style.visibility</p:attrName>
                                        </p:attrNameLst>
                                      </p:cBhvr>
                                      <p:to>
                                        <p:strVal val="visible"/>
                                      </p:to>
                                    </p:set>
                                    <p:animEffect transition="in" filter="fade">
                                      <p:cBhvr>
                                        <p:cTn id="24" dur="500"/>
                                        <p:tgtEl>
                                          <p:spTgt spid="2">
                                            <p:txEl>
                                              <p:pRg st="6" end="6"/>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2">
                                            <p:txEl>
                                              <p:pRg st="7" end="7"/>
                                            </p:txEl>
                                          </p:spTgt>
                                        </p:tgtEl>
                                        <p:attrNameLst>
                                          <p:attrName>style.visibility</p:attrName>
                                        </p:attrNameLst>
                                      </p:cBhvr>
                                      <p:to>
                                        <p:strVal val="visible"/>
                                      </p:to>
                                    </p:set>
                                    <p:animEffect transition="in" filter="fade">
                                      <p:cBhvr>
                                        <p:cTn id="27" dur="500"/>
                                        <p:tgtEl>
                                          <p:spTgt spid="2">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9C73E96-91EE-527C-D345-D1B5068087FC}"/>
              </a:ext>
            </a:extLst>
          </p:cNvPr>
          <p:cNvSpPr>
            <a:spLocks noGrp="1"/>
          </p:cNvSpPr>
          <p:nvPr>
            <p:ph idx="1"/>
          </p:nvPr>
        </p:nvSpPr>
        <p:spPr/>
        <p:txBody>
          <a:bodyPr/>
          <a:lstStyle/>
          <a:p>
            <a:pPr marL="228600" marR="0" lvl="0" indent="-228600" algn="l" defTabSz="457200" rtl="0" eaLnBrk="1" fontAlgn="auto" latinLnBrk="0" hangingPunct="1">
              <a:lnSpc>
                <a:spcPct val="90000"/>
              </a:lnSpc>
              <a:spcBef>
                <a:spcPts val="1000"/>
              </a:spcBef>
              <a:spcAft>
                <a:spcPts val="400"/>
              </a:spcAft>
              <a:buClr>
                <a:srgbClr val="B1B3B3"/>
              </a:buClr>
              <a:buSzPct val="65000"/>
              <a:buFont typeface="Wingdings" panose="05000000000000000000" pitchFamily="2" charset="2"/>
              <a:buChar char="v"/>
              <a:tabLst/>
              <a:defRPr/>
            </a:pPr>
            <a:r>
              <a:rPr kumimoji="0" lang="en-US" sz="2600" b="1" i="0" u="sng" strike="noStrike" kern="1200" cap="none" spc="0" normalizeH="0" baseline="0" noProof="0" dirty="0">
                <a:ln>
                  <a:noFill/>
                </a:ln>
                <a:solidFill>
                  <a:srgbClr val="000000"/>
                </a:solidFill>
                <a:effectLst/>
                <a:uLnTx/>
                <a:uFillTx/>
                <a:latin typeface="Barlow" pitchFamily="2" charset="77"/>
                <a:ea typeface="+mn-ea"/>
                <a:cs typeface="+mn-cs"/>
              </a:rPr>
              <a:t>Interfacing Hard Macros</a:t>
            </a:r>
          </a:p>
          <a:p>
            <a:pPr lvl="1">
              <a:spcBef>
                <a:spcPts val="1000"/>
              </a:spcBef>
              <a:buClr>
                <a:srgbClr val="B1B3B3"/>
              </a:buClr>
              <a:buSzPct val="65000"/>
              <a:buFont typeface="Wingdings" panose="05000000000000000000" pitchFamily="2" charset="2"/>
              <a:buChar char="§"/>
              <a:defRPr/>
            </a:pPr>
            <a:r>
              <a:rPr lang="en-US" dirty="0"/>
              <a:t>Power, clock tree routing and scan insertions are done during chip-level integration for soft macros. This ensures consistency and compatibility. But for hard macros, these are done during macro design. Thus, using it should be very well planned as follows:</a:t>
            </a:r>
          </a:p>
          <a:p>
            <a:pPr lvl="2">
              <a:spcBef>
                <a:spcPts val="1000"/>
              </a:spcBef>
              <a:buClr>
                <a:srgbClr val="B1B3B3"/>
              </a:buClr>
              <a:buSzPct val="65000"/>
              <a:defRPr/>
            </a:pPr>
            <a:r>
              <a:rPr lang="en-US" dirty="0"/>
              <a:t>Power and ground should be provided appropriately to the macro</a:t>
            </a:r>
          </a:p>
          <a:p>
            <a:pPr lvl="2">
              <a:spcBef>
                <a:spcPts val="1000"/>
              </a:spcBef>
              <a:buClr>
                <a:srgbClr val="B1B3B3"/>
              </a:buClr>
              <a:buSzPct val="65000"/>
              <a:defRPr/>
            </a:pPr>
            <a:r>
              <a:rPr lang="en-US" dirty="0"/>
              <a:t>Integrating testing structures into the overall chip design to facilitate debugging of the macro.</a:t>
            </a:r>
          </a:p>
          <a:p>
            <a:pPr lvl="2">
              <a:spcBef>
                <a:spcPts val="1000"/>
              </a:spcBef>
              <a:buClr>
                <a:srgbClr val="B1B3B3"/>
              </a:buClr>
              <a:buSzPct val="65000"/>
              <a:defRPr/>
            </a:pPr>
            <a:r>
              <a:rPr lang="en-US" dirty="0"/>
              <a:t>Considering the internal clock tree of the hard macro.</a:t>
            </a:r>
          </a:p>
          <a:p>
            <a:pPr lvl="1">
              <a:spcBef>
                <a:spcPts val="1000"/>
              </a:spcBef>
              <a:buClr>
                <a:srgbClr val="B1B3B3"/>
              </a:buClr>
              <a:buSzPct val="65000"/>
              <a:defRPr/>
            </a:pPr>
            <a:r>
              <a:rPr lang="en-US" u="sng" dirty="0"/>
              <a:t>Guideline</a:t>
            </a:r>
            <a:r>
              <a:rPr lang="en-US" dirty="0"/>
              <a:t> – Hard macro’s clock pin should be separate (although clock source could be the same) to allow clock delay tuning and matching.</a:t>
            </a:r>
          </a:p>
          <a:p>
            <a:pPr marL="228600" lvl="1" indent="0">
              <a:spcBef>
                <a:spcPts val="1000"/>
              </a:spcBef>
              <a:buClr>
                <a:srgbClr val="B1B3B3"/>
              </a:buClr>
              <a:buSzPct val="65000"/>
              <a:buNone/>
              <a:defRPr/>
            </a:pPr>
            <a:endParaRPr lang="en-US" u="sng" dirty="0"/>
          </a:p>
          <a:p>
            <a:pPr marL="228600" lvl="1" indent="0">
              <a:spcBef>
                <a:spcPts val="1000"/>
              </a:spcBef>
              <a:buClr>
                <a:srgbClr val="B1B3B3"/>
              </a:buClr>
              <a:buSzPct val="65000"/>
              <a:buNone/>
              <a:defRPr/>
            </a:pPr>
            <a:r>
              <a:rPr lang="en-US" dirty="0"/>
              <a:t>How to select external macros?..</a:t>
            </a:r>
            <a:endParaRPr kumimoji="0" lang="en-US" i="0" strike="noStrike" kern="1200" cap="none" spc="0" normalizeH="0" baseline="0" noProof="0" dirty="0">
              <a:ln>
                <a:noFill/>
              </a:ln>
              <a:solidFill>
                <a:srgbClr val="000000"/>
              </a:solidFill>
              <a:effectLst/>
              <a:uLnTx/>
              <a:uFillTx/>
              <a:latin typeface="Barlow" pitchFamily="2" charset="77"/>
              <a:ea typeface="+mn-ea"/>
              <a:cs typeface="+mn-cs"/>
            </a:endParaRPr>
          </a:p>
          <a:p>
            <a:endParaRPr lang="en-GB" dirty="0"/>
          </a:p>
        </p:txBody>
      </p:sp>
      <p:sp>
        <p:nvSpPr>
          <p:cNvPr id="3" name="Title 2">
            <a:extLst>
              <a:ext uri="{FF2B5EF4-FFF2-40B4-BE49-F238E27FC236}">
                <a16:creationId xmlns:a16="http://schemas.microsoft.com/office/drawing/2014/main" id="{7C0D4AB1-32C6-A18E-3510-A7925BD72096}"/>
              </a:ext>
            </a:extLst>
          </p:cNvPr>
          <p:cNvSpPr>
            <a:spLocks noGrp="1"/>
          </p:cNvSpPr>
          <p:nvPr>
            <p:ph type="title"/>
          </p:nvPr>
        </p:nvSpPr>
        <p:spPr/>
        <p:txBody>
          <a:bodyPr/>
          <a:lstStyle/>
          <a:p>
            <a:r>
              <a:rPr lang="en-US" dirty="0"/>
              <a:t>2- Integrating Macros</a:t>
            </a:r>
            <a:endParaRPr lang="en-GB" dirty="0"/>
          </a:p>
        </p:txBody>
      </p:sp>
      <p:sp>
        <p:nvSpPr>
          <p:cNvPr id="4" name="Footer Placeholder 3">
            <a:extLst>
              <a:ext uri="{FF2B5EF4-FFF2-40B4-BE49-F238E27FC236}">
                <a16:creationId xmlns:a16="http://schemas.microsoft.com/office/drawing/2014/main" id="{13619B7F-B9A6-0555-9835-273449AFDCB9}"/>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76663CAD-2AE3-0549-D333-3B11C7703D0D}"/>
              </a:ext>
            </a:extLst>
          </p:cNvPr>
          <p:cNvSpPr>
            <a:spLocks noGrp="1"/>
          </p:cNvSpPr>
          <p:nvPr>
            <p:ph type="sldNum" sz="quarter" idx="4"/>
          </p:nvPr>
        </p:nvSpPr>
        <p:spPr/>
        <p:txBody>
          <a:bodyPr/>
          <a:lstStyle/>
          <a:p>
            <a:pPr>
              <a:defRPr/>
            </a:pPr>
            <a:fld id="{A9CE67A1-BA7F-A74E-B5D7-615746DEEC2B}" type="slidenum">
              <a:rPr lang="en-US" smtClean="0"/>
              <a:pPr>
                <a:defRPr/>
              </a:pPr>
              <a:t>7</a:t>
            </a:fld>
            <a:endParaRPr lang="en-US" baseline="-11000" dirty="0"/>
          </a:p>
        </p:txBody>
      </p:sp>
      <p:sp>
        <p:nvSpPr>
          <p:cNvPr id="6" name="Date Placeholder 5">
            <a:extLst>
              <a:ext uri="{FF2B5EF4-FFF2-40B4-BE49-F238E27FC236}">
                <a16:creationId xmlns:a16="http://schemas.microsoft.com/office/drawing/2014/main" id="{B41DB480-F9FF-8B2B-E1BC-BFF62A888FDA}"/>
              </a:ext>
            </a:extLst>
          </p:cNvPr>
          <p:cNvSpPr>
            <a:spLocks noGrp="1"/>
          </p:cNvSpPr>
          <p:nvPr>
            <p:ph type="dt" sz="half" idx="2"/>
          </p:nvPr>
        </p:nvSpPr>
        <p:spPr/>
        <p:txBody>
          <a:bodyPr/>
          <a:lstStyle/>
          <a:p>
            <a:fld id="{EAFD7BB1-AB7F-4336-A8B3-6627E5D36FE4}" type="datetime3">
              <a:rPr lang="en-US" smtClean="0"/>
              <a:t>12 November 2022</a:t>
            </a:fld>
            <a:endParaRPr lang="en-US" dirty="0"/>
          </a:p>
        </p:txBody>
      </p:sp>
    </p:spTree>
    <p:extLst>
      <p:ext uri="{BB962C8B-B14F-4D97-AF65-F5344CB8AC3E}">
        <p14:creationId xmlns:p14="http://schemas.microsoft.com/office/powerpoint/2010/main" val="3878398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fade">
                                      <p:cBhvr>
                                        <p:cTn id="7" dur="500"/>
                                        <p:tgtEl>
                                          <p:spTgt spid="2">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
                                            <p:txEl>
                                              <p:pRg st="2" end="2"/>
                                            </p:txEl>
                                          </p:spTgt>
                                        </p:tgtEl>
                                        <p:attrNameLst>
                                          <p:attrName>style.visibility</p:attrName>
                                        </p:attrNameLst>
                                      </p:cBhvr>
                                      <p:to>
                                        <p:strVal val="visible"/>
                                      </p:to>
                                    </p:set>
                                    <p:animEffect transition="in" filter="fade">
                                      <p:cBhvr>
                                        <p:cTn id="10" dur="500"/>
                                        <p:tgtEl>
                                          <p:spTgt spid="2">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2">
                                            <p:txEl>
                                              <p:pRg st="3" end="3"/>
                                            </p:txEl>
                                          </p:spTgt>
                                        </p:tgtEl>
                                        <p:attrNameLst>
                                          <p:attrName>style.visibility</p:attrName>
                                        </p:attrNameLst>
                                      </p:cBhvr>
                                      <p:to>
                                        <p:strVal val="visible"/>
                                      </p:to>
                                    </p:set>
                                    <p:animEffect transition="in" filter="fade">
                                      <p:cBhvr>
                                        <p:cTn id="13" dur="500"/>
                                        <p:tgtEl>
                                          <p:spTgt spid="2">
                                            <p:txEl>
                                              <p:pRg st="3" end="3"/>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2">
                                            <p:txEl>
                                              <p:pRg st="4" end="4"/>
                                            </p:txEl>
                                          </p:spTgt>
                                        </p:tgtEl>
                                        <p:attrNameLst>
                                          <p:attrName>style.visibility</p:attrName>
                                        </p:attrNameLst>
                                      </p:cBhvr>
                                      <p:to>
                                        <p:strVal val="visible"/>
                                      </p:to>
                                    </p:set>
                                    <p:animEffect transition="in" filter="fade">
                                      <p:cBhvr>
                                        <p:cTn id="16" dur="500"/>
                                        <p:tgtEl>
                                          <p:spTgt spid="2">
                                            <p:txEl>
                                              <p:pRg st="4" end="4"/>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2">
                                            <p:txEl>
                                              <p:pRg st="5" end="5"/>
                                            </p:txEl>
                                          </p:spTgt>
                                        </p:tgtEl>
                                        <p:attrNameLst>
                                          <p:attrName>style.visibility</p:attrName>
                                        </p:attrNameLst>
                                      </p:cBhvr>
                                      <p:to>
                                        <p:strVal val="visible"/>
                                      </p:to>
                                    </p:set>
                                    <p:animEffect transition="in" filter="fade">
                                      <p:cBhvr>
                                        <p:cTn id="19" dur="500"/>
                                        <p:tgtEl>
                                          <p:spTgt spid="2">
                                            <p:txEl>
                                              <p:pRg st="5" end="5"/>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2">
                                            <p:txEl>
                                              <p:pRg st="7" end="7"/>
                                            </p:txEl>
                                          </p:spTgt>
                                        </p:tgtEl>
                                        <p:attrNameLst>
                                          <p:attrName>style.visibility</p:attrName>
                                        </p:attrNameLst>
                                      </p:cBhvr>
                                      <p:to>
                                        <p:strVal val="visible"/>
                                      </p:to>
                                    </p:set>
                                    <p:animEffect transition="in" filter="fade">
                                      <p:cBhvr>
                                        <p:cTn id="24" dur="500"/>
                                        <p:tgtEl>
                                          <p:spTgt spid="2">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1DDE7A6-3A01-7BA7-2534-1875F05B365C}"/>
              </a:ext>
            </a:extLst>
          </p:cNvPr>
          <p:cNvSpPr>
            <a:spLocks noGrp="1"/>
          </p:cNvSpPr>
          <p:nvPr>
            <p:ph idx="1"/>
          </p:nvPr>
        </p:nvSpPr>
        <p:spPr/>
        <p:txBody>
          <a:bodyPr/>
          <a:lstStyle/>
          <a:p>
            <a:pPr>
              <a:buFont typeface="Wingdings" panose="05000000000000000000" pitchFamily="2" charset="2"/>
              <a:buChar char="v"/>
            </a:pPr>
            <a:r>
              <a:rPr lang="en-US" b="1" u="sng" dirty="0"/>
              <a:t>Hard macro selection</a:t>
            </a:r>
          </a:p>
          <a:p>
            <a:pPr lvl="1">
              <a:buFont typeface="Wingdings" panose="05000000000000000000" pitchFamily="2" charset="2"/>
              <a:buChar char="§"/>
            </a:pPr>
            <a:r>
              <a:rPr lang="en-GB" dirty="0"/>
              <a:t>Well documented macro that contains functionality, interfacing, timing, interfacing and verification details.</a:t>
            </a:r>
          </a:p>
          <a:p>
            <a:pPr lvl="1">
              <a:buFont typeface="Wingdings" panose="05000000000000000000" pitchFamily="2" charset="2"/>
              <a:buChar char="§"/>
            </a:pPr>
            <a:r>
              <a:rPr lang="en-GB" dirty="0"/>
              <a:t>Ensure completeness of design and </a:t>
            </a:r>
            <a:r>
              <a:rPr lang="en-GB" u="sng" dirty="0"/>
              <a:t>verification environment</a:t>
            </a:r>
            <a:r>
              <a:rPr lang="en-GB" dirty="0"/>
              <a:t>.</a:t>
            </a:r>
          </a:p>
          <a:p>
            <a:pPr lvl="1">
              <a:buFont typeface="Wingdings" panose="05000000000000000000" pitchFamily="2" charset="2"/>
              <a:buChar char="§"/>
            </a:pPr>
            <a:r>
              <a:rPr lang="en-GB" dirty="0"/>
              <a:t>Design should be silicon proven  to ensure robustness of the design.</a:t>
            </a:r>
          </a:p>
          <a:p>
            <a:pPr lvl="1">
              <a:buFont typeface="Wingdings" panose="05000000000000000000" pitchFamily="2" charset="2"/>
              <a:buChar char="§"/>
            </a:pPr>
            <a:r>
              <a:rPr lang="en-GB" dirty="0"/>
              <a:t>Physical design details to avoid blocking of routing and producing unacceptable delays.</a:t>
            </a:r>
          </a:p>
          <a:p>
            <a:pPr>
              <a:buFont typeface="Wingdings" panose="05000000000000000000" pitchFamily="2" charset="2"/>
              <a:buChar char="v"/>
            </a:pPr>
            <a:r>
              <a:rPr lang="en-GB" b="1" u="sng" dirty="0"/>
              <a:t>Soft macro selection</a:t>
            </a:r>
          </a:p>
          <a:p>
            <a:pPr lvl="1">
              <a:buFont typeface="Wingdings" panose="05000000000000000000" pitchFamily="2" charset="2"/>
              <a:buChar char="§"/>
            </a:pPr>
            <a:r>
              <a:rPr lang="en-GB" dirty="0"/>
              <a:t>Well documented macro that contains functionality, interfacing, timing, how to configure and verification details.</a:t>
            </a:r>
          </a:p>
          <a:p>
            <a:pPr lvl="1">
              <a:buFont typeface="Wingdings" panose="05000000000000000000" pitchFamily="2" charset="2"/>
              <a:buChar char="§"/>
            </a:pPr>
            <a:r>
              <a:rPr lang="en-GB" dirty="0"/>
              <a:t>Robustness of verification environment.</a:t>
            </a:r>
          </a:p>
          <a:p>
            <a:pPr lvl="1">
              <a:buFont typeface="Wingdings" panose="05000000000000000000" pitchFamily="2" charset="2"/>
              <a:buChar char="§"/>
            </a:pPr>
            <a:r>
              <a:rPr lang="en-GB" dirty="0"/>
              <a:t>Robustness of design by proving in silicon.</a:t>
            </a:r>
          </a:p>
          <a:p>
            <a:pPr lvl="1">
              <a:buFont typeface="Wingdings" panose="05000000000000000000" pitchFamily="2" charset="2"/>
              <a:buChar char="§"/>
            </a:pPr>
            <a:r>
              <a:rPr lang="en-GB" dirty="0"/>
              <a:t>Ease of use and interfacing to the rest design.</a:t>
            </a:r>
          </a:p>
          <a:p>
            <a:pPr lvl="1">
              <a:buFont typeface="Wingdings" panose="05000000000000000000" pitchFamily="2" charset="2"/>
              <a:buChar char="§"/>
            </a:pPr>
            <a:endParaRPr lang="en-GB" dirty="0"/>
          </a:p>
        </p:txBody>
      </p:sp>
      <p:sp>
        <p:nvSpPr>
          <p:cNvPr id="3" name="Title 2">
            <a:extLst>
              <a:ext uri="{FF2B5EF4-FFF2-40B4-BE49-F238E27FC236}">
                <a16:creationId xmlns:a16="http://schemas.microsoft.com/office/drawing/2014/main" id="{D3358F8F-0ED7-01B9-8252-1534BF9C199F}"/>
              </a:ext>
            </a:extLst>
          </p:cNvPr>
          <p:cNvSpPr>
            <a:spLocks noGrp="1"/>
          </p:cNvSpPr>
          <p:nvPr>
            <p:ph type="title"/>
          </p:nvPr>
        </p:nvSpPr>
        <p:spPr/>
        <p:txBody>
          <a:bodyPr/>
          <a:lstStyle/>
          <a:p>
            <a:r>
              <a:rPr lang="en-US" dirty="0"/>
              <a:t>3- Selecting IP</a:t>
            </a:r>
            <a:endParaRPr lang="en-GB" dirty="0"/>
          </a:p>
        </p:txBody>
      </p:sp>
      <p:sp>
        <p:nvSpPr>
          <p:cNvPr id="4" name="Footer Placeholder 3">
            <a:extLst>
              <a:ext uri="{FF2B5EF4-FFF2-40B4-BE49-F238E27FC236}">
                <a16:creationId xmlns:a16="http://schemas.microsoft.com/office/drawing/2014/main" id="{807204AB-0204-CA97-27B8-29E94E2D6B4F}"/>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735A6F6C-F3E4-EE22-AF65-0E60D420278E}"/>
              </a:ext>
            </a:extLst>
          </p:cNvPr>
          <p:cNvSpPr>
            <a:spLocks noGrp="1"/>
          </p:cNvSpPr>
          <p:nvPr>
            <p:ph type="sldNum" sz="quarter" idx="4"/>
          </p:nvPr>
        </p:nvSpPr>
        <p:spPr/>
        <p:txBody>
          <a:bodyPr/>
          <a:lstStyle/>
          <a:p>
            <a:pPr>
              <a:defRPr/>
            </a:pPr>
            <a:fld id="{A9CE67A1-BA7F-A74E-B5D7-615746DEEC2B}" type="slidenum">
              <a:rPr lang="en-US" smtClean="0"/>
              <a:pPr>
                <a:defRPr/>
              </a:pPr>
              <a:t>8</a:t>
            </a:fld>
            <a:endParaRPr lang="en-US" baseline="-11000" dirty="0"/>
          </a:p>
        </p:txBody>
      </p:sp>
      <p:sp>
        <p:nvSpPr>
          <p:cNvPr id="6" name="Date Placeholder 5">
            <a:extLst>
              <a:ext uri="{FF2B5EF4-FFF2-40B4-BE49-F238E27FC236}">
                <a16:creationId xmlns:a16="http://schemas.microsoft.com/office/drawing/2014/main" id="{BB86BDE3-3000-0DE9-73F7-F6DE17C49E3E}"/>
              </a:ext>
            </a:extLst>
          </p:cNvPr>
          <p:cNvSpPr>
            <a:spLocks noGrp="1"/>
          </p:cNvSpPr>
          <p:nvPr>
            <p:ph type="dt" sz="half" idx="2"/>
          </p:nvPr>
        </p:nvSpPr>
        <p:spPr/>
        <p:txBody>
          <a:bodyPr/>
          <a:lstStyle/>
          <a:p>
            <a:fld id="{EAFD7BB1-AB7F-4336-A8B3-6627E5D36FE4}" type="datetime3">
              <a:rPr lang="en-US" smtClean="0"/>
              <a:t>12 November 2022</a:t>
            </a:fld>
            <a:endParaRPr lang="en-US" dirty="0"/>
          </a:p>
        </p:txBody>
      </p:sp>
    </p:spTree>
    <p:extLst>
      <p:ext uri="{BB962C8B-B14F-4D97-AF65-F5344CB8AC3E}">
        <p14:creationId xmlns:p14="http://schemas.microsoft.com/office/powerpoint/2010/main" val="2901882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
                                            <p:txEl>
                                              <p:pRg st="1" end="1"/>
                                            </p:txEl>
                                          </p:spTgt>
                                        </p:tgtEl>
                                        <p:attrNameLst>
                                          <p:attrName>style.visibility</p:attrName>
                                        </p:attrNameLst>
                                      </p:cBhvr>
                                      <p:to>
                                        <p:strVal val="visible"/>
                                      </p:to>
                                    </p:set>
                                    <p:animEffect transition="in" filter="fade">
                                      <p:cBhvr>
                                        <p:cTn id="10" dur="500"/>
                                        <p:tgtEl>
                                          <p:spTgt spid="2">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Effect transition="in" filter="fade">
                                      <p:cBhvr>
                                        <p:cTn id="13" dur="500"/>
                                        <p:tgtEl>
                                          <p:spTgt spid="2">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2">
                                            <p:txEl>
                                              <p:pRg st="3" end="3"/>
                                            </p:txEl>
                                          </p:spTgt>
                                        </p:tgtEl>
                                        <p:attrNameLst>
                                          <p:attrName>style.visibility</p:attrName>
                                        </p:attrNameLst>
                                      </p:cBhvr>
                                      <p:to>
                                        <p:strVal val="visible"/>
                                      </p:to>
                                    </p:set>
                                    <p:animEffect transition="in" filter="fade">
                                      <p:cBhvr>
                                        <p:cTn id="16" dur="500"/>
                                        <p:tgtEl>
                                          <p:spTgt spid="2">
                                            <p:txEl>
                                              <p:pRg st="3" end="3"/>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animEffect transition="in" filter="fade">
                                      <p:cBhvr>
                                        <p:cTn id="19" dur="500"/>
                                        <p:tgtEl>
                                          <p:spTgt spid="2">
                                            <p:txEl>
                                              <p:pRg st="4" end="4"/>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2">
                                            <p:txEl>
                                              <p:pRg st="5" end="5"/>
                                            </p:txEl>
                                          </p:spTgt>
                                        </p:tgtEl>
                                        <p:attrNameLst>
                                          <p:attrName>style.visibility</p:attrName>
                                        </p:attrNameLst>
                                      </p:cBhvr>
                                      <p:to>
                                        <p:strVal val="visible"/>
                                      </p:to>
                                    </p:set>
                                    <p:animEffect transition="in" filter="fade">
                                      <p:cBhvr>
                                        <p:cTn id="24" dur="500"/>
                                        <p:tgtEl>
                                          <p:spTgt spid="2">
                                            <p:txEl>
                                              <p:pRg st="5" end="5"/>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2">
                                            <p:txEl>
                                              <p:pRg st="6" end="6"/>
                                            </p:txEl>
                                          </p:spTgt>
                                        </p:tgtEl>
                                        <p:attrNameLst>
                                          <p:attrName>style.visibility</p:attrName>
                                        </p:attrNameLst>
                                      </p:cBhvr>
                                      <p:to>
                                        <p:strVal val="visible"/>
                                      </p:to>
                                    </p:set>
                                    <p:animEffect transition="in" filter="fade">
                                      <p:cBhvr>
                                        <p:cTn id="27" dur="500"/>
                                        <p:tgtEl>
                                          <p:spTgt spid="2">
                                            <p:txEl>
                                              <p:pRg st="6" end="6"/>
                                            </p:txEl>
                                          </p:spTgt>
                                        </p:tgtEl>
                                      </p:cBhvr>
                                    </p:animEffect>
                                  </p:childTnLst>
                                </p:cTn>
                              </p:par>
                              <p:par>
                                <p:cTn id="28" presetID="10" presetClass="entr" presetSubtype="0" fill="hold" nodeType="withEffect">
                                  <p:stCondLst>
                                    <p:cond delay="0"/>
                                  </p:stCondLst>
                                  <p:childTnLst>
                                    <p:set>
                                      <p:cBhvr>
                                        <p:cTn id="29" dur="1" fill="hold">
                                          <p:stCondLst>
                                            <p:cond delay="0"/>
                                          </p:stCondLst>
                                        </p:cTn>
                                        <p:tgtEl>
                                          <p:spTgt spid="2">
                                            <p:txEl>
                                              <p:pRg st="7" end="7"/>
                                            </p:txEl>
                                          </p:spTgt>
                                        </p:tgtEl>
                                        <p:attrNameLst>
                                          <p:attrName>style.visibility</p:attrName>
                                        </p:attrNameLst>
                                      </p:cBhvr>
                                      <p:to>
                                        <p:strVal val="visible"/>
                                      </p:to>
                                    </p:set>
                                    <p:animEffect transition="in" filter="fade">
                                      <p:cBhvr>
                                        <p:cTn id="30" dur="500"/>
                                        <p:tgtEl>
                                          <p:spTgt spid="2">
                                            <p:txEl>
                                              <p:pRg st="7" end="7"/>
                                            </p:txEl>
                                          </p:spTgt>
                                        </p:tgtEl>
                                      </p:cBhvr>
                                    </p:animEffect>
                                  </p:childTnLst>
                                </p:cTn>
                              </p:par>
                              <p:par>
                                <p:cTn id="31" presetID="10" presetClass="entr" presetSubtype="0" fill="hold" nodeType="withEffect">
                                  <p:stCondLst>
                                    <p:cond delay="0"/>
                                  </p:stCondLst>
                                  <p:childTnLst>
                                    <p:set>
                                      <p:cBhvr>
                                        <p:cTn id="32" dur="1" fill="hold">
                                          <p:stCondLst>
                                            <p:cond delay="0"/>
                                          </p:stCondLst>
                                        </p:cTn>
                                        <p:tgtEl>
                                          <p:spTgt spid="2">
                                            <p:txEl>
                                              <p:pRg st="8" end="8"/>
                                            </p:txEl>
                                          </p:spTgt>
                                        </p:tgtEl>
                                        <p:attrNameLst>
                                          <p:attrName>style.visibility</p:attrName>
                                        </p:attrNameLst>
                                      </p:cBhvr>
                                      <p:to>
                                        <p:strVal val="visible"/>
                                      </p:to>
                                    </p:set>
                                    <p:animEffect transition="in" filter="fade">
                                      <p:cBhvr>
                                        <p:cTn id="33" dur="500"/>
                                        <p:tgtEl>
                                          <p:spTgt spid="2">
                                            <p:txEl>
                                              <p:pRg st="8" end="8"/>
                                            </p:txEl>
                                          </p:spTgt>
                                        </p:tgtEl>
                                      </p:cBhvr>
                                    </p:animEffect>
                                  </p:childTnLst>
                                </p:cTn>
                              </p:par>
                              <p:par>
                                <p:cTn id="34" presetID="10" presetClass="entr" presetSubtype="0" fill="hold" nodeType="withEffect">
                                  <p:stCondLst>
                                    <p:cond delay="0"/>
                                  </p:stCondLst>
                                  <p:childTnLst>
                                    <p:set>
                                      <p:cBhvr>
                                        <p:cTn id="35" dur="1" fill="hold">
                                          <p:stCondLst>
                                            <p:cond delay="0"/>
                                          </p:stCondLst>
                                        </p:cTn>
                                        <p:tgtEl>
                                          <p:spTgt spid="2">
                                            <p:txEl>
                                              <p:pRg st="9" end="9"/>
                                            </p:txEl>
                                          </p:spTgt>
                                        </p:tgtEl>
                                        <p:attrNameLst>
                                          <p:attrName>style.visibility</p:attrName>
                                        </p:attrNameLst>
                                      </p:cBhvr>
                                      <p:to>
                                        <p:strVal val="visible"/>
                                      </p:to>
                                    </p:set>
                                    <p:animEffect transition="in" filter="fade">
                                      <p:cBhvr>
                                        <p:cTn id="36" dur="500"/>
                                        <p:tgtEl>
                                          <p:spTgt spid="2">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62DF994-40E1-52FB-47D0-70988E71FAA1}"/>
              </a:ext>
            </a:extLst>
          </p:cNvPr>
          <p:cNvSpPr>
            <a:spLocks noGrp="1"/>
          </p:cNvSpPr>
          <p:nvPr>
            <p:ph idx="1"/>
          </p:nvPr>
        </p:nvSpPr>
        <p:spPr/>
        <p:txBody>
          <a:bodyPr/>
          <a:lstStyle/>
          <a:p>
            <a:pPr>
              <a:buFont typeface="Wingdings" panose="05000000000000000000" pitchFamily="2" charset="2"/>
              <a:buChar char="v"/>
            </a:pPr>
            <a:r>
              <a:rPr lang="en-US" b="1" u="sng" dirty="0"/>
              <a:t>Soft macro configuration</a:t>
            </a:r>
          </a:p>
          <a:p>
            <a:pPr lvl="1">
              <a:buFont typeface="Wingdings" panose="05000000000000000000" pitchFamily="2" charset="2"/>
              <a:buChar char="§"/>
            </a:pPr>
            <a:r>
              <a:rPr lang="en-GB" dirty="0"/>
              <a:t>Many soft macros are configurable  setting to generate complete RTL for desired configuration.</a:t>
            </a:r>
          </a:p>
          <a:p>
            <a:pPr lvl="1">
              <a:buFont typeface="Wingdings" panose="05000000000000000000" pitchFamily="2" charset="2"/>
              <a:buChar char="§"/>
            </a:pPr>
            <a:r>
              <a:rPr lang="en-GB" dirty="0"/>
              <a:t>Some IP vendors provide documents or configuration wizards to ensure consistency and correctness for the IP configurations as shown is figure.4.</a:t>
            </a:r>
          </a:p>
          <a:p>
            <a:pPr lvl="1">
              <a:buFont typeface="Wingdings" panose="05000000000000000000" pitchFamily="2" charset="2"/>
              <a:buChar char="§"/>
            </a:pPr>
            <a:endParaRPr lang="en-GB" dirty="0"/>
          </a:p>
          <a:p>
            <a:pPr lvl="1">
              <a:buFont typeface="Wingdings" panose="05000000000000000000" pitchFamily="2" charset="2"/>
              <a:buChar char="§"/>
            </a:pPr>
            <a:endParaRPr lang="en-GB" dirty="0"/>
          </a:p>
          <a:p>
            <a:pPr lvl="1">
              <a:buFont typeface="Wingdings" panose="05000000000000000000" pitchFamily="2" charset="2"/>
              <a:buChar char="§"/>
            </a:pPr>
            <a:endParaRPr lang="en-GB" dirty="0"/>
          </a:p>
          <a:p>
            <a:pPr lvl="1">
              <a:buFont typeface="Wingdings" panose="05000000000000000000" pitchFamily="2" charset="2"/>
              <a:buChar char="§"/>
            </a:pPr>
            <a:endParaRPr lang="en-GB" dirty="0"/>
          </a:p>
          <a:p>
            <a:pPr>
              <a:buFont typeface="Wingdings" panose="05000000000000000000" pitchFamily="2" charset="2"/>
              <a:buChar char="v"/>
            </a:pPr>
            <a:r>
              <a:rPr lang="en-GB" b="1" u="sng" dirty="0"/>
              <a:t>Synthesis of soft macros</a:t>
            </a:r>
          </a:p>
          <a:p>
            <a:pPr lvl="1">
              <a:buFont typeface="Wingdings" panose="05000000000000000000" pitchFamily="2" charset="2"/>
              <a:buChar char="§"/>
            </a:pPr>
            <a:r>
              <a:rPr lang="en-GB" dirty="0"/>
              <a:t>Performing initial synthesis with the target library gives good indication for timing, area and power goals of the design.</a:t>
            </a:r>
          </a:p>
        </p:txBody>
      </p:sp>
      <p:sp>
        <p:nvSpPr>
          <p:cNvPr id="3" name="Title 2">
            <a:extLst>
              <a:ext uri="{FF2B5EF4-FFF2-40B4-BE49-F238E27FC236}">
                <a16:creationId xmlns:a16="http://schemas.microsoft.com/office/drawing/2014/main" id="{3D93ABC7-3013-8591-F9A5-DE1FB9C60115}"/>
              </a:ext>
            </a:extLst>
          </p:cNvPr>
          <p:cNvSpPr>
            <a:spLocks noGrp="1"/>
          </p:cNvSpPr>
          <p:nvPr>
            <p:ph type="title"/>
          </p:nvPr>
        </p:nvSpPr>
        <p:spPr/>
        <p:txBody>
          <a:bodyPr/>
          <a:lstStyle/>
          <a:p>
            <a:r>
              <a:rPr lang="en-US" dirty="0"/>
              <a:t>3- Selecting IP</a:t>
            </a:r>
            <a:endParaRPr lang="en-GB" dirty="0"/>
          </a:p>
        </p:txBody>
      </p:sp>
      <p:sp>
        <p:nvSpPr>
          <p:cNvPr id="4" name="Footer Placeholder 3">
            <a:extLst>
              <a:ext uri="{FF2B5EF4-FFF2-40B4-BE49-F238E27FC236}">
                <a16:creationId xmlns:a16="http://schemas.microsoft.com/office/drawing/2014/main" id="{59641572-66F1-F338-59EC-AC05766EA82D}"/>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DB3683A9-BBB8-A34B-757D-94144B0515F5}"/>
              </a:ext>
            </a:extLst>
          </p:cNvPr>
          <p:cNvSpPr>
            <a:spLocks noGrp="1"/>
          </p:cNvSpPr>
          <p:nvPr>
            <p:ph type="sldNum" sz="quarter" idx="4"/>
          </p:nvPr>
        </p:nvSpPr>
        <p:spPr/>
        <p:txBody>
          <a:bodyPr/>
          <a:lstStyle/>
          <a:p>
            <a:pPr>
              <a:defRPr/>
            </a:pPr>
            <a:fld id="{A9CE67A1-BA7F-A74E-B5D7-615746DEEC2B}" type="slidenum">
              <a:rPr lang="en-US" smtClean="0"/>
              <a:pPr>
                <a:defRPr/>
              </a:pPr>
              <a:t>9</a:t>
            </a:fld>
            <a:endParaRPr lang="en-US" baseline="-11000" dirty="0"/>
          </a:p>
        </p:txBody>
      </p:sp>
      <p:sp>
        <p:nvSpPr>
          <p:cNvPr id="6" name="Date Placeholder 5">
            <a:extLst>
              <a:ext uri="{FF2B5EF4-FFF2-40B4-BE49-F238E27FC236}">
                <a16:creationId xmlns:a16="http://schemas.microsoft.com/office/drawing/2014/main" id="{794D2DBC-4A2F-5B6D-42CF-BEE3EA6ECDFF}"/>
              </a:ext>
            </a:extLst>
          </p:cNvPr>
          <p:cNvSpPr>
            <a:spLocks noGrp="1"/>
          </p:cNvSpPr>
          <p:nvPr>
            <p:ph type="dt" sz="half" idx="2"/>
          </p:nvPr>
        </p:nvSpPr>
        <p:spPr/>
        <p:txBody>
          <a:bodyPr/>
          <a:lstStyle/>
          <a:p>
            <a:fld id="{EAFD7BB1-AB7F-4336-A8B3-6627E5D36FE4}" type="datetime3">
              <a:rPr lang="en-US" smtClean="0"/>
              <a:t>12 November 2022</a:t>
            </a:fld>
            <a:endParaRPr lang="en-US" dirty="0"/>
          </a:p>
        </p:txBody>
      </p:sp>
      <p:pic>
        <p:nvPicPr>
          <p:cNvPr id="1028" name="Picture 4" descr="Configuration Wizard - an overview | ScienceDirect Topics">
            <a:extLst>
              <a:ext uri="{FF2B5EF4-FFF2-40B4-BE49-F238E27FC236}">
                <a16:creationId xmlns:a16="http://schemas.microsoft.com/office/drawing/2014/main" id="{F2F4BEE9-2736-2861-C448-ED6D7CD288E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42384" y="2605134"/>
            <a:ext cx="2709301" cy="1830192"/>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E48F1EFB-07FC-BC3B-A6F2-1875274853B2}"/>
              </a:ext>
            </a:extLst>
          </p:cNvPr>
          <p:cNvSpPr txBox="1"/>
          <p:nvPr/>
        </p:nvSpPr>
        <p:spPr>
          <a:xfrm>
            <a:off x="8965685" y="4453256"/>
            <a:ext cx="1730187" cy="241982"/>
          </a:xfrm>
          <a:prstGeom prst="rect">
            <a:avLst/>
          </a:prstGeom>
          <a:noFill/>
        </p:spPr>
        <p:txBody>
          <a:bodyPr wrap="square" lIns="0" tIns="0" rIns="0" bIns="0" rtlCol="0">
            <a:noAutofit/>
          </a:bodyPr>
          <a:lstStyle/>
          <a:p>
            <a:pPr defTabSz="457200">
              <a:spcBef>
                <a:spcPts val="1000"/>
              </a:spcBef>
              <a:buClr>
                <a:srgbClr val="1E4056"/>
              </a:buClr>
              <a:buSzPct val="75000"/>
            </a:pPr>
            <a:r>
              <a:rPr lang="en-US" sz="1000" dirty="0">
                <a:solidFill>
                  <a:srgbClr val="000000"/>
                </a:solidFill>
              </a:rPr>
              <a:t>Figure.4: Configuration wizard</a:t>
            </a:r>
            <a:endParaRPr lang="en-GB" sz="1000" dirty="0">
              <a:solidFill>
                <a:srgbClr val="000000"/>
              </a:solidFill>
            </a:endParaRPr>
          </a:p>
        </p:txBody>
      </p:sp>
    </p:spTree>
    <p:extLst>
      <p:ext uri="{BB962C8B-B14F-4D97-AF65-F5344CB8AC3E}">
        <p14:creationId xmlns:p14="http://schemas.microsoft.com/office/powerpoint/2010/main" val="34092637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
                                            <p:txEl>
                                              <p:pRg st="1" end="1"/>
                                            </p:txEl>
                                          </p:spTgt>
                                        </p:tgtEl>
                                        <p:attrNameLst>
                                          <p:attrName>style.visibility</p:attrName>
                                        </p:attrNameLst>
                                      </p:cBhvr>
                                      <p:to>
                                        <p:strVal val="visible"/>
                                      </p:to>
                                    </p:set>
                                    <p:animEffect transition="in" filter="fade">
                                      <p:cBhvr>
                                        <p:cTn id="10" dur="500"/>
                                        <p:tgtEl>
                                          <p:spTgt spid="2">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Effect transition="in" filter="fade">
                                      <p:cBhvr>
                                        <p:cTn id="13" dur="500"/>
                                        <p:tgtEl>
                                          <p:spTgt spid="2">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2">
                                            <p:txEl>
                                              <p:pRg st="7" end="7"/>
                                            </p:txEl>
                                          </p:spTgt>
                                        </p:tgtEl>
                                        <p:attrNameLst>
                                          <p:attrName>style.visibility</p:attrName>
                                        </p:attrNameLst>
                                      </p:cBhvr>
                                      <p:to>
                                        <p:strVal val="visible"/>
                                      </p:to>
                                    </p:set>
                                    <p:animEffect transition="in" filter="fade">
                                      <p:cBhvr>
                                        <p:cTn id="18" dur="500"/>
                                        <p:tgtEl>
                                          <p:spTgt spid="2">
                                            <p:txEl>
                                              <p:pRg st="7" end="7"/>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2">
                                            <p:txEl>
                                              <p:pRg st="8" end="8"/>
                                            </p:txEl>
                                          </p:spTgt>
                                        </p:tgtEl>
                                        <p:attrNameLst>
                                          <p:attrName>style.visibility</p:attrName>
                                        </p:attrNameLst>
                                      </p:cBhvr>
                                      <p:to>
                                        <p:strVal val="visible"/>
                                      </p:to>
                                    </p:set>
                                    <p:animEffect transition="in" filter="fade">
                                      <p:cBhvr>
                                        <p:cTn id="21" dur="500"/>
                                        <p:tgtEl>
                                          <p:spTgt spid="2">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6A4E8EB-8D08-355E-91D4-CA76D92A4761}"/>
              </a:ext>
            </a:extLst>
          </p:cNvPr>
          <p:cNvSpPr>
            <a:spLocks noGrp="1"/>
          </p:cNvSpPr>
          <p:nvPr>
            <p:ph idx="1"/>
          </p:nvPr>
        </p:nvSpPr>
        <p:spPr/>
        <p:txBody>
          <a:bodyPr/>
          <a:lstStyle/>
          <a:p>
            <a:pPr>
              <a:buFont typeface="Wingdings" panose="05000000000000000000" pitchFamily="2" charset="2"/>
              <a:buChar char="§"/>
            </a:pPr>
            <a:r>
              <a:rPr lang="en-US" dirty="0"/>
              <a:t>There are memory compilers that produces functional, timing models and physical information to fabricate the memory.</a:t>
            </a:r>
          </a:p>
          <a:p>
            <a:pPr>
              <a:buFont typeface="Wingdings" panose="05000000000000000000" pitchFamily="2" charset="2"/>
              <a:buChar char="§"/>
            </a:pPr>
            <a:r>
              <a:rPr lang="en-US" dirty="0"/>
              <a:t>Memory design has previously mentioned issues in hard macros and some additional issues such as:</a:t>
            </a:r>
          </a:p>
          <a:p>
            <a:pPr lvl="1">
              <a:buFont typeface="Wingdings" panose="05000000000000000000" pitchFamily="2" charset="2"/>
              <a:buChar char="§"/>
            </a:pPr>
            <a:r>
              <a:rPr lang="en-US" dirty="0"/>
              <a:t>Selecting RAM configurations: (single port or multi port), (fast or low-power), (synchronous or asynchronous) </a:t>
            </a:r>
          </a:p>
          <a:p>
            <a:pPr lvl="1">
              <a:buFont typeface="Wingdings" panose="05000000000000000000" pitchFamily="2" charset="2"/>
              <a:buChar char="§"/>
            </a:pPr>
            <a:r>
              <a:rPr lang="en-US" dirty="0"/>
              <a:t>Timing critical design for asynchronous type. Recommending synchronous type.</a:t>
            </a:r>
          </a:p>
          <a:p>
            <a:pPr lvl="1">
              <a:buFont typeface="Wingdings" panose="05000000000000000000" pitchFamily="2" charset="2"/>
              <a:buChar char="§"/>
            </a:pPr>
            <a:r>
              <a:rPr lang="en-US" dirty="0"/>
              <a:t>Checking the aspect ratios to avoid blockage problems.</a:t>
            </a:r>
          </a:p>
          <a:p>
            <a:pPr lvl="1">
              <a:buFont typeface="Wingdings" panose="05000000000000000000" pitchFamily="2" charset="2"/>
              <a:buChar char="§"/>
            </a:pPr>
            <a:r>
              <a:rPr lang="en-GB" dirty="0"/>
              <a:t>Data retention problems that are not tested by the BIST techniques.</a:t>
            </a:r>
          </a:p>
        </p:txBody>
      </p:sp>
      <p:sp>
        <p:nvSpPr>
          <p:cNvPr id="3" name="Title 2">
            <a:extLst>
              <a:ext uri="{FF2B5EF4-FFF2-40B4-BE49-F238E27FC236}">
                <a16:creationId xmlns:a16="http://schemas.microsoft.com/office/drawing/2014/main" id="{F1FD44B7-65E0-4EC4-A639-D4F36D1D90CE}"/>
              </a:ext>
            </a:extLst>
          </p:cNvPr>
          <p:cNvSpPr>
            <a:spLocks noGrp="1"/>
          </p:cNvSpPr>
          <p:nvPr>
            <p:ph type="title"/>
          </p:nvPr>
        </p:nvSpPr>
        <p:spPr/>
        <p:txBody>
          <a:bodyPr/>
          <a:lstStyle/>
          <a:p>
            <a:r>
              <a:rPr lang="en-US" dirty="0"/>
              <a:t>4 – Integrating Memories</a:t>
            </a:r>
            <a:endParaRPr lang="en-GB" dirty="0"/>
          </a:p>
        </p:txBody>
      </p:sp>
      <p:sp>
        <p:nvSpPr>
          <p:cNvPr id="4" name="Footer Placeholder 3">
            <a:extLst>
              <a:ext uri="{FF2B5EF4-FFF2-40B4-BE49-F238E27FC236}">
                <a16:creationId xmlns:a16="http://schemas.microsoft.com/office/drawing/2014/main" id="{355F4D8D-6DA2-1F24-A682-2E5552FF973C}"/>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964A2F4F-9785-04A8-97AD-74AB4DD67589}"/>
              </a:ext>
            </a:extLst>
          </p:cNvPr>
          <p:cNvSpPr>
            <a:spLocks noGrp="1"/>
          </p:cNvSpPr>
          <p:nvPr>
            <p:ph type="sldNum" sz="quarter" idx="4"/>
          </p:nvPr>
        </p:nvSpPr>
        <p:spPr/>
        <p:txBody>
          <a:bodyPr/>
          <a:lstStyle/>
          <a:p>
            <a:pPr>
              <a:defRPr/>
            </a:pPr>
            <a:fld id="{A9CE67A1-BA7F-A74E-B5D7-615746DEEC2B}" type="slidenum">
              <a:rPr lang="en-US" smtClean="0"/>
              <a:pPr>
                <a:defRPr/>
              </a:pPr>
              <a:t>10</a:t>
            </a:fld>
            <a:endParaRPr lang="en-US" baseline="-11000" dirty="0"/>
          </a:p>
        </p:txBody>
      </p:sp>
      <p:sp>
        <p:nvSpPr>
          <p:cNvPr id="6" name="Date Placeholder 5">
            <a:extLst>
              <a:ext uri="{FF2B5EF4-FFF2-40B4-BE49-F238E27FC236}">
                <a16:creationId xmlns:a16="http://schemas.microsoft.com/office/drawing/2014/main" id="{E1E2DAAC-D0A9-9D5C-BB59-937E5BD48D3B}"/>
              </a:ext>
            </a:extLst>
          </p:cNvPr>
          <p:cNvSpPr>
            <a:spLocks noGrp="1"/>
          </p:cNvSpPr>
          <p:nvPr>
            <p:ph type="dt" sz="half" idx="2"/>
          </p:nvPr>
        </p:nvSpPr>
        <p:spPr/>
        <p:txBody>
          <a:bodyPr/>
          <a:lstStyle/>
          <a:p>
            <a:fld id="{EAFD7BB1-AB7F-4336-A8B3-6627E5D36FE4}" type="datetime3">
              <a:rPr lang="en-US" smtClean="0"/>
              <a:t>12 November 2022</a:t>
            </a:fld>
            <a:endParaRPr lang="en-US" dirty="0"/>
          </a:p>
        </p:txBody>
      </p:sp>
    </p:spTree>
    <p:extLst>
      <p:ext uri="{BB962C8B-B14F-4D97-AF65-F5344CB8AC3E}">
        <p14:creationId xmlns:p14="http://schemas.microsoft.com/office/powerpoint/2010/main" val="36301708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DCEA56A-3CA1-1873-DD92-4274C7A07DEF}"/>
              </a:ext>
            </a:extLst>
          </p:cNvPr>
          <p:cNvSpPr>
            <a:spLocks noGrp="1"/>
          </p:cNvSpPr>
          <p:nvPr>
            <p:ph idx="1"/>
          </p:nvPr>
        </p:nvSpPr>
        <p:spPr/>
        <p:txBody>
          <a:bodyPr/>
          <a:lstStyle/>
          <a:p>
            <a:pPr>
              <a:buFont typeface="Wingdings" panose="05000000000000000000" pitchFamily="2" charset="2"/>
              <a:buChar char="§"/>
            </a:pPr>
            <a:r>
              <a:rPr lang="en-US" dirty="0"/>
              <a:t>We aim to make the SoC design achieve timing closure with few iterations and as quick as possible.</a:t>
            </a:r>
          </a:p>
          <a:p>
            <a:pPr>
              <a:buFont typeface="Wingdings" panose="05000000000000000000" pitchFamily="2" charset="2"/>
              <a:buChar char="§"/>
            </a:pPr>
            <a:r>
              <a:rPr lang="en-US" dirty="0"/>
              <a:t>We will discuss the major activities for this process:</a:t>
            </a:r>
          </a:p>
          <a:p>
            <a:pPr lvl="1">
              <a:buFont typeface="Wingdings" panose="05000000000000000000" pitchFamily="2" charset="2"/>
              <a:buChar char="§"/>
            </a:pPr>
            <a:r>
              <a:rPr lang="en-US" b="1" dirty="0"/>
              <a:t>Preparation of the design </a:t>
            </a:r>
            <a:r>
              <a:rPr lang="en-US" dirty="0"/>
              <a:t>by performing block-level then chip level synthesis.</a:t>
            </a:r>
          </a:p>
          <a:p>
            <a:pPr lvl="1">
              <a:buFont typeface="Wingdings" panose="05000000000000000000" pitchFamily="2" charset="2"/>
              <a:buChar char="§"/>
            </a:pPr>
            <a:r>
              <a:rPr lang="en-US" b="1" dirty="0"/>
              <a:t>Physical placement </a:t>
            </a:r>
            <a:r>
              <a:rPr lang="en-US" dirty="0"/>
              <a:t>by doing detailed floorplanning and re-placement until timing goals are met</a:t>
            </a:r>
          </a:p>
          <a:p>
            <a:pPr lvl="1">
              <a:buFont typeface="Wingdings" panose="05000000000000000000" pitchFamily="2" charset="2"/>
              <a:buChar char="§"/>
            </a:pPr>
            <a:r>
              <a:rPr lang="en-US" b="1" dirty="0"/>
              <a:t>Timing closure </a:t>
            </a:r>
            <a:r>
              <a:rPr lang="en-US" dirty="0"/>
              <a:t>by adding clock buffers and performing detailed routing</a:t>
            </a:r>
          </a:p>
          <a:p>
            <a:pPr lvl="1">
              <a:buFont typeface="Wingdings" panose="05000000000000000000" pitchFamily="2" charset="2"/>
              <a:buChar char="§"/>
            </a:pPr>
            <a:r>
              <a:rPr lang="en-US" b="1" dirty="0"/>
              <a:t>Physical verification </a:t>
            </a:r>
            <a:r>
              <a:rPr lang="en-US" dirty="0"/>
              <a:t>by running final checks prior to tape-out</a:t>
            </a:r>
          </a:p>
          <a:p>
            <a:pPr marL="0" indent="0">
              <a:buNone/>
            </a:pPr>
            <a:r>
              <a:rPr lang="en-US" dirty="0"/>
              <a:t>These are discussed in detail later.</a:t>
            </a:r>
          </a:p>
          <a:p>
            <a:pPr lvl="1">
              <a:buFont typeface="Wingdings" panose="05000000000000000000" pitchFamily="2" charset="2"/>
              <a:buChar char="§"/>
            </a:pPr>
            <a:endParaRPr lang="en-GB" dirty="0"/>
          </a:p>
        </p:txBody>
      </p:sp>
      <p:sp>
        <p:nvSpPr>
          <p:cNvPr id="3" name="Title 2">
            <a:extLst>
              <a:ext uri="{FF2B5EF4-FFF2-40B4-BE49-F238E27FC236}">
                <a16:creationId xmlns:a16="http://schemas.microsoft.com/office/drawing/2014/main" id="{434D8712-92DF-811E-6920-427277BB2770}"/>
              </a:ext>
            </a:extLst>
          </p:cNvPr>
          <p:cNvSpPr>
            <a:spLocks noGrp="1"/>
          </p:cNvSpPr>
          <p:nvPr>
            <p:ph type="title"/>
          </p:nvPr>
        </p:nvSpPr>
        <p:spPr/>
        <p:txBody>
          <a:bodyPr/>
          <a:lstStyle/>
          <a:p>
            <a:r>
              <a:rPr lang="en-US" dirty="0"/>
              <a:t>5- Physical design</a:t>
            </a:r>
            <a:endParaRPr lang="en-GB" dirty="0"/>
          </a:p>
        </p:txBody>
      </p:sp>
      <p:sp>
        <p:nvSpPr>
          <p:cNvPr id="4" name="Footer Placeholder 3">
            <a:extLst>
              <a:ext uri="{FF2B5EF4-FFF2-40B4-BE49-F238E27FC236}">
                <a16:creationId xmlns:a16="http://schemas.microsoft.com/office/drawing/2014/main" id="{C2611171-9838-FCC7-3A9C-A7F3B65B9D51}"/>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D41A5CDD-800F-B5D2-D2B3-4C6589015CBC}"/>
              </a:ext>
            </a:extLst>
          </p:cNvPr>
          <p:cNvSpPr>
            <a:spLocks noGrp="1"/>
          </p:cNvSpPr>
          <p:nvPr>
            <p:ph type="sldNum" sz="quarter" idx="4"/>
          </p:nvPr>
        </p:nvSpPr>
        <p:spPr/>
        <p:txBody>
          <a:bodyPr/>
          <a:lstStyle/>
          <a:p>
            <a:pPr>
              <a:defRPr/>
            </a:pPr>
            <a:fld id="{A9CE67A1-BA7F-A74E-B5D7-615746DEEC2B}" type="slidenum">
              <a:rPr lang="en-US" smtClean="0"/>
              <a:pPr>
                <a:defRPr/>
              </a:pPr>
              <a:t>11</a:t>
            </a:fld>
            <a:endParaRPr lang="en-US" baseline="-11000" dirty="0"/>
          </a:p>
        </p:txBody>
      </p:sp>
      <p:sp>
        <p:nvSpPr>
          <p:cNvPr id="6" name="Date Placeholder 5">
            <a:extLst>
              <a:ext uri="{FF2B5EF4-FFF2-40B4-BE49-F238E27FC236}">
                <a16:creationId xmlns:a16="http://schemas.microsoft.com/office/drawing/2014/main" id="{E8972217-60A8-EB73-80E1-3960F376EE29}"/>
              </a:ext>
            </a:extLst>
          </p:cNvPr>
          <p:cNvSpPr>
            <a:spLocks noGrp="1"/>
          </p:cNvSpPr>
          <p:nvPr>
            <p:ph type="dt" sz="half" idx="2"/>
          </p:nvPr>
        </p:nvSpPr>
        <p:spPr/>
        <p:txBody>
          <a:bodyPr/>
          <a:lstStyle/>
          <a:p>
            <a:fld id="{EAFD7BB1-AB7F-4336-A8B3-6627E5D36FE4}" type="datetime3">
              <a:rPr lang="en-US" smtClean="0"/>
              <a:t>12 November 2022</a:t>
            </a:fld>
            <a:endParaRPr lang="en-US" dirty="0"/>
          </a:p>
        </p:txBody>
      </p:sp>
    </p:spTree>
    <p:extLst>
      <p:ext uri="{BB962C8B-B14F-4D97-AF65-F5344CB8AC3E}">
        <p14:creationId xmlns:p14="http://schemas.microsoft.com/office/powerpoint/2010/main" val="36699850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fade">
                                      <p:cBhvr>
                                        <p:cTn id="7" dur="500"/>
                                        <p:tgtEl>
                                          <p:spTgt spid="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fade">
                                      <p:cBhvr>
                                        <p:cTn id="12" dur="500"/>
                                        <p:tgtEl>
                                          <p:spTgt spid="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
                                            <p:txEl>
                                              <p:pRg st="3" end="3"/>
                                            </p:txEl>
                                          </p:spTgt>
                                        </p:tgtEl>
                                        <p:attrNameLst>
                                          <p:attrName>style.visibility</p:attrName>
                                        </p:attrNameLst>
                                      </p:cBhvr>
                                      <p:to>
                                        <p:strVal val="visible"/>
                                      </p:to>
                                    </p:set>
                                    <p:animEffect transition="in" filter="fade">
                                      <p:cBhvr>
                                        <p:cTn id="17" dur="500"/>
                                        <p:tgtEl>
                                          <p:spTgt spid="2">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
                                            <p:txEl>
                                              <p:pRg st="4" end="4"/>
                                            </p:txEl>
                                          </p:spTgt>
                                        </p:tgtEl>
                                        <p:attrNameLst>
                                          <p:attrName>style.visibility</p:attrName>
                                        </p:attrNameLst>
                                      </p:cBhvr>
                                      <p:to>
                                        <p:strVal val="visible"/>
                                      </p:to>
                                    </p:set>
                                    <p:animEffect transition="in" filter="fade">
                                      <p:cBhvr>
                                        <p:cTn id="22" dur="500"/>
                                        <p:tgtEl>
                                          <p:spTgt spid="2">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animEffect transition="in" filter="fade">
                                      <p:cBhvr>
                                        <p:cTn id="27" dur="500"/>
                                        <p:tgtEl>
                                          <p:spTgt spid="2">
                                            <p:txEl>
                                              <p:pRg st="5" end="5"/>
                                            </p:txEl>
                                          </p:spTgt>
                                        </p:tgtEl>
                                      </p:cBhvr>
                                    </p:animEffect>
                                  </p:childTnLst>
                                </p:cTn>
                              </p:par>
                              <p:par>
                                <p:cTn id="28" presetID="10" presetClass="entr" presetSubtype="0" fill="hold" nodeType="withEffect">
                                  <p:stCondLst>
                                    <p:cond delay="0"/>
                                  </p:stCondLst>
                                  <p:childTnLst>
                                    <p:set>
                                      <p:cBhvr>
                                        <p:cTn id="29" dur="1" fill="hold">
                                          <p:stCondLst>
                                            <p:cond delay="0"/>
                                          </p:stCondLst>
                                        </p:cTn>
                                        <p:tgtEl>
                                          <p:spTgt spid="2">
                                            <p:txEl>
                                              <p:pRg st="6" end="6"/>
                                            </p:txEl>
                                          </p:spTgt>
                                        </p:tgtEl>
                                        <p:attrNameLst>
                                          <p:attrName>style.visibility</p:attrName>
                                        </p:attrNameLst>
                                      </p:cBhvr>
                                      <p:to>
                                        <p:strVal val="visible"/>
                                      </p:to>
                                    </p:set>
                                    <p:animEffect transition="in" filter="fade">
                                      <p:cBhvr>
                                        <p:cTn id="30" dur="500"/>
                                        <p:tgtEl>
                                          <p:spTgt spid="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DC0977F-2637-40F6-95D1-1ACFF2AC70E4}"/>
              </a:ext>
            </a:extLst>
          </p:cNvPr>
          <p:cNvSpPr>
            <a:spLocks noGrp="1"/>
          </p:cNvSpPr>
          <p:nvPr>
            <p:ph idx="1"/>
          </p:nvPr>
        </p:nvSpPr>
        <p:spPr>
          <a:xfrm>
            <a:off x="355599" y="1066799"/>
            <a:ext cx="10440737" cy="5189621"/>
          </a:xfrm>
        </p:spPr>
        <p:txBody>
          <a:bodyPr>
            <a:normAutofit fontScale="92500" lnSpcReduction="20000"/>
          </a:bodyPr>
          <a:lstStyle/>
          <a:p>
            <a:pPr>
              <a:buFont typeface="Wingdings" panose="05000000000000000000" pitchFamily="2" charset="2"/>
              <a:buChar char="v"/>
            </a:pPr>
            <a:r>
              <a:rPr lang="en-US" b="1" u="sng" dirty="0"/>
              <a:t>Design Planning </a:t>
            </a:r>
          </a:p>
          <a:p>
            <a:pPr lvl="1">
              <a:buFont typeface="Wingdings" panose="05000000000000000000" pitchFamily="2" charset="2"/>
              <a:buChar char="§"/>
            </a:pPr>
            <a:r>
              <a:rPr lang="en-US" dirty="0"/>
              <a:t>At the very start, die size, number of I/O pads and power dissipation should be determined.</a:t>
            </a:r>
          </a:p>
          <a:p>
            <a:pPr lvl="1">
              <a:buFont typeface="Wingdings" panose="05000000000000000000" pitchFamily="2" charset="2"/>
              <a:buChar char="§"/>
            </a:pPr>
            <a:r>
              <a:rPr lang="en-GB" dirty="0"/>
              <a:t>After determining the design blocks, initial floor-planning and rough placement are done to get information on the power and clock distribution.</a:t>
            </a:r>
          </a:p>
          <a:p>
            <a:pPr lvl="1">
              <a:buFont typeface="Wingdings" panose="05000000000000000000" pitchFamily="2" charset="2"/>
              <a:buChar char="§"/>
            </a:pPr>
            <a:r>
              <a:rPr lang="en-GB" dirty="0"/>
              <a:t>Selecting the wire models by knowing the registered inputs and outputs for proper timing calculations figure.5.</a:t>
            </a:r>
          </a:p>
          <a:p>
            <a:pPr>
              <a:buFont typeface="Wingdings" panose="05000000000000000000" pitchFamily="2" charset="2"/>
              <a:buChar char="v"/>
            </a:pPr>
            <a:r>
              <a:rPr lang="en-GB" b="1" u="sng" dirty="0"/>
              <a:t>Synthesis</a:t>
            </a:r>
          </a:p>
          <a:p>
            <a:pPr lvl="1">
              <a:buFont typeface="Wingdings" panose="05000000000000000000" pitchFamily="2" charset="2"/>
              <a:buChar char="§"/>
            </a:pPr>
            <a:r>
              <a:rPr lang="en-GB" dirty="0"/>
              <a:t>Knowing these initial physical design information, we can now synthesis</a:t>
            </a:r>
          </a:p>
          <a:p>
            <a:pPr marL="228600" lvl="1" indent="0">
              <a:buNone/>
            </a:pPr>
            <a:r>
              <a:rPr lang="en-GB" dirty="0"/>
              <a:t>	each block independently using wire load models and time budgets.</a:t>
            </a:r>
          </a:p>
          <a:p>
            <a:pPr lvl="1"/>
            <a:r>
              <a:rPr lang="en-GB" dirty="0"/>
              <a:t>Once each block is meeting time, we do chip (top level) synthesis.</a:t>
            </a:r>
          </a:p>
          <a:p>
            <a:pPr lvl="1"/>
            <a:r>
              <a:rPr lang="en-GB" dirty="0"/>
              <a:t>Inputs to the top-level synthesis may be:</a:t>
            </a:r>
          </a:p>
          <a:p>
            <a:pPr lvl="2"/>
            <a:r>
              <a:rPr lang="en-GB" dirty="0"/>
              <a:t>Timing budgets and wire load models from design planning stage</a:t>
            </a:r>
          </a:p>
          <a:p>
            <a:pPr lvl="2"/>
            <a:r>
              <a:rPr lang="en-GB" dirty="0"/>
              <a:t>RTL for synthesisable blocks</a:t>
            </a:r>
          </a:p>
          <a:p>
            <a:pPr lvl="2"/>
            <a:r>
              <a:rPr lang="en-GB" dirty="0"/>
              <a:t>Synthesis models for hard macros and memories</a:t>
            </a:r>
          </a:p>
          <a:p>
            <a:pPr lvl="2"/>
            <a:r>
              <a:rPr lang="en-GB" dirty="0"/>
              <a:t>Any libraries required such as </a:t>
            </a:r>
            <a:r>
              <a:rPr lang="en-GB" dirty="0" err="1"/>
              <a:t>DesignWare</a:t>
            </a:r>
            <a:r>
              <a:rPr lang="en-GB" dirty="0"/>
              <a:t> Foundation library</a:t>
            </a:r>
          </a:p>
          <a:p>
            <a:pPr lvl="2"/>
            <a:r>
              <a:rPr lang="en-GB" dirty="0"/>
              <a:t>Top-level RTL</a:t>
            </a:r>
          </a:p>
          <a:p>
            <a:pPr lvl="2"/>
            <a:endParaRPr lang="en-GB" dirty="0"/>
          </a:p>
        </p:txBody>
      </p:sp>
      <p:sp>
        <p:nvSpPr>
          <p:cNvPr id="3" name="Title 2">
            <a:extLst>
              <a:ext uri="{FF2B5EF4-FFF2-40B4-BE49-F238E27FC236}">
                <a16:creationId xmlns:a16="http://schemas.microsoft.com/office/drawing/2014/main" id="{8B4E15E8-A9F1-44F0-0BBC-3766FE1551B8}"/>
              </a:ext>
            </a:extLst>
          </p:cNvPr>
          <p:cNvSpPr>
            <a:spLocks noGrp="1"/>
          </p:cNvSpPr>
          <p:nvPr>
            <p:ph type="title"/>
          </p:nvPr>
        </p:nvSpPr>
        <p:spPr/>
        <p:txBody>
          <a:bodyPr/>
          <a:lstStyle/>
          <a:p>
            <a:r>
              <a:rPr lang="en-US" dirty="0"/>
              <a:t>5- Physical design (Design Planning and Synthesis)</a:t>
            </a:r>
            <a:endParaRPr lang="en-GB" dirty="0"/>
          </a:p>
        </p:txBody>
      </p:sp>
      <p:sp>
        <p:nvSpPr>
          <p:cNvPr id="4" name="Footer Placeholder 3">
            <a:extLst>
              <a:ext uri="{FF2B5EF4-FFF2-40B4-BE49-F238E27FC236}">
                <a16:creationId xmlns:a16="http://schemas.microsoft.com/office/drawing/2014/main" id="{4B8E474C-42EF-86CF-250A-F621F7096B8C}"/>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6CAACEA6-32F2-0008-0D5A-66A257D81BA7}"/>
              </a:ext>
            </a:extLst>
          </p:cNvPr>
          <p:cNvSpPr>
            <a:spLocks noGrp="1"/>
          </p:cNvSpPr>
          <p:nvPr>
            <p:ph type="sldNum" sz="quarter" idx="4"/>
          </p:nvPr>
        </p:nvSpPr>
        <p:spPr/>
        <p:txBody>
          <a:bodyPr/>
          <a:lstStyle/>
          <a:p>
            <a:pPr>
              <a:defRPr/>
            </a:pPr>
            <a:fld id="{A9CE67A1-BA7F-A74E-B5D7-615746DEEC2B}" type="slidenum">
              <a:rPr lang="en-US" smtClean="0"/>
              <a:pPr>
                <a:defRPr/>
              </a:pPr>
              <a:t>12</a:t>
            </a:fld>
            <a:endParaRPr lang="en-US" baseline="-11000" dirty="0"/>
          </a:p>
        </p:txBody>
      </p:sp>
      <p:sp>
        <p:nvSpPr>
          <p:cNvPr id="6" name="Date Placeholder 5">
            <a:extLst>
              <a:ext uri="{FF2B5EF4-FFF2-40B4-BE49-F238E27FC236}">
                <a16:creationId xmlns:a16="http://schemas.microsoft.com/office/drawing/2014/main" id="{72E52DCE-B4A8-CED0-7D65-3D3074DACBC9}"/>
              </a:ext>
            </a:extLst>
          </p:cNvPr>
          <p:cNvSpPr>
            <a:spLocks noGrp="1"/>
          </p:cNvSpPr>
          <p:nvPr>
            <p:ph type="dt" sz="half" idx="2"/>
          </p:nvPr>
        </p:nvSpPr>
        <p:spPr/>
        <p:txBody>
          <a:bodyPr/>
          <a:lstStyle/>
          <a:p>
            <a:fld id="{EAFD7BB1-AB7F-4336-A8B3-6627E5D36FE4}" type="datetime3">
              <a:rPr lang="en-US" smtClean="0"/>
              <a:t>12 November 2022</a:t>
            </a:fld>
            <a:endParaRPr lang="en-US" dirty="0"/>
          </a:p>
        </p:txBody>
      </p:sp>
      <p:pic>
        <p:nvPicPr>
          <p:cNvPr id="8" name="Picture 7">
            <a:extLst>
              <a:ext uri="{FF2B5EF4-FFF2-40B4-BE49-F238E27FC236}">
                <a16:creationId xmlns:a16="http://schemas.microsoft.com/office/drawing/2014/main" id="{263508DD-1FD3-BC9E-43EF-1C6F5D246C43}"/>
              </a:ext>
            </a:extLst>
          </p:cNvPr>
          <p:cNvPicPr>
            <a:picLocks noChangeAspect="1"/>
          </p:cNvPicPr>
          <p:nvPr/>
        </p:nvPicPr>
        <p:blipFill>
          <a:blip r:embed="rId3"/>
          <a:stretch>
            <a:fillRect/>
          </a:stretch>
        </p:blipFill>
        <p:spPr>
          <a:xfrm>
            <a:off x="8872754" y="2869673"/>
            <a:ext cx="2976346" cy="1541906"/>
          </a:xfrm>
          <a:prstGeom prst="rect">
            <a:avLst/>
          </a:prstGeom>
        </p:spPr>
      </p:pic>
      <p:sp>
        <p:nvSpPr>
          <p:cNvPr id="7" name="TextBox 6">
            <a:extLst>
              <a:ext uri="{FF2B5EF4-FFF2-40B4-BE49-F238E27FC236}">
                <a16:creationId xmlns:a16="http://schemas.microsoft.com/office/drawing/2014/main" id="{A920AE16-BE61-644D-ECD8-4929A38EA86E}"/>
              </a:ext>
            </a:extLst>
          </p:cNvPr>
          <p:cNvSpPr txBox="1"/>
          <p:nvPr/>
        </p:nvSpPr>
        <p:spPr>
          <a:xfrm>
            <a:off x="9563101" y="4519727"/>
            <a:ext cx="2133600" cy="241982"/>
          </a:xfrm>
          <a:prstGeom prst="rect">
            <a:avLst/>
          </a:prstGeom>
          <a:noFill/>
        </p:spPr>
        <p:txBody>
          <a:bodyPr wrap="square" lIns="0" tIns="0" rIns="0" bIns="0" rtlCol="0">
            <a:noAutofit/>
          </a:bodyPr>
          <a:lstStyle/>
          <a:p>
            <a:pPr defTabSz="457200">
              <a:spcBef>
                <a:spcPts val="1000"/>
              </a:spcBef>
              <a:buClr>
                <a:srgbClr val="1E4056"/>
              </a:buClr>
              <a:buSzPct val="75000"/>
            </a:pPr>
            <a:r>
              <a:rPr lang="en-US" sz="1000" dirty="0">
                <a:solidFill>
                  <a:srgbClr val="000000"/>
                </a:solidFill>
              </a:rPr>
              <a:t>Figure.5: Critical placement</a:t>
            </a:r>
            <a:endParaRPr lang="en-GB" sz="1000" dirty="0">
              <a:solidFill>
                <a:srgbClr val="000000"/>
              </a:solidFill>
            </a:endParaRPr>
          </a:p>
        </p:txBody>
      </p:sp>
    </p:spTree>
    <p:extLst>
      <p:ext uri="{BB962C8B-B14F-4D97-AF65-F5344CB8AC3E}">
        <p14:creationId xmlns:p14="http://schemas.microsoft.com/office/powerpoint/2010/main" val="36706030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
                                            <p:txEl>
                                              <p:pRg st="1" end="1"/>
                                            </p:txEl>
                                          </p:spTgt>
                                        </p:tgtEl>
                                        <p:attrNameLst>
                                          <p:attrName>style.visibility</p:attrName>
                                        </p:attrNameLst>
                                      </p:cBhvr>
                                      <p:to>
                                        <p:strVal val="visible"/>
                                      </p:to>
                                    </p:set>
                                    <p:animEffect transition="in" filter="fade">
                                      <p:cBhvr>
                                        <p:cTn id="10" dur="500"/>
                                        <p:tgtEl>
                                          <p:spTgt spid="2">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Effect transition="in" filter="fade">
                                      <p:cBhvr>
                                        <p:cTn id="13" dur="500"/>
                                        <p:tgtEl>
                                          <p:spTgt spid="2">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2">
                                            <p:txEl>
                                              <p:pRg st="3" end="3"/>
                                            </p:txEl>
                                          </p:spTgt>
                                        </p:tgtEl>
                                        <p:attrNameLst>
                                          <p:attrName>style.visibility</p:attrName>
                                        </p:attrNameLst>
                                      </p:cBhvr>
                                      <p:to>
                                        <p:strVal val="visible"/>
                                      </p:to>
                                    </p:set>
                                    <p:animEffect transition="in" filter="fade">
                                      <p:cBhvr>
                                        <p:cTn id="16" dur="500"/>
                                        <p:tgtEl>
                                          <p:spTgt spid="2">
                                            <p:txEl>
                                              <p:pRg st="3" end="3"/>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2">
                                            <p:txEl>
                                              <p:pRg st="4" end="4"/>
                                            </p:txEl>
                                          </p:spTgt>
                                        </p:tgtEl>
                                        <p:attrNameLst>
                                          <p:attrName>style.visibility</p:attrName>
                                        </p:attrNameLst>
                                      </p:cBhvr>
                                      <p:to>
                                        <p:strVal val="visible"/>
                                      </p:to>
                                    </p:set>
                                    <p:animEffect transition="in" filter="fade">
                                      <p:cBhvr>
                                        <p:cTn id="24" dur="500"/>
                                        <p:tgtEl>
                                          <p:spTgt spid="2">
                                            <p:txEl>
                                              <p:pRg st="4" end="4"/>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animEffect transition="in" filter="fade">
                                      <p:cBhvr>
                                        <p:cTn id="27" dur="500"/>
                                        <p:tgtEl>
                                          <p:spTgt spid="2">
                                            <p:txEl>
                                              <p:pRg st="5" end="5"/>
                                            </p:txEl>
                                          </p:spTgt>
                                        </p:tgtEl>
                                      </p:cBhvr>
                                    </p:animEffect>
                                  </p:childTnLst>
                                </p:cTn>
                              </p:par>
                              <p:par>
                                <p:cTn id="28" presetID="10" presetClass="entr" presetSubtype="0" fill="hold" nodeType="withEffect">
                                  <p:stCondLst>
                                    <p:cond delay="0"/>
                                  </p:stCondLst>
                                  <p:childTnLst>
                                    <p:set>
                                      <p:cBhvr>
                                        <p:cTn id="29" dur="1" fill="hold">
                                          <p:stCondLst>
                                            <p:cond delay="0"/>
                                          </p:stCondLst>
                                        </p:cTn>
                                        <p:tgtEl>
                                          <p:spTgt spid="2">
                                            <p:txEl>
                                              <p:pRg st="6" end="6"/>
                                            </p:txEl>
                                          </p:spTgt>
                                        </p:tgtEl>
                                        <p:attrNameLst>
                                          <p:attrName>style.visibility</p:attrName>
                                        </p:attrNameLst>
                                      </p:cBhvr>
                                      <p:to>
                                        <p:strVal val="visible"/>
                                      </p:to>
                                    </p:set>
                                    <p:animEffect transition="in" filter="fade">
                                      <p:cBhvr>
                                        <p:cTn id="30" dur="500"/>
                                        <p:tgtEl>
                                          <p:spTgt spid="2">
                                            <p:txEl>
                                              <p:pRg st="6" end="6"/>
                                            </p:txEl>
                                          </p:spTgt>
                                        </p:tgtEl>
                                      </p:cBhvr>
                                    </p:animEffect>
                                  </p:childTnLst>
                                </p:cTn>
                              </p:par>
                              <p:par>
                                <p:cTn id="31" presetID="10" presetClass="entr" presetSubtype="0" fill="hold" nodeType="withEffect">
                                  <p:stCondLst>
                                    <p:cond delay="0"/>
                                  </p:stCondLst>
                                  <p:childTnLst>
                                    <p:set>
                                      <p:cBhvr>
                                        <p:cTn id="32" dur="1" fill="hold">
                                          <p:stCondLst>
                                            <p:cond delay="0"/>
                                          </p:stCondLst>
                                        </p:cTn>
                                        <p:tgtEl>
                                          <p:spTgt spid="2">
                                            <p:txEl>
                                              <p:pRg st="7" end="7"/>
                                            </p:txEl>
                                          </p:spTgt>
                                        </p:tgtEl>
                                        <p:attrNameLst>
                                          <p:attrName>style.visibility</p:attrName>
                                        </p:attrNameLst>
                                      </p:cBhvr>
                                      <p:to>
                                        <p:strVal val="visible"/>
                                      </p:to>
                                    </p:set>
                                    <p:animEffect transition="in" filter="fade">
                                      <p:cBhvr>
                                        <p:cTn id="33" dur="500"/>
                                        <p:tgtEl>
                                          <p:spTgt spid="2">
                                            <p:txEl>
                                              <p:pRg st="7" end="7"/>
                                            </p:txEl>
                                          </p:spTgt>
                                        </p:tgtEl>
                                      </p:cBhvr>
                                    </p:animEffect>
                                  </p:childTnLst>
                                </p:cTn>
                              </p:par>
                              <p:par>
                                <p:cTn id="34" presetID="10" presetClass="entr" presetSubtype="0" fill="hold" nodeType="withEffect">
                                  <p:stCondLst>
                                    <p:cond delay="0"/>
                                  </p:stCondLst>
                                  <p:childTnLst>
                                    <p:set>
                                      <p:cBhvr>
                                        <p:cTn id="35" dur="1" fill="hold">
                                          <p:stCondLst>
                                            <p:cond delay="0"/>
                                          </p:stCondLst>
                                        </p:cTn>
                                        <p:tgtEl>
                                          <p:spTgt spid="2">
                                            <p:txEl>
                                              <p:pRg st="8" end="8"/>
                                            </p:txEl>
                                          </p:spTgt>
                                        </p:tgtEl>
                                        <p:attrNameLst>
                                          <p:attrName>style.visibility</p:attrName>
                                        </p:attrNameLst>
                                      </p:cBhvr>
                                      <p:to>
                                        <p:strVal val="visible"/>
                                      </p:to>
                                    </p:set>
                                    <p:animEffect transition="in" filter="fade">
                                      <p:cBhvr>
                                        <p:cTn id="36" dur="500"/>
                                        <p:tgtEl>
                                          <p:spTgt spid="2">
                                            <p:txEl>
                                              <p:pRg st="8" end="8"/>
                                            </p:txEl>
                                          </p:spTgt>
                                        </p:tgtEl>
                                      </p:cBhvr>
                                    </p:animEffect>
                                  </p:childTnLst>
                                </p:cTn>
                              </p:par>
                              <p:par>
                                <p:cTn id="37" presetID="10" presetClass="entr" presetSubtype="0" fill="hold" nodeType="withEffect">
                                  <p:stCondLst>
                                    <p:cond delay="0"/>
                                  </p:stCondLst>
                                  <p:childTnLst>
                                    <p:set>
                                      <p:cBhvr>
                                        <p:cTn id="38" dur="1" fill="hold">
                                          <p:stCondLst>
                                            <p:cond delay="0"/>
                                          </p:stCondLst>
                                        </p:cTn>
                                        <p:tgtEl>
                                          <p:spTgt spid="2">
                                            <p:txEl>
                                              <p:pRg st="9" end="9"/>
                                            </p:txEl>
                                          </p:spTgt>
                                        </p:tgtEl>
                                        <p:attrNameLst>
                                          <p:attrName>style.visibility</p:attrName>
                                        </p:attrNameLst>
                                      </p:cBhvr>
                                      <p:to>
                                        <p:strVal val="visible"/>
                                      </p:to>
                                    </p:set>
                                    <p:animEffect transition="in" filter="fade">
                                      <p:cBhvr>
                                        <p:cTn id="39" dur="500"/>
                                        <p:tgtEl>
                                          <p:spTgt spid="2">
                                            <p:txEl>
                                              <p:pRg st="9" end="9"/>
                                            </p:txEl>
                                          </p:spTgt>
                                        </p:tgtEl>
                                      </p:cBhvr>
                                    </p:animEffect>
                                  </p:childTnLst>
                                </p:cTn>
                              </p:par>
                              <p:par>
                                <p:cTn id="40" presetID="10" presetClass="entr" presetSubtype="0" fill="hold" nodeType="withEffect">
                                  <p:stCondLst>
                                    <p:cond delay="0"/>
                                  </p:stCondLst>
                                  <p:childTnLst>
                                    <p:set>
                                      <p:cBhvr>
                                        <p:cTn id="41" dur="1" fill="hold">
                                          <p:stCondLst>
                                            <p:cond delay="0"/>
                                          </p:stCondLst>
                                        </p:cTn>
                                        <p:tgtEl>
                                          <p:spTgt spid="2">
                                            <p:txEl>
                                              <p:pRg st="10" end="10"/>
                                            </p:txEl>
                                          </p:spTgt>
                                        </p:tgtEl>
                                        <p:attrNameLst>
                                          <p:attrName>style.visibility</p:attrName>
                                        </p:attrNameLst>
                                      </p:cBhvr>
                                      <p:to>
                                        <p:strVal val="visible"/>
                                      </p:to>
                                    </p:set>
                                    <p:animEffect transition="in" filter="fade">
                                      <p:cBhvr>
                                        <p:cTn id="42" dur="500"/>
                                        <p:tgtEl>
                                          <p:spTgt spid="2">
                                            <p:txEl>
                                              <p:pRg st="10" end="10"/>
                                            </p:txEl>
                                          </p:spTgt>
                                        </p:tgtEl>
                                      </p:cBhvr>
                                    </p:animEffect>
                                  </p:childTnLst>
                                </p:cTn>
                              </p:par>
                              <p:par>
                                <p:cTn id="43" presetID="10" presetClass="entr" presetSubtype="0" fill="hold" nodeType="withEffect">
                                  <p:stCondLst>
                                    <p:cond delay="0"/>
                                  </p:stCondLst>
                                  <p:childTnLst>
                                    <p:set>
                                      <p:cBhvr>
                                        <p:cTn id="44" dur="1" fill="hold">
                                          <p:stCondLst>
                                            <p:cond delay="0"/>
                                          </p:stCondLst>
                                        </p:cTn>
                                        <p:tgtEl>
                                          <p:spTgt spid="2">
                                            <p:txEl>
                                              <p:pRg st="11" end="11"/>
                                            </p:txEl>
                                          </p:spTgt>
                                        </p:tgtEl>
                                        <p:attrNameLst>
                                          <p:attrName>style.visibility</p:attrName>
                                        </p:attrNameLst>
                                      </p:cBhvr>
                                      <p:to>
                                        <p:strVal val="visible"/>
                                      </p:to>
                                    </p:set>
                                    <p:animEffect transition="in" filter="fade">
                                      <p:cBhvr>
                                        <p:cTn id="45" dur="500"/>
                                        <p:tgtEl>
                                          <p:spTgt spid="2">
                                            <p:txEl>
                                              <p:pRg st="11" end="11"/>
                                            </p:txEl>
                                          </p:spTgt>
                                        </p:tgtEl>
                                      </p:cBhvr>
                                    </p:animEffect>
                                  </p:childTnLst>
                                </p:cTn>
                              </p:par>
                              <p:par>
                                <p:cTn id="46" presetID="10" presetClass="entr" presetSubtype="0" fill="hold" nodeType="withEffect">
                                  <p:stCondLst>
                                    <p:cond delay="0"/>
                                  </p:stCondLst>
                                  <p:childTnLst>
                                    <p:set>
                                      <p:cBhvr>
                                        <p:cTn id="47" dur="1" fill="hold">
                                          <p:stCondLst>
                                            <p:cond delay="0"/>
                                          </p:stCondLst>
                                        </p:cTn>
                                        <p:tgtEl>
                                          <p:spTgt spid="2">
                                            <p:txEl>
                                              <p:pRg st="12" end="12"/>
                                            </p:txEl>
                                          </p:spTgt>
                                        </p:tgtEl>
                                        <p:attrNameLst>
                                          <p:attrName>style.visibility</p:attrName>
                                        </p:attrNameLst>
                                      </p:cBhvr>
                                      <p:to>
                                        <p:strVal val="visible"/>
                                      </p:to>
                                    </p:set>
                                    <p:animEffect transition="in" filter="fade">
                                      <p:cBhvr>
                                        <p:cTn id="48" dur="500"/>
                                        <p:tgtEl>
                                          <p:spTgt spid="2">
                                            <p:txEl>
                                              <p:pRg st="12" end="12"/>
                                            </p:txEl>
                                          </p:spTgt>
                                        </p:tgtEl>
                                      </p:cBhvr>
                                    </p:animEffect>
                                  </p:childTnLst>
                                </p:cTn>
                              </p:par>
                              <p:par>
                                <p:cTn id="49" presetID="10" presetClass="entr" presetSubtype="0" fill="hold" nodeType="withEffect">
                                  <p:stCondLst>
                                    <p:cond delay="0"/>
                                  </p:stCondLst>
                                  <p:childTnLst>
                                    <p:set>
                                      <p:cBhvr>
                                        <p:cTn id="50" dur="1" fill="hold">
                                          <p:stCondLst>
                                            <p:cond delay="0"/>
                                          </p:stCondLst>
                                        </p:cTn>
                                        <p:tgtEl>
                                          <p:spTgt spid="2">
                                            <p:txEl>
                                              <p:pRg st="13" end="13"/>
                                            </p:txEl>
                                          </p:spTgt>
                                        </p:tgtEl>
                                        <p:attrNameLst>
                                          <p:attrName>style.visibility</p:attrName>
                                        </p:attrNameLst>
                                      </p:cBhvr>
                                      <p:to>
                                        <p:strVal val="visible"/>
                                      </p:to>
                                    </p:set>
                                    <p:animEffect transition="in" filter="fade">
                                      <p:cBhvr>
                                        <p:cTn id="51" dur="500"/>
                                        <p:tgtEl>
                                          <p:spTgt spid="2">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7884BED-ABA7-2384-6766-A6FDF9A868F0}"/>
              </a:ext>
            </a:extLst>
          </p:cNvPr>
          <p:cNvSpPr>
            <a:spLocks noGrp="1"/>
          </p:cNvSpPr>
          <p:nvPr>
            <p:ph idx="1"/>
          </p:nvPr>
        </p:nvSpPr>
        <p:spPr/>
        <p:txBody>
          <a:bodyPr>
            <a:normAutofit lnSpcReduction="10000"/>
          </a:bodyPr>
          <a:lstStyle/>
          <a:p>
            <a:pPr>
              <a:buFont typeface="Wingdings" panose="05000000000000000000" pitchFamily="2" charset="2"/>
              <a:buChar char="v"/>
            </a:pPr>
            <a:r>
              <a:rPr lang="en-US" b="1" u="sng" dirty="0"/>
              <a:t>Synthesis</a:t>
            </a:r>
          </a:p>
          <a:p>
            <a:pPr lvl="1">
              <a:buFont typeface="Wingdings" panose="05000000000000000000" pitchFamily="2" charset="2"/>
              <a:buChar char="§"/>
            </a:pPr>
            <a:r>
              <a:rPr lang="en-GB" dirty="0"/>
              <a:t>If clock gating is needed, power compilers are used to convert mux-hold flops into gated clock.</a:t>
            </a:r>
          </a:p>
          <a:p>
            <a:pPr lvl="1">
              <a:buFont typeface="Wingdings" panose="05000000000000000000" pitchFamily="2" charset="2"/>
              <a:buChar char="§"/>
            </a:pPr>
            <a:r>
              <a:rPr lang="en-GB" dirty="0"/>
              <a:t>After inserting test structures, final timing analysis is performed. The synthesised netlist is now ready for detailed floorplanning.</a:t>
            </a:r>
          </a:p>
          <a:p>
            <a:pPr lvl="1">
              <a:buFont typeface="Wingdings" panose="05000000000000000000" pitchFamily="2" charset="2"/>
              <a:buChar char="§"/>
            </a:pPr>
            <a:r>
              <a:rPr lang="en-GB" dirty="0"/>
              <a:t>List of false paths should be completely correct and well revised not to set a wrong false path which will not be synthesisable or synthesis false path which will make the tool work hard to optimize it. (recommended to avoid false and multicycle paths).</a:t>
            </a:r>
          </a:p>
          <a:p>
            <a:pPr>
              <a:buFont typeface="Wingdings" panose="05000000000000000000" pitchFamily="2" charset="2"/>
              <a:buChar char="v"/>
            </a:pPr>
            <a:r>
              <a:rPr lang="en-GB" b="1" u="sng" dirty="0"/>
              <a:t>Equivalence</a:t>
            </a:r>
            <a:r>
              <a:rPr lang="en-GB" u="sng" dirty="0"/>
              <a:t> </a:t>
            </a:r>
            <a:r>
              <a:rPr lang="en-GB" b="1" u="sng" dirty="0"/>
              <a:t>check</a:t>
            </a:r>
          </a:p>
          <a:p>
            <a:pPr lvl="1">
              <a:buFont typeface="Wingdings" panose="05000000000000000000" pitchFamily="2" charset="2"/>
              <a:buChar char="§"/>
            </a:pPr>
            <a:r>
              <a:rPr lang="en-GB" dirty="0"/>
              <a:t>Use functional verification tools can be used to prove the equivalence of the RTL and synthesised netlist.</a:t>
            </a:r>
          </a:p>
          <a:p>
            <a:pPr>
              <a:buFont typeface="Wingdings" panose="05000000000000000000" pitchFamily="2" charset="2"/>
              <a:buChar char="v"/>
            </a:pPr>
            <a:r>
              <a:rPr lang="en-GB" b="1" u="sng" dirty="0"/>
              <a:t>DFT preparation</a:t>
            </a:r>
          </a:p>
          <a:p>
            <a:pPr lvl="1">
              <a:buFont typeface="Wingdings" panose="05000000000000000000" pitchFamily="2" charset="2"/>
              <a:buChar char="§"/>
            </a:pPr>
            <a:r>
              <a:rPr lang="en-GB" dirty="0"/>
              <a:t>Scan insertion preparations (scan ports and scan signals) for the DFT tool (if used). Then an ATPG* tool can be used to generate scan test vectors.</a:t>
            </a:r>
          </a:p>
          <a:p>
            <a:pPr marL="228600" lvl="1" indent="0">
              <a:buNone/>
            </a:pPr>
            <a:r>
              <a:rPr lang="en-GB" sz="1000" dirty="0"/>
              <a:t>*ATPG: Automatic Test pattern generator</a:t>
            </a:r>
          </a:p>
        </p:txBody>
      </p:sp>
      <p:sp>
        <p:nvSpPr>
          <p:cNvPr id="3" name="Title 2">
            <a:extLst>
              <a:ext uri="{FF2B5EF4-FFF2-40B4-BE49-F238E27FC236}">
                <a16:creationId xmlns:a16="http://schemas.microsoft.com/office/drawing/2014/main" id="{EC0BF0BC-B463-A56E-8BDF-94E23C597FCE}"/>
              </a:ext>
            </a:extLst>
          </p:cNvPr>
          <p:cNvSpPr>
            <a:spLocks noGrp="1"/>
          </p:cNvSpPr>
          <p:nvPr>
            <p:ph type="title"/>
          </p:nvPr>
        </p:nvSpPr>
        <p:spPr/>
        <p:txBody>
          <a:bodyPr/>
          <a:lstStyle/>
          <a:p>
            <a:r>
              <a:rPr lang="en-US" dirty="0"/>
              <a:t>5- Physical design (Design Planning and Synthesis)</a:t>
            </a:r>
            <a:endParaRPr lang="en-GB" dirty="0"/>
          </a:p>
        </p:txBody>
      </p:sp>
      <p:sp>
        <p:nvSpPr>
          <p:cNvPr id="4" name="Footer Placeholder 3">
            <a:extLst>
              <a:ext uri="{FF2B5EF4-FFF2-40B4-BE49-F238E27FC236}">
                <a16:creationId xmlns:a16="http://schemas.microsoft.com/office/drawing/2014/main" id="{728132D7-AE94-9577-BB37-073BD0F77FA9}"/>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B2AF7623-F420-CBD4-59AF-278A3883F2C3}"/>
              </a:ext>
            </a:extLst>
          </p:cNvPr>
          <p:cNvSpPr>
            <a:spLocks noGrp="1"/>
          </p:cNvSpPr>
          <p:nvPr>
            <p:ph type="sldNum" sz="quarter" idx="4"/>
          </p:nvPr>
        </p:nvSpPr>
        <p:spPr/>
        <p:txBody>
          <a:bodyPr/>
          <a:lstStyle/>
          <a:p>
            <a:pPr>
              <a:defRPr/>
            </a:pPr>
            <a:fld id="{A9CE67A1-BA7F-A74E-B5D7-615746DEEC2B}" type="slidenum">
              <a:rPr lang="en-US" smtClean="0"/>
              <a:pPr>
                <a:defRPr/>
              </a:pPr>
              <a:t>13</a:t>
            </a:fld>
            <a:endParaRPr lang="en-US" baseline="-11000" dirty="0"/>
          </a:p>
        </p:txBody>
      </p:sp>
      <p:sp>
        <p:nvSpPr>
          <p:cNvPr id="6" name="Date Placeholder 5">
            <a:extLst>
              <a:ext uri="{FF2B5EF4-FFF2-40B4-BE49-F238E27FC236}">
                <a16:creationId xmlns:a16="http://schemas.microsoft.com/office/drawing/2014/main" id="{A54E640B-95B1-4F2B-4D89-A215D29235D8}"/>
              </a:ext>
            </a:extLst>
          </p:cNvPr>
          <p:cNvSpPr>
            <a:spLocks noGrp="1"/>
          </p:cNvSpPr>
          <p:nvPr>
            <p:ph type="dt" sz="half" idx="2"/>
          </p:nvPr>
        </p:nvSpPr>
        <p:spPr/>
        <p:txBody>
          <a:bodyPr/>
          <a:lstStyle/>
          <a:p>
            <a:fld id="{EAFD7BB1-AB7F-4336-A8B3-6627E5D36FE4}" type="datetime3">
              <a:rPr lang="en-US" smtClean="0"/>
              <a:t>12 November 2022</a:t>
            </a:fld>
            <a:endParaRPr lang="en-US" dirty="0"/>
          </a:p>
        </p:txBody>
      </p:sp>
    </p:spTree>
    <p:extLst>
      <p:ext uri="{BB962C8B-B14F-4D97-AF65-F5344CB8AC3E}">
        <p14:creationId xmlns:p14="http://schemas.microsoft.com/office/powerpoint/2010/main" val="11211969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
                                            <p:txEl>
                                              <p:pRg st="1" end="1"/>
                                            </p:txEl>
                                          </p:spTgt>
                                        </p:tgtEl>
                                        <p:attrNameLst>
                                          <p:attrName>style.visibility</p:attrName>
                                        </p:attrNameLst>
                                      </p:cBhvr>
                                      <p:to>
                                        <p:strVal val="visible"/>
                                      </p:to>
                                    </p:set>
                                    <p:animEffect transition="in" filter="fade">
                                      <p:cBhvr>
                                        <p:cTn id="10" dur="500"/>
                                        <p:tgtEl>
                                          <p:spTgt spid="2">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Effect transition="in" filter="fade">
                                      <p:cBhvr>
                                        <p:cTn id="13" dur="500"/>
                                        <p:tgtEl>
                                          <p:spTgt spid="2">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2">
                                            <p:txEl>
                                              <p:pRg st="3" end="3"/>
                                            </p:txEl>
                                          </p:spTgt>
                                        </p:tgtEl>
                                        <p:attrNameLst>
                                          <p:attrName>style.visibility</p:attrName>
                                        </p:attrNameLst>
                                      </p:cBhvr>
                                      <p:to>
                                        <p:strVal val="visible"/>
                                      </p:to>
                                    </p:set>
                                    <p:animEffect transition="in" filter="fade">
                                      <p:cBhvr>
                                        <p:cTn id="16" dur="500"/>
                                        <p:tgtEl>
                                          <p:spTgt spid="2">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2">
                                            <p:txEl>
                                              <p:pRg st="4" end="4"/>
                                            </p:txEl>
                                          </p:spTgt>
                                        </p:tgtEl>
                                        <p:attrNameLst>
                                          <p:attrName>style.visibility</p:attrName>
                                        </p:attrNameLst>
                                      </p:cBhvr>
                                      <p:to>
                                        <p:strVal val="visible"/>
                                      </p:to>
                                    </p:set>
                                    <p:animEffect transition="in" filter="fade">
                                      <p:cBhvr>
                                        <p:cTn id="21" dur="500"/>
                                        <p:tgtEl>
                                          <p:spTgt spid="2">
                                            <p:txEl>
                                              <p:pRg st="4" end="4"/>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2">
                                            <p:txEl>
                                              <p:pRg st="5" end="5"/>
                                            </p:txEl>
                                          </p:spTgt>
                                        </p:tgtEl>
                                        <p:attrNameLst>
                                          <p:attrName>style.visibility</p:attrName>
                                        </p:attrNameLst>
                                      </p:cBhvr>
                                      <p:to>
                                        <p:strVal val="visible"/>
                                      </p:to>
                                    </p:set>
                                    <p:animEffect transition="in" filter="fade">
                                      <p:cBhvr>
                                        <p:cTn id="24" dur="500"/>
                                        <p:tgtEl>
                                          <p:spTgt spid="2">
                                            <p:txEl>
                                              <p:pRg st="5" end="5"/>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2">
                                            <p:txEl>
                                              <p:pRg st="6" end="6"/>
                                            </p:txEl>
                                          </p:spTgt>
                                        </p:tgtEl>
                                        <p:attrNameLst>
                                          <p:attrName>style.visibility</p:attrName>
                                        </p:attrNameLst>
                                      </p:cBhvr>
                                      <p:to>
                                        <p:strVal val="visible"/>
                                      </p:to>
                                    </p:set>
                                    <p:animEffect transition="in" filter="fade">
                                      <p:cBhvr>
                                        <p:cTn id="29" dur="500"/>
                                        <p:tgtEl>
                                          <p:spTgt spid="2">
                                            <p:txEl>
                                              <p:pRg st="6" end="6"/>
                                            </p:txEl>
                                          </p:spTgt>
                                        </p:tgtEl>
                                      </p:cBhvr>
                                    </p:animEffect>
                                  </p:childTnLst>
                                </p:cTn>
                              </p:par>
                              <p:par>
                                <p:cTn id="30" presetID="10" presetClass="entr" presetSubtype="0" fill="hold" nodeType="withEffect">
                                  <p:stCondLst>
                                    <p:cond delay="0"/>
                                  </p:stCondLst>
                                  <p:childTnLst>
                                    <p:set>
                                      <p:cBhvr>
                                        <p:cTn id="31" dur="1" fill="hold">
                                          <p:stCondLst>
                                            <p:cond delay="0"/>
                                          </p:stCondLst>
                                        </p:cTn>
                                        <p:tgtEl>
                                          <p:spTgt spid="2">
                                            <p:txEl>
                                              <p:pRg st="7" end="7"/>
                                            </p:txEl>
                                          </p:spTgt>
                                        </p:tgtEl>
                                        <p:attrNameLst>
                                          <p:attrName>style.visibility</p:attrName>
                                        </p:attrNameLst>
                                      </p:cBhvr>
                                      <p:to>
                                        <p:strVal val="visible"/>
                                      </p:to>
                                    </p:set>
                                    <p:animEffect transition="in" filter="fade">
                                      <p:cBhvr>
                                        <p:cTn id="32" dur="500"/>
                                        <p:tgtEl>
                                          <p:spTgt spid="2">
                                            <p:txEl>
                                              <p:pRg st="7" end="7"/>
                                            </p:txEl>
                                          </p:spTgt>
                                        </p:tgtEl>
                                      </p:cBhvr>
                                    </p:animEffect>
                                  </p:childTnLst>
                                </p:cTn>
                              </p:par>
                              <p:par>
                                <p:cTn id="33" presetID="10" presetClass="entr" presetSubtype="0" fill="hold" nodeType="withEffect">
                                  <p:stCondLst>
                                    <p:cond delay="0"/>
                                  </p:stCondLst>
                                  <p:childTnLst>
                                    <p:set>
                                      <p:cBhvr>
                                        <p:cTn id="34" dur="1" fill="hold">
                                          <p:stCondLst>
                                            <p:cond delay="0"/>
                                          </p:stCondLst>
                                        </p:cTn>
                                        <p:tgtEl>
                                          <p:spTgt spid="2">
                                            <p:txEl>
                                              <p:pRg st="8" end="8"/>
                                            </p:txEl>
                                          </p:spTgt>
                                        </p:tgtEl>
                                        <p:attrNameLst>
                                          <p:attrName>style.visibility</p:attrName>
                                        </p:attrNameLst>
                                      </p:cBhvr>
                                      <p:to>
                                        <p:strVal val="visible"/>
                                      </p:to>
                                    </p:set>
                                    <p:animEffect transition="in" filter="fade">
                                      <p:cBhvr>
                                        <p:cTn id="35" dur="500"/>
                                        <p:tgtEl>
                                          <p:spTgt spid="2">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73A823F-90C0-85DE-EDF6-5EED1B38D18B}"/>
              </a:ext>
            </a:extLst>
          </p:cNvPr>
          <p:cNvSpPr>
            <a:spLocks noGrp="1"/>
          </p:cNvSpPr>
          <p:nvPr>
            <p:ph idx="1"/>
          </p:nvPr>
        </p:nvSpPr>
        <p:spPr/>
        <p:txBody>
          <a:bodyPr/>
          <a:lstStyle/>
          <a:p>
            <a:pPr>
              <a:buFont typeface="Wingdings" panose="05000000000000000000" pitchFamily="2" charset="2"/>
              <a:buChar char="v"/>
            </a:pPr>
            <a:r>
              <a:rPr lang="en-US" b="1" u="sng" dirty="0" err="1"/>
              <a:t>Floorplanning</a:t>
            </a:r>
            <a:r>
              <a:rPr lang="en-US" b="1" u="sng" dirty="0"/>
              <a:t> and Power Planning</a:t>
            </a:r>
          </a:p>
          <a:p>
            <a:pPr lvl="1">
              <a:buFont typeface="Wingdings" panose="05000000000000000000" pitchFamily="2" charset="2"/>
              <a:buChar char="§"/>
            </a:pPr>
            <a:r>
              <a:rPr lang="en-GB" dirty="0"/>
              <a:t>During synthesis, we can never have accurate wire model (what was inserted was estimated).</a:t>
            </a:r>
          </a:p>
          <a:p>
            <a:pPr lvl="1">
              <a:buFont typeface="Wingdings" panose="05000000000000000000" pitchFamily="2" charset="2"/>
              <a:buChar char="§"/>
            </a:pPr>
            <a:r>
              <a:rPr lang="en-GB" dirty="0"/>
              <a:t>After the DFT insertion we can fix if “we have not already”:</a:t>
            </a:r>
          </a:p>
          <a:p>
            <a:pPr lvl="2"/>
            <a:r>
              <a:rPr lang="en-GB" dirty="0"/>
              <a:t>Block placement</a:t>
            </a:r>
          </a:p>
          <a:p>
            <a:pPr lvl="2"/>
            <a:r>
              <a:rPr lang="en-GB" dirty="0"/>
              <a:t>I/O pad placement</a:t>
            </a:r>
          </a:p>
          <a:p>
            <a:pPr lvl="2"/>
            <a:r>
              <a:rPr lang="en-GB" dirty="0"/>
              <a:t>Placement of I/O cells for each block</a:t>
            </a:r>
          </a:p>
          <a:p>
            <a:pPr lvl="1"/>
            <a:r>
              <a:rPr lang="en-GB" dirty="0"/>
              <a:t>Power mesh initial routing can be done taking into consideration that routing resources (metal layers and chip area) of the power could be used for signals.</a:t>
            </a:r>
          </a:p>
          <a:p>
            <a:pPr lvl="1"/>
            <a:r>
              <a:rPr lang="en-GB" dirty="0"/>
              <a:t>Often the chip will have different power supplies (and power rings) for I/O and core logic especially if they run off at different voltages.</a:t>
            </a:r>
          </a:p>
        </p:txBody>
      </p:sp>
      <p:sp>
        <p:nvSpPr>
          <p:cNvPr id="3" name="Title 2">
            <a:extLst>
              <a:ext uri="{FF2B5EF4-FFF2-40B4-BE49-F238E27FC236}">
                <a16:creationId xmlns:a16="http://schemas.microsoft.com/office/drawing/2014/main" id="{A81E4EA2-5564-3E76-5D73-5CE5357EF72D}"/>
              </a:ext>
            </a:extLst>
          </p:cNvPr>
          <p:cNvSpPr>
            <a:spLocks noGrp="1"/>
          </p:cNvSpPr>
          <p:nvPr>
            <p:ph type="title"/>
          </p:nvPr>
        </p:nvSpPr>
        <p:spPr/>
        <p:txBody>
          <a:bodyPr/>
          <a:lstStyle/>
          <a:p>
            <a:r>
              <a:rPr lang="en-US" dirty="0"/>
              <a:t>5- Physical design (Physical Placement)</a:t>
            </a:r>
            <a:endParaRPr lang="en-GB" dirty="0"/>
          </a:p>
        </p:txBody>
      </p:sp>
      <p:sp>
        <p:nvSpPr>
          <p:cNvPr id="4" name="Footer Placeholder 3">
            <a:extLst>
              <a:ext uri="{FF2B5EF4-FFF2-40B4-BE49-F238E27FC236}">
                <a16:creationId xmlns:a16="http://schemas.microsoft.com/office/drawing/2014/main" id="{06C6D133-8593-2EF4-40D0-1D6EB913AED6}"/>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990DF9AB-C693-5D85-2333-05B5B13B340B}"/>
              </a:ext>
            </a:extLst>
          </p:cNvPr>
          <p:cNvSpPr>
            <a:spLocks noGrp="1"/>
          </p:cNvSpPr>
          <p:nvPr>
            <p:ph type="sldNum" sz="quarter" idx="4"/>
          </p:nvPr>
        </p:nvSpPr>
        <p:spPr/>
        <p:txBody>
          <a:bodyPr/>
          <a:lstStyle/>
          <a:p>
            <a:pPr>
              <a:defRPr/>
            </a:pPr>
            <a:fld id="{A9CE67A1-BA7F-A74E-B5D7-615746DEEC2B}" type="slidenum">
              <a:rPr lang="en-US" smtClean="0"/>
              <a:pPr>
                <a:defRPr/>
              </a:pPr>
              <a:t>14</a:t>
            </a:fld>
            <a:endParaRPr lang="en-US" baseline="-11000" dirty="0"/>
          </a:p>
        </p:txBody>
      </p:sp>
      <p:sp>
        <p:nvSpPr>
          <p:cNvPr id="6" name="Date Placeholder 5">
            <a:extLst>
              <a:ext uri="{FF2B5EF4-FFF2-40B4-BE49-F238E27FC236}">
                <a16:creationId xmlns:a16="http://schemas.microsoft.com/office/drawing/2014/main" id="{CC53A255-2554-996B-2EDF-300D2CB58512}"/>
              </a:ext>
            </a:extLst>
          </p:cNvPr>
          <p:cNvSpPr>
            <a:spLocks noGrp="1"/>
          </p:cNvSpPr>
          <p:nvPr>
            <p:ph type="dt" sz="half" idx="2"/>
          </p:nvPr>
        </p:nvSpPr>
        <p:spPr/>
        <p:txBody>
          <a:bodyPr/>
          <a:lstStyle/>
          <a:p>
            <a:fld id="{EAFD7BB1-AB7F-4336-A8B3-6627E5D36FE4}" type="datetime3">
              <a:rPr lang="en-US" smtClean="0"/>
              <a:t>12 November 2022</a:t>
            </a:fld>
            <a:endParaRPr lang="en-US" dirty="0"/>
          </a:p>
        </p:txBody>
      </p:sp>
    </p:spTree>
    <p:extLst>
      <p:ext uri="{BB962C8B-B14F-4D97-AF65-F5344CB8AC3E}">
        <p14:creationId xmlns:p14="http://schemas.microsoft.com/office/powerpoint/2010/main" val="4134595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32C79D1-6969-05E1-7FCC-4D6FEC7D7725}"/>
              </a:ext>
            </a:extLst>
          </p:cNvPr>
          <p:cNvSpPr>
            <a:spLocks noGrp="1"/>
          </p:cNvSpPr>
          <p:nvPr>
            <p:ph idx="1"/>
          </p:nvPr>
        </p:nvSpPr>
        <p:spPr/>
        <p:txBody>
          <a:bodyPr/>
          <a:lstStyle/>
          <a:p>
            <a:pPr>
              <a:buFont typeface="Wingdings" panose="05000000000000000000" pitchFamily="2" charset="2"/>
              <a:buChar char="v"/>
            </a:pPr>
            <a:r>
              <a:rPr lang="en-US" b="1" u="sng" dirty="0"/>
              <a:t>Placement and Physical Scan Insertion</a:t>
            </a:r>
            <a:endParaRPr lang="en-US" dirty="0"/>
          </a:p>
          <a:p>
            <a:pPr lvl="1"/>
            <a:r>
              <a:rPr lang="en-GB" dirty="0"/>
              <a:t>Timing-driven placement technology is provided now. To use it effectively we need to provide to the physical synthesis:</a:t>
            </a:r>
          </a:p>
          <a:p>
            <a:pPr lvl="2"/>
            <a:r>
              <a:rPr lang="en-GB" dirty="0"/>
              <a:t>Technology file that models the interconnect parasitic</a:t>
            </a:r>
          </a:p>
          <a:p>
            <a:pPr lvl="2"/>
            <a:r>
              <a:rPr lang="en-US" dirty="0"/>
              <a:t>Reasonable and accurate timing constraints</a:t>
            </a:r>
          </a:p>
          <a:p>
            <a:pPr lvl="2"/>
            <a:r>
              <a:rPr lang="en-US" dirty="0"/>
              <a:t>Comprehensive physical library for all cells undergoing placement</a:t>
            </a:r>
          </a:p>
          <a:p>
            <a:pPr lvl="2"/>
            <a:r>
              <a:rPr lang="en-US" dirty="0"/>
              <a:t>A design which meets tool specifications and is optimization-friendly</a:t>
            </a:r>
          </a:p>
          <a:p>
            <a:pPr lvl="1"/>
            <a:r>
              <a:rPr lang="en-US" dirty="0"/>
              <a:t>Estimation of the capacitance of the metal interconnect relies on the technology file. They affect the delay of the gate (total capacitance seen by the gate). We should consider worst case so that the final routing is no worse.</a:t>
            </a:r>
          </a:p>
          <a:p>
            <a:pPr lvl="1"/>
            <a:r>
              <a:rPr lang="en-US" dirty="0"/>
              <a:t>Estimation for the actual length can be done assuming Steiner route (which is </a:t>
            </a:r>
          </a:p>
          <a:p>
            <a:pPr marL="228600" lvl="1" indent="0">
              <a:buNone/>
            </a:pPr>
            <a:r>
              <a:rPr lang="en-US" dirty="0"/>
              <a:t>	optimal route). Another routing techniques can be considered if area is congested.</a:t>
            </a:r>
          </a:p>
          <a:p>
            <a:pPr lvl="1"/>
            <a:r>
              <a:rPr lang="en-US" dirty="0"/>
              <a:t>Report of estimated capacitance is generated after completing the placement.</a:t>
            </a:r>
          </a:p>
          <a:p>
            <a:pPr lvl="1"/>
            <a:endParaRPr lang="en-US" dirty="0"/>
          </a:p>
          <a:p>
            <a:pPr lvl="1"/>
            <a:endParaRPr lang="en-GB" dirty="0"/>
          </a:p>
        </p:txBody>
      </p:sp>
      <p:sp>
        <p:nvSpPr>
          <p:cNvPr id="3" name="Title 2">
            <a:extLst>
              <a:ext uri="{FF2B5EF4-FFF2-40B4-BE49-F238E27FC236}">
                <a16:creationId xmlns:a16="http://schemas.microsoft.com/office/drawing/2014/main" id="{B439EA1B-A43F-3E57-DD8D-CE2CF12779F5}"/>
              </a:ext>
            </a:extLst>
          </p:cNvPr>
          <p:cNvSpPr>
            <a:spLocks noGrp="1"/>
          </p:cNvSpPr>
          <p:nvPr>
            <p:ph type="title"/>
          </p:nvPr>
        </p:nvSpPr>
        <p:spPr/>
        <p:txBody>
          <a:bodyPr/>
          <a:lstStyle/>
          <a:p>
            <a:r>
              <a:rPr lang="en-US" dirty="0"/>
              <a:t>5- Physical design (Physical Placement)</a:t>
            </a:r>
            <a:endParaRPr lang="en-GB" dirty="0"/>
          </a:p>
        </p:txBody>
      </p:sp>
      <p:sp>
        <p:nvSpPr>
          <p:cNvPr id="4" name="Footer Placeholder 3">
            <a:extLst>
              <a:ext uri="{FF2B5EF4-FFF2-40B4-BE49-F238E27FC236}">
                <a16:creationId xmlns:a16="http://schemas.microsoft.com/office/drawing/2014/main" id="{D84AA49A-6B5E-912A-4672-4578A0D64E7A}"/>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5D9E7E97-826E-D57E-CE0A-82B4D5268998}"/>
              </a:ext>
            </a:extLst>
          </p:cNvPr>
          <p:cNvSpPr>
            <a:spLocks noGrp="1"/>
          </p:cNvSpPr>
          <p:nvPr>
            <p:ph type="sldNum" sz="quarter" idx="4"/>
          </p:nvPr>
        </p:nvSpPr>
        <p:spPr/>
        <p:txBody>
          <a:bodyPr/>
          <a:lstStyle/>
          <a:p>
            <a:pPr>
              <a:defRPr/>
            </a:pPr>
            <a:fld id="{A9CE67A1-BA7F-A74E-B5D7-615746DEEC2B}" type="slidenum">
              <a:rPr lang="en-US" smtClean="0"/>
              <a:pPr>
                <a:defRPr/>
              </a:pPr>
              <a:t>15</a:t>
            </a:fld>
            <a:endParaRPr lang="en-US" baseline="-11000" dirty="0"/>
          </a:p>
        </p:txBody>
      </p:sp>
      <p:sp>
        <p:nvSpPr>
          <p:cNvPr id="6" name="Date Placeholder 5">
            <a:extLst>
              <a:ext uri="{FF2B5EF4-FFF2-40B4-BE49-F238E27FC236}">
                <a16:creationId xmlns:a16="http://schemas.microsoft.com/office/drawing/2014/main" id="{7280F858-8FC7-C672-8F29-1E09979C8427}"/>
              </a:ext>
            </a:extLst>
          </p:cNvPr>
          <p:cNvSpPr>
            <a:spLocks noGrp="1"/>
          </p:cNvSpPr>
          <p:nvPr>
            <p:ph type="dt" sz="half" idx="2"/>
          </p:nvPr>
        </p:nvSpPr>
        <p:spPr/>
        <p:txBody>
          <a:bodyPr/>
          <a:lstStyle/>
          <a:p>
            <a:fld id="{EAFD7BB1-AB7F-4336-A8B3-6627E5D36FE4}" type="datetime3">
              <a:rPr lang="en-US" smtClean="0"/>
              <a:t>12 November 2022</a:t>
            </a:fld>
            <a:endParaRPr lang="en-US" dirty="0"/>
          </a:p>
        </p:txBody>
      </p:sp>
      <p:pic>
        <p:nvPicPr>
          <p:cNvPr id="2050" name="Picture 2">
            <a:hlinkClick r:id="rId2"/>
            <a:extLst>
              <a:ext uri="{FF2B5EF4-FFF2-40B4-BE49-F238E27FC236}">
                <a16:creationId xmlns:a16="http://schemas.microsoft.com/office/drawing/2014/main" id="{E121BBED-09E6-3E1C-ADDF-191A7853DBA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84205" y="2752559"/>
            <a:ext cx="2095500" cy="236220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2ECFAD93-6FDE-660B-C6DB-4B2E06344319}"/>
              </a:ext>
            </a:extLst>
          </p:cNvPr>
          <p:cNvSpPr txBox="1"/>
          <p:nvPr/>
        </p:nvSpPr>
        <p:spPr>
          <a:xfrm>
            <a:off x="10488706" y="5114759"/>
            <a:ext cx="914400" cy="914400"/>
          </a:xfrm>
          <a:prstGeom prst="rect">
            <a:avLst/>
          </a:prstGeom>
          <a:noFill/>
        </p:spPr>
        <p:txBody>
          <a:bodyPr wrap="none" lIns="0" tIns="0" rIns="0" bIns="0" rtlCol="0">
            <a:noAutofit/>
          </a:bodyPr>
          <a:lstStyle/>
          <a:p>
            <a:pPr defTabSz="457200">
              <a:spcBef>
                <a:spcPts val="1000"/>
              </a:spcBef>
              <a:buClr>
                <a:srgbClr val="1E4056"/>
              </a:buClr>
              <a:buSzPct val="75000"/>
            </a:pPr>
            <a:r>
              <a:rPr lang="en-US" sz="1000" dirty="0">
                <a:solidFill>
                  <a:srgbClr val="000000"/>
                </a:solidFill>
              </a:rPr>
              <a:t>Figure.6:Steiner Route</a:t>
            </a:r>
            <a:endParaRPr lang="en-GB" sz="1000" dirty="0">
              <a:solidFill>
                <a:srgbClr val="000000"/>
              </a:solidFill>
            </a:endParaRPr>
          </a:p>
        </p:txBody>
      </p:sp>
    </p:spTree>
    <p:extLst>
      <p:ext uri="{BB962C8B-B14F-4D97-AF65-F5344CB8AC3E}">
        <p14:creationId xmlns:p14="http://schemas.microsoft.com/office/powerpoint/2010/main" val="18369101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5BC0006-E5A9-0622-049C-FAEF26E27609}"/>
              </a:ext>
            </a:extLst>
          </p:cNvPr>
          <p:cNvSpPr>
            <a:spLocks noGrp="1"/>
          </p:cNvSpPr>
          <p:nvPr>
            <p:ph idx="1"/>
          </p:nvPr>
        </p:nvSpPr>
        <p:spPr>
          <a:xfrm>
            <a:off x="355600" y="1066799"/>
            <a:ext cx="10274300" cy="5269833"/>
          </a:xfrm>
        </p:spPr>
        <p:txBody>
          <a:bodyPr>
            <a:normAutofit lnSpcReduction="10000"/>
          </a:bodyPr>
          <a:lstStyle/>
          <a:p>
            <a:pPr>
              <a:buFont typeface="Wingdings" panose="05000000000000000000" pitchFamily="2" charset="2"/>
              <a:buChar char="v"/>
            </a:pPr>
            <a:r>
              <a:rPr lang="en-US" b="1" u="sng" dirty="0"/>
              <a:t>Deriving Constraints</a:t>
            </a:r>
            <a:endParaRPr lang="en-US" dirty="0"/>
          </a:p>
          <a:p>
            <a:pPr lvl="1">
              <a:buFont typeface="Wingdings" panose="05000000000000000000" pitchFamily="2" charset="2"/>
              <a:buChar char="§"/>
            </a:pPr>
            <a:r>
              <a:rPr lang="en-GB" dirty="0"/>
              <a:t>Well-derived constraints can make synthesis and placement run faster and converge with fewer iterations. Over-constraining the design can take much longer time for the too; to achieve those hard constraints.</a:t>
            </a:r>
          </a:p>
          <a:p>
            <a:pPr lvl="1">
              <a:buFont typeface="Wingdings" panose="05000000000000000000" pitchFamily="2" charset="2"/>
              <a:buChar char="§"/>
            </a:pPr>
            <a:r>
              <a:rPr lang="en-GB" dirty="0"/>
              <a:t>False paths should be pre-determined before placement.</a:t>
            </a:r>
          </a:p>
          <a:p>
            <a:pPr>
              <a:buFont typeface="Wingdings" panose="05000000000000000000" pitchFamily="2" charset="2"/>
              <a:buChar char="v"/>
            </a:pPr>
            <a:r>
              <a:rPr lang="en-GB" b="1" u="sng" dirty="0"/>
              <a:t>Flat vs. Hierarchical Placement</a:t>
            </a:r>
          </a:p>
          <a:p>
            <a:pPr lvl="1">
              <a:buFont typeface="Wingdings" panose="05000000000000000000" pitchFamily="2" charset="2"/>
              <a:buChar char="§"/>
            </a:pPr>
            <a:r>
              <a:rPr lang="en-GB" dirty="0"/>
              <a:t>Some designs (e.g. microprocessor) are designed with strict hierarchy, that includes:</a:t>
            </a:r>
          </a:p>
          <a:p>
            <a:pPr lvl="2"/>
            <a:r>
              <a:rPr lang="en-GB" dirty="0"/>
              <a:t>Location of each major block is identified early</a:t>
            </a:r>
          </a:p>
          <a:p>
            <a:pPr lvl="2"/>
            <a:r>
              <a:rPr lang="en-GB" dirty="0"/>
              <a:t>Pin locations for I/O of each block is assigned</a:t>
            </a:r>
          </a:p>
          <a:p>
            <a:pPr lvl="2"/>
            <a:r>
              <a:rPr lang="en-GB" dirty="0"/>
              <a:t>Some room between blocks is reserved for top-level routing</a:t>
            </a:r>
          </a:p>
          <a:p>
            <a:pPr lvl="2"/>
            <a:r>
              <a:rPr lang="en-GB" dirty="0"/>
              <a:t>Top level routing is done before blocks placement</a:t>
            </a:r>
          </a:p>
          <a:p>
            <a:pPr lvl="1"/>
            <a:r>
              <a:rPr lang="en-GB" dirty="0"/>
              <a:t>Second approach is to do completely flat place and route where:</a:t>
            </a:r>
          </a:p>
          <a:p>
            <a:pPr lvl="2"/>
            <a:r>
              <a:rPr lang="en-GB" dirty="0"/>
              <a:t>Location of each major block is identified early</a:t>
            </a:r>
          </a:p>
          <a:p>
            <a:pPr lvl="2"/>
            <a:r>
              <a:rPr lang="en-GB" dirty="0"/>
              <a:t>Timing constraints are developed for the design based on the information from the steps above and the entire design is placed as a unit</a:t>
            </a:r>
          </a:p>
          <a:p>
            <a:pPr lvl="2"/>
            <a:r>
              <a:rPr lang="en-GB" dirty="0"/>
              <a:t>Detailed routing is performed on the chip a single unit.</a:t>
            </a:r>
          </a:p>
        </p:txBody>
      </p:sp>
      <p:sp>
        <p:nvSpPr>
          <p:cNvPr id="3" name="Title 2">
            <a:extLst>
              <a:ext uri="{FF2B5EF4-FFF2-40B4-BE49-F238E27FC236}">
                <a16:creationId xmlns:a16="http://schemas.microsoft.com/office/drawing/2014/main" id="{0295985C-8FEB-D693-91F0-F29CDD5BCAA3}"/>
              </a:ext>
            </a:extLst>
          </p:cNvPr>
          <p:cNvSpPr>
            <a:spLocks noGrp="1"/>
          </p:cNvSpPr>
          <p:nvPr>
            <p:ph type="title"/>
          </p:nvPr>
        </p:nvSpPr>
        <p:spPr/>
        <p:txBody>
          <a:bodyPr/>
          <a:lstStyle/>
          <a:p>
            <a:r>
              <a:rPr lang="en-US" dirty="0"/>
              <a:t>5- Physical design (Physical Placement)</a:t>
            </a:r>
            <a:endParaRPr lang="en-GB" dirty="0"/>
          </a:p>
        </p:txBody>
      </p:sp>
      <p:sp>
        <p:nvSpPr>
          <p:cNvPr id="4" name="Footer Placeholder 3">
            <a:extLst>
              <a:ext uri="{FF2B5EF4-FFF2-40B4-BE49-F238E27FC236}">
                <a16:creationId xmlns:a16="http://schemas.microsoft.com/office/drawing/2014/main" id="{7E2FCA42-30A5-9C5C-8684-E4625880FCAC}"/>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23C9C205-D1E7-D489-540D-7A9D08A1A480}"/>
              </a:ext>
            </a:extLst>
          </p:cNvPr>
          <p:cNvSpPr>
            <a:spLocks noGrp="1"/>
          </p:cNvSpPr>
          <p:nvPr>
            <p:ph type="sldNum" sz="quarter" idx="4"/>
          </p:nvPr>
        </p:nvSpPr>
        <p:spPr/>
        <p:txBody>
          <a:bodyPr/>
          <a:lstStyle/>
          <a:p>
            <a:pPr>
              <a:defRPr/>
            </a:pPr>
            <a:fld id="{A9CE67A1-BA7F-A74E-B5D7-615746DEEC2B}" type="slidenum">
              <a:rPr lang="en-US" smtClean="0"/>
              <a:pPr>
                <a:defRPr/>
              </a:pPr>
              <a:t>16</a:t>
            </a:fld>
            <a:endParaRPr lang="en-US" baseline="-11000" dirty="0"/>
          </a:p>
        </p:txBody>
      </p:sp>
      <p:sp>
        <p:nvSpPr>
          <p:cNvPr id="6" name="Date Placeholder 5">
            <a:extLst>
              <a:ext uri="{FF2B5EF4-FFF2-40B4-BE49-F238E27FC236}">
                <a16:creationId xmlns:a16="http://schemas.microsoft.com/office/drawing/2014/main" id="{AA5B6451-B08B-34BB-21C2-D58FD07F9080}"/>
              </a:ext>
            </a:extLst>
          </p:cNvPr>
          <p:cNvSpPr>
            <a:spLocks noGrp="1"/>
          </p:cNvSpPr>
          <p:nvPr>
            <p:ph type="dt" sz="half" idx="2"/>
          </p:nvPr>
        </p:nvSpPr>
        <p:spPr/>
        <p:txBody>
          <a:bodyPr/>
          <a:lstStyle/>
          <a:p>
            <a:fld id="{EAFD7BB1-AB7F-4336-A8B3-6627E5D36FE4}" type="datetime3">
              <a:rPr lang="en-US" smtClean="0"/>
              <a:t>12 November 2022</a:t>
            </a:fld>
            <a:endParaRPr lang="en-US" dirty="0"/>
          </a:p>
        </p:txBody>
      </p:sp>
    </p:spTree>
    <p:extLst>
      <p:ext uri="{BB962C8B-B14F-4D97-AF65-F5344CB8AC3E}">
        <p14:creationId xmlns:p14="http://schemas.microsoft.com/office/powerpoint/2010/main" val="24370944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
                                            <p:txEl>
                                              <p:pRg st="1" end="1"/>
                                            </p:txEl>
                                          </p:spTgt>
                                        </p:tgtEl>
                                        <p:attrNameLst>
                                          <p:attrName>style.visibility</p:attrName>
                                        </p:attrNameLst>
                                      </p:cBhvr>
                                      <p:to>
                                        <p:strVal val="visible"/>
                                      </p:to>
                                    </p:set>
                                    <p:animEffect transition="in" filter="fade">
                                      <p:cBhvr>
                                        <p:cTn id="10" dur="500"/>
                                        <p:tgtEl>
                                          <p:spTgt spid="2">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Effect transition="in" filter="fade">
                                      <p:cBhvr>
                                        <p:cTn id="13" dur="500"/>
                                        <p:tgtEl>
                                          <p:spTgt spid="2">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2">
                                            <p:txEl>
                                              <p:pRg st="3" end="3"/>
                                            </p:txEl>
                                          </p:spTgt>
                                        </p:tgtEl>
                                        <p:attrNameLst>
                                          <p:attrName>style.visibility</p:attrName>
                                        </p:attrNameLst>
                                      </p:cBhvr>
                                      <p:to>
                                        <p:strVal val="visible"/>
                                      </p:to>
                                    </p:set>
                                    <p:animEffect transition="in" filter="fade">
                                      <p:cBhvr>
                                        <p:cTn id="18" dur="500"/>
                                        <p:tgtEl>
                                          <p:spTgt spid="2">
                                            <p:txEl>
                                              <p:pRg st="3" end="3"/>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2">
                                            <p:txEl>
                                              <p:pRg st="4" end="4"/>
                                            </p:txEl>
                                          </p:spTgt>
                                        </p:tgtEl>
                                        <p:attrNameLst>
                                          <p:attrName>style.visibility</p:attrName>
                                        </p:attrNameLst>
                                      </p:cBhvr>
                                      <p:to>
                                        <p:strVal val="visible"/>
                                      </p:to>
                                    </p:set>
                                    <p:animEffect transition="in" filter="fade">
                                      <p:cBhvr>
                                        <p:cTn id="21" dur="500"/>
                                        <p:tgtEl>
                                          <p:spTgt spid="2">
                                            <p:txEl>
                                              <p:pRg st="4" end="4"/>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2">
                                            <p:txEl>
                                              <p:pRg st="5" end="5"/>
                                            </p:txEl>
                                          </p:spTgt>
                                        </p:tgtEl>
                                        <p:attrNameLst>
                                          <p:attrName>style.visibility</p:attrName>
                                        </p:attrNameLst>
                                      </p:cBhvr>
                                      <p:to>
                                        <p:strVal val="visible"/>
                                      </p:to>
                                    </p:set>
                                    <p:animEffect transition="in" filter="fade">
                                      <p:cBhvr>
                                        <p:cTn id="24" dur="500"/>
                                        <p:tgtEl>
                                          <p:spTgt spid="2">
                                            <p:txEl>
                                              <p:pRg st="5" end="5"/>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2">
                                            <p:txEl>
                                              <p:pRg st="6" end="6"/>
                                            </p:txEl>
                                          </p:spTgt>
                                        </p:tgtEl>
                                        <p:attrNameLst>
                                          <p:attrName>style.visibility</p:attrName>
                                        </p:attrNameLst>
                                      </p:cBhvr>
                                      <p:to>
                                        <p:strVal val="visible"/>
                                      </p:to>
                                    </p:set>
                                    <p:animEffect transition="in" filter="fade">
                                      <p:cBhvr>
                                        <p:cTn id="27" dur="500"/>
                                        <p:tgtEl>
                                          <p:spTgt spid="2">
                                            <p:txEl>
                                              <p:pRg st="6" end="6"/>
                                            </p:txEl>
                                          </p:spTgt>
                                        </p:tgtEl>
                                      </p:cBhvr>
                                    </p:animEffect>
                                  </p:childTnLst>
                                </p:cTn>
                              </p:par>
                              <p:par>
                                <p:cTn id="28" presetID="10" presetClass="entr" presetSubtype="0" fill="hold" nodeType="withEffect">
                                  <p:stCondLst>
                                    <p:cond delay="0"/>
                                  </p:stCondLst>
                                  <p:childTnLst>
                                    <p:set>
                                      <p:cBhvr>
                                        <p:cTn id="29" dur="1" fill="hold">
                                          <p:stCondLst>
                                            <p:cond delay="0"/>
                                          </p:stCondLst>
                                        </p:cTn>
                                        <p:tgtEl>
                                          <p:spTgt spid="2">
                                            <p:txEl>
                                              <p:pRg st="7" end="7"/>
                                            </p:txEl>
                                          </p:spTgt>
                                        </p:tgtEl>
                                        <p:attrNameLst>
                                          <p:attrName>style.visibility</p:attrName>
                                        </p:attrNameLst>
                                      </p:cBhvr>
                                      <p:to>
                                        <p:strVal val="visible"/>
                                      </p:to>
                                    </p:set>
                                    <p:animEffect transition="in" filter="fade">
                                      <p:cBhvr>
                                        <p:cTn id="30" dur="500"/>
                                        <p:tgtEl>
                                          <p:spTgt spid="2">
                                            <p:txEl>
                                              <p:pRg st="7" end="7"/>
                                            </p:txEl>
                                          </p:spTgt>
                                        </p:tgtEl>
                                      </p:cBhvr>
                                    </p:animEffect>
                                  </p:childTnLst>
                                </p:cTn>
                              </p:par>
                              <p:par>
                                <p:cTn id="31" presetID="10" presetClass="entr" presetSubtype="0" fill="hold" nodeType="withEffect">
                                  <p:stCondLst>
                                    <p:cond delay="0"/>
                                  </p:stCondLst>
                                  <p:childTnLst>
                                    <p:set>
                                      <p:cBhvr>
                                        <p:cTn id="32" dur="1" fill="hold">
                                          <p:stCondLst>
                                            <p:cond delay="0"/>
                                          </p:stCondLst>
                                        </p:cTn>
                                        <p:tgtEl>
                                          <p:spTgt spid="2">
                                            <p:txEl>
                                              <p:pRg st="8" end="8"/>
                                            </p:txEl>
                                          </p:spTgt>
                                        </p:tgtEl>
                                        <p:attrNameLst>
                                          <p:attrName>style.visibility</p:attrName>
                                        </p:attrNameLst>
                                      </p:cBhvr>
                                      <p:to>
                                        <p:strVal val="visible"/>
                                      </p:to>
                                    </p:set>
                                    <p:animEffect transition="in" filter="fade">
                                      <p:cBhvr>
                                        <p:cTn id="33" dur="500"/>
                                        <p:tgtEl>
                                          <p:spTgt spid="2">
                                            <p:txEl>
                                              <p:pRg st="8" end="8"/>
                                            </p:txEl>
                                          </p:spTgt>
                                        </p:tgtEl>
                                      </p:cBhvr>
                                    </p:animEffect>
                                  </p:childTnLst>
                                </p:cTn>
                              </p:par>
                              <p:par>
                                <p:cTn id="34" presetID="10" presetClass="entr" presetSubtype="0" fill="hold" nodeType="withEffect">
                                  <p:stCondLst>
                                    <p:cond delay="0"/>
                                  </p:stCondLst>
                                  <p:childTnLst>
                                    <p:set>
                                      <p:cBhvr>
                                        <p:cTn id="35" dur="1" fill="hold">
                                          <p:stCondLst>
                                            <p:cond delay="0"/>
                                          </p:stCondLst>
                                        </p:cTn>
                                        <p:tgtEl>
                                          <p:spTgt spid="2">
                                            <p:txEl>
                                              <p:pRg st="9" end="9"/>
                                            </p:txEl>
                                          </p:spTgt>
                                        </p:tgtEl>
                                        <p:attrNameLst>
                                          <p:attrName>style.visibility</p:attrName>
                                        </p:attrNameLst>
                                      </p:cBhvr>
                                      <p:to>
                                        <p:strVal val="visible"/>
                                      </p:to>
                                    </p:set>
                                    <p:animEffect transition="in" filter="fade">
                                      <p:cBhvr>
                                        <p:cTn id="36" dur="500"/>
                                        <p:tgtEl>
                                          <p:spTgt spid="2">
                                            <p:txEl>
                                              <p:pRg st="9" end="9"/>
                                            </p:txEl>
                                          </p:spTgt>
                                        </p:tgtEl>
                                      </p:cBhvr>
                                    </p:animEffect>
                                  </p:childTnLst>
                                </p:cTn>
                              </p:par>
                              <p:par>
                                <p:cTn id="37" presetID="10" presetClass="entr" presetSubtype="0" fill="hold" nodeType="withEffect">
                                  <p:stCondLst>
                                    <p:cond delay="0"/>
                                  </p:stCondLst>
                                  <p:childTnLst>
                                    <p:set>
                                      <p:cBhvr>
                                        <p:cTn id="38" dur="1" fill="hold">
                                          <p:stCondLst>
                                            <p:cond delay="0"/>
                                          </p:stCondLst>
                                        </p:cTn>
                                        <p:tgtEl>
                                          <p:spTgt spid="2">
                                            <p:txEl>
                                              <p:pRg st="10" end="10"/>
                                            </p:txEl>
                                          </p:spTgt>
                                        </p:tgtEl>
                                        <p:attrNameLst>
                                          <p:attrName>style.visibility</p:attrName>
                                        </p:attrNameLst>
                                      </p:cBhvr>
                                      <p:to>
                                        <p:strVal val="visible"/>
                                      </p:to>
                                    </p:set>
                                    <p:animEffect transition="in" filter="fade">
                                      <p:cBhvr>
                                        <p:cTn id="39" dur="500"/>
                                        <p:tgtEl>
                                          <p:spTgt spid="2">
                                            <p:txEl>
                                              <p:pRg st="10" end="10"/>
                                            </p:txEl>
                                          </p:spTgt>
                                        </p:tgtEl>
                                      </p:cBhvr>
                                    </p:animEffect>
                                  </p:childTnLst>
                                </p:cTn>
                              </p:par>
                              <p:par>
                                <p:cTn id="40" presetID="10" presetClass="entr" presetSubtype="0" fill="hold" nodeType="withEffect">
                                  <p:stCondLst>
                                    <p:cond delay="0"/>
                                  </p:stCondLst>
                                  <p:childTnLst>
                                    <p:set>
                                      <p:cBhvr>
                                        <p:cTn id="41" dur="1" fill="hold">
                                          <p:stCondLst>
                                            <p:cond delay="0"/>
                                          </p:stCondLst>
                                        </p:cTn>
                                        <p:tgtEl>
                                          <p:spTgt spid="2">
                                            <p:txEl>
                                              <p:pRg st="11" end="11"/>
                                            </p:txEl>
                                          </p:spTgt>
                                        </p:tgtEl>
                                        <p:attrNameLst>
                                          <p:attrName>style.visibility</p:attrName>
                                        </p:attrNameLst>
                                      </p:cBhvr>
                                      <p:to>
                                        <p:strVal val="visible"/>
                                      </p:to>
                                    </p:set>
                                    <p:animEffect transition="in" filter="fade">
                                      <p:cBhvr>
                                        <p:cTn id="42" dur="500"/>
                                        <p:tgtEl>
                                          <p:spTgt spid="2">
                                            <p:txEl>
                                              <p:pRg st="11" end="11"/>
                                            </p:txEl>
                                          </p:spTgt>
                                        </p:tgtEl>
                                      </p:cBhvr>
                                    </p:animEffect>
                                  </p:childTnLst>
                                </p:cTn>
                              </p:par>
                              <p:par>
                                <p:cTn id="43" presetID="10" presetClass="entr" presetSubtype="0" fill="hold" nodeType="withEffect">
                                  <p:stCondLst>
                                    <p:cond delay="0"/>
                                  </p:stCondLst>
                                  <p:childTnLst>
                                    <p:set>
                                      <p:cBhvr>
                                        <p:cTn id="44" dur="1" fill="hold">
                                          <p:stCondLst>
                                            <p:cond delay="0"/>
                                          </p:stCondLst>
                                        </p:cTn>
                                        <p:tgtEl>
                                          <p:spTgt spid="2">
                                            <p:txEl>
                                              <p:pRg st="12" end="12"/>
                                            </p:txEl>
                                          </p:spTgt>
                                        </p:tgtEl>
                                        <p:attrNameLst>
                                          <p:attrName>style.visibility</p:attrName>
                                        </p:attrNameLst>
                                      </p:cBhvr>
                                      <p:to>
                                        <p:strVal val="visible"/>
                                      </p:to>
                                    </p:set>
                                    <p:animEffect transition="in" filter="fade">
                                      <p:cBhvr>
                                        <p:cTn id="45" dur="500"/>
                                        <p:tgtEl>
                                          <p:spTgt spid="2">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2FCD6A1-8B82-AB1D-67F7-6266CD8467B6}"/>
              </a:ext>
            </a:extLst>
          </p:cNvPr>
          <p:cNvSpPr>
            <a:spLocks noGrp="1"/>
          </p:cNvSpPr>
          <p:nvPr>
            <p:ph idx="1"/>
          </p:nvPr>
        </p:nvSpPr>
        <p:spPr/>
        <p:txBody>
          <a:bodyPr/>
          <a:lstStyle/>
          <a:p>
            <a:pPr>
              <a:buFont typeface="Wingdings" panose="05000000000000000000" pitchFamily="2" charset="2"/>
              <a:buChar char="v"/>
            </a:pPr>
            <a:r>
              <a:rPr lang="en-US" b="1" u="sng" dirty="0"/>
              <a:t>Time Convergence and Iterations</a:t>
            </a:r>
            <a:endParaRPr lang="en-US" dirty="0"/>
          </a:p>
          <a:p>
            <a:pPr lvl="1">
              <a:buFont typeface="Wingdings" panose="05000000000000000000" pitchFamily="2" charset="2"/>
              <a:buChar char="§"/>
            </a:pPr>
            <a:r>
              <a:rPr lang="en-GB" dirty="0"/>
              <a:t>One hope to meet timing after the initial placement but some timing problems may occur due to timing constraints and design itself. These problems are:</a:t>
            </a:r>
          </a:p>
          <a:p>
            <a:pPr lvl="2"/>
            <a:r>
              <a:rPr lang="en-GB" dirty="0"/>
              <a:t>Unlisted false path and inappropriately placed critical paths. Solve this problem by updating constraints and re-run physical synthesis.</a:t>
            </a:r>
          </a:p>
          <a:p>
            <a:pPr lvl="2"/>
            <a:r>
              <a:rPr lang="en-GB" dirty="0"/>
              <a:t>Timing is close but not passing. Solve this problem by changing the constraints and re-run placement.</a:t>
            </a:r>
          </a:p>
          <a:p>
            <a:pPr lvl="2"/>
            <a:r>
              <a:rPr lang="en-GB" dirty="0"/>
              <a:t>If the timing is still not met, change the RTL by adding pipeline stages. Then repeat the whole flow.</a:t>
            </a:r>
          </a:p>
          <a:p>
            <a:pPr marL="0" indent="0">
              <a:buNone/>
            </a:pPr>
            <a:r>
              <a:rPr lang="en-GB" dirty="0"/>
              <a:t>Now let’s move from physical placement to time closure..</a:t>
            </a:r>
          </a:p>
        </p:txBody>
      </p:sp>
      <p:sp>
        <p:nvSpPr>
          <p:cNvPr id="3" name="Title 2">
            <a:extLst>
              <a:ext uri="{FF2B5EF4-FFF2-40B4-BE49-F238E27FC236}">
                <a16:creationId xmlns:a16="http://schemas.microsoft.com/office/drawing/2014/main" id="{102AEF83-8B1F-D0EC-BEAB-4E25A81692BA}"/>
              </a:ext>
            </a:extLst>
          </p:cNvPr>
          <p:cNvSpPr>
            <a:spLocks noGrp="1"/>
          </p:cNvSpPr>
          <p:nvPr>
            <p:ph type="title"/>
          </p:nvPr>
        </p:nvSpPr>
        <p:spPr/>
        <p:txBody>
          <a:bodyPr/>
          <a:lstStyle/>
          <a:p>
            <a:r>
              <a:rPr lang="en-US" dirty="0"/>
              <a:t>5- Physical design (Physical Placement)</a:t>
            </a:r>
            <a:endParaRPr lang="en-GB" dirty="0"/>
          </a:p>
        </p:txBody>
      </p:sp>
      <p:sp>
        <p:nvSpPr>
          <p:cNvPr id="4" name="Footer Placeholder 3">
            <a:extLst>
              <a:ext uri="{FF2B5EF4-FFF2-40B4-BE49-F238E27FC236}">
                <a16:creationId xmlns:a16="http://schemas.microsoft.com/office/drawing/2014/main" id="{F3CE087C-26A1-47EF-82CB-3FFDE35D4FFF}"/>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EBB9167D-3865-C424-AB11-5A8FC5D5370F}"/>
              </a:ext>
            </a:extLst>
          </p:cNvPr>
          <p:cNvSpPr>
            <a:spLocks noGrp="1"/>
          </p:cNvSpPr>
          <p:nvPr>
            <p:ph type="sldNum" sz="quarter" idx="4"/>
          </p:nvPr>
        </p:nvSpPr>
        <p:spPr/>
        <p:txBody>
          <a:bodyPr/>
          <a:lstStyle/>
          <a:p>
            <a:pPr>
              <a:defRPr/>
            </a:pPr>
            <a:fld id="{A9CE67A1-BA7F-A74E-B5D7-615746DEEC2B}" type="slidenum">
              <a:rPr lang="en-US" smtClean="0"/>
              <a:pPr>
                <a:defRPr/>
              </a:pPr>
              <a:t>17</a:t>
            </a:fld>
            <a:endParaRPr lang="en-US" baseline="-11000" dirty="0"/>
          </a:p>
        </p:txBody>
      </p:sp>
      <p:sp>
        <p:nvSpPr>
          <p:cNvPr id="6" name="Date Placeholder 5">
            <a:extLst>
              <a:ext uri="{FF2B5EF4-FFF2-40B4-BE49-F238E27FC236}">
                <a16:creationId xmlns:a16="http://schemas.microsoft.com/office/drawing/2014/main" id="{8BB0536F-1BC3-D3C8-EDA4-D67F557FB0F5}"/>
              </a:ext>
            </a:extLst>
          </p:cNvPr>
          <p:cNvSpPr>
            <a:spLocks noGrp="1"/>
          </p:cNvSpPr>
          <p:nvPr>
            <p:ph type="dt" sz="half" idx="2"/>
          </p:nvPr>
        </p:nvSpPr>
        <p:spPr/>
        <p:txBody>
          <a:bodyPr/>
          <a:lstStyle/>
          <a:p>
            <a:fld id="{EAFD7BB1-AB7F-4336-A8B3-6627E5D36FE4}" type="datetime3">
              <a:rPr lang="en-US" smtClean="0"/>
              <a:t>12 November 2022</a:t>
            </a:fld>
            <a:endParaRPr lang="en-US" dirty="0"/>
          </a:p>
        </p:txBody>
      </p:sp>
    </p:spTree>
    <p:extLst>
      <p:ext uri="{BB962C8B-B14F-4D97-AF65-F5344CB8AC3E}">
        <p14:creationId xmlns:p14="http://schemas.microsoft.com/office/powerpoint/2010/main" val="10580314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fade">
                                      <p:cBhvr>
                                        <p:cTn id="7" dur="500"/>
                                        <p:tgtEl>
                                          <p:spTgt spid="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fade">
                                      <p:cBhvr>
                                        <p:cTn id="12" dur="500"/>
                                        <p:tgtEl>
                                          <p:spTgt spid="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
                                            <p:txEl>
                                              <p:pRg st="3" end="3"/>
                                            </p:txEl>
                                          </p:spTgt>
                                        </p:tgtEl>
                                        <p:attrNameLst>
                                          <p:attrName>style.visibility</p:attrName>
                                        </p:attrNameLst>
                                      </p:cBhvr>
                                      <p:to>
                                        <p:strVal val="visible"/>
                                      </p:to>
                                    </p:set>
                                    <p:animEffect transition="in" filter="fade">
                                      <p:cBhvr>
                                        <p:cTn id="17" dur="500"/>
                                        <p:tgtEl>
                                          <p:spTgt spid="2">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
                                            <p:txEl>
                                              <p:pRg st="4" end="4"/>
                                            </p:txEl>
                                          </p:spTgt>
                                        </p:tgtEl>
                                        <p:attrNameLst>
                                          <p:attrName>style.visibility</p:attrName>
                                        </p:attrNameLst>
                                      </p:cBhvr>
                                      <p:to>
                                        <p:strVal val="visible"/>
                                      </p:to>
                                    </p:set>
                                    <p:animEffect transition="in" filter="fade">
                                      <p:cBhvr>
                                        <p:cTn id="22" dur="500"/>
                                        <p:tgtEl>
                                          <p:spTgt spid="2">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animEffect transition="in" filter="fade">
                                      <p:cBhvr>
                                        <p:cTn id="27" dur="500"/>
                                        <p:tgtEl>
                                          <p:spTgt spid="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Process Antenna Rule – sarvangsanghavi">
            <a:hlinkClick r:id="rId3"/>
            <a:extLst>
              <a:ext uri="{FF2B5EF4-FFF2-40B4-BE49-F238E27FC236}">
                <a16:creationId xmlns:a16="http://schemas.microsoft.com/office/drawing/2014/main" id="{A3EFC4CB-D533-461C-477E-AF5418E8F4C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04371" y="3097267"/>
            <a:ext cx="3287629" cy="1105839"/>
          </a:xfrm>
          <a:prstGeom prst="rect">
            <a:avLst/>
          </a:prstGeom>
          <a:noFill/>
          <a:extLst>
            <a:ext uri="{909E8E84-426E-40DD-AFC4-6F175D3DCCD1}">
              <a14:hiddenFill xmlns:a14="http://schemas.microsoft.com/office/drawing/2010/main">
                <a:solidFill>
                  <a:srgbClr val="FFFFFF"/>
                </a:solidFill>
              </a14:hiddenFill>
            </a:ext>
          </a:extLst>
        </p:spPr>
      </p:pic>
      <p:sp>
        <p:nvSpPr>
          <p:cNvPr id="2" name="Content Placeholder 1">
            <a:extLst>
              <a:ext uri="{FF2B5EF4-FFF2-40B4-BE49-F238E27FC236}">
                <a16:creationId xmlns:a16="http://schemas.microsoft.com/office/drawing/2014/main" id="{E957209D-755D-9018-E6B8-616BDEBBF71A}"/>
              </a:ext>
            </a:extLst>
          </p:cNvPr>
          <p:cNvSpPr>
            <a:spLocks noGrp="1"/>
          </p:cNvSpPr>
          <p:nvPr>
            <p:ph idx="1"/>
          </p:nvPr>
        </p:nvSpPr>
        <p:spPr/>
        <p:txBody>
          <a:bodyPr>
            <a:normAutofit fontScale="92500" lnSpcReduction="10000"/>
          </a:bodyPr>
          <a:lstStyle/>
          <a:p>
            <a:pPr>
              <a:buFont typeface="Wingdings" panose="05000000000000000000" pitchFamily="2" charset="2"/>
              <a:buChar char="v"/>
            </a:pPr>
            <a:r>
              <a:rPr lang="en-US" b="1" u="sng" dirty="0"/>
              <a:t>Clock Tree Insertion</a:t>
            </a:r>
            <a:endParaRPr lang="en-US" dirty="0"/>
          </a:p>
          <a:p>
            <a:pPr lvl="1">
              <a:buFont typeface="Wingdings" panose="05000000000000000000" pitchFamily="2" charset="2"/>
              <a:buChar char="§"/>
            </a:pPr>
            <a:r>
              <a:rPr lang="en-GB" dirty="0"/>
              <a:t>After placement meets timing and before routing, we must balance the insertion delay from clock source to leaf cells by buffering clock(s). They are critical to minimize clock skew. Hence, they are routed first. Problem occurs due to large number of buffers needed, therefore, reserved area for the buffer near flops groups</a:t>
            </a:r>
          </a:p>
          <a:p>
            <a:pPr>
              <a:buFont typeface="Wingdings" panose="05000000000000000000" pitchFamily="2" charset="2"/>
              <a:buChar char="v"/>
            </a:pPr>
            <a:r>
              <a:rPr lang="en-GB" b="1" u="sng" dirty="0"/>
              <a:t>Detailed Routing</a:t>
            </a:r>
          </a:p>
          <a:p>
            <a:pPr lvl="1">
              <a:buFont typeface="Wingdings" panose="05000000000000000000" pitchFamily="2" charset="2"/>
              <a:buChar char="§"/>
            </a:pPr>
            <a:r>
              <a:rPr lang="en-GB" dirty="0"/>
              <a:t>After routing clock, we can do detailed routing ensuring that we comply process’ rules for antennas. Otherwise, we must return after routing to fix any violation. Figure.7</a:t>
            </a:r>
          </a:p>
          <a:p>
            <a:pPr>
              <a:buFont typeface="Wingdings" panose="05000000000000000000" pitchFamily="2" charset="2"/>
              <a:buChar char="v"/>
            </a:pPr>
            <a:r>
              <a:rPr lang="en-GB" b="1" u="sng" dirty="0"/>
              <a:t>Parasitic extraction</a:t>
            </a:r>
          </a:p>
          <a:p>
            <a:pPr lvl="1">
              <a:buFont typeface="Wingdings" panose="05000000000000000000" pitchFamily="2" charset="2"/>
              <a:buChar char="§"/>
            </a:pPr>
            <a:r>
              <a:rPr lang="en-GB" dirty="0"/>
              <a:t>We can calculate actual load of each metal interconnect segment using</a:t>
            </a:r>
          </a:p>
          <a:p>
            <a:pPr marL="228600" lvl="1" indent="0">
              <a:buNone/>
            </a:pPr>
            <a:r>
              <a:rPr lang="en-GB" dirty="0"/>
              <a:t>	3-D extraction engine* which is mor accurate than statistical interconnect</a:t>
            </a:r>
          </a:p>
          <a:p>
            <a:pPr marL="228600" lvl="1" indent="0">
              <a:buNone/>
            </a:pPr>
            <a:r>
              <a:rPr lang="en-GB" dirty="0"/>
              <a:t>	load model used in synthesis.</a:t>
            </a:r>
          </a:p>
          <a:p>
            <a:pPr lvl="1"/>
            <a:r>
              <a:rPr lang="en-GB" dirty="0"/>
              <a:t>Due to deep sub-micron technologies, older wire models failed due to increasing the resistance (thinner wires) and cross-talk effect (narrower routing).</a:t>
            </a:r>
          </a:p>
          <a:p>
            <a:pPr marL="228600" lvl="1" indent="0">
              <a:buNone/>
            </a:pPr>
            <a:r>
              <a:rPr lang="en-GB" sz="1100" dirty="0"/>
              <a:t>*3-D extraction engine</a:t>
            </a:r>
            <a:r>
              <a:rPr lang="en-GB" sz="1000" dirty="0"/>
              <a:t>: coupling capacitances were introduced in three dimensions. Wire-to-wire (same layer), wire-to-substrate, wire-to-wire (different layers).</a:t>
            </a:r>
          </a:p>
        </p:txBody>
      </p:sp>
      <p:sp>
        <p:nvSpPr>
          <p:cNvPr id="3" name="Title 2">
            <a:extLst>
              <a:ext uri="{FF2B5EF4-FFF2-40B4-BE49-F238E27FC236}">
                <a16:creationId xmlns:a16="http://schemas.microsoft.com/office/drawing/2014/main" id="{40EB54AE-19E4-1226-0590-9D5EBB73D4E4}"/>
              </a:ext>
            </a:extLst>
          </p:cNvPr>
          <p:cNvSpPr>
            <a:spLocks noGrp="1"/>
          </p:cNvSpPr>
          <p:nvPr>
            <p:ph type="title"/>
          </p:nvPr>
        </p:nvSpPr>
        <p:spPr/>
        <p:txBody>
          <a:bodyPr/>
          <a:lstStyle/>
          <a:p>
            <a:r>
              <a:rPr lang="en-US" dirty="0"/>
              <a:t>5- Physical design (Time Closure)</a:t>
            </a:r>
            <a:endParaRPr lang="en-GB" dirty="0"/>
          </a:p>
        </p:txBody>
      </p:sp>
      <p:sp>
        <p:nvSpPr>
          <p:cNvPr id="4" name="Footer Placeholder 3">
            <a:extLst>
              <a:ext uri="{FF2B5EF4-FFF2-40B4-BE49-F238E27FC236}">
                <a16:creationId xmlns:a16="http://schemas.microsoft.com/office/drawing/2014/main" id="{949EB68B-A17C-2255-DD71-C5CECAADEEE5}"/>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7147CB3F-F1DC-7B8F-9C47-9304FF43C602}"/>
              </a:ext>
            </a:extLst>
          </p:cNvPr>
          <p:cNvSpPr>
            <a:spLocks noGrp="1"/>
          </p:cNvSpPr>
          <p:nvPr>
            <p:ph type="sldNum" sz="quarter" idx="4"/>
          </p:nvPr>
        </p:nvSpPr>
        <p:spPr/>
        <p:txBody>
          <a:bodyPr/>
          <a:lstStyle/>
          <a:p>
            <a:pPr>
              <a:defRPr/>
            </a:pPr>
            <a:fld id="{A9CE67A1-BA7F-A74E-B5D7-615746DEEC2B}" type="slidenum">
              <a:rPr lang="en-US" smtClean="0"/>
              <a:pPr>
                <a:defRPr/>
              </a:pPr>
              <a:t>18</a:t>
            </a:fld>
            <a:endParaRPr lang="en-US" baseline="-11000" dirty="0"/>
          </a:p>
        </p:txBody>
      </p:sp>
      <p:sp>
        <p:nvSpPr>
          <p:cNvPr id="6" name="Date Placeholder 5">
            <a:extLst>
              <a:ext uri="{FF2B5EF4-FFF2-40B4-BE49-F238E27FC236}">
                <a16:creationId xmlns:a16="http://schemas.microsoft.com/office/drawing/2014/main" id="{856618A4-C9BF-BFCC-6B9B-DA81CB2910EA}"/>
              </a:ext>
            </a:extLst>
          </p:cNvPr>
          <p:cNvSpPr>
            <a:spLocks noGrp="1"/>
          </p:cNvSpPr>
          <p:nvPr>
            <p:ph type="dt" sz="half" idx="2"/>
          </p:nvPr>
        </p:nvSpPr>
        <p:spPr/>
        <p:txBody>
          <a:bodyPr/>
          <a:lstStyle/>
          <a:p>
            <a:fld id="{EAFD7BB1-AB7F-4336-A8B3-6627E5D36FE4}" type="datetime3">
              <a:rPr lang="en-US" smtClean="0"/>
              <a:t>12 November 2022</a:t>
            </a:fld>
            <a:endParaRPr lang="en-US" dirty="0"/>
          </a:p>
        </p:txBody>
      </p:sp>
      <p:sp>
        <p:nvSpPr>
          <p:cNvPr id="7" name="TextBox 6">
            <a:extLst>
              <a:ext uri="{FF2B5EF4-FFF2-40B4-BE49-F238E27FC236}">
                <a16:creationId xmlns:a16="http://schemas.microsoft.com/office/drawing/2014/main" id="{914C1F16-C1A2-8400-B8F3-001E6C993413}"/>
              </a:ext>
            </a:extLst>
          </p:cNvPr>
          <p:cNvSpPr txBox="1"/>
          <p:nvPr/>
        </p:nvSpPr>
        <p:spPr>
          <a:xfrm>
            <a:off x="9823077" y="4197615"/>
            <a:ext cx="1416423" cy="241982"/>
          </a:xfrm>
          <a:prstGeom prst="rect">
            <a:avLst/>
          </a:prstGeom>
          <a:noFill/>
        </p:spPr>
        <p:txBody>
          <a:bodyPr wrap="square" lIns="0" tIns="0" rIns="0" bIns="0" rtlCol="0">
            <a:noAutofit/>
          </a:bodyPr>
          <a:lstStyle/>
          <a:p>
            <a:pPr defTabSz="457200">
              <a:spcBef>
                <a:spcPts val="1000"/>
              </a:spcBef>
              <a:buClr>
                <a:srgbClr val="1E4056"/>
              </a:buClr>
              <a:buSzPct val="75000"/>
            </a:pPr>
            <a:r>
              <a:rPr lang="en-US" sz="1000" dirty="0">
                <a:solidFill>
                  <a:srgbClr val="000000"/>
                </a:solidFill>
              </a:rPr>
              <a:t>Figure.7: Antenna effects</a:t>
            </a:r>
            <a:endParaRPr lang="en-GB" sz="1000" dirty="0">
              <a:solidFill>
                <a:srgbClr val="000000"/>
              </a:solidFill>
            </a:endParaRPr>
          </a:p>
        </p:txBody>
      </p:sp>
    </p:spTree>
    <p:extLst>
      <p:ext uri="{BB962C8B-B14F-4D97-AF65-F5344CB8AC3E}">
        <p14:creationId xmlns:p14="http://schemas.microsoft.com/office/powerpoint/2010/main" val="20644753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
                                            <p:txEl>
                                              <p:pRg st="1" end="1"/>
                                            </p:txEl>
                                          </p:spTgt>
                                        </p:tgtEl>
                                        <p:attrNameLst>
                                          <p:attrName>style.visibility</p:attrName>
                                        </p:attrNameLst>
                                      </p:cBhvr>
                                      <p:to>
                                        <p:strVal val="visible"/>
                                      </p:to>
                                    </p:set>
                                    <p:animEffect transition="in" filter="fade">
                                      <p:cBhvr>
                                        <p:cTn id="10" dur="500"/>
                                        <p:tgtEl>
                                          <p:spTgt spid="2">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animEffect transition="in" filter="fade">
                                      <p:cBhvr>
                                        <p:cTn id="15" dur="500"/>
                                        <p:tgtEl>
                                          <p:spTgt spid="2">
                                            <p:txEl>
                                              <p:pRg st="2" end="2"/>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2">
                                            <p:txEl>
                                              <p:pRg st="3" end="3"/>
                                            </p:txEl>
                                          </p:spTgt>
                                        </p:tgtEl>
                                        <p:attrNameLst>
                                          <p:attrName>style.visibility</p:attrName>
                                        </p:attrNameLst>
                                      </p:cBhvr>
                                      <p:to>
                                        <p:strVal val="visible"/>
                                      </p:to>
                                    </p:set>
                                    <p:animEffect transition="in" filter="fade">
                                      <p:cBhvr>
                                        <p:cTn id="18" dur="500"/>
                                        <p:tgtEl>
                                          <p:spTgt spid="2">
                                            <p:txEl>
                                              <p:pRg st="3" end="3"/>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1026"/>
                                        </p:tgtEl>
                                        <p:attrNameLst>
                                          <p:attrName>style.visibility</p:attrName>
                                        </p:attrNameLst>
                                      </p:cBhvr>
                                      <p:to>
                                        <p:strVal val="visible"/>
                                      </p:to>
                                    </p:set>
                                    <p:animEffect transition="in" filter="fade">
                                      <p:cBhvr>
                                        <p:cTn id="21" dur="500"/>
                                        <p:tgtEl>
                                          <p:spTgt spid="1026"/>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2">
                                            <p:txEl>
                                              <p:pRg st="4" end="4"/>
                                            </p:txEl>
                                          </p:spTgt>
                                        </p:tgtEl>
                                        <p:attrNameLst>
                                          <p:attrName>style.visibility</p:attrName>
                                        </p:attrNameLst>
                                      </p:cBhvr>
                                      <p:to>
                                        <p:strVal val="visible"/>
                                      </p:to>
                                    </p:set>
                                    <p:animEffect transition="in" filter="fade">
                                      <p:cBhvr>
                                        <p:cTn id="26" dur="500"/>
                                        <p:tgtEl>
                                          <p:spTgt spid="2">
                                            <p:txEl>
                                              <p:pRg st="4" end="4"/>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2">
                                            <p:txEl>
                                              <p:pRg st="5" end="5"/>
                                            </p:txEl>
                                          </p:spTgt>
                                        </p:tgtEl>
                                        <p:attrNameLst>
                                          <p:attrName>style.visibility</p:attrName>
                                        </p:attrNameLst>
                                      </p:cBhvr>
                                      <p:to>
                                        <p:strVal val="visible"/>
                                      </p:to>
                                    </p:set>
                                    <p:animEffect transition="in" filter="fade">
                                      <p:cBhvr>
                                        <p:cTn id="29" dur="500"/>
                                        <p:tgtEl>
                                          <p:spTgt spid="2">
                                            <p:txEl>
                                              <p:pRg st="5" end="5"/>
                                            </p:txEl>
                                          </p:spTgt>
                                        </p:tgtEl>
                                      </p:cBhvr>
                                    </p:animEffect>
                                  </p:childTnLst>
                                </p:cTn>
                              </p:par>
                              <p:par>
                                <p:cTn id="30" presetID="10" presetClass="entr" presetSubtype="0" fill="hold" nodeType="withEffect">
                                  <p:stCondLst>
                                    <p:cond delay="0"/>
                                  </p:stCondLst>
                                  <p:childTnLst>
                                    <p:set>
                                      <p:cBhvr>
                                        <p:cTn id="31" dur="1" fill="hold">
                                          <p:stCondLst>
                                            <p:cond delay="0"/>
                                          </p:stCondLst>
                                        </p:cTn>
                                        <p:tgtEl>
                                          <p:spTgt spid="2">
                                            <p:txEl>
                                              <p:pRg st="6" end="6"/>
                                            </p:txEl>
                                          </p:spTgt>
                                        </p:tgtEl>
                                        <p:attrNameLst>
                                          <p:attrName>style.visibility</p:attrName>
                                        </p:attrNameLst>
                                      </p:cBhvr>
                                      <p:to>
                                        <p:strVal val="visible"/>
                                      </p:to>
                                    </p:set>
                                    <p:animEffect transition="in" filter="fade">
                                      <p:cBhvr>
                                        <p:cTn id="32" dur="500"/>
                                        <p:tgtEl>
                                          <p:spTgt spid="2">
                                            <p:txEl>
                                              <p:pRg st="6" end="6"/>
                                            </p:txEl>
                                          </p:spTgt>
                                        </p:tgtEl>
                                      </p:cBhvr>
                                    </p:animEffect>
                                  </p:childTnLst>
                                </p:cTn>
                              </p:par>
                              <p:par>
                                <p:cTn id="33" presetID="10" presetClass="entr" presetSubtype="0" fill="hold" nodeType="with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animEffect transition="in" filter="fade">
                                      <p:cBhvr>
                                        <p:cTn id="35" dur="500"/>
                                        <p:tgtEl>
                                          <p:spTgt spid="2">
                                            <p:txEl>
                                              <p:pRg st="7" end="7"/>
                                            </p:txEl>
                                          </p:spTgt>
                                        </p:tgtEl>
                                      </p:cBhvr>
                                    </p:animEffect>
                                  </p:childTnLst>
                                </p:cTn>
                              </p:par>
                              <p:par>
                                <p:cTn id="36" presetID="10" presetClass="entr" presetSubtype="0" fill="hold" nodeType="withEffect">
                                  <p:stCondLst>
                                    <p:cond delay="0"/>
                                  </p:stCondLst>
                                  <p:childTnLst>
                                    <p:set>
                                      <p:cBhvr>
                                        <p:cTn id="37" dur="1" fill="hold">
                                          <p:stCondLst>
                                            <p:cond delay="0"/>
                                          </p:stCondLst>
                                        </p:cTn>
                                        <p:tgtEl>
                                          <p:spTgt spid="2">
                                            <p:txEl>
                                              <p:pRg st="8" end="8"/>
                                            </p:txEl>
                                          </p:spTgt>
                                        </p:tgtEl>
                                        <p:attrNameLst>
                                          <p:attrName>style.visibility</p:attrName>
                                        </p:attrNameLst>
                                      </p:cBhvr>
                                      <p:to>
                                        <p:strVal val="visible"/>
                                      </p:to>
                                    </p:set>
                                    <p:animEffect transition="in" filter="fade">
                                      <p:cBhvr>
                                        <p:cTn id="38" dur="500"/>
                                        <p:tgtEl>
                                          <p:spTgt spid="2">
                                            <p:txEl>
                                              <p:pRg st="8" end="8"/>
                                            </p:txEl>
                                          </p:spTgt>
                                        </p:tgtEl>
                                      </p:cBhvr>
                                    </p:animEffect>
                                  </p:childTnLst>
                                </p:cTn>
                              </p:par>
                              <p:par>
                                <p:cTn id="39" presetID="10" presetClass="entr" presetSubtype="0" fill="hold" nodeType="withEffect">
                                  <p:stCondLst>
                                    <p:cond delay="0"/>
                                  </p:stCondLst>
                                  <p:childTnLst>
                                    <p:set>
                                      <p:cBhvr>
                                        <p:cTn id="40" dur="1" fill="hold">
                                          <p:stCondLst>
                                            <p:cond delay="0"/>
                                          </p:stCondLst>
                                        </p:cTn>
                                        <p:tgtEl>
                                          <p:spTgt spid="2">
                                            <p:txEl>
                                              <p:pRg st="9" end="9"/>
                                            </p:txEl>
                                          </p:spTgt>
                                        </p:tgtEl>
                                        <p:attrNameLst>
                                          <p:attrName>style.visibility</p:attrName>
                                        </p:attrNameLst>
                                      </p:cBhvr>
                                      <p:to>
                                        <p:strVal val="visible"/>
                                      </p:to>
                                    </p:set>
                                    <p:animEffect transition="in" filter="fade">
                                      <p:cBhvr>
                                        <p:cTn id="41" dur="500"/>
                                        <p:tgtEl>
                                          <p:spTgt spid="2">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1D5C8BE-64B8-CF84-39DC-83143ACAF2C9}"/>
              </a:ext>
            </a:extLst>
          </p:cNvPr>
          <p:cNvSpPr>
            <a:spLocks noGrp="1"/>
          </p:cNvSpPr>
          <p:nvPr>
            <p:ph idx="1"/>
          </p:nvPr>
        </p:nvSpPr>
        <p:spPr/>
        <p:txBody>
          <a:bodyPr/>
          <a:lstStyle/>
          <a:p>
            <a:pPr>
              <a:buFont typeface="Wingdings" panose="05000000000000000000" pitchFamily="2" charset="2"/>
              <a:buChar char="v"/>
            </a:pPr>
            <a:r>
              <a:rPr lang="en-US" b="1" u="sng" dirty="0"/>
              <a:t>Static Timing Analysis</a:t>
            </a:r>
            <a:endParaRPr lang="en-US" dirty="0"/>
          </a:p>
          <a:p>
            <a:pPr lvl="1"/>
            <a:r>
              <a:rPr lang="en-GB" dirty="0"/>
              <a:t>Timing reports are generated with static timing analysis tool showing violated constraints.</a:t>
            </a:r>
          </a:p>
          <a:p>
            <a:pPr lvl="1"/>
            <a:r>
              <a:rPr lang="en-GB" dirty="0"/>
              <a:t>Some solutions for those violations are increasing drive strength, adding buffers or restructure logic. This is done lately automatically with EDA tools.</a:t>
            </a:r>
          </a:p>
          <a:p>
            <a:pPr>
              <a:buFont typeface="Wingdings" panose="05000000000000000000" pitchFamily="2" charset="2"/>
              <a:buChar char="v"/>
            </a:pPr>
            <a:r>
              <a:rPr lang="en-GB" b="1" u="sng" dirty="0"/>
              <a:t>Timing Fixes</a:t>
            </a:r>
          </a:p>
          <a:p>
            <a:pPr lvl="1"/>
            <a:r>
              <a:rPr lang="en-GB" dirty="0"/>
              <a:t>Some hold timing violations are expected at this point as well as some remaining clock tunning due to estimated routing models. </a:t>
            </a:r>
          </a:p>
          <a:p>
            <a:pPr lvl="1"/>
            <a:r>
              <a:rPr lang="en-GB" dirty="0"/>
              <a:t>We fix clock and long paths first if there are few fixes required. Else, we would have to go back and readjust timing constraints, re-optimize and go back through place and route. Then re-iterate until timing is met.</a:t>
            </a:r>
          </a:p>
          <a:p>
            <a:pPr lvl="1"/>
            <a:r>
              <a:rPr lang="en-GB" dirty="0"/>
              <a:t>Hold timing is fixed by inserting buffers in the fast paths.</a:t>
            </a:r>
          </a:p>
          <a:p>
            <a:pPr lvl="1"/>
            <a:endParaRPr lang="en-GB" dirty="0"/>
          </a:p>
        </p:txBody>
      </p:sp>
      <p:sp>
        <p:nvSpPr>
          <p:cNvPr id="3" name="Title 2">
            <a:extLst>
              <a:ext uri="{FF2B5EF4-FFF2-40B4-BE49-F238E27FC236}">
                <a16:creationId xmlns:a16="http://schemas.microsoft.com/office/drawing/2014/main" id="{F9027118-CE0F-F801-ABF9-836109A7357F}"/>
              </a:ext>
            </a:extLst>
          </p:cNvPr>
          <p:cNvSpPr>
            <a:spLocks noGrp="1"/>
          </p:cNvSpPr>
          <p:nvPr>
            <p:ph type="title"/>
          </p:nvPr>
        </p:nvSpPr>
        <p:spPr/>
        <p:txBody>
          <a:bodyPr/>
          <a:lstStyle/>
          <a:p>
            <a:r>
              <a:rPr lang="en-US" dirty="0"/>
              <a:t>5- Physical design (Time Closure)</a:t>
            </a:r>
            <a:endParaRPr lang="en-GB" dirty="0"/>
          </a:p>
        </p:txBody>
      </p:sp>
      <p:sp>
        <p:nvSpPr>
          <p:cNvPr id="4" name="Footer Placeholder 3">
            <a:extLst>
              <a:ext uri="{FF2B5EF4-FFF2-40B4-BE49-F238E27FC236}">
                <a16:creationId xmlns:a16="http://schemas.microsoft.com/office/drawing/2014/main" id="{D3723F27-C7B7-138F-7399-D954BE2FC41F}"/>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5F72629C-B1EA-7E96-F3A1-A65BCF9632B8}"/>
              </a:ext>
            </a:extLst>
          </p:cNvPr>
          <p:cNvSpPr>
            <a:spLocks noGrp="1"/>
          </p:cNvSpPr>
          <p:nvPr>
            <p:ph type="sldNum" sz="quarter" idx="4"/>
          </p:nvPr>
        </p:nvSpPr>
        <p:spPr/>
        <p:txBody>
          <a:bodyPr/>
          <a:lstStyle/>
          <a:p>
            <a:pPr>
              <a:defRPr/>
            </a:pPr>
            <a:fld id="{A9CE67A1-BA7F-A74E-B5D7-615746DEEC2B}" type="slidenum">
              <a:rPr lang="en-US" smtClean="0"/>
              <a:pPr>
                <a:defRPr/>
              </a:pPr>
              <a:t>19</a:t>
            </a:fld>
            <a:endParaRPr lang="en-US" baseline="-11000" dirty="0"/>
          </a:p>
        </p:txBody>
      </p:sp>
      <p:sp>
        <p:nvSpPr>
          <p:cNvPr id="6" name="Date Placeholder 5">
            <a:extLst>
              <a:ext uri="{FF2B5EF4-FFF2-40B4-BE49-F238E27FC236}">
                <a16:creationId xmlns:a16="http://schemas.microsoft.com/office/drawing/2014/main" id="{92F209D9-283E-CFE7-7BC6-F05A7E3ABC1D}"/>
              </a:ext>
            </a:extLst>
          </p:cNvPr>
          <p:cNvSpPr>
            <a:spLocks noGrp="1"/>
          </p:cNvSpPr>
          <p:nvPr>
            <p:ph type="dt" sz="half" idx="2"/>
          </p:nvPr>
        </p:nvSpPr>
        <p:spPr/>
        <p:txBody>
          <a:bodyPr/>
          <a:lstStyle/>
          <a:p>
            <a:fld id="{EAFD7BB1-AB7F-4336-A8B3-6627E5D36FE4}" type="datetime3">
              <a:rPr lang="en-US" smtClean="0"/>
              <a:t>12 November 2022</a:t>
            </a:fld>
            <a:endParaRPr lang="en-US" dirty="0"/>
          </a:p>
        </p:txBody>
      </p:sp>
    </p:spTree>
    <p:extLst>
      <p:ext uri="{BB962C8B-B14F-4D97-AF65-F5344CB8AC3E}">
        <p14:creationId xmlns:p14="http://schemas.microsoft.com/office/powerpoint/2010/main" val="29476505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
                                            <p:txEl>
                                              <p:pRg st="1" end="1"/>
                                            </p:txEl>
                                          </p:spTgt>
                                        </p:tgtEl>
                                        <p:attrNameLst>
                                          <p:attrName>style.visibility</p:attrName>
                                        </p:attrNameLst>
                                      </p:cBhvr>
                                      <p:to>
                                        <p:strVal val="visible"/>
                                      </p:to>
                                    </p:set>
                                    <p:animEffect transition="in" filter="fade">
                                      <p:cBhvr>
                                        <p:cTn id="10" dur="500"/>
                                        <p:tgtEl>
                                          <p:spTgt spid="2">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Effect transition="in" filter="fade">
                                      <p:cBhvr>
                                        <p:cTn id="13" dur="500"/>
                                        <p:tgtEl>
                                          <p:spTgt spid="2">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2">
                                            <p:txEl>
                                              <p:pRg st="3" end="3"/>
                                            </p:txEl>
                                          </p:spTgt>
                                        </p:tgtEl>
                                        <p:attrNameLst>
                                          <p:attrName>style.visibility</p:attrName>
                                        </p:attrNameLst>
                                      </p:cBhvr>
                                      <p:to>
                                        <p:strVal val="visible"/>
                                      </p:to>
                                    </p:set>
                                    <p:animEffect transition="in" filter="fade">
                                      <p:cBhvr>
                                        <p:cTn id="18" dur="500"/>
                                        <p:tgtEl>
                                          <p:spTgt spid="2">
                                            <p:txEl>
                                              <p:pRg st="3" end="3"/>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2">
                                            <p:txEl>
                                              <p:pRg st="4" end="4"/>
                                            </p:txEl>
                                          </p:spTgt>
                                        </p:tgtEl>
                                        <p:attrNameLst>
                                          <p:attrName>style.visibility</p:attrName>
                                        </p:attrNameLst>
                                      </p:cBhvr>
                                      <p:to>
                                        <p:strVal val="visible"/>
                                      </p:to>
                                    </p:set>
                                    <p:animEffect transition="in" filter="fade">
                                      <p:cBhvr>
                                        <p:cTn id="21" dur="500"/>
                                        <p:tgtEl>
                                          <p:spTgt spid="2">
                                            <p:txEl>
                                              <p:pRg st="4" end="4"/>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2">
                                            <p:txEl>
                                              <p:pRg st="5" end="5"/>
                                            </p:txEl>
                                          </p:spTgt>
                                        </p:tgtEl>
                                        <p:attrNameLst>
                                          <p:attrName>style.visibility</p:attrName>
                                        </p:attrNameLst>
                                      </p:cBhvr>
                                      <p:to>
                                        <p:strVal val="visible"/>
                                      </p:to>
                                    </p:set>
                                    <p:animEffect transition="in" filter="fade">
                                      <p:cBhvr>
                                        <p:cTn id="24" dur="500"/>
                                        <p:tgtEl>
                                          <p:spTgt spid="2">
                                            <p:txEl>
                                              <p:pRg st="5" end="5"/>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2">
                                            <p:txEl>
                                              <p:pRg st="6" end="6"/>
                                            </p:txEl>
                                          </p:spTgt>
                                        </p:tgtEl>
                                        <p:attrNameLst>
                                          <p:attrName>style.visibility</p:attrName>
                                        </p:attrNameLst>
                                      </p:cBhvr>
                                      <p:to>
                                        <p:strVal val="visible"/>
                                      </p:to>
                                    </p:set>
                                    <p:animEffect transition="in" filter="fade">
                                      <p:cBhvr>
                                        <p:cTn id="27" dur="500"/>
                                        <p:tgtEl>
                                          <p:spTgt spid="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A64F7FC-F357-6EC5-034D-08584F5AB9EC}"/>
              </a:ext>
            </a:extLst>
          </p:cNvPr>
          <p:cNvSpPr>
            <a:spLocks noGrp="1"/>
          </p:cNvSpPr>
          <p:nvPr>
            <p:ph idx="1"/>
          </p:nvPr>
        </p:nvSpPr>
        <p:spPr/>
        <p:txBody>
          <a:bodyPr>
            <a:normAutofit fontScale="92500" lnSpcReduction="10000"/>
          </a:bodyPr>
          <a:lstStyle/>
          <a:p>
            <a:pPr>
              <a:buFont typeface="Wingdings" panose="05000000000000000000" pitchFamily="2" charset="2"/>
              <a:buChar char="v"/>
            </a:pPr>
            <a:r>
              <a:rPr lang="en-US" b="1" u="sng" dirty="0"/>
              <a:t>Checking Power</a:t>
            </a:r>
          </a:p>
          <a:p>
            <a:pPr lvl="1">
              <a:buFont typeface="Wingdings" panose="05000000000000000000" pitchFamily="2" charset="2"/>
              <a:buChar char="§"/>
            </a:pPr>
            <a:r>
              <a:rPr lang="en-US" dirty="0"/>
              <a:t>The last major step is verifying that the physical design is correct and in compliance with the design rules for target silicon process.</a:t>
            </a:r>
          </a:p>
          <a:p>
            <a:pPr lvl="1">
              <a:buFont typeface="Wingdings" panose="05000000000000000000" pitchFamily="2" charset="2"/>
              <a:buChar char="§"/>
            </a:pPr>
            <a:r>
              <a:rPr lang="en-US" dirty="0"/>
              <a:t>We can estimate voltage drop across power meshes using power analysis tools.</a:t>
            </a:r>
          </a:p>
          <a:p>
            <a:pPr lvl="1">
              <a:buFont typeface="Wingdings" panose="05000000000000000000" pitchFamily="2" charset="2"/>
              <a:buChar char="§"/>
            </a:pPr>
            <a:r>
              <a:rPr lang="en-US" dirty="0"/>
              <a:t>Power dissipation tools are used to get final estimation of power dissipation.</a:t>
            </a:r>
          </a:p>
          <a:p>
            <a:pPr>
              <a:buFont typeface="Wingdings" panose="05000000000000000000" pitchFamily="2" charset="2"/>
              <a:buChar char="v"/>
            </a:pPr>
            <a:r>
              <a:rPr lang="en-US" b="1" u="sng" dirty="0"/>
              <a:t>DRC, LVS and Antenna</a:t>
            </a:r>
          </a:p>
          <a:p>
            <a:pPr lvl="1">
              <a:buFont typeface="Wingdings" panose="05000000000000000000" pitchFamily="2" charset="2"/>
              <a:buChar char="§"/>
            </a:pPr>
            <a:r>
              <a:rPr lang="en-US" dirty="0"/>
              <a:t>DRC</a:t>
            </a:r>
            <a:r>
              <a:rPr lang="en-US" baseline="30000" dirty="0"/>
              <a:t>*</a:t>
            </a:r>
            <a:r>
              <a:rPr lang="en-US" dirty="0"/>
              <a:t> verifies that the design does not violate any physical design rules.</a:t>
            </a:r>
          </a:p>
          <a:p>
            <a:pPr lvl="1">
              <a:buFont typeface="Wingdings" panose="05000000000000000000" pitchFamily="2" charset="2"/>
              <a:buChar char="§"/>
            </a:pPr>
            <a:r>
              <a:rPr lang="en-US" dirty="0"/>
              <a:t>For full-custom designs, this can involve many iterations. But in the standard model of reuse, full-custom designs are imported after being verified.</a:t>
            </a:r>
          </a:p>
          <a:p>
            <a:pPr lvl="1">
              <a:buFont typeface="Wingdings" panose="05000000000000000000" pitchFamily="2" charset="2"/>
              <a:buChar char="§"/>
            </a:pPr>
            <a:r>
              <a:rPr lang="en-US" dirty="0"/>
              <a:t>Typical problems are caused in libraries or by interface problems between standard cells sections and any hard blocks that have been imported.</a:t>
            </a:r>
          </a:p>
          <a:p>
            <a:pPr lvl="1">
              <a:buFont typeface="Wingdings" panose="05000000000000000000" pitchFamily="2" charset="2"/>
              <a:buChar char="§"/>
            </a:pPr>
            <a:r>
              <a:rPr lang="en-US" dirty="0"/>
              <a:t>LVS</a:t>
            </a:r>
            <a:r>
              <a:rPr lang="en-US" baseline="30000" dirty="0"/>
              <a:t>**</a:t>
            </a:r>
            <a:r>
              <a:rPr lang="en-US" dirty="0"/>
              <a:t> compares the physical implemented design to the gate-level netlist. It extracts a post-layout netlist back from the physical design then it is compared to pre-layout netlist.</a:t>
            </a:r>
          </a:p>
          <a:p>
            <a:pPr lvl="1">
              <a:buFont typeface="Wingdings" panose="05000000000000000000" pitchFamily="2" charset="2"/>
              <a:buChar char="§"/>
            </a:pPr>
            <a:r>
              <a:rPr lang="en-US" dirty="0"/>
              <a:t>Finally, we check for any antenna </a:t>
            </a:r>
            <a:r>
              <a:rPr lang="en-GB" dirty="0"/>
              <a:t>violations that might have escaped then manually fix this problem. Then formal verification is done to check equivalence with the intended function.										</a:t>
            </a:r>
            <a:r>
              <a:rPr lang="en-GB" sz="1200" dirty="0"/>
              <a:t>*DRC: design rule check		**LVS: layout vs schematic</a:t>
            </a:r>
            <a:endParaRPr lang="en-GB" dirty="0"/>
          </a:p>
        </p:txBody>
      </p:sp>
      <p:sp>
        <p:nvSpPr>
          <p:cNvPr id="3" name="Title 2">
            <a:extLst>
              <a:ext uri="{FF2B5EF4-FFF2-40B4-BE49-F238E27FC236}">
                <a16:creationId xmlns:a16="http://schemas.microsoft.com/office/drawing/2014/main" id="{CB68E4FD-BCF3-8DF9-A287-3A6FDBCE6E05}"/>
              </a:ext>
            </a:extLst>
          </p:cNvPr>
          <p:cNvSpPr>
            <a:spLocks noGrp="1"/>
          </p:cNvSpPr>
          <p:nvPr>
            <p:ph type="title"/>
          </p:nvPr>
        </p:nvSpPr>
        <p:spPr>
          <a:xfrm>
            <a:off x="342900" y="219456"/>
            <a:ext cx="10287000" cy="470898"/>
          </a:xfrm>
        </p:spPr>
        <p:txBody>
          <a:bodyPr/>
          <a:lstStyle/>
          <a:p>
            <a:r>
              <a:rPr lang="en-US" dirty="0"/>
              <a:t>5- Physical design (Verifying the Physical Design)</a:t>
            </a:r>
            <a:endParaRPr lang="en-GB" dirty="0"/>
          </a:p>
        </p:txBody>
      </p:sp>
      <p:sp>
        <p:nvSpPr>
          <p:cNvPr id="4" name="Footer Placeholder 3">
            <a:extLst>
              <a:ext uri="{FF2B5EF4-FFF2-40B4-BE49-F238E27FC236}">
                <a16:creationId xmlns:a16="http://schemas.microsoft.com/office/drawing/2014/main" id="{D3E8AFA3-910E-7A9E-7167-B984A5E4037F}"/>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27A856B7-458D-B594-C012-31A5A69DBC22}"/>
              </a:ext>
            </a:extLst>
          </p:cNvPr>
          <p:cNvSpPr>
            <a:spLocks noGrp="1"/>
          </p:cNvSpPr>
          <p:nvPr>
            <p:ph type="sldNum" sz="quarter" idx="4"/>
          </p:nvPr>
        </p:nvSpPr>
        <p:spPr/>
        <p:txBody>
          <a:bodyPr/>
          <a:lstStyle/>
          <a:p>
            <a:pPr>
              <a:defRPr/>
            </a:pPr>
            <a:fld id="{A9CE67A1-BA7F-A74E-B5D7-615746DEEC2B}" type="slidenum">
              <a:rPr lang="en-US" smtClean="0"/>
              <a:pPr>
                <a:defRPr/>
              </a:pPr>
              <a:t>20</a:t>
            </a:fld>
            <a:endParaRPr lang="en-US" baseline="-11000" dirty="0"/>
          </a:p>
        </p:txBody>
      </p:sp>
      <p:sp>
        <p:nvSpPr>
          <p:cNvPr id="6" name="Date Placeholder 5">
            <a:extLst>
              <a:ext uri="{FF2B5EF4-FFF2-40B4-BE49-F238E27FC236}">
                <a16:creationId xmlns:a16="http://schemas.microsoft.com/office/drawing/2014/main" id="{2ADA0515-5FF3-5B01-06EC-E881A8A1BC26}"/>
              </a:ext>
            </a:extLst>
          </p:cNvPr>
          <p:cNvSpPr>
            <a:spLocks noGrp="1"/>
          </p:cNvSpPr>
          <p:nvPr>
            <p:ph type="dt" sz="half" idx="2"/>
          </p:nvPr>
        </p:nvSpPr>
        <p:spPr/>
        <p:txBody>
          <a:bodyPr/>
          <a:lstStyle/>
          <a:p>
            <a:fld id="{EAFD7BB1-AB7F-4336-A8B3-6627E5D36FE4}" type="datetime3">
              <a:rPr lang="en-US" smtClean="0"/>
              <a:t>12 November 2022</a:t>
            </a:fld>
            <a:endParaRPr lang="en-US" dirty="0"/>
          </a:p>
        </p:txBody>
      </p:sp>
    </p:spTree>
    <p:extLst>
      <p:ext uri="{BB962C8B-B14F-4D97-AF65-F5344CB8AC3E}">
        <p14:creationId xmlns:p14="http://schemas.microsoft.com/office/powerpoint/2010/main" val="20850951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
                                            <p:txEl>
                                              <p:pRg st="1" end="1"/>
                                            </p:txEl>
                                          </p:spTgt>
                                        </p:tgtEl>
                                        <p:attrNameLst>
                                          <p:attrName>style.visibility</p:attrName>
                                        </p:attrNameLst>
                                      </p:cBhvr>
                                      <p:to>
                                        <p:strVal val="visible"/>
                                      </p:to>
                                    </p:set>
                                    <p:animEffect transition="in" filter="fade">
                                      <p:cBhvr>
                                        <p:cTn id="10" dur="500"/>
                                        <p:tgtEl>
                                          <p:spTgt spid="2">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Effect transition="in" filter="fade">
                                      <p:cBhvr>
                                        <p:cTn id="13" dur="500"/>
                                        <p:tgtEl>
                                          <p:spTgt spid="2">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2">
                                            <p:txEl>
                                              <p:pRg st="3" end="3"/>
                                            </p:txEl>
                                          </p:spTgt>
                                        </p:tgtEl>
                                        <p:attrNameLst>
                                          <p:attrName>style.visibility</p:attrName>
                                        </p:attrNameLst>
                                      </p:cBhvr>
                                      <p:to>
                                        <p:strVal val="visible"/>
                                      </p:to>
                                    </p:set>
                                    <p:animEffect transition="in" filter="fade">
                                      <p:cBhvr>
                                        <p:cTn id="16" dur="500"/>
                                        <p:tgtEl>
                                          <p:spTgt spid="2">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2">
                                            <p:txEl>
                                              <p:pRg st="4" end="4"/>
                                            </p:txEl>
                                          </p:spTgt>
                                        </p:tgtEl>
                                        <p:attrNameLst>
                                          <p:attrName>style.visibility</p:attrName>
                                        </p:attrNameLst>
                                      </p:cBhvr>
                                      <p:to>
                                        <p:strVal val="visible"/>
                                      </p:to>
                                    </p:set>
                                    <p:animEffect transition="in" filter="fade">
                                      <p:cBhvr>
                                        <p:cTn id="21" dur="500"/>
                                        <p:tgtEl>
                                          <p:spTgt spid="2">
                                            <p:txEl>
                                              <p:pRg st="4" end="4"/>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2">
                                            <p:txEl>
                                              <p:pRg st="5" end="5"/>
                                            </p:txEl>
                                          </p:spTgt>
                                        </p:tgtEl>
                                        <p:attrNameLst>
                                          <p:attrName>style.visibility</p:attrName>
                                        </p:attrNameLst>
                                      </p:cBhvr>
                                      <p:to>
                                        <p:strVal val="visible"/>
                                      </p:to>
                                    </p:set>
                                    <p:animEffect transition="in" filter="fade">
                                      <p:cBhvr>
                                        <p:cTn id="24" dur="500"/>
                                        <p:tgtEl>
                                          <p:spTgt spid="2">
                                            <p:txEl>
                                              <p:pRg st="5" end="5"/>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2">
                                            <p:txEl>
                                              <p:pRg st="6" end="6"/>
                                            </p:txEl>
                                          </p:spTgt>
                                        </p:tgtEl>
                                        <p:attrNameLst>
                                          <p:attrName>style.visibility</p:attrName>
                                        </p:attrNameLst>
                                      </p:cBhvr>
                                      <p:to>
                                        <p:strVal val="visible"/>
                                      </p:to>
                                    </p:set>
                                    <p:animEffect transition="in" filter="fade">
                                      <p:cBhvr>
                                        <p:cTn id="27" dur="500"/>
                                        <p:tgtEl>
                                          <p:spTgt spid="2">
                                            <p:txEl>
                                              <p:pRg st="6" end="6"/>
                                            </p:txEl>
                                          </p:spTgt>
                                        </p:tgtEl>
                                      </p:cBhvr>
                                    </p:animEffect>
                                  </p:childTnLst>
                                </p:cTn>
                              </p:par>
                              <p:par>
                                <p:cTn id="28" presetID="10" presetClass="entr" presetSubtype="0" fill="hold" nodeType="withEffect">
                                  <p:stCondLst>
                                    <p:cond delay="0"/>
                                  </p:stCondLst>
                                  <p:childTnLst>
                                    <p:set>
                                      <p:cBhvr>
                                        <p:cTn id="29" dur="1" fill="hold">
                                          <p:stCondLst>
                                            <p:cond delay="0"/>
                                          </p:stCondLst>
                                        </p:cTn>
                                        <p:tgtEl>
                                          <p:spTgt spid="2">
                                            <p:txEl>
                                              <p:pRg st="7" end="7"/>
                                            </p:txEl>
                                          </p:spTgt>
                                        </p:tgtEl>
                                        <p:attrNameLst>
                                          <p:attrName>style.visibility</p:attrName>
                                        </p:attrNameLst>
                                      </p:cBhvr>
                                      <p:to>
                                        <p:strVal val="visible"/>
                                      </p:to>
                                    </p:set>
                                    <p:animEffect transition="in" filter="fade">
                                      <p:cBhvr>
                                        <p:cTn id="30" dur="500"/>
                                        <p:tgtEl>
                                          <p:spTgt spid="2">
                                            <p:txEl>
                                              <p:pRg st="7" end="7"/>
                                            </p:txEl>
                                          </p:spTgt>
                                        </p:tgtEl>
                                      </p:cBhvr>
                                    </p:animEffect>
                                  </p:childTnLst>
                                </p:cTn>
                              </p:par>
                              <p:par>
                                <p:cTn id="31" presetID="10" presetClass="entr" presetSubtype="0" fill="hold" nodeType="withEffect">
                                  <p:stCondLst>
                                    <p:cond delay="0"/>
                                  </p:stCondLst>
                                  <p:childTnLst>
                                    <p:set>
                                      <p:cBhvr>
                                        <p:cTn id="32" dur="1" fill="hold">
                                          <p:stCondLst>
                                            <p:cond delay="0"/>
                                          </p:stCondLst>
                                        </p:cTn>
                                        <p:tgtEl>
                                          <p:spTgt spid="2">
                                            <p:txEl>
                                              <p:pRg st="8" end="8"/>
                                            </p:txEl>
                                          </p:spTgt>
                                        </p:tgtEl>
                                        <p:attrNameLst>
                                          <p:attrName>style.visibility</p:attrName>
                                        </p:attrNameLst>
                                      </p:cBhvr>
                                      <p:to>
                                        <p:strVal val="visible"/>
                                      </p:to>
                                    </p:set>
                                    <p:animEffect transition="in" filter="fade">
                                      <p:cBhvr>
                                        <p:cTn id="33" dur="500"/>
                                        <p:tgtEl>
                                          <p:spTgt spid="2">
                                            <p:txEl>
                                              <p:pRg st="8" end="8"/>
                                            </p:txEl>
                                          </p:spTgt>
                                        </p:tgtEl>
                                      </p:cBhvr>
                                    </p:animEffect>
                                  </p:childTnLst>
                                </p:cTn>
                              </p:par>
                              <p:par>
                                <p:cTn id="34" presetID="10" presetClass="entr" presetSubtype="0" fill="hold" nodeType="withEffect">
                                  <p:stCondLst>
                                    <p:cond delay="0"/>
                                  </p:stCondLst>
                                  <p:childTnLst>
                                    <p:set>
                                      <p:cBhvr>
                                        <p:cTn id="35" dur="1" fill="hold">
                                          <p:stCondLst>
                                            <p:cond delay="0"/>
                                          </p:stCondLst>
                                        </p:cTn>
                                        <p:tgtEl>
                                          <p:spTgt spid="2">
                                            <p:txEl>
                                              <p:pRg st="9" end="9"/>
                                            </p:txEl>
                                          </p:spTgt>
                                        </p:tgtEl>
                                        <p:attrNameLst>
                                          <p:attrName>style.visibility</p:attrName>
                                        </p:attrNameLst>
                                      </p:cBhvr>
                                      <p:to>
                                        <p:strVal val="visible"/>
                                      </p:to>
                                    </p:set>
                                    <p:animEffect transition="in" filter="fade">
                                      <p:cBhvr>
                                        <p:cTn id="36" dur="500"/>
                                        <p:tgtEl>
                                          <p:spTgt spid="2">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377416F-0685-AA87-A408-02660B438F54}"/>
              </a:ext>
            </a:extLst>
          </p:cNvPr>
          <p:cNvSpPr>
            <a:spLocks noGrp="1"/>
          </p:cNvSpPr>
          <p:nvPr>
            <p:ph idx="1"/>
          </p:nvPr>
        </p:nvSpPr>
        <p:spPr/>
        <p:txBody>
          <a:bodyPr/>
          <a:lstStyle/>
          <a:p>
            <a:r>
              <a:rPr lang="en-US" dirty="0"/>
              <a:t>Physical design is a challenging and complex task. The algorithm used by tools is very complex.</a:t>
            </a:r>
          </a:p>
          <a:p>
            <a:r>
              <a:rPr lang="en-US" dirty="0"/>
              <a:t>There is much the designer can do to reduce the risk of runaway schedules in physical design. Once placement is successful, the rest of the design process is straightforward and should require few iterations.</a:t>
            </a:r>
          </a:p>
          <a:p>
            <a:r>
              <a:rPr lang="en-US" dirty="0"/>
              <a:t>By carefully choosing a set of simplifying assumptions, mainly in how we estimate routing delay, this loop can be made relatively fast (hours instead of days).</a:t>
            </a:r>
            <a:endParaRPr lang="en-GB" dirty="0"/>
          </a:p>
        </p:txBody>
      </p:sp>
      <p:sp>
        <p:nvSpPr>
          <p:cNvPr id="3" name="Title 2">
            <a:extLst>
              <a:ext uri="{FF2B5EF4-FFF2-40B4-BE49-F238E27FC236}">
                <a16:creationId xmlns:a16="http://schemas.microsoft.com/office/drawing/2014/main" id="{BD87B260-42CF-AAE9-1E65-6EA55F44A309}"/>
              </a:ext>
            </a:extLst>
          </p:cNvPr>
          <p:cNvSpPr>
            <a:spLocks noGrp="1"/>
          </p:cNvSpPr>
          <p:nvPr>
            <p:ph type="title"/>
          </p:nvPr>
        </p:nvSpPr>
        <p:spPr/>
        <p:txBody>
          <a:bodyPr/>
          <a:lstStyle/>
          <a:p>
            <a:r>
              <a:rPr lang="en-US" dirty="0"/>
              <a:t>Summary</a:t>
            </a:r>
            <a:endParaRPr lang="en-GB" dirty="0"/>
          </a:p>
        </p:txBody>
      </p:sp>
      <p:sp>
        <p:nvSpPr>
          <p:cNvPr id="4" name="Footer Placeholder 3">
            <a:extLst>
              <a:ext uri="{FF2B5EF4-FFF2-40B4-BE49-F238E27FC236}">
                <a16:creationId xmlns:a16="http://schemas.microsoft.com/office/drawing/2014/main" id="{76809DF5-4F0F-99D3-FFEF-3DB4DC54ABD1}"/>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04092044-6175-7962-7D9E-A98F86E7A1F5}"/>
              </a:ext>
            </a:extLst>
          </p:cNvPr>
          <p:cNvSpPr>
            <a:spLocks noGrp="1"/>
          </p:cNvSpPr>
          <p:nvPr>
            <p:ph type="sldNum" sz="quarter" idx="4"/>
          </p:nvPr>
        </p:nvSpPr>
        <p:spPr/>
        <p:txBody>
          <a:bodyPr/>
          <a:lstStyle/>
          <a:p>
            <a:pPr>
              <a:defRPr/>
            </a:pPr>
            <a:fld id="{A9CE67A1-BA7F-A74E-B5D7-615746DEEC2B}" type="slidenum">
              <a:rPr lang="en-US" smtClean="0"/>
              <a:pPr>
                <a:defRPr/>
              </a:pPr>
              <a:t>21</a:t>
            </a:fld>
            <a:endParaRPr lang="en-US" baseline="-11000" dirty="0"/>
          </a:p>
        </p:txBody>
      </p:sp>
      <p:sp>
        <p:nvSpPr>
          <p:cNvPr id="6" name="Date Placeholder 5">
            <a:extLst>
              <a:ext uri="{FF2B5EF4-FFF2-40B4-BE49-F238E27FC236}">
                <a16:creationId xmlns:a16="http://schemas.microsoft.com/office/drawing/2014/main" id="{2E51EE8C-1363-E4CA-2674-C6FC3A183F85}"/>
              </a:ext>
            </a:extLst>
          </p:cNvPr>
          <p:cNvSpPr>
            <a:spLocks noGrp="1"/>
          </p:cNvSpPr>
          <p:nvPr>
            <p:ph type="dt" sz="half" idx="2"/>
          </p:nvPr>
        </p:nvSpPr>
        <p:spPr/>
        <p:txBody>
          <a:bodyPr/>
          <a:lstStyle/>
          <a:p>
            <a:fld id="{EAFD7BB1-AB7F-4336-A8B3-6627E5D36FE4}" type="datetime3">
              <a:rPr lang="en-US" smtClean="0"/>
              <a:t>12 November 2022</a:t>
            </a:fld>
            <a:endParaRPr lang="en-US" dirty="0"/>
          </a:p>
        </p:txBody>
      </p:sp>
    </p:spTree>
    <p:extLst>
      <p:ext uri="{BB962C8B-B14F-4D97-AF65-F5344CB8AC3E}">
        <p14:creationId xmlns:p14="http://schemas.microsoft.com/office/powerpoint/2010/main" val="31218235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978EB41-6436-74FB-A3AF-A9108B1F8879}"/>
              </a:ext>
            </a:extLst>
          </p:cNvPr>
          <p:cNvSpPr>
            <a:spLocks noGrp="1"/>
          </p:cNvSpPr>
          <p:nvPr>
            <p:ph type="body" sz="quarter" idx="12"/>
          </p:nvPr>
        </p:nvSpPr>
        <p:spPr/>
        <p:txBody>
          <a:bodyPr/>
          <a:lstStyle/>
          <a:p>
            <a:r>
              <a:rPr lang="en-US" dirty="0"/>
              <a:t>Thank you!</a:t>
            </a:r>
            <a:endParaRPr lang="en-GB" dirty="0"/>
          </a:p>
        </p:txBody>
      </p:sp>
      <p:sp>
        <p:nvSpPr>
          <p:cNvPr id="4" name="Footer Placeholder 3">
            <a:extLst>
              <a:ext uri="{FF2B5EF4-FFF2-40B4-BE49-F238E27FC236}">
                <a16:creationId xmlns:a16="http://schemas.microsoft.com/office/drawing/2014/main" id="{2F42A489-3F6F-B20A-C9AD-60969CCC979E}"/>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8402D54F-654F-F725-9B71-9C115C9B6885}"/>
              </a:ext>
            </a:extLst>
          </p:cNvPr>
          <p:cNvSpPr>
            <a:spLocks noGrp="1"/>
          </p:cNvSpPr>
          <p:nvPr>
            <p:ph type="sldNum" sz="quarter" idx="4"/>
          </p:nvPr>
        </p:nvSpPr>
        <p:spPr/>
        <p:txBody>
          <a:bodyPr/>
          <a:lstStyle/>
          <a:p>
            <a:pPr>
              <a:defRPr/>
            </a:pPr>
            <a:fld id="{A9CE67A1-BA7F-A74E-B5D7-615746DEEC2B}" type="slidenum">
              <a:rPr lang="en-US" smtClean="0"/>
              <a:pPr>
                <a:defRPr/>
              </a:pPr>
              <a:t>22</a:t>
            </a:fld>
            <a:endParaRPr lang="en-US" baseline="-11000" dirty="0"/>
          </a:p>
        </p:txBody>
      </p:sp>
      <p:sp>
        <p:nvSpPr>
          <p:cNvPr id="6" name="Date Placeholder 5">
            <a:extLst>
              <a:ext uri="{FF2B5EF4-FFF2-40B4-BE49-F238E27FC236}">
                <a16:creationId xmlns:a16="http://schemas.microsoft.com/office/drawing/2014/main" id="{37B8BFE0-A5C7-5871-601B-A822760DD438}"/>
              </a:ext>
            </a:extLst>
          </p:cNvPr>
          <p:cNvSpPr>
            <a:spLocks noGrp="1"/>
          </p:cNvSpPr>
          <p:nvPr>
            <p:ph type="dt" sz="half" idx="2"/>
          </p:nvPr>
        </p:nvSpPr>
        <p:spPr/>
        <p:txBody>
          <a:bodyPr/>
          <a:lstStyle/>
          <a:p>
            <a:fld id="{FE7A9806-8D44-470F-A42A-B0BB34D8E567}" type="datetime3">
              <a:rPr lang="en-US" smtClean="0"/>
              <a:t>12 November 2022</a:t>
            </a:fld>
            <a:endParaRPr lang="en-US" dirty="0"/>
          </a:p>
        </p:txBody>
      </p:sp>
    </p:spTree>
    <p:extLst>
      <p:ext uri="{BB962C8B-B14F-4D97-AF65-F5344CB8AC3E}">
        <p14:creationId xmlns:p14="http://schemas.microsoft.com/office/powerpoint/2010/main" val="24128239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1_ADITemplate">
  <a:themeElements>
    <a:clrScheme name="ADI Corporate Palette 1">
      <a:dk1>
        <a:srgbClr val="000000"/>
      </a:dk1>
      <a:lt1>
        <a:srgbClr val="FFFFFF"/>
      </a:lt1>
      <a:dk2>
        <a:srgbClr val="555659"/>
      </a:dk2>
      <a:lt2>
        <a:srgbClr val="B1B3B3"/>
      </a:lt2>
      <a:accent1>
        <a:srgbClr val="41B6E6"/>
      </a:accent1>
      <a:accent2>
        <a:srgbClr val="0067B9"/>
      </a:accent2>
      <a:accent3>
        <a:srgbClr val="FED141"/>
      </a:accent3>
      <a:accent4>
        <a:srgbClr val="00B2A9"/>
      </a:accent4>
      <a:accent5>
        <a:srgbClr val="8637BA"/>
      </a:accent5>
      <a:accent6>
        <a:srgbClr val="FF7500"/>
      </a:accent6>
      <a:hlink>
        <a:srgbClr val="1B9CD0"/>
      </a:hlink>
      <a:folHlink>
        <a:srgbClr val="8637BA"/>
      </a:folHlink>
    </a:clrScheme>
    <a:fontScheme name="Custom 1">
      <a:majorFont>
        <a:latin typeface="Barlow"/>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a:solidFill>
            <a:schemeClr val="tx1"/>
          </a:solidFill>
          <a:miter lim="800000"/>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w="12700">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noAutofit/>
      </a:bodyPr>
      <a:lstStyle>
        <a:defPPr marL="228600" indent="-228600" defTabSz="457200">
          <a:spcBef>
            <a:spcPts val="1000"/>
          </a:spcBef>
          <a:buClr>
            <a:srgbClr val="1E4056"/>
          </a:buClr>
          <a:buSzPct val="75000"/>
          <a:buFont typeface="Barlow"/>
          <a:buChar char="►"/>
          <a:defRPr sz="2000" dirty="0">
            <a:solidFill>
              <a:srgbClr val="000000"/>
            </a:solidFill>
          </a:defRPr>
        </a:defPPr>
      </a:lstStyle>
    </a:txDef>
  </a:objectDefaults>
  <a:extraClrSchemeLst/>
  <a:extLst>
    <a:ext uri="{05A4C25C-085E-4340-85A3-A5531E510DB2}">
      <thm15:themeFamily xmlns:thm15="http://schemas.microsoft.com/office/thememl/2012/main" name="ADI Corporate PowerPoint Template" id="{9AB9AA7E-1902-F64D-879D-6E535C6B277F}" vid="{87C4F2EC-017C-2A4C-889E-1FC8D2DA438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ADI 2019 16x9 Light</Template>
  <TotalTime>3368</TotalTime>
  <Words>2827</Words>
  <Application>Microsoft Office PowerPoint</Application>
  <PresentationFormat>Widescreen</PresentationFormat>
  <Paragraphs>300</Paragraphs>
  <Slides>22</Slides>
  <Notes>10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22</vt:i4>
      </vt:variant>
    </vt:vector>
  </HeadingPairs>
  <TitlesOfParts>
    <vt:vector size="29" baseType="lpstr">
      <vt:lpstr>Arial</vt:lpstr>
      <vt:lpstr>Barlow</vt:lpstr>
      <vt:lpstr>Helvetica-Bold</vt:lpstr>
      <vt:lpstr>Times New Roman</vt:lpstr>
      <vt:lpstr>Wingdings</vt:lpstr>
      <vt:lpstr>Wingdings 3</vt:lpstr>
      <vt:lpstr>1_ADITemplate</vt:lpstr>
      <vt:lpstr>PowerPoint Presentation</vt:lpstr>
      <vt:lpstr>Chapter content</vt:lpstr>
      <vt:lpstr>1- Integration Overview</vt:lpstr>
      <vt:lpstr>2- Integrating Macros</vt:lpstr>
      <vt:lpstr>2- Integrating Macros</vt:lpstr>
      <vt:lpstr>2- Integrating Macros</vt:lpstr>
      <vt:lpstr>2- Integrating Macros</vt:lpstr>
      <vt:lpstr>3- Selecting IP</vt:lpstr>
      <vt:lpstr>3- Selecting IP</vt:lpstr>
      <vt:lpstr>4 – Integrating Memories</vt:lpstr>
      <vt:lpstr>5- Physical design</vt:lpstr>
      <vt:lpstr>5- Physical design (Design Planning and Synthesis)</vt:lpstr>
      <vt:lpstr>5- Physical design (Design Planning and Synthesis)</vt:lpstr>
      <vt:lpstr>5- Physical design (Physical Placement)</vt:lpstr>
      <vt:lpstr>5- Physical design (Physical Placement)</vt:lpstr>
      <vt:lpstr>5- Physical design (Physical Placement)</vt:lpstr>
      <vt:lpstr>5- Physical design (Physical Placement)</vt:lpstr>
      <vt:lpstr>5- Physical design (Time Closure)</vt:lpstr>
      <vt:lpstr>5- Physical design (Time Closure)</vt:lpstr>
      <vt:lpstr>5- Physical design (Verifying the Physical Design)</vt:lpstr>
      <vt:lpstr>Summary</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Sample Slides: Header Titles (Arial 36 pt.)</dc:title>
  <dc:subject/>
  <dc:creator>Mehana, Ahmed</dc:creator>
  <cp:keywords/>
  <dc:description>ADI PowerPoint v.8 © 1995 - 2019 Analog Devices, Inc. All Rights Reserved</dc:description>
  <cp:lastModifiedBy>على بدرى عبدالنعيم عبدالمالك حسن</cp:lastModifiedBy>
  <cp:revision>45</cp:revision>
  <cp:lastPrinted>2015-04-02T14:52:35Z</cp:lastPrinted>
  <dcterms:created xsi:type="dcterms:W3CDTF">2022-01-31T08:24:08Z</dcterms:created>
  <dcterms:modified xsi:type="dcterms:W3CDTF">2022-11-12T19:10:37Z</dcterms:modified>
  <cp:category/>
</cp:coreProperties>
</file>