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33"/>
  </p:notesMasterIdLst>
  <p:handoutMasterIdLst>
    <p:handoutMasterId r:id="rId34"/>
  </p:handoutMasterIdLst>
  <p:sldIdLst>
    <p:sldId id="277" r:id="rId2"/>
    <p:sldId id="283" r:id="rId3"/>
    <p:sldId id="284" r:id="rId4"/>
    <p:sldId id="285" r:id="rId5"/>
    <p:sldId id="286" r:id="rId6"/>
    <p:sldId id="287" r:id="rId7"/>
    <p:sldId id="288" r:id="rId8"/>
    <p:sldId id="289" r:id="rId9"/>
    <p:sldId id="290" r:id="rId10"/>
    <p:sldId id="291" r:id="rId11"/>
    <p:sldId id="293" r:id="rId12"/>
    <p:sldId id="292" r:id="rId13"/>
    <p:sldId id="294"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 id="310" r:id="rId30"/>
    <p:sldId id="311" r:id="rId31"/>
    <p:sldId id="312" r:id="rId3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8EA"/>
    <a:srgbClr val="CBCED2"/>
    <a:srgbClr val="27B34F"/>
    <a:srgbClr val="009FBD"/>
    <a:srgbClr val="009F59"/>
    <a:srgbClr val="003D61"/>
    <a:srgbClr val="3DDCE6"/>
    <a:srgbClr val="7C4A8B"/>
    <a:srgbClr val="1E40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95" autoAdjust="0"/>
  </p:normalViewPr>
  <p:slideViewPr>
    <p:cSldViewPr snapToGrid="0" snapToObjects="1">
      <p:cViewPr varScale="1">
        <p:scale>
          <a:sx n="85" d="100"/>
          <a:sy n="85" d="100"/>
        </p:scale>
        <p:origin x="547" y="58"/>
      </p:cViewPr>
      <p:guideLst/>
    </p:cSldViewPr>
  </p:slideViewPr>
  <p:outlineViewPr>
    <p:cViewPr>
      <p:scale>
        <a:sx n="33" d="100"/>
        <a:sy n="33" d="100"/>
      </p:scale>
      <p:origin x="0" y="1216"/>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113" d="100"/>
          <a:sy n="113" d="100"/>
        </p:scale>
        <p:origin x="3032"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ctr"/>
          <a:lstStyle>
            <a:lvl1pPr algn="l">
              <a:defRPr sz="1200"/>
            </a:lvl1pPr>
          </a:lstStyle>
          <a:p>
            <a:endParaRPr lang="en-US" sz="1000">
              <a:solidFill>
                <a:schemeClr val="bg1">
                  <a:lumMod val="50000"/>
                </a:schemeClr>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6597444" y="8829967"/>
            <a:ext cx="411333" cy="464820"/>
          </a:xfrm>
          <a:prstGeom prst="rect">
            <a:avLst/>
          </a:prstGeom>
        </p:spPr>
        <p:txBody>
          <a:bodyPr vert="horz" lIns="93177" tIns="46589" rIns="93177" bIns="46589" rtlCol="0" anchor="ctr"/>
          <a:lstStyle>
            <a:lvl1pPr algn="r">
              <a:defRPr sz="1200"/>
            </a:lvl1pPr>
          </a:lstStyle>
          <a:p>
            <a:fld id="{013FF889-DBB5-E540-8E75-47BFCA628842}" type="slidenum">
              <a:rPr lang="en-US" b="1" smtClean="0">
                <a:solidFill>
                  <a:schemeClr val="bg1">
                    <a:lumMod val="50000"/>
                  </a:schemeClr>
                </a:solidFill>
                <a:latin typeface="Arial" panose="020B0604020202020204" pitchFamily="34" charset="0"/>
                <a:cs typeface="Arial" panose="020B0604020202020204" pitchFamily="34" charset="0"/>
              </a:rPr>
              <a:t>‹#›</a:t>
            </a:fld>
            <a:endParaRPr lang="en-US" b="1">
              <a:solidFill>
                <a:schemeClr val="bg1">
                  <a:lumMod val="50000"/>
                </a:schemeClr>
              </a:solidFill>
              <a:latin typeface="Arial" panose="020B0604020202020204" pitchFamily="34" charset="0"/>
              <a:cs typeface="Arial" panose="020B0604020202020204" pitchFamily="34" charset="0"/>
            </a:endParaRPr>
          </a:p>
        </p:txBody>
      </p:sp>
      <p:sp>
        <p:nvSpPr>
          <p:cNvPr id="6" name="Rectangle 5"/>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7"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8"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10/11/2022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4931346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06400" y="814897"/>
            <a:ext cx="61976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ctr"/>
          <a:lstStyle>
            <a:lvl1pPr algn="l">
              <a:defRPr sz="1000">
                <a:latin typeface="Arial" panose="020B0604020202020204" pitchFamily="34" charset="0"/>
                <a:cs typeface="Arial" panose="020B0604020202020204" pitchFamily="34" charset="0"/>
              </a:defRPr>
            </a:lvl1pPr>
          </a:lstStyle>
          <a:p>
            <a:r>
              <a:rPr lang="en-US" i="1" dirty="0">
                <a:solidFill>
                  <a:srgbClr val="FFFFFF">
                    <a:lumMod val="65000"/>
                  </a:srgbClr>
                </a:solidFill>
              </a:rPr>
              <a:t>Footer</a:t>
            </a:r>
          </a:p>
        </p:txBody>
      </p:sp>
      <p:sp>
        <p:nvSpPr>
          <p:cNvPr id="7" name="Slide Number Placeholder 6"/>
          <p:cNvSpPr>
            <a:spLocks noGrp="1"/>
          </p:cNvSpPr>
          <p:nvPr>
            <p:ph type="sldNum" sz="quarter" idx="5"/>
          </p:nvPr>
        </p:nvSpPr>
        <p:spPr>
          <a:xfrm>
            <a:off x="6309360" y="8829967"/>
            <a:ext cx="699418" cy="464820"/>
          </a:xfrm>
          <a:prstGeom prst="rect">
            <a:avLst/>
          </a:prstGeom>
        </p:spPr>
        <p:txBody>
          <a:bodyPr vert="horz" lIns="93177" tIns="46589" rIns="93177" bIns="46589" rtlCol="0" anchor="ctr"/>
          <a:lstStyle>
            <a:lvl1pPr algn="r">
              <a:defRPr sz="1000" b="1">
                <a:solidFill>
                  <a:schemeClr val="tx1">
                    <a:lumMod val="50000"/>
                    <a:lumOff val="50000"/>
                  </a:schemeClr>
                </a:solidFill>
                <a:latin typeface="Arial" panose="020B0604020202020204" pitchFamily="34" charset="0"/>
                <a:cs typeface="Arial" panose="020B0604020202020204" pitchFamily="34" charset="0"/>
              </a:defRPr>
            </a:lvl1pPr>
          </a:lstStyle>
          <a:p>
            <a:fld id="{900B8651-D313-4300-801F-836567026953}" type="slidenum">
              <a:rPr lang="en-US" smtClean="0"/>
              <a:pPr/>
              <a:t>‹#›</a:t>
            </a:fld>
            <a:endParaRPr lang="en-US" dirty="0"/>
          </a:p>
        </p:txBody>
      </p:sp>
      <p:sp>
        <p:nvSpPr>
          <p:cNvPr id="12" name="Rectangle 11"/>
          <p:cNvSpPr/>
          <p:nvPr/>
        </p:nvSpPr>
        <p:spPr>
          <a:xfrm>
            <a:off x="3037839" y="8829967"/>
            <a:ext cx="3271521" cy="464820"/>
          </a:xfrm>
          <a:prstGeom prst="rect">
            <a:avLst/>
          </a:prstGeom>
        </p:spPr>
        <p:txBody>
          <a:bodyPr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lumMod val="65000"/>
                  </a:srgbClr>
                </a:solidFill>
                <a:effectLst/>
                <a:uLnTx/>
                <a:uFillTx/>
                <a:latin typeface="Arial" panose="020B0604020202020204" pitchFamily="34" charset="0"/>
                <a:ea typeface="+mn-ea"/>
                <a:cs typeface="Arial" panose="020B0604020202020204" pitchFamily="34" charset="0"/>
              </a:rPr>
              <a:t>Analog Devices Confidential Information</a:t>
            </a:r>
          </a:p>
        </p:txBody>
      </p:sp>
      <p:sp>
        <p:nvSpPr>
          <p:cNvPr id="9" name="Header Placeholder 1"/>
          <p:cNvSpPr>
            <a:spLocks noGrp="1"/>
          </p:cNvSpPr>
          <p:nvPr>
            <p:ph type="hdr" sz="quarter"/>
          </p:nvPr>
        </p:nvSpPr>
        <p:spPr>
          <a:xfrm>
            <a:off x="1676234" y="108612"/>
            <a:ext cx="4282113" cy="464820"/>
          </a:xfrm>
          <a:prstGeom prst="rect">
            <a:avLst/>
          </a:prstGeom>
        </p:spPr>
        <p:txBody>
          <a:bodyPr vert="horz" lIns="93177" tIns="0" rIns="93177" bIns="0" rtlCol="0" anchor="t"/>
          <a:lstStyle>
            <a:lvl1pPr algn="l">
              <a:defRPr sz="1200"/>
            </a:lvl1pPr>
          </a:lstStyle>
          <a:p>
            <a:endParaRPr lang="en-US" sz="1000" b="1" dirty="0">
              <a:solidFill>
                <a:schemeClr val="bg1">
                  <a:lumMod val="50000"/>
                </a:schemeClr>
              </a:solidFill>
              <a:latin typeface="Arial" panose="020B0604020202020204" pitchFamily="34" charset="0"/>
              <a:cs typeface="Arial" panose="020B0604020202020204" pitchFamily="34" charset="0"/>
            </a:endParaRPr>
          </a:p>
        </p:txBody>
      </p:sp>
      <p:sp>
        <p:nvSpPr>
          <p:cNvPr id="10" name="Date Placeholder 2"/>
          <p:cNvSpPr>
            <a:spLocks noGrp="1"/>
          </p:cNvSpPr>
          <p:nvPr>
            <p:ph type="dt" sz="quarter" idx="1"/>
          </p:nvPr>
        </p:nvSpPr>
        <p:spPr>
          <a:xfrm>
            <a:off x="6056670" y="108612"/>
            <a:ext cx="952107" cy="464820"/>
          </a:xfrm>
          <a:prstGeom prst="rect">
            <a:avLst/>
          </a:prstGeom>
        </p:spPr>
        <p:txBody>
          <a:bodyPr vert="horz" lIns="93177" tIns="0" rIns="93177" bIns="0" rtlCol="0" anchor="t"/>
          <a:lstStyle>
            <a:lvl1pPr algn="r">
              <a:defRPr sz="1200"/>
            </a:lvl1pPr>
          </a:lstStyle>
          <a:p>
            <a:fld id="{2C2AD557-2032-D74A-B281-F0540E660787}" type="datetimeFigureOut">
              <a:rPr lang="en-US" sz="1000" smtClean="0">
                <a:solidFill>
                  <a:schemeClr val="bg1">
                    <a:lumMod val="50000"/>
                  </a:schemeClr>
                </a:solidFill>
                <a:latin typeface="Arial" panose="020B0604020202020204" pitchFamily="34" charset="0"/>
                <a:cs typeface="Arial" panose="020B0604020202020204" pitchFamily="34" charset="0"/>
              </a:rPr>
              <a:t>10/11/2022</a:t>
            </a:fld>
            <a:endParaRPr lang="en-US" sz="1000">
              <a:solidFill>
                <a:schemeClr val="bg1">
                  <a:lumMod val="50000"/>
                </a:schemeClr>
              </a:solidFill>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51" y="108612"/>
            <a:ext cx="1323726" cy="535440"/>
          </a:xfrm>
          <a:prstGeom prst="rect">
            <a:avLst/>
          </a:prstGeom>
          <a:noFill/>
          <a:ln>
            <a:noFill/>
          </a:ln>
        </p:spPr>
      </p:pic>
    </p:spTree>
    <p:extLst>
      <p:ext uri="{BB962C8B-B14F-4D97-AF65-F5344CB8AC3E}">
        <p14:creationId xmlns:p14="http://schemas.microsoft.com/office/powerpoint/2010/main" val="3561389954"/>
      </p:ext>
    </p:extLst>
  </p:cSld>
  <p:clrMap bg1="lt1" tx1="dk1" bg2="lt2" tx2="dk2" accent1="accent1" accent2="accent2" accent3="accent3" accent4="accent4" accent5="accent5" accent6="accent6" hlink="hlink" folHlink="folHlink"/>
  <p:hf hdr="0" ftr="0" dt="0"/>
  <p:notesStyle>
    <a:lvl1pPr marL="171450" indent="-171450" algn="l" defTabSz="914400" rtl="0" eaLnBrk="1" latinLnBrk="0" hangingPunct="1">
      <a:buClr>
        <a:schemeClr val="tx2"/>
      </a:buClr>
      <a:buSzPct val="75000"/>
      <a:buFont typeface="Wingdings 3" panose="05040102010807070707" pitchFamily="18" charset="2"/>
      <a:buChar char="u"/>
      <a:defRPr sz="1200" kern="1200">
        <a:solidFill>
          <a:schemeClr val="tx1">
            <a:lumMod val="50000"/>
            <a:lumOff val="50000"/>
          </a:schemeClr>
        </a:solidFill>
        <a:latin typeface="Arial" panose="020B0604020202020204" pitchFamily="34" charset="0"/>
        <a:ea typeface="+mn-ea"/>
        <a:cs typeface="Arial" panose="020B0604020202020204" pitchFamily="34" charset="0"/>
      </a:defRPr>
    </a:lvl1pPr>
    <a:lvl2pPr marL="344488"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2pPr>
    <a:lvl3pPr marL="5111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3pPr>
    <a:lvl4pPr marL="688975"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4pPr>
    <a:lvl5pPr marL="855663" indent="-171450" algn="l" defTabSz="914400" rtl="0" eaLnBrk="1" latinLnBrk="0" hangingPunct="1">
      <a:buClr>
        <a:schemeClr val="tx2"/>
      </a:buClr>
      <a:buSzPct val="100000"/>
      <a:buFont typeface="Wingdings" panose="05000000000000000000" pitchFamily="2" charset="2"/>
      <a:buChar char="§"/>
      <a:defRPr sz="1200" kern="1200">
        <a:solidFill>
          <a:schemeClr val="tx1">
            <a:lumMod val="50000"/>
            <a:lumOff val="50000"/>
          </a:schemeClr>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814388"/>
            <a:ext cx="6197600" cy="3486150"/>
          </a:xfrm>
        </p:spPr>
      </p:sp>
      <p:sp>
        <p:nvSpPr>
          <p:cNvPr id="3" name="Notes Placeholder 2"/>
          <p:cNvSpPr>
            <a:spLocks noGrp="1"/>
          </p:cNvSpPr>
          <p:nvPr>
            <p:ph type="body" idx="1"/>
          </p:nvPr>
        </p:nvSpPr>
        <p:spPr/>
        <p:txBody>
          <a:bodyPr/>
          <a:lstStyle/>
          <a:p>
            <a:r>
              <a:rPr lang="en-US" dirty="0"/>
              <a:t>This is the light cover slide option. </a:t>
            </a:r>
          </a:p>
        </p:txBody>
      </p:sp>
      <p:sp>
        <p:nvSpPr>
          <p:cNvPr id="4" name="Slide Number Placeholder 3"/>
          <p:cNvSpPr>
            <a:spLocks noGrp="1"/>
          </p:cNvSpPr>
          <p:nvPr>
            <p:ph type="sldNum" sz="quarter" idx="10"/>
          </p:nvPr>
        </p:nvSpPr>
        <p:spPr/>
        <p:txBody>
          <a:bodyPr/>
          <a:lstStyle/>
          <a:p>
            <a:fld id="{900B8651-D313-4300-801F-836567026953}" type="slidenum">
              <a:rPr lang="en-US" smtClean="0"/>
              <a:pPr/>
              <a:t>1</a:t>
            </a:fld>
            <a:endParaRPr lang="en-US" dirty="0"/>
          </a:p>
        </p:txBody>
      </p:sp>
    </p:spTree>
    <p:extLst>
      <p:ext uri="{BB962C8B-B14F-4D97-AF65-F5344CB8AC3E}">
        <p14:creationId xmlns:p14="http://schemas.microsoft.com/office/powerpoint/2010/main" val="29882166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1801A5-8B97-4248-BC1F-30EED1BE8E2A}"/>
              </a:ext>
            </a:extLst>
          </p:cNvPr>
          <p:cNvSpPr txBox="1"/>
          <p:nvPr userDrawn="1"/>
        </p:nvSpPr>
        <p:spPr>
          <a:xfrm>
            <a:off x="2836333" y="-11006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5" name="Graphic 24">
            <a:extLst>
              <a:ext uri="{FF2B5EF4-FFF2-40B4-BE49-F238E27FC236}">
                <a16:creationId xmlns:a16="http://schemas.microsoft.com/office/drawing/2014/main" id="{9C0A6AB0-9BB4-1E43-9F1F-3CEBCAC113FA}"/>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6" name="Rectangle 25">
            <a:extLst>
              <a:ext uri="{FF2B5EF4-FFF2-40B4-BE49-F238E27FC236}">
                <a16:creationId xmlns:a16="http://schemas.microsoft.com/office/drawing/2014/main" id="{91B97B1F-8B2D-7041-9104-AECAAA0D72FD}"/>
              </a:ext>
            </a:extLst>
          </p:cNvPr>
          <p:cNvSpPr/>
          <p:nvPr userDrawn="1"/>
        </p:nvSpPr>
        <p:spPr>
          <a:xfrm>
            <a:off x="0" y="-5204"/>
            <a:ext cx="6281680" cy="6863204"/>
          </a:xfrm>
          <a:prstGeom prst="rect">
            <a:avLst/>
          </a:prstGeom>
          <a:gradFill>
            <a:gsLst>
              <a:gs pos="0">
                <a:schemeClr val="accent2">
                  <a:lumMod val="50000"/>
                  <a:alpha val="0"/>
                </a:schemeClr>
              </a:gs>
              <a:gs pos="100000">
                <a:schemeClr val="accent2">
                  <a:lumMod val="50000"/>
                  <a:alpha val="49901"/>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7" name="Picture 16">
            <a:extLst>
              <a:ext uri="{FF2B5EF4-FFF2-40B4-BE49-F238E27FC236}">
                <a16:creationId xmlns:a16="http://schemas.microsoft.com/office/drawing/2014/main" id="{68BA96D0-D231-8543-9A40-53B148E3E277}"/>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8" name="Text Placeholder 2">
            <a:extLst>
              <a:ext uri="{FF2B5EF4-FFF2-40B4-BE49-F238E27FC236}">
                <a16:creationId xmlns:a16="http://schemas.microsoft.com/office/drawing/2014/main" id="{0BAFA5AC-215B-3841-96C1-5949DA8341F2}"/>
              </a:ext>
            </a:extLst>
          </p:cNvPr>
          <p:cNvSpPr>
            <a:spLocks noGrp="1"/>
          </p:cNvSpPr>
          <p:nvPr>
            <p:ph type="body" idx="1" hasCustomPrompt="1"/>
          </p:nvPr>
        </p:nvSpPr>
        <p:spPr>
          <a:xfrm>
            <a:off x="342900" y="4587041"/>
            <a:ext cx="5570538" cy="276999"/>
          </a:xfrm>
        </p:spPr>
        <p:txBody>
          <a:bodyPr wrap="square" tIns="0" anchor="t">
            <a:spAutoFit/>
          </a:bodyPr>
          <a:lstStyle>
            <a:lvl1pPr marL="0" indent="0">
              <a:lnSpc>
                <a:spcPct val="90000"/>
              </a:lnSpc>
              <a:spcBef>
                <a:spcPts val="0"/>
              </a:spcBef>
              <a:buNone/>
              <a:defRPr lang="en-US" sz="2000" b="0" i="0" kern="1200" cap="none" baseline="0" dirty="0">
                <a:solidFill>
                  <a:schemeClr val="accent1">
                    <a:lumMod val="20000"/>
                    <a:lumOff val="80000"/>
                  </a:schemeClr>
                </a:solidFill>
                <a:latin typeface="Barlow" pitchFamily="2" charset="77"/>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457200" rtl="0" eaLnBrk="1" latinLnBrk="0" hangingPunct="1">
              <a:spcBef>
                <a:spcPct val="20000"/>
              </a:spcBef>
              <a:buClr>
                <a:schemeClr val="bg2"/>
              </a:buClr>
              <a:buSzPct val="65000"/>
              <a:buFont typeface="Barlow"/>
              <a:buNone/>
            </a:pPr>
            <a:r>
              <a:rPr lang="en-US" dirty="0"/>
              <a:t>Click to Add Presenter/Subheading</a:t>
            </a:r>
          </a:p>
        </p:txBody>
      </p:sp>
      <p:sp>
        <p:nvSpPr>
          <p:cNvPr id="29" name="Text Placeholder 6">
            <a:extLst>
              <a:ext uri="{FF2B5EF4-FFF2-40B4-BE49-F238E27FC236}">
                <a16:creationId xmlns:a16="http://schemas.microsoft.com/office/drawing/2014/main" id="{07DA987C-20E5-6645-A0B0-F16877035E4C}"/>
              </a:ext>
            </a:extLst>
          </p:cNvPr>
          <p:cNvSpPr>
            <a:spLocks noGrp="1"/>
          </p:cNvSpPr>
          <p:nvPr>
            <p:ph type="body" sz="quarter" idx="12" hasCustomPrompt="1"/>
          </p:nvPr>
        </p:nvSpPr>
        <p:spPr>
          <a:xfrm>
            <a:off x="342900" y="3824707"/>
            <a:ext cx="5570538" cy="664797"/>
          </a:xfrm>
          <a:prstGeom prst="rect">
            <a:avLst/>
          </a:prstGeom>
        </p:spPr>
        <p:txBody>
          <a:bodyPr wrap="square" lIns="0" tIns="0" rIns="0" bIns="0" anchor="b">
            <a:spAutoFit/>
          </a:bodyPr>
          <a:lstStyle>
            <a:lvl1pPr marL="0" indent="0">
              <a:lnSpc>
                <a:spcPct val="90000"/>
              </a:lnSpc>
              <a:buNone/>
              <a:defRPr lang="en-US" sz="4800" b="0" i="0" kern="1200" baseline="0" dirty="0">
                <a:solidFill>
                  <a:schemeClr val="bg1"/>
                </a:solidFill>
                <a:latin typeface="Barlow" pitchFamily="2" charset="77"/>
                <a:ea typeface="+mj-ea"/>
                <a:cs typeface="+mj-cs"/>
              </a:defRPr>
            </a:lvl1pPr>
          </a:lstStyle>
          <a:p>
            <a:pPr marL="0" lvl="0" indent="0" algn="l" defTabSz="457200" rtl="0" eaLnBrk="1" latinLnBrk="0" hangingPunct="1">
              <a:spcBef>
                <a:spcPts val="1000"/>
              </a:spcBef>
              <a:buClr>
                <a:schemeClr val="bg2"/>
              </a:buClr>
              <a:buSzPct val="75000"/>
              <a:buFont typeface="Barlow"/>
              <a:buNone/>
            </a:pPr>
            <a:r>
              <a:rPr lang="en-US" dirty="0"/>
              <a:t>Click to Edit</a:t>
            </a:r>
          </a:p>
        </p:txBody>
      </p:sp>
      <p:sp>
        <p:nvSpPr>
          <p:cNvPr id="30" name="Rectangle 29">
            <a:extLst>
              <a:ext uri="{FF2B5EF4-FFF2-40B4-BE49-F238E27FC236}">
                <a16:creationId xmlns:a16="http://schemas.microsoft.com/office/drawing/2014/main" id="{C11C654B-FE14-FB45-8249-7D9D92995BA2}"/>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084A994-876E-774C-A507-104A2FF008FC}"/>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DFC1328E-D267-9B45-9570-96B12FEA03CE}"/>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bg1"/>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EA1B3B0B-FCA0-194C-BBF9-5976E204053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FE7A9806-8D44-470F-A42A-B0BB34D8E567}" type="datetime3">
              <a:rPr lang="en-US" smtClean="0"/>
              <a:t>11 October 2022</a:t>
            </a:fld>
            <a:endParaRPr lang="en-US" dirty="0"/>
          </a:p>
        </p:txBody>
      </p:sp>
    </p:spTree>
    <p:extLst>
      <p:ext uri="{BB962C8B-B14F-4D97-AF65-F5344CB8AC3E}">
        <p14:creationId xmlns:p14="http://schemas.microsoft.com/office/powerpoint/2010/main" val="1944391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blipFill dpi="0" rotWithShape="1">
          <a:blip r:embed="rId2"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6EEBE8-797C-CF45-BCEA-46B6F8BDF2A6}"/>
              </a:ext>
            </a:extLst>
          </p:cNvPr>
          <p:cNvSpPr txBox="1"/>
          <p:nvPr userDrawn="1"/>
        </p:nvSpPr>
        <p:spPr>
          <a:xfrm>
            <a:off x="23045738" y="1928813"/>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pic>
        <p:nvPicPr>
          <p:cNvPr id="21" name="Graphic 20">
            <a:extLst>
              <a:ext uri="{FF2B5EF4-FFF2-40B4-BE49-F238E27FC236}">
                <a16:creationId xmlns:a16="http://schemas.microsoft.com/office/drawing/2014/main" id="{8AC56CD1-FBEE-0E42-B197-B760B74435A1}"/>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983" t="31368" r="520" b="18339"/>
          <a:stretch/>
        </p:blipFill>
        <p:spPr>
          <a:xfrm>
            <a:off x="0" y="-5203"/>
            <a:ext cx="12192000" cy="6863204"/>
          </a:xfrm>
          <a:prstGeom prst="rect">
            <a:avLst/>
          </a:prstGeom>
        </p:spPr>
      </p:pic>
      <p:sp>
        <p:nvSpPr>
          <p:cNvPr id="22" name="Rectangle 21">
            <a:extLst>
              <a:ext uri="{FF2B5EF4-FFF2-40B4-BE49-F238E27FC236}">
                <a16:creationId xmlns:a16="http://schemas.microsoft.com/office/drawing/2014/main" id="{8364CBD1-C300-DD47-9E62-DB8A672B2069}"/>
              </a:ext>
            </a:extLst>
          </p:cNvPr>
          <p:cNvSpPr/>
          <p:nvPr userDrawn="1"/>
        </p:nvSpPr>
        <p:spPr>
          <a:xfrm>
            <a:off x="0" y="-5204"/>
            <a:ext cx="6095999" cy="6863204"/>
          </a:xfrm>
          <a:prstGeom prst="rect">
            <a:avLst/>
          </a:prstGeom>
          <a:gradFill>
            <a:gsLst>
              <a:gs pos="0">
                <a:schemeClr val="bg1">
                  <a:alpha val="0"/>
                </a:schemeClr>
              </a:gs>
              <a:gs pos="100000">
                <a:schemeClr val="bg1">
                  <a:alpha val="50000"/>
                </a:schemeClr>
              </a:gs>
            </a:gsLst>
            <a:lin ang="10800000" scaled="1"/>
          </a:gra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91BC8680-FDB5-4F4B-8DFD-CE546990D5D4}"/>
              </a:ext>
            </a:extLst>
          </p:cNvPr>
          <p:cNvSpPr txBox="1"/>
          <p:nvPr userDrawn="1"/>
        </p:nvSpPr>
        <p:spPr>
          <a:xfrm>
            <a:off x="9300117" y="412595"/>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pic>
        <p:nvPicPr>
          <p:cNvPr id="24" name="Picture 16">
            <a:extLst>
              <a:ext uri="{FF2B5EF4-FFF2-40B4-BE49-F238E27FC236}">
                <a16:creationId xmlns:a16="http://schemas.microsoft.com/office/drawing/2014/main" id="{38DD1F27-AFE8-9E47-9C20-1F88A4CD777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347472" y="412047"/>
            <a:ext cx="1546299" cy="623945"/>
          </a:xfrm>
          <a:prstGeom prst="rect">
            <a:avLst/>
          </a:prstGeom>
        </p:spPr>
      </p:pic>
      <p:sp>
        <p:nvSpPr>
          <p:cNvPr id="25" name="Text Placeholder 8">
            <a:extLst>
              <a:ext uri="{FF2B5EF4-FFF2-40B4-BE49-F238E27FC236}">
                <a16:creationId xmlns:a16="http://schemas.microsoft.com/office/drawing/2014/main" id="{846AB6BC-FF23-D64E-A9A3-50A9B18219C9}"/>
              </a:ext>
            </a:extLst>
          </p:cNvPr>
          <p:cNvSpPr>
            <a:spLocks noGrp="1"/>
          </p:cNvSpPr>
          <p:nvPr>
            <p:ph type="body" sz="quarter" idx="13" hasCustomPrompt="1"/>
          </p:nvPr>
        </p:nvSpPr>
        <p:spPr>
          <a:xfrm>
            <a:off x="347472" y="4590288"/>
            <a:ext cx="5565966" cy="246221"/>
          </a:xfrm>
          <a:prstGeom prst="rect">
            <a:avLst/>
          </a:prstGeom>
        </p:spPr>
        <p:txBody>
          <a:bodyPr wrap="square" lIns="0" tIns="0" rIns="0" bIns="0" anchor="t" anchorCtr="0">
            <a:spAutoFit/>
          </a:bodyPr>
          <a:lstStyle>
            <a:lvl1pPr marL="342900" indent="-342900">
              <a:spcBef>
                <a:spcPts val="0"/>
              </a:spcBef>
              <a:buNone/>
              <a:defRPr lang="en-US" sz="2000" b="0" i="0" kern="1200" cap="none" baseline="0" dirty="0" smtClean="0">
                <a:solidFill>
                  <a:schemeClr val="accent2"/>
                </a:solidFill>
                <a:latin typeface="Barlow" pitchFamily="2" charset="77"/>
                <a:ea typeface="+mn-ea"/>
                <a:cs typeface="+mn-cs"/>
              </a:defRPr>
            </a:lvl1pPr>
            <a:lvl2pPr marL="0" indent="0">
              <a:buFont typeface="Arial" panose="020B0604020202020204" pitchFamily="34" charset="0"/>
              <a:buNone/>
              <a:defRPr lang="en-US" sz="1500" i="1" kern="1200" dirty="0" smtClean="0">
                <a:solidFill>
                  <a:schemeClr val="accent2">
                    <a:lumMod val="10000"/>
                    <a:lumOff val="90000"/>
                  </a:schemeClr>
                </a:solidFill>
                <a:latin typeface="+mn-lt"/>
                <a:ea typeface="+mn-ea"/>
                <a:cs typeface="+mn-cs"/>
              </a:defRPr>
            </a:lvl2pPr>
          </a:lstStyle>
          <a:p>
            <a:pPr marL="0" lvl="0" indent="0" algn="l" defTabSz="457200" rtl="0" eaLnBrk="1" latinLnBrk="0" hangingPunct="1">
              <a:spcBef>
                <a:spcPct val="20000"/>
              </a:spcBef>
            </a:pPr>
            <a:r>
              <a:rPr lang="en-US" dirty="0"/>
              <a:t>Click To Add Presenter/Subheading</a:t>
            </a:r>
          </a:p>
        </p:txBody>
      </p:sp>
      <p:sp>
        <p:nvSpPr>
          <p:cNvPr id="26" name="Title Placeholder 2">
            <a:extLst>
              <a:ext uri="{FF2B5EF4-FFF2-40B4-BE49-F238E27FC236}">
                <a16:creationId xmlns:a16="http://schemas.microsoft.com/office/drawing/2014/main" id="{D37A55A4-1BD2-674A-9626-60AB1AEE3D5B}"/>
              </a:ext>
            </a:extLst>
          </p:cNvPr>
          <p:cNvSpPr>
            <a:spLocks noGrp="1"/>
          </p:cNvSpPr>
          <p:nvPr>
            <p:ph type="title" hasCustomPrompt="1"/>
          </p:nvPr>
        </p:nvSpPr>
        <p:spPr>
          <a:xfrm>
            <a:off x="347472" y="3827812"/>
            <a:ext cx="5565966" cy="664797"/>
          </a:xfrm>
          <a:prstGeom prst="rect">
            <a:avLst/>
          </a:prstGeom>
          <a:noFill/>
        </p:spPr>
        <p:txBody>
          <a:bodyPr vert="horz" wrap="square" lIns="0" tIns="0" rIns="0" bIns="0" rtlCol="0" anchor="b">
            <a:spAutoFit/>
          </a:bodyPr>
          <a:lstStyle>
            <a:lvl1pPr>
              <a:lnSpc>
                <a:spcPct val="90000"/>
              </a:lnSpc>
              <a:spcBef>
                <a:spcPts val="0"/>
              </a:spcBef>
              <a:defRPr lang="en-US" sz="4800" i="0" dirty="0">
                <a:solidFill>
                  <a:schemeClr val="tx2"/>
                </a:solidFill>
              </a:defRPr>
            </a:lvl1pPr>
          </a:lstStyle>
          <a:p>
            <a:pPr lvl="0">
              <a:spcBef>
                <a:spcPts val="1000"/>
              </a:spcBef>
              <a:buClr>
                <a:schemeClr val="bg2"/>
              </a:buClr>
              <a:buSzPct val="75000"/>
              <a:buFont typeface="Barlow"/>
            </a:pPr>
            <a:r>
              <a:rPr lang="en-US" dirty="0"/>
              <a:t>Click to Edit</a:t>
            </a:r>
          </a:p>
        </p:txBody>
      </p:sp>
      <p:sp>
        <p:nvSpPr>
          <p:cNvPr id="27" name="Rectangle 26">
            <a:extLst>
              <a:ext uri="{FF2B5EF4-FFF2-40B4-BE49-F238E27FC236}">
                <a16:creationId xmlns:a16="http://schemas.microsoft.com/office/drawing/2014/main" id="{544C4FA3-E45E-424A-9BD3-1455471E946D}"/>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13" name="Footer Placeholder 1">
            <a:extLst>
              <a:ext uri="{FF2B5EF4-FFF2-40B4-BE49-F238E27FC236}">
                <a16:creationId xmlns:a16="http://schemas.microsoft.com/office/drawing/2014/main" id="{7A06C9D6-1966-FF45-88E4-859637CF1FF0}"/>
              </a:ext>
            </a:extLst>
          </p:cNvPr>
          <p:cNvSpPr>
            <a:spLocks noGrp="1"/>
          </p:cNvSpPr>
          <p:nvPr>
            <p:ph type="ftr" sz="quarter" idx="3"/>
          </p:nvPr>
        </p:nvSpPr>
        <p:spPr>
          <a:xfrm>
            <a:off x="342900" y="6616018"/>
            <a:ext cx="8059640" cy="241982"/>
          </a:xfrm>
          <a:prstGeom prst="rect">
            <a:avLst/>
          </a:prstGeom>
          <a:noFill/>
        </p:spPr>
        <p:txBody>
          <a:bodyPr vert="horz" lIns="0" tIns="0" rIns="182880" bIns="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4" name="Slide Number Placeholder 3">
            <a:extLst>
              <a:ext uri="{FF2B5EF4-FFF2-40B4-BE49-F238E27FC236}">
                <a16:creationId xmlns:a16="http://schemas.microsoft.com/office/drawing/2014/main" id="{348A6DA5-3CBE-2540-889B-02D2E0478F93}"/>
              </a:ext>
            </a:extLst>
          </p:cNvPr>
          <p:cNvSpPr>
            <a:spLocks noGrp="1"/>
          </p:cNvSpPr>
          <p:nvPr>
            <p:ph type="sldNum" sz="quarter" idx="4"/>
          </p:nvPr>
        </p:nvSpPr>
        <p:spPr>
          <a:xfrm>
            <a:off x="10629901" y="6613018"/>
            <a:ext cx="1219199" cy="241982"/>
          </a:xfrm>
          <a:prstGeom prst="rect">
            <a:avLst/>
          </a:prstGeom>
        </p:spPr>
        <p:txBody>
          <a:bodyPr vert="horz" lIns="182880" tIns="0" rIns="0" bIns="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5" name="Date Placeholder 3">
            <a:extLst>
              <a:ext uri="{FF2B5EF4-FFF2-40B4-BE49-F238E27FC236}">
                <a16:creationId xmlns:a16="http://schemas.microsoft.com/office/drawing/2014/main" id="{76272179-8E7E-FC4E-9269-CB6734C0C570}"/>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75E1FC71-41A5-4707-AA2A-6D924C0000AC}" type="datetime3">
              <a:rPr lang="en-US" smtClean="0"/>
              <a:t>11 October 2022</a:t>
            </a:fld>
            <a:endParaRPr lang="en-US" dirty="0"/>
          </a:p>
        </p:txBody>
      </p:sp>
    </p:spTree>
    <p:extLst>
      <p:ext uri="{BB962C8B-B14F-4D97-AF65-F5344CB8AC3E}">
        <p14:creationId xmlns:p14="http://schemas.microsoft.com/office/powerpoint/2010/main" val="36150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screen">
            <a:alphaModFix amt="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355600" y="1066800"/>
            <a:ext cx="10274300" cy="4914900"/>
          </a:xfrm>
        </p:spPr>
        <p:txBody>
          <a:bodyPr lIns="0" tIns="0" rIns="0" bIns="0" anchor="t" anchorCtr="0"/>
          <a:lstStyle>
            <a:lvl1pPr marL="228600" indent="-228600">
              <a:buFont typeface="Arial" panose="020B0604020202020204" pitchFamily="34" charset="0"/>
              <a:buChar char="►"/>
              <a:defRPr/>
            </a:lvl1pPr>
            <a:lvl2pPr marL="457200" indent="-228600" algn="l" defTabSz="457200" rtl="0" eaLnBrk="1" latinLnBrk="0" hangingPunct="1">
              <a:spcBef>
                <a:spcPct val="20000"/>
              </a:spcBef>
              <a:buClr>
                <a:srgbClr val="1E4056"/>
              </a:buClr>
              <a:buFont typeface="Wingdings" charset="2"/>
              <a:buChar char="§"/>
              <a:defRPr/>
            </a:lvl2pPr>
            <a:lvl3pPr marL="685800" indent="-228600" algn="l" defTabSz="457200" rtl="0" eaLnBrk="1" latinLnBrk="0" hangingPunct="1">
              <a:spcBef>
                <a:spcPct val="20000"/>
              </a:spcBef>
              <a:buClr>
                <a:srgbClr val="1E4056"/>
              </a:buClr>
              <a:buSzPct val="100000"/>
              <a:buFont typeface="Wingdings" panose="05000000000000000000" pitchFamily="2" charset="2"/>
              <a:buChar char="§"/>
              <a:defRPr/>
            </a:lvl3pPr>
            <a:lvl4pPr marL="914400" indent="-228600" algn="l" defTabSz="457200" rtl="0" eaLnBrk="1" latinLnBrk="0" hangingPunct="1">
              <a:spcBef>
                <a:spcPct val="20000"/>
              </a:spcBef>
              <a:buClr>
                <a:srgbClr val="1E4056"/>
              </a:buClr>
              <a:buSzPct val="100000"/>
              <a:buFont typeface="Wingdings" panose="05000000000000000000" pitchFamily="2" charset="2"/>
              <a:buChar char="§"/>
              <a:defRPr/>
            </a:lvl4pPr>
            <a:lvl5pPr marL="1143000" indent="-228600" algn="l" defTabSz="457200" rtl="0" eaLnBrk="1" latinLnBrk="0" hangingPunct="1">
              <a:spcBef>
                <a:spcPct val="20000"/>
              </a:spcBef>
              <a:buClr>
                <a:srgbClr val="1E4056"/>
              </a:buClr>
              <a:buSzPct val="100000"/>
              <a:buFont typeface="Wingdings" panose="05000000000000000000"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Box 1">
            <a:extLst>
              <a:ext uri="{FF2B5EF4-FFF2-40B4-BE49-F238E27FC236}">
                <a16:creationId xmlns:a16="http://schemas.microsoft.com/office/drawing/2014/main" id="{1F21C2DA-52B1-DD43-A3B6-C3CA586AC7A6}"/>
              </a:ext>
            </a:extLst>
          </p:cNvPr>
          <p:cNvSpPr txBox="1"/>
          <p:nvPr userDrawn="1"/>
        </p:nvSpPr>
        <p:spPr>
          <a:xfrm>
            <a:off x="12056533" y="1557867"/>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b="0" i="0" dirty="0">
              <a:solidFill>
                <a:srgbClr val="000000"/>
              </a:solidFill>
              <a:latin typeface="Barlow" pitchFamily="2" charset="77"/>
            </a:endParaRPr>
          </a:p>
        </p:txBody>
      </p:sp>
      <p:sp>
        <p:nvSpPr>
          <p:cNvPr id="11" name="Title 5">
            <a:extLst>
              <a:ext uri="{FF2B5EF4-FFF2-40B4-BE49-F238E27FC236}">
                <a16:creationId xmlns:a16="http://schemas.microsoft.com/office/drawing/2014/main" id="{DFAA90AC-9B0A-AB4E-ABA9-347CBDC29714}"/>
              </a:ext>
            </a:extLst>
          </p:cNvPr>
          <p:cNvSpPr>
            <a:spLocks noGrp="1"/>
          </p:cNvSpPr>
          <p:nvPr>
            <p:ph type="title" hasCustomPrompt="1"/>
          </p:nvPr>
        </p:nvSpPr>
        <p:spPr>
          <a:xfrm>
            <a:off x="342900" y="219456"/>
            <a:ext cx="10287000" cy="470898"/>
          </a:xfrm>
          <a:prstGeom prst="callout1">
            <a:avLst>
              <a:gd name="adj1" fmla="val 103511"/>
              <a:gd name="adj2" fmla="val 100069"/>
              <a:gd name="adj3" fmla="val 103502"/>
              <a:gd name="adj4" fmla="val -3408"/>
            </a:avLst>
          </a:prstGeom>
          <a:noFill/>
          <a:ln w="50800">
            <a:gradFill flip="none" rotWithShape="1">
              <a:gsLst>
                <a:gs pos="0">
                  <a:schemeClr val="accent2"/>
                </a:gs>
                <a:gs pos="100000">
                  <a:schemeClr val="accent1"/>
                </a:gs>
              </a:gsLst>
              <a:lin ang="0" scaled="1"/>
              <a:tileRect/>
            </a:gradFill>
          </a:ln>
        </p:spPr>
        <p:txBody>
          <a:bodyPr vert="horz" wrap="square" lIns="0" tIns="0" rIns="0" bIns="27432" rtlCol="0" anchor="t" anchorCtr="0">
            <a:spAutoFit/>
          </a:bodyPr>
          <a:lstStyle>
            <a:lvl1pPr marL="0" indent="0" algn="l" defTabSz="457200" rtl="0" eaLnBrk="1" latinLnBrk="0" hangingPunct="1">
              <a:lnSpc>
                <a:spcPct val="80000"/>
              </a:lnSpc>
              <a:spcBef>
                <a:spcPct val="0"/>
              </a:spcBef>
              <a:buNone/>
              <a:defRPr lang="en-US" sz="3600" b="0" i="0" kern="1200" baseline="0" dirty="0">
                <a:solidFill>
                  <a:schemeClr val="accent2"/>
                </a:solidFill>
                <a:latin typeface="Barlow" pitchFamily="2" charset="77"/>
                <a:ea typeface="+mj-ea"/>
                <a:cs typeface="+mj-cs"/>
              </a:defRPr>
            </a:lvl1pPr>
          </a:lstStyle>
          <a:p>
            <a:pPr lvl="0"/>
            <a:r>
              <a:rPr lang="en-US" dirty="0"/>
              <a:t>Click to Edit</a:t>
            </a:r>
          </a:p>
        </p:txBody>
      </p:sp>
      <p:sp>
        <p:nvSpPr>
          <p:cNvPr id="9" name="Footer Placeholder 1">
            <a:extLst>
              <a:ext uri="{FF2B5EF4-FFF2-40B4-BE49-F238E27FC236}">
                <a16:creationId xmlns:a16="http://schemas.microsoft.com/office/drawing/2014/main" id="{6814554B-F7E7-D444-A874-1C7C087F2F6F}"/>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10" name="Slide Number Placeholder 3">
            <a:extLst>
              <a:ext uri="{FF2B5EF4-FFF2-40B4-BE49-F238E27FC236}">
                <a16:creationId xmlns:a16="http://schemas.microsoft.com/office/drawing/2014/main" id="{EDE1375A-B2FA-C741-B6ED-A8569C3278C6}"/>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12" name="Date Placeholder 3">
            <a:extLst>
              <a:ext uri="{FF2B5EF4-FFF2-40B4-BE49-F238E27FC236}">
                <a16:creationId xmlns:a16="http://schemas.microsoft.com/office/drawing/2014/main" id="{67561257-280D-EC46-BB4D-FCABCCE29F81}"/>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1854730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emf"/><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 cstate="screen">
            <a:alphaModFix amt="50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342900" y="218135"/>
            <a:ext cx="10299699" cy="470898"/>
          </a:xfrm>
          <a:prstGeom prst="rect">
            <a:avLst/>
          </a:prstGeom>
          <a:noFill/>
        </p:spPr>
        <p:txBody>
          <a:bodyPr vert="horz" wrap="square" lIns="0" tIns="0" rIns="0" bIns="27432" rtlCol="0" anchor="t" anchorCtr="0">
            <a:spAutoFit/>
          </a:bodyPr>
          <a:lstStyle/>
          <a:p>
            <a:r>
              <a:rPr lang="en-US" dirty="0"/>
              <a:t>Click to Edit</a:t>
            </a:r>
          </a:p>
        </p:txBody>
      </p:sp>
      <p:sp>
        <p:nvSpPr>
          <p:cNvPr id="11" name="Text Placeholder 2"/>
          <p:cNvSpPr>
            <a:spLocks noGrp="1"/>
          </p:cNvSpPr>
          <p:nvPr>
            <p:ph type="body" idx="1"/>
          </p:nvPr>
        </p:nvSpPr>
        <p:spPr>
          <a:xfrm>
            <a:off x="355600" y="1066800"/>
            <a:ext cx="10286999" cy="4914900"/>
          </a:xfrm>
          <a:prstGeom prst="rect">
            <a:avLst/>
          </a:prstGeom>
        </p:spPr>
        <p:txBody>
          <a:bodyPr vert="horz" lIns="0" tIns="228600" rIns="0" bIns="0" rtlCol="0" anchor="ctr" anchorCtr="0">
            <a:normAutofit/>
          </a:bodyPr>
          <a:lstStyle/>
          <a:p>
            <a:pPr lvl="0"/>
            <a:r>
              <a:rPr lang="en-US" dirty="0"/>
              <a:t>Click to edit</a:t>
            </a:r>
          </a:p>
          <a:p>
            <a:pPr marL="457200" lvl="1" indent="-228600" algn="l" defTabSz="457200" rtl="0" eaLnBrk="1" latinLnBrk="0" hangingPunct="1">
              <a:spcBef>
                <a:spcPct val="20000"/>
              </a:spcBef>
              <a:buClr>
                <a:srgbClr val="1E4056"/>
              </a:buClr>
              <a:buFont typeface="Wingdings" charset="2"/>
              <a:buChar char="§"/>
            </a:pPr>
            <a:r>
              <a:rPr lang="en-US" dirty="0"/>
              <a:t>Second level</a:t>
            </a:r>
          </a:p>
          <a:p>
            <a:pPr marL="685800" lvl="2" indent="-228600" algn="l" defTabSz="457200" rtl="0" eaLnBrk="1" latinLnBrk="0" hangingPunct="1">
              <a:spcBef>
                <a:spcPct val="20000"/>
              </a:spcBef>
              <a:buClr>
                <a:srgbClr val="1E4056"/>
              </a:buClr>
              <a:buSzPct val="100000"/>
              <a:buFont typeface="Wingdings" panose="05000000000000000000" pitchFamily="2" charset="2"/>
              <a:buChar char="§"/>
            </a:pPr>
            <a:r>
              <a:rPr lang="en-US" dirty="0"/>
              <a:t>Third level</a:t>
            </a:r>
          </a:p>
          <a:p>
            <a:pPr marL="914400" lvl="3"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Fourth level</a:t>
            </a:r>
          </a:p>
          <a:p>
            <a:pPr marL="1143000" lvl="4" indent="-228600" algn="l" defTabSz="457200" rtl="0" eaLnBrk="1" latinLnBrk="0" hangingPunct="1">
              <a:spcBef>
                <a:spcPct val="20000"/>
              </a:spcBef>
              <a:buClr>
                <a:srgbClr val="1E4056"/>
              </a:buClr>
              <a:buSzPct val="100000"/>
              <a:buFont typeface="Wingdings" panose="05000000000000000000" pitchFamily="2" charset="2"/>
              <a:buChar char="§"/>
            </a:pPr>
            <a:r>
              <a:rPr lang="en-US" dirty="0"/>
              <a:t>Fifth level</a:t>
            </a:r>
          </a:p>
        </p:txBody>
      </p:sp>
      <p:pic>
        <p:nvPicPr>
          <p:cNvPr id="12" name="Picture 11"/>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919678" y="236303"/>
            <a:ext cx="991639" cy="398355"/>
          </a:xfrm>
          <a:prstGeom prst="rect">
            <a:avLst/>
          </a:prstGeom>
          <a:noFill/>
          <a:ln>
            <a:noFill/>
          </a:ln>
        </p:spPr>
      </p:pic>
      <p:sp>
        <p:nvSpPr>
          <p:cNvPr id="20" name="Rectangle 19">
            <a:extLst>
              <a:ext uri="{FF2B5EF4-FFF2-40B4-BE49-F238E27FC236}">
                <a16:creationId xmlns:a16="http://schemas.microsoft.com/office/drawing/2014/main" id="{C82B608A-8973-E74F-9000-3CD5D7893E6F}"/>
              </a:ext>
            </a:extLst>
          </p:cNvPr>
          <p:cNvSpPr/>
          <p:nvPr userDrawn="1"/>
        </p:nvSpPr>
        <p:spPr>
          <a:xfrm>
            <a:off x="0" y="6606769"/>
            <a:ext cx="10629899" cy="251231"/>
          </a:xfrm>
          <a:prstGeom prst="rect">
            <a:avLst/>
          </a:prstGeom>
          <a:gradFill flip="none" rotWithShape="1">
            <a:gsLst>
              <a:gs pos="90000">
                <a:schemeClr val="accent2"/>
              </a:gs>
              <a:gs pos="0">
                <a:schemeClr val="accent1"/>
              </a:gs>
            </a:gsLst>
            <a:lin ang="10800000" scaled="1"/>
            <a:tileRect/>
          </a:gradFill>
        </p:spPr>
        <p:txBody>
          <a:bodyPr vert="horz" lIns="338328" tIns="91440" rIns="91440" bIns="91440" rtlCol="0" anchor="ctr" anchorCtr="0"/>
          <a:lstStyle/>
          <a:p>
            <a:pPr lvl="0"/>
            <a:endParaRPr lang="en-US" sz="900" b="0" i="0">
              <a:solidFill>
                <a:schemeClr val="bg1"/>
              </a:solidFill>
              <a:latin typeface="Barlow" pitchFamily="2" charset="77"/>
              <a:cs typeface="Arial Black" panose="020B0604020202020204" pitchFamily="34" charset="0"/>
            </a:endParaRPr>
          </a:p>
        </p:txBody>
      </p:sp>
      <p:sp>
        <p:nvSpPr>
          <p:cNvPr id="2" name="Footer Placeholder 1">
            <a:extLst>
              <a:ext uri="{FF2B5EF4-FFF2-40B4-BE49-F238E27FC236}">
                <a16:creationId xmlns:a16="http://schemas.microsoft.com/office/drawing/2014/main" id="{C8A8D3E2-8096-4AF5-B142-B8C380533715}"/>
              </a:ext>
            </a:extLst>
          </p:cNvPr>
          <p:cNvSpPr>
            <a:spLocks noGrp="1"/>
          </p:cNvSpPr>
          <p:nvPr>
            <p:ph type="ftr" sz="quarter" idx="3"/>
          </p:nvPr>
        </p:nvSpPr>
        <p:spPr>
          <a:xfrm>
            <a:off x="342900" y="6616018"/>
            <a:ext cx="8059640" cy="241982"/>
          </a:xfrm>
          <a:prstGeom prst="rect">
            <a:avLst/>
          </a:prstGeom>
          <a:noFill/>
        </p:spPr>
        <p:txBody>
          <a:bodyPr vert="horz" lIns="0" tIns="91440" rIns="91440" bIns="91440" rtlCol="0" anchor="ctr" anchorCtr="0">
            <a:noAutofit/>
          </a:bodyPr>
          <a:lstStyle>
            <a:lvl1pPr>
              <a:lnSpc>
                <a:spcPct val="80000"/>
              </a:lnSpc>
              <a:defRPr lang="en-US" sz="900" b="0" i="0" smtClean="0">
                <a:solidFill>
                  <a:schemeClr val="bg1"/>
                </a:solidFill>
                <a:latin typeface="Barlow" pitchFamily="2" charset="77"/>
                <a:cs typeface="Arial Black" panose="020B0604020202020204" pitchFamily="34" charset="0"/>
              </a:defRPr>
            </a:lvl1pPr>
          </a:lstStyle>
          <a:p>
            <a:r>
              <a:rPr lang="en-US"/>
              <a:t>©2022 Analog Devices, Inc. </a:t>
            </a:r>
            <a:endParaRPr lang="en-US" dirty="0"/>
          </a:p>
        </p:txBody>
      </p:sp>
      <p:sp>
        <p:nvSpPr>
          <p:cNvPr id="4" name="Slide Number Placeholder 3">
            <a:extLst>
              <a:ext uri="{FF2B5EF4-FFF2-40B4-BE49-F238E27FC236}">
                <a16:creationId xmlns:a16="http://schemas.microsoft.com/office/drawing/2014/main" id="{3F975B83-C1F8-4E53-8C02-280E1ED424B7}"/>
              </a:ext>
            </a:extLst>
          </p:cNvPr>
          <p:cNvSpPr>
            <a:spLocks noGrp="1"/>
          </p:cNvSpPr>
          <p:nvPr>
            <p:ph type="sldNum" sz="quarter" idx="4"/>
          </p:nvPr>
        </p:nvSpPr>
        <p:spPr>
          <a:xfrm>
            <a:off x="10629901" y="6613018"/>
            <a:ext cx="1219199" cy="241982"/>
          </a:xfrm>
          <a:prstGeom prst="rect">
            <a:avLst/>
          </a:prstGeom>
        </p:spPr>
        <p:txBody>
          <a:bodyPr vert="horz" lIns="91440" tIns="91440" rIns="0" bIns="91440" rtlCol="0" anchor="ctr" anchorCtr="0"/>
          <a:lstStyle>
            <a:lvl1pPr algn="r">
              <a:lnSpc>
                <a:spcPct val="80000"/>
              </a:lnSpc>
              <a:defRPr kumimoji="0" lang="en-US" sz="1000" b="1" i="0" u="none" strike="noStrike" cap="none" spc="0" normalizeH="0" baseline="0" smtClean="0">
                <a:ln>
                  <a:noFill/>
                </a:ln>
                <a:solidFill>
                  <a:schemeClr val="tx2">
                    <a:lumMod val="60000"/>
                    <a:lumOff val="40000"/>
                  </a:schemeClr>
                </a:solidFill>
                <a:effectLst/>
                <a:uLnTx/>
                <a:uFillTx/>
                <a:latin typeface="Barlow" pitchFamily="2" charset="77"/>
              </a:defRPr>
            </a:lvl1pPr>
          </a:lstStyle>
          <a:p>
            <a:pPr>
              <a:defRPr/>
            </a:pPr>
            <a:fld id="{A9CE67A1-BA7F-A74E-B5D7-615746DEEC2B}" type="slidenum">
              <a:rPr lang="en-US" smtClean="0"/>
              <a:pPr>
                <a:defRPr/>
              </a:pPr>
              <a:t>‹#›</a:t>
            </a:fld>
            <a:endParaRPr lang="en-US" baseline="-11000" dirty="0"/>
          </a:p>
        </p:txBody>
      </p:sp>
      <p:sp>
        <p:nvSpPr>
          <p:cNvPr id="9" name="Date Placeholder 3">
            <a:extLst>
              <a:ext uri="{FF2B5EF4-FFF2-40B4-BE49-F238E27FC236}">
                <a16:creationId xmlns:a16="http://schemas.microsoft.com/office/drawing/2014/main" id="{4CE817F5-DA59-4CF8-A065-2F8C60D2ECF4}"/>
              </a:ext>
            </a:extLst>
          </p:cNvPr>
          <p:cNvSpPr>
            <a:spLocks noGrp="1"/>
          </p:cNvSpPr>
          <p:nvPr>
            <p:ph type="dt" sz="half" idx="2"/>
          </p:nvPr>
        </p:nvSpPr>
        <p:spPr>
          <a:xfrm>
            <a:off x="8402541" y="6616018"/>
            <a:ext cx="2227359" cy="241982"/>
          </a:xfrm>
          <a:prstGeom prst="rect">
            <a:avLst/>
          </a:prstGeom>
        </p:spPr>
        <p:txBody>
          <a:bodyPr lIns="0" tIns="0" rIns="182880" bIns="0" anchor="ctr" anchorCtr="0"/>
          <a:lstStyle>
            <a:lvl1pPr algn="r">
              <a:lnSpc>
                <a:spcPct val="80000"/>
              </a:lnSpc>
              <a:defRPr lang="en-US" sz="1000" b="0" i="0" kern="1200" smtClean="0">
                <a:solidFill>
                  <a:schemeClr val="bg1"/>
                </a:solidFill>
                <a:latin typeface="Barlow" pitchFamily="2" charset="77"/>
                <a:ea typeface="+mn-ea"/>
                <a:cs typeface="+mn-cs"/>
              </a:defRPr>
            </a:lvl1pPr>
          </a:lstStyle>
          <a:p>
            <a:fld id="{B7E9607F-8B9B-4283-A10B-E032341A492F}" type="datetime3">
              <a:rPr lang="en-US" smtClean="0"/>
              <a:t>11 October 2022</a:t>
            </a:fld>
            <a:endParaRPr lang="en-US" dirty="0"/>
          </a:p>
        </p:txBody>
      </p:sp>
      <p:sp>
        <p:nvSpPr>
          <p:cNvPr id="5" name="TextBox 4">
            <a:extLst>
              <a:ext uri="{FF2B5EF4-FFF2-40B4-BE49-F238E27FC236}">
                <a16:creationId xmlns:a16="http://schemas.microsoft.com/office/drawing/2014/main" id="{D4D93659-4415-8C41-805C-01463B0FE599}"/>
              </a:ext>
            </a:extLst>
          </p:cNvPr>
          <p:cNvSpPr txBox="1"/>
          <p:nvPr userDrawn="1"/>
        </p:nvSpPr>
        <p:spPr>
          <a:xfrm>
            <a:off x="2193324" y="2860589"/>
            <a:ext cx="0" cy="0"/>
          </a:xfrm>
          <a:prstGeom prst="rect">
            <a:avLst/>
          </a:prstGeom>
          <a:noFill/>
        </p:spPr>
        <p:txBody>
          <a:bodyPr wrap="none" lIns="0" tIns="0" rIns="0" bIns="0" rtlCol="0">
            <a:noAutofit/>
          </a:bodyPr>
          <a:lstStyle/>
          <a:p>
            <a:pPr marL="228600" indent="-228600" defTabSz="457200">
              <a:spcBef>
                <a:spcPts val="1000"/>
              </a:spcBef>
              <a:buClr>
                <a:srgbClr val="1E4056"/>
              </a:buClr>
              <a:buSzPct val="75000"/>
              <a:buFont typeface="Barlow"/>
              <a:buChar char="►"/>
            </a:pPr>
            <a:endParaRPr lang="en-US" sz="2000" dirty="0">
              <a:solidFill>
                <a:srgbClr val="000000"/>
              </a:solidFill>
            </a:endParaRPr>
          </a:p>
        </p:txBody>
      </p:sp>
    </p:spTree>
    <p:extLst>
      <p:ext uri="{BB962C8B-B14F-4D97-AF65-F5344CB8AC3E}">
        <p14:creationId xmlns:p14="http://schemas.microsoft.com/office/powerpoint/2010/main" val="248571715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marL="0" indent="0" algn="l" defTabSz="457200" rtl="0" eaLnBrk="1" latinLnBrk="0" hangingPunct="1">
        <a:lnSpc>
          <a:spcPct val="80000"/>
        </a:lnSpc>
        <a:spcBef>
          <a:spcPct val="0"/>
        </a:spcBef>
        <a:buNone/>
        <a:defRPr sz="3600" b="0" i="0" kern="1200" spc="-100" baseline="0">
          <a:solidFill>
            <a:schemeClr val="accent2"/>
          </a:solidFill>
          <a:latin typeface="Barlow" pitchFamily="2" charset="77"/>
          <a:ea typeface="+mj-ea"/>
          <a:cs typeface="+mj-cs"/>
        </a:defRPr>
      </a:lvl1pPr>
    </p:titleStyle>
    <p:bodyStyle>
      <a:lvl1pPr marL="228600" indent="-228600" algn="l" defTabSz="457200" rtl="0" eaLnBrk="1" latinLnBrk="0" hangingPunct="1">
        <a:lnSpc>
          <a:spcPct val="90000"/>
        </a:lnSpc>
        <a:spcBef>
          <a:spcPts val="1000"/>
        </a:spcBef>
        <a:spcAft>
          <a:spcPts val="400"/>
        </a:spcAft>
        <a:buClr>
          <a:schemeClr val="bg2"/>
        </a:buClr>
        <a:buSzPct val="65000"/>
        <a:buFont typeface="Arial" panose="020B0604020202020204" pitchFamily="34" charset="0"/>
        <a:buChar char="►"/>
        <a:defRPr lang="en-US" sz="2600" b="0" i="0" kern="1200" baseline="0" dirty="0" smtClean="0">
          <a:solidFill>
            <a:srgbClr val="000000"/>
          </a:solidFill>
          <a:latin typeface="Barlow" pitchFamily="2" charset="77"/>
          <a:ea typeface="+mn-ea"/>
          <a:cs typeface="+mn-cs"/>
        </a:defRPr>
      </a:lvl1pPr>
      <a:lvl2pPr marL="514350" indent="-285750" algn="l" defTabSz="457200" rtl="0" eaLnBrk="1" latinLnBrk="0" hangingPunct="1">
        <a:lnSpc>
          <a:spcPct val="90000"/>
        </a:lnSpc>
        <a:spcBef>
          <a:spcPct val="20000"/>
        </a:spcBef>
        <a:spcAft>
          <a:spcPts val="400"/>
        </a:spcAft>
        <a:buClr>
          <a:schemeClr val="bg2"/>
        </a:buClr>
        <a:buFont typeface="Arial"/>
        <a:buChar char="–"/>
        <a:defRPr lang="en-US" sz="2000" b="0" i="0" kern="1200" baseline="0" dirty="0" smtClean="0">
          <a:solidFill>
            <a:srgbClr val="000000"/>
          </a:solidFill>
          <a:latin typeface="Barlow" pitchFamily="2" charset="77"/>
          <a:ea typeface="+mn-ea"/>
          <a:cs typeface="+mn-cs"/>
        </a:defRPr>
      </a:lvl2pPr>
      <a:lvl3pPr marL="742950" indent="-285750" algn="l" defTabSz="457200" rtl="0" eaLnBrk="1" latinLnBrk="0" hangingPunct="1">
        <a:lnSpc>
          <a:spcPct val="90000"/>
        </a:lnSpc>
        <a:spcBef>
          <a:spcPct val="20000"/>
        </a:spcBef>
        <a:spcAft>
          <a:spcPts val="400"/>
        </a:spcAft>
        <a:buClr>
          <a:schemeClr val="bg2"/>
        </a:buClr>
        <a:buFont typeface="Arial"/>
        <a:buChar char="•"/>
        <a:defRPr lang="en-US" sz="1800" b="0" i="0" kern="1200" baseline="0" dirty="0" smtClean="0">
          <a:solidFill>
            <a:srgbClr val="000000"/>
          </a:solidFill>
          <a:latin typeface="Barlow" pitchFamily="2" charset="77"/>
          <a:ea typeface="+mn-ea"/>
          <a:cs typeface="+mn-cs"/>
        </a:defRPr>
      </a:lvl3pPr>
      <a:lvl4pPr marL="971550" indent="-285750" algn="l" defTabSz="457200" rtl="0" eaLnBrk="1" latinLnBrk="0" hangingPunct="1">
        <a:lnSpc>
          <a:spcPct val="90000"/>
        </a:lnSpc>
        <a:spcBef>
          <a:spcPct val="20000"/>
        </a:spcBef>
        <a:spcAft>
          <a:spcPts val="400"/>
        </a:spcAft>
        <a:buClr>
          <a:schemeClr val="bg2"/>
        </a:buClr>
        <a:buFont typeface="Arial"/>
        <a:buChar char="–"/>
        <a:defRPr lang="en-US" sz="1200" b="0" i="0" kern="1200" dirty="0" smtClean="0">
          <a:solidFill>
            <a:srgbClr val="000000"/>
          </a:solidFill>
          <a:latin typeface="Barlow" pitchFamily="2" charset="77"/>
          <a:ea typeface="+mn-ea"/>
          <a:cs typeface="+mn-cs"/>
        </a:defRPr>
      </a:lvl4pPr>
      <a:lvl5pPr marL="2057400" indent="-228600" algn="l" defTabSz="457200" rtl="0" eaLnBrk="1" latinLnBrk="0" hangingPunct="1">
        <a:lnSpc>
          <a:spcPct val="90000"/>
        </a:lnSpc>
        <a:spcBef>
          <a:spcPct val="20000"/>
        </a:spcBef>
        <a:spcAft>
          <a:spcPts val="400"/>
        </a:spcAft>
        <a:buClr>
          <a:schemeClr val="bg2"/>
        </a:buClr>
        <a:buFont typeface="Arial"/>
        <a:buChar char="»"/>
        <a:defRPr lang="en-US" sz="1200" b="0" i="0" kern="1200" baseline="0" dirty="0">
          <a:solidFill>
            <a:srgbClr val="000000"/>
          </a:solidFill>
          <a:latin typeface="Barlow" pitchFamily="2" charset="77"/>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949">
          <p15:clr>
            <a:srgbClr val="F26B43"/>
          </p15:clr>
        </p15:guide>
        <p15:guide id="1" orient="horz" pos="3768">
          <p15:clr>
            <a:srgbClr val="F26B43"/>
          </p15:clr>
        </p15:guide>
        <p15:guide id="2" pos="216">
          <p15:clr>
            <a:srgbClr val="F26B43"/>
          </p15:clr>
        </p15:guide>
        <p15:guide id="3" pos="7464">
          <p15:clr>
            <a:srgbClr val="F26B43"/>
          </p15:clr>
        </p15:guide>
        <p15:guide id="4" orient="horz" pos="528">
          <p15:clr>
            <a:srgbClr val="F26B43"/>
          </p15:clr>
        </p15:guide>
        <p15:guide id="5" pos="3725">
          <p15:clr>
            <a:srgbClr val="F26B43"/>
          </p15:clr>
        </p15:guide>
        <p15:guide id="6" orient="horz" pos="672">
          <p15:clr>
            <a:srgbClr val="F26B43"/>
          </p15:clr>
        </p15:guide>
        <p15:guide id="7" pos="669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438D909-D066-2449-B22A-2B1EEA3D2FFD}"/>
              </a:ext>
            </a:extLst>
          </p:cNvPr>
          <p:cNvSpPr>
            <a:spLocks noGrp="1"/>
          </p:cNvSpPr>
          <p:nvPr>
            <p:ph type="body" idx="1"/>
          </p:nvPr>
        </p:nvSpPr>
        <p:spPr>
          <a:xfrm>
            <a:off x="342900" y="4587041"/>
            <a:ext cx="6470276" cy="553998"/>
          </a:xfrm>
        </p:spPr>
        <p:txBody>
          <a:bodyPr/>
          <a:lstStyle/>
          <a:p>
            <a:r>
              <a:rPr lang="en-US" dirty="0"/>
              <a:t>Reuse Methodology Manual for System-On-Chip Designs</a:t>
            </a:r>
          </a:p>
        </p:txBody>
      </p:sp>
      <p:sp>
        <p:nvSpPr>
          <p:cNvPr id="7" name="Text Placeholder 6">
            <a:extLst>
              <a:ext uri="{FF2B5EF4-FFF2-40B4-BE49-F238E27FC236}">
                <a16:creationId xmlns:a16="http://schemas.microsoft.com/office/drawing/2014/main" id="{550F983F-8671-C045-8D77-8BA3DBF89922}"/>
              </a:ext>
            </a:extLst>
          </p:cNvPr>
          <p:cNvSpPr>
            <a:spLocks noGrp="1"/>
          </p:cNvSpPr>
          <p:nvPr>
            <p:ph type="body" sz="quarter" idx="12"/>
          </p:nvPr>
        </p:nvSpPr>
        <p:spPr>
          <a:xfrm>
            <a:off x="342899" y="2495112"/>
            <a:ext cx="7015843" cy="1994392"/>
          </a:xfrm>
        </p:spPr>
        <p:txBody>
          <a:bodyPr/>
          <a:lstStyle/>
          <a:p>
            <a:r>
              <a:rPr lang="en-US" dirty="0"/>
              <a:t>Chapter 3: System-Level Design Issues: Rules and Tools</a:t>
            </a:r>
          </a:p>
        </p:txBody>
      </p:sp>
      <p:sp>
        <p:nvSpPr>
          <p:cNvPr id="3" name="Footer Placeholder 2">
            <a:extLst>
              <a:ext uri="{FF2B5EF4-FFF2-40B4-BE49-F238E27FC236}">
                <a16:creationId xmlns:a16="http://schemas.microsoft.com/office/drawing/2014/main" id="{26A78CC7-C0D2-AC43-BD98-28E9A2C31B6B}"/>
              </a:ext>
            </a:extLst>
          </p:cNvPr>
          <p:cNvSpPr>
            <a:spLocks noGrp="1"/>
          </p:cNvSpPr>
          <p:nvPr>
            <p:ph type="ftr" sz="quarter" idx="3"/>
          </p:nvPr>
        </p:nvSpPr>
        <p:spPr/>
        <p:txBody>
          <a:bodyPr>
            <a:normAutofit/>
          </a:bodyPr>
          <a:lstStyle/>
          <a:p>
            <a:r>
              <a:rPr lang="en-US"/>
              <a:t>©2022 Analog Devices, Inc. </a:t>
            </a:r>
            <a:endParaRPr lang="en-US" dirty="0"/>
          </a:p>
        </p:txBody>
      </p:sp>
      <p:sp>
        <p:nvSpPr>
          <p:cNvPr id="2" name="Date Placeholder 1">
            <a:extLst>
              <a:ext uri="{FF2B5EF4-FFF2-40B4-BE49-F238E27FC236}">
                <a16:creationId xmlns:a16="http://schemas.microsoft.com/office/drawing/2014/main" id="{3AEFC6CC-B436-497C-85D7-DBAEA1EB28CB}"/>
              </a:ext>
            </a:extLst>
          </p:cNvPr>
          <p:cNvSpPr>
            <a:spLocks noGrp="1"/>
          </p:cNvSpPr>
          <p:nvPr>
            <p:ph type="dt" sz="half" idx="2"/>
          </p:nvPr>
        </p:nvSpPr>
        <p:spPr/>
        <p:txBody>
          <a:bodyPr/>
          <a:lstStyle/>
          <a:p>
            <a:fld id="{430F8550-9198-4116-B655-9B08CBD80A03}" type="datetime3">
              <a:rPr lang="en-US" smtClean="0"/>
              <a:t>11 October 2022</a:t>
            </a:fld>
            <a:endParaRPr lang="en-US" dirty="0"/>
          </a:p>
        </p:txBody>
      </p:sp>
      <p:sp>
        <p:nvSpPr>
          <p:cNvPr id="4" name="Slide Number Placeholder 3">
            <a:extLst>
              <a:ext uri="{FF2B5EF4-FFF2-40B4-BE49-F238E27FC236}">
                <a16:creationId xmlns:a16="http://schemas.microsoft.com/office/drawing/2014/main" id="{A58A6B8A-2262-46A8-863B-A6AB13D75060}"/>
              </a:ext>
            </a:extLst>
          </p:cNvPr>
          <p:cNvSpPr>
            <a:spLocks noGrp="1"/>
          </p:cNvSpPr>
          <p:nvPr>
            <p:ph type="sldNum" sz="quarter" idx="4"/>
          </p:nvPr>
        </p:nvSpPr>
        <p:spPr/>
        <p:txBody>
          <a:bodyPr/>
          <a:lstStyle/>
          <a:p>
            <a:pPr>
              <a:defRPr/>
            </a:pPr>
            <a:fld id="{A9CE67A1-BA7F-A74E-B5D7-615746DEEC2B}" type="slidenum">
              <a:rPr lang="en-US" smtClean="0"/>
              <a:pPr>
                <a:defRPr/>
              </a:pPr>
              <a:t>1</a:t>
            </a:fld>
            <a:endParaRPr lang="en-US" baseline="-11000" dirty="0"/>
          </a:p>
        </p:txBody>
      </p:sp>
    </p:spTree>
    <p:extLst>
      <p:ext uri="{BB962C8B-B14F-4D97-AF65-F5344CB8AC3E}">
        <p14:creationId xmlns:p14="http://schemas.microsoft.com/office/powerpoint/2010/main" val="134331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F650F-E93C-4F7D-8AAD-C095630BE456}"/>
              </a:ext>
            </a:extLst>
          </p:cNvPr>
          <p:cNvSpPr>
            <a:spLocks noGrp="1"/>
          </p:cNvSpPr>
          <p:nvPr>
            <p:ph idx="1"/>
          </p:nvPr>
        </p:nvSpPr>
        <p:spPr/>
        <p:txBody>
          <a:bodyPr/>
          <a:lstStyle/>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The Standard Model for Design Reuse</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Design for Timing Closure: Logic Design Issues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Design for Timing Closure: Physical Design Issues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Design for Verification: Verification Strategy</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System Interconnect and On-Chip Buses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Design for Bring-Up and Debug: On-Chip Debug Structures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Design for Low Power</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Design for Test: Manufacturing Test Strategies</a:t>
            </a:r>
          </a:p>
          <a:p>
            <a:pPr marL="685800" lvl="1" indent="-457200">
              <a:buFont typeface="+mj-lt"/>
              <a:buAutoNum type="arabicPeriod"/>
            </a:pPr>
            <a:r>
              <a:rPr lang="en-US" dirty="0">
                <a:latin typeface="Times New Roman" panose="02020603050405020304" pitchFamily="18" charset="0"/>
                <a:cs typeface="Times New Roman" panose="02020603050405020304" pitchFamily="18" charset="0"/>
              </a:rPr>
              <a:t>Prerequisites for Reuse</a:t>
            </a:r>
          </a:p>
          <a:p>
            <a:pPr marL="228600" lvl="1" indent="0">
              <a:buNone/>
            </a:pPr>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a:p>
            <a:pPr lvl="1"/>
            <a:endParaRPr 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A3B9023-179E-4AA0-A65F-CD08E3CA7504}"/>
              </a:ext>
            </a:extLst>
          </p:cNvPr>
          <p:cNvSpPr>
            <a:spLocks noGrp="1"/>
          </p:cNvSpPr>
          <p:nvPr>
            <p:ph type="title"/>
          </p:nvPr>
        </p:nvSpPr>
        <p:spPr/>
        <p:txBody>
          <a:bodyPr/>
          <a:lstStyle/>
          <a:p>
            <a:r>
              <a:rPr lang="en-US" dirty="0"/>
              <a:t>Chapter content</a:t>
            </a:r>
          </a:p>
        </p:txBody>
      </p:sp>
      <p:sp>
        <p:nvSpPr>
          <p:cNvPr id="4" name="Footer Placeholder 3">
            <a:extLst>
              <a:ext uri="{FF2B5EF4-FFF2-40B4-BE49-F238E27FC236}">
                <a16:creationId xmlns:a16="http://schemas.microsoft.com/office/drawing/2014/main" id="{C76F1DB5-D534-4952-AABB-629A085FA61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FD74343D-D99B-4878-8A48-F64276F0691C}"/>
              </a:ext>
            </a:extLst>
          </p:cNvPr>
          <p:cNvSpPr>
            <a:spLocks noGrp="1"/>
          </p:cNvSpPr>
          <p:nvPr>
            <p:ph type="sldNum" sz="quarter" idx="4"/>
          </p:nvPr>
        </p:nvSpPr>
        <p:spPr/>
        <p:txBody>
          <a:bodyPr/>
          <a:lstStyle/>
          <a:p>
            <a:pPr>
              <a:defRPr/>
            </a:pPr>
            <a:fld id="{A9CE67A1-BA7F-A74E-B5D7-615746DEEC2B}" type="slidenum">
              <a:rPr lang="en-US" smtClean="0"/>
              <a:pPr>
                <a:defRPr/>
              </a:pPr>
              <a:t>2</a:t>
            </a:fld>
            <a:endParaRPr lang="en-US" baseline="-11000" dirty="0"/>
          </a:p>
        </p:txBody>
      </p:sp>
      <p:sp>
        <p:nvSpPr>
          <p:cNvPr id="6" name="Date Placeholder 5">
            <a:extLst>
              <a:ext uri="{FF2B5EF4-FFF2-40B4-BE49-F238E27FC236}">
                <a16:creationId xmlns:a16="http://schemas.microsoft.com/office/drawing/2014/main" id="{EE37DA8C-4E6D-4F89-890E-48684285BBF5}"/>
              </a:ext>
            </a:extLst>
          </p:cNvPr>
          <p:cNvSpPr>
            <a:spLocks noGrp="1"/>
          </p:cNvSpPr>
          <p:nvPr>
            <p:ph type="dt" sz="half" idx="2"/>
          </p:nvPr>
        </p:nvSpPr>
        <p:spPr/>
        <p:txBody>
          <a:bodyPr/>
          <a:lstStyle/>
          <a:p>
            <a:fld id="{4F68034E-5448-46F8-9344-AFA6D74952E0}" type="datetime3">
              <a:rPr lang="en-US" smtClean="0"/>
              <a:t>11 October 2022</a:t>
            </a:fld>
            <a:endParaRPr lang="en-US" dirty="0"/>
          </a:p>
        </p:txBody>
      </p:sp>
    </p:spTree>
    <p:extLst>
      <p:ext uri="{BB962C8B-B14F-4D97-AF65-F5344CB8AC3E}">
        <p14:creationId xmlns:p14="http://schemas.microsoft.com/office/powerpoint/2010/main" val="170345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CFB160-04CF-2EFB-9EAA-1FE08AB5F180}"/>
              </a:ext>
            </a:extLst>
          </p:cNvPr>
          <p:cNvSpPr>
            <a:spLocks noGrp="1"/>
          </p:cNvSpPr>
          <p:nvPr>
            <p:ph idx="1"/>
          </p:nvPr>
        </p:nvSpPr>
        <p:spPr/>
        <p:txBody>
          <a:bodyPr/>
          <a:lstStyle/>
          <a:p>
            <a:pPr>
              <a:buSzPct val="10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this chapter, we discuss the design guidelines for producing well-designed IP, as well as how to integrate well-designed IP into an SoC design. </a:t>
            </a:r>
          </a:p>
          <a:p>
            <a:pPr>
              <a:buSzPct val="1000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guidelines are largely driven by the needs of the IP integrator and chip designer.</a:t>
            </a:r>
          </a:p>
          <a:p>
            <a:pPr marL="0" indent="0">
              <a:buSzPct val="10000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6FF5A2F-E8E7-74A9-3882-B0760A8CAB46}"/>
              </a:ext>
            </a:extLst>
          </p:cNvPr>
          <p:cNvSpPr>
            <a:spLocks noGrp="1"/>
          </p:cNvSpPr>
          <p:nvPr>
            <p:ph type="title"/>
          </p:nvPr>
        </p:nvSpPr>
        <p:spPr>
          <a:xfrm>
            <a:off x="342900" y="219456"/>
            <a:ext cx="10287000" cy="470898"/>
          </a:xfrm>
        </p:spPr>
        <p:txBody>
          <a:bodyPr/>
          <a:lstStyle/>
          <a:p>
            <a:r>
              <a:rPr lang="en-US" dirty="0"/>
              <a:t>Chapter Introduction</a:t>
            </a:r>
          </a:p>
        </p:txBody>
      </p:sp>
      <p:sp>
        <p:nvSpPr>
          <p:cNvPr id="4" name="Footer Placeholder 3">
            <a:extLst>
              <a:ext uri="{FF2B5EF4-FFF2-40B4-BE49-F238E27FC236}">
                <a16:creationId xmlns:a16="http://schemas.microsoft.com/office/drawing/2014/main" id="{BFEF83A9-E52A-5277-5265-D452DDE2A94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E5304530-5420-5953-673E-69B44E380CA9}"/>
              </a:ext>
            </a:extLst>
          </p:cNvPr>
          <p:cNvSpPr>
            <a:spLocks noGrp="1"/>
          </p:cNvSpPr>
          <p:nvPr>
            <p:ph type="sldNum" sz="quarter" idx="4"/>
          </p:nvPr>
        </p:nvSpPr>
        <p:spPr/>
        <p:txBody>
          <a:bodyPr/>
          <a:lstStyle/>
          <a:p>
            <a:pPr>
              <a:defRPr/>
            </a:pPr>
            <a:fld id="{A9CE67A1-BA7F-A74E-B5D7-615746DEEC2B}" type="slidenum">
              <a:rPr lang="en-US" smtClean="0"/>
              <a:pPr>
                <a:defRPr/>
              </a:pPr>
              <a:t>3</a:t>
            </a:fld>
            <a:endParaRPr lang="en-US" baseline="-11000" dirty="0"/>
          </a:p>
        </p:txBody>
      </p:sp>
      <p:sp>
        <p:nvSpPr>
          <p:cNvPr id="6" name="Date Placeholder 5">
            <a:extLst>
              <a:ext uri="{FF2B5EF4-FFF2-40B4-BE49-F238E27FC236}">
                <a16:creationId xmlns:a16="http://schemas.microsoft.com/office/drawing/2014/main" id="{477E7B53-10B7-BFFB-5B5C-00A9CC02D458}"/>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99735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189FB6-915E-A684-F077-889010D3AF7E}"/>
              </a:ext>
            </a:extLst>
          </p:cNvPr>
          <p:cNvSpPr>
            <a:spLocks noGrp="1"/>
          </p:cNvSpPr>
          <p:nvPr>
            <p:ph idx="1"/>
          </p:nvPr>
        </p:nvSpPr>
        <p:spPr>
          <a:xfrm>
            <a:off x="355600" y="1066799"/>
            <a:ext cx="10274300" cy="5362575"/>
          </a:xfrm>
        </p:spPr>
        <p:txBody>
          <a:bodyPr/>
          <a:lstStyle/>
          <a:p>
            <a:pPr marL="0" indent="0">
              <a:buNone/>
            </a:pPr>
            <a:r>
              <a:rPr lang="en-US" sz="2400" i="1" dirty="0">
                <a:latin typeface="Times New Roman" panose="02020603050405020304" pitchFamily="18" charset="0"/>
                <a:cs typeface="Times New Roman" panose="02020603050405020304" pitchFamily="18" charset="0"/>
              </a:rPr>
              <a:t>“A well-designed IP is the key to successful SoC design”</a:t>
            </a:r>
          </a:p>
          <a:p>
            <a:pPr marL="0" indent="0">
              <a:buNone/>
            </a:pPr>
            <a:r>
              <a:rPr lang="en-US" sz="2400" dirty="0">
                <a:latin typeface="Times New Roman" panose="02020603050405020304" pitchFamily="18" charset="0"/>
                <a:cs typeface="Times New Roman" panose="02020603050405020304" pitchFamily="18" charset="0"/>
              </a:rPr>
              <a:t>For reuse guidelines, we have mainly 3 premises underlie them:</a:t>
            </a:r>
          </a:p>
          <a:p>
            <a:r>
              <a:rPr lang="en-US" b="1" dirty="0">
                <a:latin typeface="Times New Roman" panose="02020603050405020304" pitchFamily="18" charset="0"/>
                <a:cs typeface="Times New Roman" panose="02020603050405020304" pitchFamily="18" charset="0"/>
              </a:rPr>
              <a:t>Discipline: </a:t>
            </a:r>
            <a:r>
              <a:rPr lang="en-US" sz="2000" dirty="0">
                <a:latin typeface="Times New Roman" panose="02020603050405020304" pitchFamily="18" charset="0"/>
                <a:cs typeface="Times New Roman" panose="02020603050405020304" pitchFamily="18" charset="0"/>
              </a:rPr>
              <a:t>Restricting the design domain to practices that consistently produce scalable, supportable and easy-to-integrate designs.</a:t>
            </a:r>
          </a:p>
          <a:p>
            <a:r>
              <a:rPr lang="en-US" b="1" dirty="0">
                <a:latin typeface="Times New Roman" panose="02020603050405020304" pitchFamily="18" charset="0"/>
                <a:cs typeface="Times New Roman" panose="02020603050405020304" pitchFamily="18" charset="0"/>
              </a:rPr>
              <a:t>Simplicity: </a:t>
            </a:r>
            <a:r>
              <a:rPr lang="en-US" sz="2000" dirty="0">
                <a:latin typeface="Times New Roman" panose="02020603050405020304" pitchFamily="18" charset="0"/>
                <a:cs typeface="Times New Roman" panose="02020603050405020304" pitchFamily="18" charset="0"/>
              </a:rPr>
              <a:t>The simpler the design, the easier to analyze, simulate, verify, reach timing closure.</a:t>
            </a:r>
          </a:p>
          <a:p>
            <a:r>
              <a:rPr lang="en-US" b="1" dirty="0">
                <a:latin typeface="Times New Roman" panose="02020603050405020304" pitchFamily="18" charset="0"/>
                <a:cs typeface="Times New Roman" panose="02020603050405020304" pitchFamily="18" charset="0"/>
              </a:rPr>
              <a:t>Locality:</a:t>
            </a: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Decoupling the block from its surrounding and design and analyze it on its own has a huge pay off in reducing the design time and improving the quality of a design. 			     And that’s achieved by:</a:t>
            </a:r>
          </a:p>
          <a:p>
            <a:pPr lvl="1"/>
            <a:r>
              <a:rPr lang="en-US" dirty="0">
                <a:latin typeface="Times New Roman" panose="02020603050405020304" pitchFamily="18" charset="0"/>
                <a:cs typeface="Times New Roman" panose="02020603050405020304" pitchFamily="18" charset="0"/>
              </a:rPr>
              <a:t>Buffering inputs and outputs		</a:t>
            </a:r>
          </a:p>
          <a:p>
            <a:pPr lvl="1"/>
            <a:r>
              <a:rPr lang="en-US" dirty="0">
                <a:latin typeface="Times New Roman" panose="02020603050405020304" pitchFamily="18" charset="0"/>
                <a:cs typeface="Times New Roman" panose="02020603050405020304" pitchFamily="18" charset="0"/>
              </a:rPr>
              <a:t>Designing “good” interfaces with neighboring blocks</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3D7625B-6951-7DB7-2117-6784588F2EBE}"/>
              </a:ext>
            </a:extLst>
          </p:cNvPr>
          <p:cNvSpPr>
            <a:spLocks noGrp="1"/>
          </p:cNvSpPr>
          <p:nvPr>
            <p:ph type="title"/>
          </p:nvPr>
        </p:nvSpPr>
        <p:spPr/>
        <p:txBody>
          <a:bodyPr/>
          <a:lstStyle/>
          <a:p>
            <a:r>
              <a:rPr lang="en-US" dirty="0"/>
              <a:t>1. The Standard Model</a:t>
            </a:r>
          </a:p>
        </p:txBody>
      </p:sp>
      <p:sp>
        <p:nvSpPr>
          <p:cNvPr id="4" name="Footer Placeholder 3">
            <a:extLst>
              <a:ext uri="{FF2B5EF4-FFF2-40B4-BE49-F238E27FC236}">
                <a16:creationId xmlns:a16="http://schemas.microsoft.com/office/drawing/2014/main" id="{50BD9B8E-94DE-EDE0-9859-0CB49BA62655}"/>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3B50AC8-16F9-E745-F111-24FCF5022EE7}"/>
              </a:ext>
            </a:extLst>
          </p:cNvPr>
          <p:cNvSpPr>
            <a:spLocks noGrp="1"/>
          </p:cNvSpPr>
          <p:nvPr>
            <p:ph type="sldNum" sz="quarter" idx="4"/>
          </p:nvPr>
        </p:nvSpPr>
        <p:spPr/>
        <p:txBody>
          <a:bodyPr/>
          <a:lstStyle/>
          <a:p>
            <a:pPr>
              <a:defRPr/>
            </a:pPr>
            <a:fld id="{A9CE67A1-BA7F-A74E-B5D7-615746DEEC2B}" type="slidenum">
              <a:rPr lang="en-US" smtClean="0"/>
              <a:pPr>
                <a:defRPr/>
              </a:pPr>
              <a:t>4</a:t>
            </a:fld>
            <a:endParaRPr lang="en-US" baseline="-11000" dirty="0"/>
          </a:p>
        </p:txBody>
      </p:sp>
      <p:sp>
        <p:nvSpPr>
          <p:cNvPr id="6" name="Date Placeholder 5">
            <a:extLst>
              <a:ext uri="{FF2B5EF4-FFF2-40B4-BE49-F238E27FC236}">
                <a16:creationId xmlns:a16="http://schemas.microsoft.com/office/drawing/2014/main" id="{460B0C9F-17E6-3790-53DB-98C665FEA13F}"/>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259876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09E732-B9F1-FBB5-3129-3F41ACD874C6}"/>
              </a:ext>
            </a:extLst>
          </p:cNvPr>
          <p:cNvSpPr>
            <a:spLocks noGrp="1"/>
          </p:cNvSpPr>
          <p:nvPr>
            <p:ph idx="1"/>
          </p:nvPr>
        </p:nvSpPr>
        <p:spPr>
          <a:xfrm>
            <a:off x="355600" y="1066800"/>
            <a:ext cx="10274300" cy="5441576"/>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Soft IP vs. Hard IP</a:t>
            </a:r>
          </a:p>
          <a:p>
            <a:pPr marL="0" indent="0">
              <a:buNone/>
            </a:pPr>
            <a:r>
              <a:rPr lang="en-US" sz="1800" b="1" i="1" dirty="0">
                <a:latin typeface="Times New Roman" panose="02020603050405020304" pitchFamily="18" charset="0"/>
                <a:cs typeface="Times New Roman" panose="02020603050405020304" pitchFamily="18" charset="0"/>
              </a:rPr>
              <a:t>Soft IP</a:t>
            </a:r>
            <a:r>
              <a:rPr lang="en-US" sz="1800" i="1" dirty="0">
                <a:latin typeface="Times New Roman" panose="02020603050405020304" pitchFamily="18" charset="0"/>
                <a:cs typeface="Times New Roman" panose="02020603050405020304" pitchFamily="18" charset="0"/>
              </a:rPr>
              <a:t>: is on that is delivered to the integrator as synthesizable RTL</a:t>
            </a:r>
          </a:p>
          <a:p>
            <a:pPr marL="0" indent="0">
              <a:buNone/>
            </a:pPr>
            <a:r>
              <a:rPr lang="en-US" sz="1800" b="1" i="1" dirty="0">
                <a:latin typeface="Times New Roman" panose="02020603050405020304" pitchFamily="18" charset="0"/>
                <a:cs typeface="Times New Roman" panose="02020603050405020304" pitchFamily="18" charset="0"/>
              </a:rPr>
              <a:t>Hard IP</a:t>
            </a:r>
            <a:r>
              <a:rPr lang="en-US" sz="1800" i="1" dirty="0">
                <a:latin typeface="Times New Roman" panose="02020603050405020304" pitchFamily="18" charset="0"/>
                <a:cs typeface="Times New Roman" panose="02020603050405020304" pitchFamily="18" charset="0"/>
              </a:rPr>
              <a:t>: is one that is delivered to the integrator as a GDSII file. (fully designed, placed and routed by the supplier</a:t>
            </a:r>
          </a:p>
          <a:p>
            <a:r>
              <a:rPr lang="en-US" sz="2200" dirty="0">
                <a:latin typeface="Times New Roman" panose="02020603050405020304" pitchFamily="18" charset="0"/>
                <a:cs typeface="Times New Roman" panose="02020603050405020304" pitchFamily="18" charset="0"/>
              </a:rPr>
              <a:t>There used to be a debate of what blocks should be synthesized from RTL and which should be designed at the transistor level.</a:t>
            </a:r>
          </a:p>
          <a:p>
            <a:r>
              <a:rPr lang="en-US" sz="2200" dirty="0">
                <a:latin typeface="Times New Roman" panose="02020603050405020304" pitchFamily="18" charset="0"/>
                <a:cs typeface="Times New Roman" panose="02020603050405020304" pitchFamily="18" charset="0"/>
              </a:rPr>
              <a:t>With proper reuse-based SoC designs the role of hard and soft IP has become quite clear.</a:t>
            </a:r>
          </a:p>
          <a:p>
            <a:r>
              <a:rPr lang="en-US" sz="2200" dirty="0">
                <a:latin typeface="Times New Roman" panose="02020603050405020304" pitchFamily="18" charset="0"/>
                <a:cs typeface="Times New Roman" panose="02020603050405020304" pitchFamily="18" charset="0"/>
              </a:rPr>
              <a:t>Memory cells that are tiled together to create memory arrays, analog blocks such as ADC, DAC and PLL are designed ,at least partially, </a:t>
            </a:r>
            <a:r>
              <a:rPr lang="en-US" sz="2200" b="1" dirty="0">
                <a:latin typeface="Times New Roman" panose="02020603050405020304" pitchFamily="18" charset="0"/>
                <a:cs typeface="Times New Roman" panose="02020603050405020304" pitchFamily="18" charset="0"/>
              </a:rPr>
              <a:t>at transistor level</a:t>
            </a:r>
            <a:r>
              <a:rPr lang="en-US" sz="2200" dirty="0">
                <a:latin typeface="Times New Roman" panose="02020603050405020304" pitchFamily="18" charset="0"/>
                <a:cs typeface="Times New Roman" panose="02020603050405020304" pitchFamily="18" charset="0"/>
              </a:rPr>
              <a:t>. Also, some microprocessors that efficiency is a critical aspect of it (beside having huge teams that work on it).</a:t>
            </a:r>
          </a:p>
          <a:p>
            <a:r>
              <a:rPr lang="en-US" sz="2200" dirty="0">
                <a:latin typeface="Times New Roman" panose="02020603050405020304" pitchFamily="18" charset="0"/>
                <a:cs typeface="Times New Roman" panose="02020603050405020304" pitchFamily="18" charset="0"/>
              </a:rPr>
              <a:t>All other digital designs start out as </a:t>
            </a:r>
            <a:r>
              <a:rPr lang="en-US" sz="2200" b="1" dirty="0">
                <a:latin typeface="Times New Roman" panose="02020603050405020304" pitchFamily="18" charset="0"/>
                <a:cs typeface="Times New Roman" panose="02020603050405020304" pitchFamily="18" charset="0"/>
              </a:rPr>
              <a:t>Soft IP</a:t>
            </a:r>
            <a:r>
              <a:rPr lang="en-US" sz="2200" dirty="0">
                <a:latin typeface="Times New Roman" panose="02020603050405020304" pitchFamily="18" charset="0"/>
                <a:cs typeface="Times New Roman" panose="02020603050405020304" pitchFamily="18" charset="0"/>
              </a:rPr>
              <a:t> and then gets “hardened” by going the whole ASIC flow until generating the GDSII file which turns to be Hard IP.</a:t>
            </a:r>
          </a:p>
          <a:p>
            <a:r>
              <a:rPr lang="en-US" sz="2200" dirty="0">
                <a:latin typeface="Times New Roman" panose="02020603050405020304" pitchFamily="18" charset="0"/>
                <a:cs typeface="Times New Roman" panose="02020603050405020304" pitchFamily="18" charset="0"/>
              </a:rPr>
              <a:t>The advantage of Pre-Hardened blocks is that they go the physical design once and can be used many times.</a:t>
            </a:r>
          </a:p>
          <a:p>
            <a:r>
              <a:rPr lang="en-US" sz="2200" dirty="0">
                <a:latin typeface="Times New Roman" panose="02020603050405020304" pitchFamily="18" charset="0"/>
                <a:cs typeface="Times New Roman" panose="02020603050405020304" pitchFamily="18" charset="0"/>
              </a:rPr>
              <a:t>The advantage of synthesis-based design over full-custom design is that it’s more simpler, much faster and less costlier implementation of the design. On the other hand, full custom provides higher efficiency (power, timing, area).</a:t>
            </a:r>
          </a:p>
          <a:p>
            <a:pPr marL="0" indent="0">
              <a:buNone/>
            </a:pPr>
            <a:endParaRPr lang="en-US" sz="22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26ECA80-DE2E-CBE4-AAE4-0038979A26FF}"/>
              </a:ext>
            </a:extLst>
          </p:cNvPr>
          <p:cNvSpPr>
            <a:spLocks noGrp="1"/>
          </p:cNvSpPr>
          <p:nvPr>
            <p:ph type="title"/>
          </p:nvPr>
        </p:nvSpPr>
        <p:spPr/>
        <p:txBody>
          <a:bodyPr/>
          <a:lstStyle/>
          <a:p>
            <a:r>
              <a:rPr lang="en-US" dirty="0"/>
              <a:t>1. The Standard Model</a:t>
            </a:r>
          </a:p>
        </p:txBody>
      </p:sp>
      <p:sp>
        <p:nvSpPr>
          <p:cNvPr id="4" name="Footer Placeholder 3">
            <a:extLst>
              <a:ext uri="{FF2B5EF4-FFF2-40B4-BE49-F238E27FC236}">
                <a16:creationId xmlns:a16="http://schemas.microsoft.com/office/drawing/2014/main" id="{F21729DC-17F5-2D82-8792-E22C68962727}"/>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ABFBD28-2542-46B9-D286-3A935265CB39}"/>
              </a:ext>
            </a:extLst>
          </p:cNvPr>
          <p:cNvSpPr>
            <a:spLocks noGrp="1"/>
          </p:cNvSpPr>
          <p:nvPr>
            <p:ph type="sldNum" sz="quarter" idx="4"/>
          </p:nvPr>
        </p:nvSpPr>
        <p:spPr/>
        <p:txBody>
          <a:bodyPr/>
          <a:lstStyle/>
          <a:p>
            <a:pPr>
              <a:defRPr/>
            </a:pPr>
            <a:fld id="{A9CE67A1-BA7F-A74E-B5D7-615746DEEC2B}" type="slidenum">
              <a:rPr lang="en-US" smtClean="0"/>
              <a:pPr>
                <a:defRPr/>
              </a:pPr>
              <a:t>5</a:t>
            </a:fld>
            <a:endParaRPr lang="en-US" baseline="-11000" dirty="0"/>
          </a:p>
        </p:txBody>
      </p:sp>
      <p:sp>
        <p:nvSpPr>
          <p:cNvPr id="6" name="Date Placeholder 5">
            <a:extLst>
              <a:ext uri="{FF2B5EF4-FFF2-40B4-BE49-F238E27FC236}">
                <a16:creationId xmlns:a16="http://schemas.microsoft.com/office/drawing/2014/main" id="{CD99FABB-1F1A-5B8F-DBC6-C6BBC4F9D14B}"/>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252658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D83EE19-56F7-329B-8C4B-931A25A32C11}"/>
              </a:ext>
            </a:extLst>
          </p:cNvPr>
          <p:cNvPicPr>
            <a:picLocks noGrp="1" noChangeAspect="1"/>
          </p:cNvPicPr>
          <p:nvPr>
            <p:ph idx="1"/>
          </p:nvPr>
        </p:nvPicPr>
        <p:blipFill>
          <a:blip r:embed="rId2"/>
          <a:stretch>
            <a:fillRect/>
          </a:stretch>
        </p:blipFill>
        <p:spPr>
          <a:xfrm>
            <a:off x="2782373" y="1066800"/>
            <a:ext cx="5420753" cy="4914900"/>
          </a:xfrm>
        </p:spPr>
      </p:pic>
      <p:sp>
        <p:nvSpPr>
          <p:cNvPr id="3" name="Title 2">
            <a:extLst>
              <a:ext uri="{FF2B5EF4-FFF2-40B4-BE49-F238E27FC236}">
                <a16:creationId xmlns:a16="http://schemas.microsoft.com/office/drawing/2014/main" id="{4EC6FDDB-9AD5-9081-35D6-EE87156F88D7}"/>
              </a:ext>
            </a:extLst>
          </p:cNvPr>
          <p:cNvSpPr>
            <a:spLocks noGrp="1"/>
          </p:cNvSpPr>
          <p:nvPr>
            <p:ph type="title"/>
          </p:nvPr>
        </p:nvSpPr>
        <p:spPr/>
        <p:txBody>
          <a:bodyPr/>
          <a:lstStyle/>
          <a:p>
            <a:r>
              <a:rPr lang="en-US" dirty="0"/>
              <a:t>1. The Standard Model</a:t>
            </a:r>
          </a:p>
        </p:txBody>
      </p:sp>
      <p:sp>
        <p:nvSpPr>
          <p:cNvPr id="4" name="Footer Placeholder 3">
            <a:extLst>
              <a:ext uri="{FF2B5EF4-FFF2-40B4-BE49-F238E27FC236}">
                <a16:creationId xmlns:a16="http://schemas.microsoft.com/office/drawing/2014/main" id="{1B2E2899-FDDF-21BF-80F1-E7E684E811A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BFE05FE4-EBD4-36FE-AC33-3D4CA3A3BA1A}"/>
              </a:ext>
            </a:extLst>
          </p:cNvPr>
          <p:cNvSpPr>
            <a:spLocks noGrp="1"/>
          </p:cNvSpPr>
          <p:nvPr>
            <p:ph type="sldNum" sz="quarter" idx="4"/>
          </p:nvPr>
        </p:nvSpPr>
        <p:spPr/>
        <p:txBody>
          <a:bodyPr/>
          <a:lstStyle/>
          <a:p>
            <a:pPr>
              <a:defRPr/>
            </a:pPr>
            <a:fld id="{A9CE67A1-BA7F-A74E-B5D7-615746DEEC2B}" type="slidenum">
              <a:rPr lang="en-US" smtClean="0"/>
              <a:pPr>
                <a:defRPr/>
              </a:pPr>
              <a:t>6</a:t>
            </a:fld>
            <a:endParaRPr lang="en-US" baseline="-11000" dirty="0"/>
          </a:p>
        </p:txBody>
      </p:sp>
      <p:sp>
        <p:nvSpPr>
          <p:cNvPr id="6" name="Date Placeholder 5">
            <a:extLst>
              <a:ext uri="{FF2B5EF4-FFF2-40B4-BE49-F238E27FC236}">
                <a16:creationId xmlns:a16="http://schemas.microsoft.com/office/drawing/2014/main" id="{132E8577-D523-8F76-3C6B-2ADE6D8737FA}"/>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
        <p:nvSpPr>
          <p:cNvPr id="10" name="TextBox 9">
            <a:extLst>
              <a:ext uri="{FF2B5EF4-FFF2-40B4-BE49-F238E27FC236}">
                <a16:creationId xmlns:a16="http://schemas.microsoft.com/office/drawing/2014/main" id="{D321DD90-60FF-EE5E-65BA-25D28AD7AF29}"/>
              </a:ext>
            </a:extLst>
          </p:cNvPr>
          <p:cNvSpPr txBox="1"/>
          <p:nvPr/>
        </p:nvSpPr>
        <p:spPr>
          <a:xfrm>
            <a:off x="342900" y="1065910"/>
            <a:ext cx="6118412" cy="369332"/>
          </a:xfrm>
          <a:prstGeom prst="rect">
            <a:avLst/>
          </a:prstGeom>
          <a:noFill/>
        </p:spPr>
        <p:txBody>
          <a:bodyPr wrap="square">
            <a:spAutoFit/>
          </a:bodyPr>
          <a:lstStyle/>
          <a:p>
            <a:pPr marL="0" indent="0">
              <a:buNone/>
            </a:pPr>
            <a:r>
              <a:rPr lang="en-US" b="1" dirty="0">
                <a:latin typeface="Times New Roman" panose="02020603050405020304" pitchFamily="18" charset="0"/>
                <a:cs typeface="Times New Roman" panose="02020603050405020304" pitchFamily="18" charset="0"/>
              </a:rPr>
              <a:t>Soft IP vs. Hard IP</a:t>
            </a:r>
          </a:p>
        </p:txBody>
      </p:sp>
      <p:sp>
        <p:nvSpPr>
          <p:cNvPr id="11" name="TextBox 10">
            <a:extLst>
              <a:ext uri="{FF2B5EF4-FFF2-40B4-BE49-F238E27FC236}">
                <a16:creationId xmlns:a16="http://schemas.microsoft.com/office/drawing/2014/main" id="{C6143878-D0D5-A67F-8AC1-4807357486D9}"/>
              </a:ext>
            </a:extLst>
          </p:cNvPr>
          <p:cNvSpPr txBox="1"/>
          <p:nvPr/>
        </p:nvSpPr>
        <p:spPr>
          <a:xfrm>
            <a:off x="2250141" y="5936118"/>
            <a:ext cx="6777318" cy="470898"/>
          </a:xfrm>
          <a:prstGeom prst="rect">
            <a:avLst/>
          </a:prstGeom>
          <a:noFill/>
        </p:spPr>
        <p:txBody>
          <a:bodyPr wrap="square" lIns="0" tIns="0" rIns="0" bIns="0" rtlCol="0">
            <a:noAutofit/>
          </a:bodyPr>
          <a:lstStyle/>
          <a:p>
            <a:pPr algn="ctr" defTabSz="457200">
              <a:spcBef>
                <a:spcPts val="1000"/>
              </a:spcBef>
              <a:buClr>
                <a:srgbClr val="1E4056"/>
              </a:buClr>
              <a:buSzPct val="75000"/>
            </a:pPr>
            <a:r>
              <a:rPr lang="en-US" i="1" dirty="0">
                <a:solidFill>
                  <a:srgbClr val="000000"/>
                </a:solidFill>
                <a:latin typeface="Times New Roman" panose="02020603050405020304" pitchFamily="18" charset="0"/>
                <a:cs typeface="Times New Roman" panose="02020603050405020304" pitchFamily="18" charset="0"/>
              </a:rPr>
              <a:t>Source of IP for a canonical design</a:t>
            </a:r>
          </a:p>
        </p:txBody>
      </p:sp>
    </p:spTree>
    <p:extLst>
      <p:ext uri="{BB962C8B-B14F-4D97-AF65-F5344CB8AC3E}">
        <p14:creationId xmlns:p14="http://schemas.microsoft.com/office/powerpoint/2010/main" val="198097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1D596B-83C2-5C90-C341-B878323F5AFC}"/>
              </a:ext>
            </a:extLst>
          </p:cNvPr>
          <p:cNvSpPr>
            <a:spLocks noGrp="1"/>
          </p:cNvSpPr>
          <p:nvPr>
            <p:ph idx="1"/>
          </p:nvPr>
        </p:nvSpPr>
        <p:spPr>
          <a:xfrm>
            <a:off x="355600" y="1066800"/>
            <a:ext cx="10887364" cy="5405718"/>
          </a:xfrm>
        </p:spPr>
        <p:txBody>
          <a:bodyPr/>
          <a:lstStyle/>
          <a:p>
            <a:pPr marL="0" indent="0">
              <a:buNone/>
            </a:pPr>
            <a:r>
              <a:rPr lang="en-US" sz="2400" b="1" dirty="0">
                <a:latin typeface="Times New Roman" panose="02020603050405020304" pitchFamily="18" charset="0"/>
                <a:cs typeface="Times New Roman" panose="02020603050405020304" pitchFamily="18" charset="0"/>
              </a:rPr>
              <a:t>The Role of Full-Custom Design in Reuse</a:t>
            </a:r>
          </a:p>
          <a:p>
            <a:r>
              <a:rPr lang="en-US" sz="2000" dirty="0">
                <a:latin typeface="Times New Roman" panose="02020603050405020304" pitchFamily="18" charset="0"/>
                <a:cs typeface="Times New Roman" panose="02020603050405020304" pitchFamily="18" charset="0"/>
              </a:rPr>
              <a:t>Full-Custom design is used when synthesis is not possible (or will cause a huge degrade in performance)</a:t>
            </a:r>
          </a:p>
          <a:p>
            <a:pPr marL="0" indent="0">
              <a:buNone/>
            </a:pPr>
            <a:r>
              <a:rPr lang="en-US" sz="2000" dirty="0">
                <a:latin typeface="Times New Roman" panose="02020603050405020304" pitchFamily="18" charset="0"/>
                <a:cs typeface="Times New Roman" panose="02020603050405020304" pitchFamily="18" charset="0"/>
              </a:rPr>
              <a:t>Such as: memories, analog blocks, physical layer interfaces of high-speed communication protocols.</a:t>
            </a:r>
          </a:p>
          <a:p>
            <a:r>
              <a:rPr lang="en-US" sz="2000" dirty="0">
                <a:latin typeface="Times New Roman" panose="02020603050405020304" pitchFamily="18" charset="0"/>
                <a:cs typeface="Times New Roman" panose="02020603050405020304" pitchFamily="18" charset="0"/>
              </a:rPr>
              <a:t>For everything else, synthesis-based standard cell design have the higher hand in terms of economics (cost and time to market) where the full-custom doesn’t give competitive advantage in the marketplace.</a:t>
            </a:r>
          </a:p>
          <a:p>
            <a:r>
              <a:rPr lang="en-US" sz="2000" dirty="0">
                <a:latin typeface="Times New Roman" panose="02020603050405020304" pitchFamily="18" charset="0"/>
                <a:cs typeface="Times New Roman" panose="02020603050405020304" pitchFamily="18" charset="0"/>
              </a:rPr>
              <a:t>There’s a comparison of a design implemented twice, full-custom and synthesis-based, and here’re the results:</a:t>
            </a:r>
            <a:endParaRPr lang="en-US" sz="1400" dirty="0">
              <a:latin typeface="Times New Roman" panose="02020603050405020304" pitchFamily="18" charset="0"/>
              <a:cs typeface="Times New Roman" panose="02020603050405020304" pitchFamily="18" charset="0"/>
            </a:endParaRPr>
          </a:p>
          <a:p>
            <a:pPr lvl="1"/>
            <a:r>
              <a:rPr lang="en-US" sz="1600" dirty="0">
                <a:latin typeface="Times New Roman" panose="02020603050405020304" pitchFamily="18" charset="0"/>
                <a:cs typeface="Times New Roman" panose="02020603050405020304" pitchFamily="18" charset="0"/>
              </a:rPr>
              <a:t>Same max clock frequency.</a:t>
            </a:r>
          </a:p>
          <a:p>
            <a:pPr lvl="1"/>
            <a:r>
              <a:rPr lang="en-US" sz="1600" dirty="0">
                <a:latin typeface="Times New Roman" panose="02020603050405020304" pitchFamily="18" charset="0"/>
                <a:cs typeface="Times New Roman" panose="02020603050405020304" pitchFamily="18" charset="0"/>
              </a:rPr>
              <a:t>Less power with a few percent than the full-custom.</a:t>
            </a:r>
          </a:p>
          <a:p>
            <a:pPr lvl="1"/>
            <a:r>
              <a:rPr lang="en-US" sz="1600" dirty="0">
                <a:latin typeface="Times New Roman" panose="02020603050405020304" pitchFamily="18" charset="0"/>
                <a:cs typeface="Times New Roman" panose="02020603050405020304" pitchFamily="18" charset="0"/>
              </a:rPr>
              <a:t>Area was 7% higher due to an arithmetic operator. By replacing it with a full-custom one, the area was the same for the entire full-custom.</a:t>
            </a:r>
          </a:p>
          <a:p>
            <a:r>
              <a:rPr lang="en-US" sz="2000" dirty="0">
                <a:latin typeface="Times New Roman" panose="02020603050405020304" pitchFamily="18" charset="0"/>
                <a:cs typeface="Times New Roman" panose="02020603050405020304" pitchFamily="18" charset="0"/>
              </a:rPr>
              <a:t>We can conclude that the full-custom design is used only for small portion of the design, mainly Datapath blocks in processors, where it’s expected that full-custom will be avoided completely for other applications.</a:t>
            </a:r>
          </a:p>
        </p:txBody>
      </p:sp>
      <p:sp>
        <p:nvSpPr>
          <p:cNvPr id="4" name="Footer Placeholder 3">
            <a:extLst>
              <a:ext uri="{FF2B5EF4-FFF2-40B4-BE49-F238E27FC236}">
                <a16:creationId xmlns:a16="http://schemas.microsoft.com/office/drawing/2014/main" id="{63E3B233-7069-B7F6-5B00-13747ABACF9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C004C8A-5EB2-606B-13FC-369595D8EF50}"/>
              </a:ext>
            </a:extLst>
          </p:cNvPr>
          <p:cNvSpPr>
            <a:spLocks noGrp="1"/>
          </p:cNvSpPr>
          <p:nvPr>
            <p:ph type="sldNum" sz="quarter" idx="4"/>
          </p:nvPr>
        </p:nvSpPr>
        <p:spPr/>
        <p:txBody>
          <a:bodyPr/>
          <a:lstStyle/>
          <a:p>
            <a:pPr>
              <a:defRPr/>
            </a:pPr>
            <a:fld id="{A9CE67A1-BA7F-A74E-B5D7-615746DEEC2B}" type="slidenum">
              <a:rPr lang="en-US" smtClean="0"/>
              <a:pPr>
                <a:defRPr/>
              </a:pPr>
              <a:t>7</a:t>
            </a:fld>
            <a:endParaRPr lang="en-US" baseline="-11000" dirty="0"/>
          </a:p>
        </p:txBody>
      </p:sp>
      <p:sp>
        <p:nvSpPr>
          <p:cNvPr id="6" name="Date Placeholder 5">
            <a:extLst>
              <a:ext uri="{FF2B5EF4-FFF2-40B4-BE49-F238E27FC236}">
                <a16:creationId xmlns:a16="http://schemas.microsoft.com/office/drawing/2014/main" id="{38F02EF9-122C-5996-66F0-A1243A311149}"/>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
        <p:nvSpPr>
          <p:cNvPr id="7" name="Title 2">
            <a:extLst>
              <a:ext uri="{FF2B5EF4-FFF2-40B4-BE49-F238E27FC236}">
                <a16:creationId xmlns:a16="http://schemas.microsoft.com/office/drawing/2014/main" id="{F3EF6D51-05A1-239A-26F3-C7DD1877BC9E}"/>
              </a:ext>
            </a:extLst>
          </p:cNvPr>
          <p:cNvSpPr>
            <a:spLocks noGrp="1"/>
          </p:cNvSpPr>
          <p:nvPr>
            <p:ph type="title"/>
          </p:nvPr>
        </p:nvSpPr>
        <p:spPr>
          <a:xfrm>
            <a:off x="342900" y="219075"/>
            <a:ext cx="10287000" cy="471488"/>
          </a:xfrm>
        </p:spPr>
        <p:txBody>
          <a:bodyPr/>
          <a:lstStyle/>
          <a:p>
            <a:r>
              <a:rPr lang="en-US" dirty="0"/>
              <a:t>1. The Standard Model</a:t>
            </a:r>
          </a:p>
        </p:txBody>
      </p:sp>
    </p:spTree>
    <p:extLst>
      <p:ext uri="{BB962C8B-B14F-4D97-AF65-F5344CB8AC3E}">
        <p14:creationId xmlns:p14="http://schemas.microsoft.com/office/powerpoint/2010/main" val="297459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C6FF2B-24A5-34AB-1A3F-8A962E8E0DB3}"/>
              </a:ext>
            </a:extLst>
          </p:cNvPr>
          <p:cNvSpPr>
            <a:spLocks noGrp="1"/>
          </p:cNvSpPr>
          <p:nvPr>
            <p:ph idx="1"/>
          </p:nvPr>
        </p:nvSpPr>
        <p:spPr>
          <a:xfrm>
            <a:off x="355600" y="1066800"/>
            <a:ext cx="10274300" cy="4778188"/>
          </a:xfrm>
        </p:spPr>
        <p:txBody>
          <a:bodyPr/>
          <a:lstStyle/>
          <a:p>
            <a:pPr marL="0" indent="0">
              <a:buNone/>
            </a:pPr>
            <a:r>
              <a:rPr lang="en-US" sz="2400" b="1" dirty="0">
                <a:latin typeface="Times New Roman" panose="02020603050405020304" pitchFamily="18" charset="0"/>
                <a:cs typeface="Times New Roman" panose="02020603050405020304" pitchFamily="18" charset="0"/>
              </a:rPr>
              <a:t>2.1 Interfaces and Timing Closure</a:t>
            </a:r>
          </a:p>
          <a:p>
            <a:r>
              <a:rPr lang="en-US" sz="2000" dirty="0">
                <a:latin typeface="Times New Roman" panose="02020603050405020304" pitchFamily="18" charset="0"/>
                <a:cs typeface="Times New Roman" panose="02020603050405020304" pitchFamily="18" charset="0"/>
              </a:rPr>
              <a:t>In deep submicron technologies, the wire delay due to wire load capacitance can be much higher than the intrinsic delay of the CMOS gate. Wire load models are used to get an estimate of those delays. But for large blocks, the estimation becomes more variant than the actual delay.</a:t>
            </a:r>
          </a:p>
          <a:p>
            <a:r>
              <a:rPr lang="en-US" sz="2000" dirty="0">
                <a:latin typeface="Times New Roman" panose="02020603050405020304" pitchFamily="18" charset="0"/>
                <a:cs typeface="Times New Roman" panose="02020603050405020304" pitchFamily="18" charset="0"/>
              </a:rPr>
              <a:t>We can decrease the delays by increasing the drive strength of the cells or inserting buffers along the wire to decrease the rise and fall times as well as the delays.</a:t>
            </a:r>
          </a:p>
          <a:p>
            <a:r>
              <a:rPr lang="en-US" sz="2000" dirty="0">
                <a:latin typeface="Times New Roman" panose="02020603050405020304" pitchFamily="18" charset="0"/>
                <a:cs typeface="Times New Roman" panose="02020603050405020304" pitchFamily="18" charset="0"/>
              </a:rPr>
              <a:t>The problem here is that the designer doesn’t know which wire will cause the delay and thus needs buffering or change in the architecture (pipelining for instance) so we will have higher time in process iteration.</a:t>
            </a:r>
          </a:p>
        </p:txBody>
      </p:sp>
      <p:sp>
        <p:nvSpPr>
          <p:cNvPr id="3" name="Title 2">
            <a:extLst>
              <a:ext uri="{FF2B5EF4-FFF2-40B4-BE49-F238E27FC236}">
                <a16:creationId xmlns:a16="http://schemas.microsoft.com/office/drawing/2014/main" id="{A7061DDC-72E6-31DF-490D-DDC6C7E348AC}"/>
              </a:ext>
            </a:extLst>
          </p:cNvPr>
          <p:cNvSpPr>
            <a:spLocks noGrp="1"/>
          </p:cNvSpPr>
          <p:nvPr>
            <p:ph type="title"/>
          </p:nvPr>
        </p:nvSpPr>
        <p:spPr/>
        <p:txBody>
          <a:bodyPr/>
          <a:lstStyle/>
          <a:p>
            <a:r>
              <a:rPr lang="en-US" dirty="0"/>
              <a:t>2. Design for Timing Closure: Logic Design Issues</a:t>
            </a:r>
          </a:p>
        </p:txBody>
      </p:sp>
      <p:sp>
        <p:nvSpPr>
          <p:cNvPr id="4" name="Footer Placeholder 3">
            <a:extLst>
              <a:ext uri="{FF2B5EF4-FFF2-40B4-BE49-F238E27FC236}">
                <a16:creationId xmlns:a16="http://schemas.microsoft.com/office/drawing/2014/main" id="{1C2C0BCB-7F85-AE8C-36AA-A679F9707AF3}"/>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F3545439-7757-26EC-2114-D4B3823E5712}"/>
              </a:ext>
            </a:extLst>
          </p:cNvPr>
          <p:cNvSpPr>
            <a:spLocks noGrp="1"/>
          </p:cNvSpPr>
          <p:nvPr>
            <p:ph type="sldNum" sz="quarter" idx="4"/>
          </p:nvPr>
        </p:nvSpPr>
        <p:spPr/>
        <p:txBody>
          <a:bodyPr/>
          <a:lstStyle/>
          <a:p>
            <a:pPr>
              <a:defRPr/>
            </a:pPr>
            <a:fld id="{A9CE67A1-BA7F-A74E-B5D7-615746DEEC2B}" type="slidenum">
              <a:rPr lang="en-US" smtClean="0"/>
              <a:pPr>
                <a:defRPr/>
              </a:pPr>
              <a:t>8</a:t>
            </a:fld>
            <a:endParaRPr lang="en-US" baseline="-11000" dirty="0"/>
          </a:p>
        </p:txBody>
      </p:sp>
      <p:sp>
        <p:nvSpPr>
          <p:cNvPr id="6" name="Date Placeholder 5">
            <a:extLst>
              <a:ext uri="{FF2B5EF4-FFF2-40B4-BE49-F238E27FC236}">
                <a16:creationId xmlns:a16="http://schemas.microsoft.com/office/drawing/2014/main" id="{F1E0CD49-6EDA-DCF0-9C71-D7629C26A9BF}"/>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286150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6EABF6-F239-D152-DC4B-53B2149BB3C4}"/>
              </a:ext>
            </a:extLst>
          </p:cNvPr>
          <p:cNvSpPr>
            <a:spLocks noGrp="1"/>
          </p:cNvSpPr>
          <p:nvPr>
            <p:ph idx="1"/>
          </p:nvPr>
        </p:nvSpPr>
        <p:spPr>
          <a:xfrm>
            <a:off x="355600" y="1066800"/>
            <a:ext cx="6358965" cy="4914900"/>
          </a:xfrm>
        </p:spPr>
        <p:txBody>
          <a:bodyPr/>
          <a:lstStyle/>
          <a:p>
            <a:pPr marL="0" indent="0">
              <a:buNone/>
            </a:pPr>
            <a:r>
              <a:rPr lang="en-US" sz="2400" b="1" dirty="0">
                <a:latin typeface="Times New Roman" panose="02020603050405020304" pitchFamily="18" charset="0"/>
                <a:cs typeface="Times New Roman" panose="02020603050405020304" pitchFamily="18" charset="0"/>
              </a:rPr>
              <a:t>Macro Interface</a:t>
            </a:r>
          </a:p>
          <a:p>
            <a:pPr marL="0" indent="0">
              <a:buNone/>
            </a:pPr>
            <a:r>
              <a:rPr lang="en-US" sz="2000" dirty="0">
                <a:latin typeface="Times New Roman" panose="02020603050405020304" pitchFamily="18" charset="0"/>
                <a:cs typeface="Times New Roman" panose="02020603050405020304" pitchFamily="18" charset="0"/>
              </a:rPr>
              <a:t>we need to register both inputs and outputs to achieve locality of the design. That will cause, any timing violations can be solved in the top modules. Thus, designing multiple blocks in concurrently and independently. </a:t>
            </a:r>
          </a:p>
          <a:p>
            <a:pPr marL="0" indent="0">
              <a:buNone/>
            </a:pPr>
            <a:r>
              <a:rPr lang="en-US" sz="2000" dirty="0">
                <a:latin typeface="Times New Roman" panose="02020603050405020304" pitchFamily="18" charset="0"/>
                <a:cs typeface="Times New Roman" panose="02020603050405020304" pitchFamily="18" charset="0"/>
              </a:rPr>
              <a:t>This is called “Defensive timing design”. </a:t>
            </a:r>
            <a:endParaRPr lang="en-US" sz="2000" b="1"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Subblock Interface</a:t>
            </a:r>
          </a:p>
          <a:p>
            <a:pPr marL="0" indent="0">
              <a:buNone/>
            </a:pPr>
            <a:r>
              <a:rPr lang="en-US" sz="2000" dirty="0">
                <a:latin typeface="Times New Roman" panose="02020603050405020304" pitchFamily="18" charset="0"/>
                <a:cs typeface="Times New Roman" panose="02020603050405020304" pitchFamily="18" charset="0"/>
              </a:rPr>
              <a:t>In subblock interfacing, it’s sufficient to register only the outputs. Since the designer has the timing information needed to develop good timing budgets.</a:t>
            </a:r>
          </a:p>
          <a:p>
            <a:pPr marL="0" indent="0">
              <a:buNone/>
            </a:pPr>
            <a:r>
              <a:rPr lang="en-US" sz="2000" dirty="0">
                <a:latin typeface="Times New Roman" panose="02020603050405020304" pitchFamily="18" charset="0"/>
                <a:cs typeface="Times New Roman" panose="02020603050405020304" pitchFamily="18" charset="0"/>
              </a:rPr>
              <a:t>Also, as the subblocks inside a single block are relatively close to each other, it’s unlikely that the wires between them will cause any timing violations.</a:t>
            </a:r>
          </a:p>
        </p:txBody>
      </p:sp>
      <p:sp>
        <p:nvSpPr>
          <p:cNvPr id="3" name="Title 2">
            <a:extLst>
              <a:ext uri="{FF2B5EF4-FFF2-40B4-BE49-F238E27FC236}">
                <a16:creationId xmlns:a16="http://schemas.microsoft.com/office/drawing/2014/main" id="{A8051F2F-A6D0-0757-AEE3-44FB3F4CB38B}"/>
              </a:ext>
            </a:extLst>
          </p:cNvPr>
          <p:cNvSpPr>
            <a:spLocks noGrp="1"/>
          </p:cNvSpPr>
          <p:nvPr>
            <p:ph type="title"/>
          </p:nvPr>
        </p:nvSpPr>
        <p:spPr/>
        <p:txBody>
          <a:bodyPr/>
          <a:lstStyle/>
          <a:p>
            <a:r>
              <a:rPr lang="en-US" dirty="0"/>
              <a:t>2. Design for Timing Closure: Logic Design Issues</a:t>
            </a:r>
          </a:p>
        </p:txBody>
      </p:sp>
      <p:sp>
        <p:nvSpPr>
          <p:cNvPr id="4" name="Footer Placeholder 3">
            <a:extLst>
              <a:ext uri="{FF2B5EF4-FFF2-40B4-BE49-F238E27FC236}">
                <a16:creationId xmlns:a16="http://schemas.microsoft.com/office/drawing/2014/main" id="{C6B663EF-C56E-53EB-CC49-F8B2EC3FF12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B7F7DA92-1B44-3083-1CD1-80D3785CEAB2}"/>
              </a:ext>
            </a:extLst>
          </p:cNvPr>
          <p:cNvSpPr>
            <a:spLocks noGrp="1"/>
          </p:cNvSpPr>
          <p:nvPr>
            <p:ph type="sldNum" sz="quarter" idx="4"/>
          </p:nvPr>
        </p:nvSpPr>
        <p:spPr/>
        <p:txBody>
          <a:bodyPr/>
          <a:lstStyle/>
          <a:p>
            <a:pPr>
              <a:defRPr/>
            </a:pPr>
            <a:fld id="{A9CE67A1-BA7F-A74E-B5D7-615746DEEC2B}" type="slidenum">
              <a:rPr lang="en-US" smtClean="0"/>
              <a:pPr>
                <a:defRPr/>
              </a:pPr>
              <a:t>9</a:t>
            </a:fld>
            <a:endParaRPr lang="en-US" baseline="-11000" dirty="0"/>
          </a:p>
        </p:txBody>
      </p:sp>
      <p:sp>
        <p:nvSpPr>
          <p:cNvPr id="6" name="Date Placeholder 5">
            <a:extLst>
              <a:ext uri="{FF2B5EF4-FFF2-40B4-BE49-F238E27FC236}">
                <a16:creationId xmlns:a16="http://schemas.microsoft.com/office/drawing/2014/main" id="{29D29C4F-4E65-6ECE-280A-CC829BBFC922}"/>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10" name="Picture 9">
            <a:extLst>
              <a:ext uri="{FF2B5EF4-FFF2-40B4-BE49-F238E27FC236}">
                <a16:creationId xmlns:a16="http://schemas.microsoft.com/office/drawing/2014/main" id="{BD0CB778-8D60-5031-7FE1-2B49E2261792}"/>
              </a:ext>
            </a:extLst>
          </p:cNvPr>
          <p:cNvPicPr>
            <a:picLocks noChangeAspect="1"/>
          </p:cNvPicPr>
          <p:nvPr/>
        </p:nvPicPr>
        <p:blipFill>
          <a:blip r:embed="rId2"/>
          <a:stretch>
            <a:fillRect/>
          </a:stretch>
        </p:blipFill>
        <p:spPr>
          <a:xfrm>
            <a:off x="7351287" y="1028492"/>
            <a:ext cx="4015960" cy="2500054"/>
          </a:xfrm>
          <a:prstGeom prst="rect">
            <a:avLst/>
          </a:prstGeom>
        </p:spPr>
      </p:pic>
      <p:pic>
        <p:nvPicPr>
          <p:cNvPr id="12" name="Picture 11">
            <a:extLst>
              <a:ext uri="{FF2B5EF4-FFF2-40B4-BE49-F238E27FC236}">
                <a16:creationId xmlns:a16="http://schemas.microsoft.com/office/drawing/2014/main" id="{A987E8AF-881D-81F2-A01E-8106022EF70B}"/>
              </a:ext>
            </a:extLst>
          </p:cNvPr>
          <p:cNvPicPr>
            <a:picLocks noChangeAspect="1"/>
          </p:cNvPicPr>
          <p:nvPr/>
        </p:nvPicPr>
        <p:blipFill>
          <a:blip r:embed="rId3"/>
          <a:stretch>
            <a:fillRect/>
          </a:stretch>
        </p:blipFill>
        <p:spPr>
          <a:xfrm>
            <a:off x="7192682" y="4084480"/>
            <a:ext cx="4643718" cy="1818750"/>
          </a:xfrm>
          <a:prstGeom prst="rect">
            <a:avLst/>
          </a:prstGeom>
        </p:spPr>
      </p:pic>
      <p:sp>
        <p:nvSpPr>
          <p:cNvPr id="13" name="TextBox 12">
            <a:extLst>
              <a:ext uri="{FF2B5EF4-FFF2-40B4-BE49-F238E27FC236}">
                <a16:creationId xmlns:a16="http://schemas.microsoft.com/office/drawing/2014/main" id="{EC3E0911-C9CE-D208-C032-378F505C1E26}"/>
              </a:ext>
            </a:extLst>
          </p:cNvPr>
          <p:cNvSpPr txBox="1"/>
          <p:nvPr/>
        </p:nvSpPr>
        <p:spPr>
          <a:xfrm>
            <a:off x="7662584" y="3565134"/>
            <a:ext cx="3021106" cy="404374"/>
          </a:xfrm>
          <a:prstGeom prst="rect">
            <a:avLst/>
          </a:prstGeom>
          <a:noFill/>
        </p:spPr>
        <p:txBody>
          <a:bodyPr wrap="none" lIns="0" tIns="0" rIns="0" bIns="0" rtlCol="0">
            <a:noAutofit/>
          </a:bodyPr>
          <a:lstStyle/>
          <a:p>
            <a:pPr defTabSz="457200">
              <a:buClr>
                <a:srgbClr val="1E4056"/>
              </a:buClr>
              <a:buSzPct val="75000"/>
            </a:pPr>
            <a:r>
              <a:rPr lang="en-US" sz="1600" dirty="0">
                <a:solidFill>
                  <a:srgbClr val="000000"/>
                </a:solidFill>
              </a:rPr>
              <a:t>Registering inputs and outputs of major blocks</a:t>
            </a:r>
          </a:p>
          <a:p>
            <a:pPr defTabSz="457200">
              <a:buClr>
                <a:srgbClr val="1E4056"/>
              </a:buClr>
              <a:buSzPct val="75000"/>
            </a:pPr>
            <a:r>
              <a:rPr lang="en-US" sz="1000" dirty="0">
                <a:solidFill>
                  <a:srgbClr val="000000"/>
                </a:solidFill>
              </a:rPr>
              <a:t>Source: Reuse Methodology Manual </a:t>
            </a:r>
          </a:p>
        </p:txBody>
      </p:sp>
      <p:sp>
        <p:nvSpPr>
          <p:cNvPr id="14" name="TextBox 13">
            <a:extLst>
              <a:ext uri="{FF2B5EF4-FFF2-40B4-BE49-F238E27FC236}">
                <a16:creationId xmlns:a16="http://schemas.microsoft.com/office/drawing/2014/main" id="{6F1C163F-B983-2E00-E7A3-59881823DEAD}"/>
              </a:ext>
            </a:extLst>
          </p:cNvPr>
          <p:cNvSpPr txBox="1"/>
          <p:nvPr/>
        </p:nvSpPr>
        <p:spPr>
          <a:xfrm>
            <a:off x="7763664" y="5891485"/>
            <a:ext cx="3021106" cy="404374"/>
          </a:xfrm>
          <a:prstGeom prst="rect">
            <a:avLst/>
          </a:prstGeom>
          <a:noFill/>
        </p:spPr>
        <p:txBody>
          <a:bodyPr wrap="none" lIns="0" tIns="0" rIns="0" bIns="0" rtlCol="0">
            <a:noAutofit/>
          </a:bodyPr>
          <a:lstStyle/>
          <a:p>
            <a:pPr defTabSz="457200">
              <a:spcBef>
                <a:spcPts val="1000"/>
              </a:spcBef>
              <a:buClr>
                <a:srgbClr val="1E4056"/>
              </a:buClr>
              <a:buSzPct val="75000"/>
            </a:pPr>
            <a:r>
              <a:rPr lang="en-US" sz="1600" dirty="0">
                <a:solidFill>
                  <a:srgbClr val="000000"/>
                </a:solidFill>
              </a:rPr>
              <a:t>Registering outputs of subblocks</a:t>
            </a:r>
          </a:p>
          <a:p>
            <a:pPr defTabSz="457200">
              <a:buClr>
                <a:srgbClr val="1E4056"/>
              </a:buClr>
              <a:buSzPct val="75000"/>
            </a:pPr>
            <a:r>
              <a:rPr lang="en-US" sz="1000" dirty="0">
                <a:solidFill>
                  <a:srgbClr val="000000"/>
                </a:solidFill>
              </a:rPr>
              <a:t>Source: Reuse Methodology Manual </a:t>
            </a:r>
          </a:p>
          <a:p>
            <a:pPr defTabSz="457200">
              <a:spcBef>
                <a:spcPts val="1000"/>
              </a:spcBef>
              <a:buClr>
                <a:srgbClr val="1E4056"/>
              </a:buClr>
              <a:buSzPct val="75000"/>
            </a:pPr>
            <a:endParaRPr lang="en-US" sz="1600" dirty="0">
              <a:solidFill>
                <a:srgbClr val="000000"/>
              </a:solidFill>
            </a:endParaRPr>
          </a:p>
        </p:txBody>
      </p:sp>
    </p:spTree>
    <p:extLst>
      <p:ext uri="{BB962C8B-B14F-4D97-AF65-F5344CB8AC3E}">
        <p14:creationId xmlns:p14="http://schemas.microsoft.com/office/powerpoint/2010/main" val="428414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E9F7D4-F3B5-8150-FFC9-8FB9665818E9}"/>
              </a:ext>
            </a:extLst>
          </p:cNvPr>
          <p:cNvSpPr>
            <a:spLocks noGrp="1"/>
          </p:cNvSpPr>
          <p:nvPr>
            <p:ph idx="1"/>
          </p:nvPr>
        </p:nvSpPr>
        <p:spPr>
          <a:xfrm>
            <a:off x="355599" y="1066800"/>
            <a:ext cx="10500659" cy="5405718"/>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2.2 Synchronous vs. Asynchronous Design Style</a:t>
            </a:r>
          </a:p>
          <a:p>
            <a:pPr marL="0" indent="0">
              <a:buNone/>
            </a:pPr>
            <a:r>
              <a:rPr lang="en-US" sz="2000" b="1" dirty="0">
                <a:latin typeface="Times New Roman" panose="02020603050405020304" pitchFamily="18" charset="0"/>
                <a:cs typeface="Times New Roman" panose="02020603050405020304" pitchFamily="18" charset="0"/>
              </a:rPr>
              <a:t>Rule – </a:t>
            </a:r>
            <a:r>
              <a:rPr lang="en-US" sz="2000" dirty="0">
                <a:latin typeface="Times New Roman" panose="02020603050405020304" pitchFamily="18" charset="0"/>
                <a:cs typeface="Times New Roman" panose="02020603050405020304" pitchFamily="18" charset="0"/>
              </a:rPr>
              <a:t>The system should be synchronous and register based. Avoid latch-based designs as possible.</a:t>
            </a:r>
          </a:p>
          <a:p>
            <a:r>
              <a:rPr lang="en-US" sz="2000" dirty="0">
                <a:latin typeface="Times New Roman" panose="02020603050405020304" pitchFamily="18" charset="0"/>
                <a:cs typeface="Times New Roman" panose="02020603050405020304" pitchFamily="18" charset="0"/>
              </a:rPr>
              <a:t>Latch-based designs give some flexibility in timing which leads to the concept…</a:t>
            </a:r>
          </a:p>
          <a:p>
            <a:pPr marL="0" indent="0">
              <a:buNone/>
            </a:pPr>
            <a:r>
              <a:rPr lang="en-US" sz="2000" b="1" dirty="0">
                <a:latin typeface="Times New Roman" panose="02020603050405020304" pitchFamily="18" charset="0"/>
                <a:cs typeface="Times New Roman" panose="02020603050405020304" pitchFamily="18" charset="0"/>
              </a:rPr>
              <a:t>Time Borrowing: </a:t>
            </a:r>
            <a:r>
              <a:rPr lang="en-US" sz="2000" b="0" i="0" dirty="0">
                <a:solidFill>
                  <a:srgbClr val="151515"/>
                </a:solidFill>
                <a:effectLst/>
                <a:latin typeface="Times New Roman" panose="02020603050405020304" pitchFamily="18" charset="0"/>
                <a:cs typeface="Times New Roman" panose="02020603050405020304" pitchFamily="18" charset="0"/>
              </a:rPr>
              <a:t>is the technique in which a longer path takes to borrow the time from the next path of subsequent logic.</a:t>
            </a:r>
          </a:p>
          <a:p>
            <a:r>
              <a:rPr lang="en-US" sz="2000" dirty="0">
                <a:latin typeface="Times New Roman" panose="02020603050405020304" pitchFamily="18" charset="0"/>
                <a:cs typeface="Times New Roman" panose="02020603050405020304" pitchFamily="18" charset="0"/>
              </a:rPr>
              <a:t>For flip-flops, since we are sampling at the active edge, we may have a long combinational delay that will cause metastability for the next flip-flop or we may have a short combinational delay that will cause waste of time as we are restricted with the sampling time of the flip-flop. </a:t>
            </a:r>
          </a:p>
          <a:p>
            <a:r>
              <a:rPr lang="en-US" sz="2000" dirty="0">
                <a:latin typeface="Times New Roman" panose="02020603050405020304" pitchFamily="18" charset="0"/>
                <a:cs typeface="Times New Roman" panose="02020603050405020304" pitchFamily="18" charset="0"/>
              </a:rPr>
              <a:t>So, we either reduce the clock frequency or we use high-driving cells that will consume more power.</a:t>
            </a:r>
          </a:p>
          <a:p>
            <a:r>
              <a:rPr lang="en-US" sz="2000" dirty="0">
                <a:latin typeface="Times New Roman" panose="02020603050405020304" pitchFamily="18" charset="0"/>
                <a:cs typeface="Times New Roman" panose="02020603050405020304" pitchFamily="18" charset="0"/>
              </a:rPr>
              <a:t>For latches, if the combinational delay is long, it may still go through the latch since it’s in the transparent mode. And if the combinational delay is short, we don’t have to wait for the whole clock cycle to pass to get to the next combinational path or register since the latch is still in the transparent mode.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C8F482D-50BC-F2DC-DE86-90BA57B386FE}"/>
              </a:ext>
            </a:extLst>
          </p:cNvPr>
          <p:cNvSpPr>
            <a:spLocks noGrp="1"/>
          </p:cNvSpPr>
          <p:nvPr>
            <p:ph type="title"/>
          </p:nvPr>
        </p:nvSpPr>
        <p:spPr/>
        <p:txBody>
          <a:bodyPr/>
          <a:lstStyle/>
          <a:p>
            <a:r>
              <a:rPr lang="en-US" dirty="0"/>
              <a:t>2. Design for Timing Closure: Logic Design Issues</a:t>
            </a:r>
          </a:p>
        </p:txBody>
      </p:sp>
      <p:sp>
        <p:nvSpPr>
          <p:cNvPr id="4" name="Footer Placeholder 3">
            <a:extLst>
              <a:ext uri="{FF2B5EF4-FFF2-40B4-BE49-F238E27FC236}">
                <a16:creationId xmlns:a16="http://schemas.microsoft.com/office/drawing/2014/main" id="{A4268318-0895-BA85-238A-512DECF79D9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421AD8A-60C5-E7C7-8D01-A308C92F0AB0}"/>
              </a:ext>
            </a:extLst>
          </p:cNvPr>
          <p:cNvSpPr>
            <a:spLocks noGrp="1"/>
          </p:cNvSpPr>
          <p:nvPr>
            <p:ph type="sldNum" sz="quarter" idx="4"/>
          </p:nvPr>
        </p:nvSpPr>
        <p:spPr/>
        <p:txBody>
          <a:bodyPr/>
          <a:lstStyle/>
          <a:p>
            <a:pPr>
              <a:defRPr/>
            </a:pPr>
            <a:fld id="{A9CE67A1-BA7F-A74E-B5D7-615746DEEC2B}" type="slidenum">
              <a:rPr lang="en-US" smtClean="0"/>
              <a:pPr>
                <a:defRPr/>
              </a:pPr>
              <a:t>10</a:t>
            </a:fld>
            <a:endParaRPr lang="en-US" baseline="-11000" dirty="0"/>
          </a:p>
        </p:txBody>
      </p:sp>
      <p:sp>
        <p:nvSpPr>
          <p:cNvPr id="6" name="Date Placeholder 5">
            <a:extLst>
              <a:ext uri="{FF2B5EF4-FFF2-40B4-BE49-F238E27FC236}">
                <a16:creationId xmlns:a16="http://schemas.microsoft.com/office/drawing/2014/main" id="{BC50A764-5139-AC18-77EC-8E47EBC803C6}"/>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74662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CBF195-FA73-3B02-646F-C4C37E01D985}"/>
              </a:ext>
            </a:extLst>
          </p:cNvPr>
          <p:cNvSpPr>
            <a:spLocks noGrp="1"/>
          </p:cNvSpPr>
          <p:nvPr>
            <p:ph idx="1"/>
          </p:nvPr>
        </p:nvSpPr>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2.2 Synchronous vs. Asynchronous Design Style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problem is that in latch-based systems timing analysis of each latch of the design is difficult. Over a large design, timing analysis becomes impossible. Only the original designer knows the full intent of the design. Thus, latch-based design is inherently not reusable.</a:t>
            </a:r>
          </a:p>
        </p:txBody>
      </p:sp>
      <p:sp>
        <p:nvSpPr>
          <p:cNvPr id="3" name="Title 2">
            <a:extLst>
              <a:ext uri="{FF2B5EF4-FFF2-40B4-BE49-F238E27FC236}">
                <a16:creationId xmlns:a16="http://schemas.microsoft.com/office/drawing/2014/main" id="{1B250F8F-64AE-2669-9746-D4741022C1A0}"/>
              </a:ext>
            </a:extLst>
          </p:cNvPr>
          <p:cNvSpPr>
            <a:spLocks noGrp="1"/>
          </p:cNvSpPr>
          <p:nvPr>
            <p:ph type="title"/>
          </p:nvPr>
        </p:nvSpPr>
        <p:spPr/>
        <p:txBody>
          <a:bodyPr/>
          <a:lstStyle/>
          <a:p>
            <a:r>
              <a:rPr lang="en-US" dirty="0"/>
              <a:t>2. Design for Timing Closure: Logic Design Issues</a:t>
            </a:r>
          </a:p>
        </p:txBody>
      </p:sp>
      <p:sp>
        <p:nvSpPr>
          <p:cNvPr id="4" name="Footer Placeholder 3">
            <a:extLst>
              <a:ext uri="{FF2B5EF4-FFF2-40B4-BE49-F238E27FC236}">
                <a16:creationId xmlns:a16="http://schemas.microsoft.com/office/drawing/2014/main" id="{66B4D52D-498D-10C8-73CB-BCE8C5E6ED2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BDEC2201-656D-91E5-8B11-060CB06CE296}"/>
              </a:ext>
            </a:extLst>
          </p:cNvPr>
          <p:cNvSpPr>
            <a:spLocks noGrp="1"/>
          </p:cNvSpPr>
          <p:nvPr>
            <p:ph type="sldNum" sz="quarter" idx="4"/>
          </p:nvPr>
        </p:nvSpPr>
        <p:spPr/>
        <p:txBody>
          <a:bodyPr/>
          <a:lstStyle/>
          <a:p>
            <a:pPr>
              <a:defRPr/>
            </a:pPr>
            <a:fld id="{A9CE67A1-BA7F-A74E-B5D7-615746DEEC2B}" type="slidenum">
              <a:rPr lang="en-US" smtClean="0"/>
              <a:pPr>
                <a:defRPr/>
              </a:pPr>
              <a:t>11</a:t>
            </a:fld>
            <a:endParaRPr lang="en-US" baseline="-11000" dirty="0"/>
          </a:p>
        </p:txBody>
      </p:sp>
      <p:sp>
        <p:nvSpPr>
          <p:cNvPr id="6" name="Date Placeholder 5">
            <a:extLst>
              <a:ext uri="{FF2B5EF4-FFF2-40B4-BE49-F238E27FC236}">
                <a16:creationId xmlns:a16="http://schemas.microsoft.com/office/drawing/2014/main" id="{A5762001-C316-1A73-9F37-C64D044D2B38}"/>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10" name="Picture 9">
            <a:extLst>
              <a:ext uri="{FF2B5EF4-FFF2-40B4-BE49-F238E27FC236}">
                <a16:creationId xmlns:a16="http://schemas.microsoft.com/office/drawing/2014/main" id="{6701F943-E728-2E59-277A-8E302A95556D}"/>
              </a:ext>
            </a:extLst>
          </p:cNvPr>
          <p:cNvPicPr>
            <a:picLocks noChangeAspect="1"/>
          </p:cNvPicPr>
          <p:nvPr/>
        </p:nvPicPr>
        <p:blipFill>
          <a:blip r:embed="rId2"/>
          <a:stretch>
            <a:fillRect/>
          </a:stretch>
        </p:blipFill>
        <p:spPr>
          <a:xfrm>
            <a:off x="5595115" y="3361443"/>
            <a:ext cx="5266935" cy="1436437"/>
          </a:xfrm>
          <a:prstGeom prst="rect">
            <a:avLst/>
          </a:prstGeom>
        </p:spPr>
      </p:pic>
      <p:pic>
        <p:nvPicPr>
          <p:cNvPr id="12" name="Picture 11">
            <a:extLst>
              <a:ext uri="{FF2B5EF4-FFF2-40B4-BE49-F238E27FC236}">
                <a16:creationId xmlns:a16="http://schemas.microsoft.com/office/drawing/2014/main" id="{1995600A-7D05-FDD5-08B4-F70477693336}"/>
              </a:ext>
            </a:extLst>
          </p:cNvPr>
          <p:cNvPicPr>
            <a:picLocks noChangeAspect="1"/>
          </p:cNvPicPr>
          <p:nvPr/>
        </p:nvPicPr>
        <p:blipFill>
          <a:blip r:embed="rId3"/>
          <a:stretch>
            <a:fillRect/>
          </a:stretch>
        </p:blipFill>
        <p:spPr>
          <a:xfrm>
            <a:off x="3381937" y="1342142"/>
            <a:ext cx="5124614" cy="1869469"/>
          </a:xfrm>
          <a:prstGeom prst="rect">
            <a:avLst/>
          </a:prstGeom>
        </p:spPr>
      </p:pic>
      <p:pic>
        <p:nvPicPr>
          <p:cNvPr id="14" name="Picture 13">
            <a:extLst>
              <a:ext uri="{FF2B5EF4-FFF2-40B4-BE49-F238E27FC236}">
                <a16:creationId xmlns:a16="http://schemas.microsoft.com/office/drawing/2014/main" id="{23C334C9-1A68-E36B-4A24-96AE7752D811}"/>
              </a:ext>
            </a:extLst>
          </p:cNvPr>
          <p:cNvPicPr>
            <a:picLocks noChangeAspect="1"/>
          </p:cNvPicPr>
          <p:nvPr/>
        </p:nvPicPr>
        <p:blipFill>
          <a:blip r:embed="rId4"/>
          <a:stretch>
            <a:fillRect/>
          </a:stretch>
        </p:blipFill>
        <p:spPr>
          <a:xfrm>
            <a:off x="345141" y="3361443"/>
            <a:ext cx="5266935" cy="1461695"/>
          </a:xfrm>
          <a:prstGeom prst="rect">
            <a:avLst/>
          </a:prstGeom>
        </p:spPr>
      </p:pic>
    </p:spTree>
    <p:extLst>
      <p:ext uri="{BB962C8B-B14F-4D97-AF65-F5344CB8AC3E}">
        <p14:creationId xmlns:p14="http://schemas.microsoft.com/office/powerpoint/2010/main" val="963412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433AD1D-C79E-1899-E5E4-3C7263AD82F8}"/>
              </a:ext>
            </a:extLst>
          </p:cNvPr>
          <p:cNvSpPr>
            <a:spLocks noGrp="1"/>
          </p:cNvSpPr>
          <p:nvPr>
            <p:ph idx="1"/>
          </p:nvPr>
        </p:nvSpPr>
        <p:spPr/>
        <p:txBody>
          <a:bodyPr>
            <a:normAutofit fontScale="92500" lnSpcReduction="20000"/>
          </a:bodyPr>
          <a:lstStyle/>
          <a:p>
            <a:pPr marL="0" indent="0">
              <a:buNone/>
            </a:pPr>
            <a:r>
              <a:rPr lang="en-US" b="1" dirty="0">
                <a:latin typeface="Times New Roman" panose="02020603050405020304" pitchFamily="18" charset="0"/>
                <a:cs typeface="Times New Roman" panose="02020603050405020304" pitchFamily="18" charset="0"/>
              </a:rPr>
              <a:t>2.3 Clocking</a:t>
            </a:r>
          </a:p>
          <a:p>
            <a:pPr marL="0" indent="0">
              <a:buNone/>
            </a:pPr>
            <a:r>
              <a:rPr lang="en-US" sz="2000" dirty="0">
                <a:latin typeface="Times New Roman" panose="02020603050405020304" pitchFamily="18" charset="0"/>
                <a:cs typeface="Times New Roman" panose="02020603050405020304" pitchFamily="18" charset="0"/>
              </a:rPr>
              <a:t>Most of the system nowadays require multiple clock domains. Either due to the different data rate of the different blocks or the clock gating of some modules. Thus, for any signal crossing multiple domains, there’s an opportunity for metastability and corrupted data. Therefore, there’re some rules and guidelines we need to stick to…</a:t>
            </a:r>
          </a:p>
          <a:p>
            <a:pPr marL="457200" indent="-457200">
              <a:buClrTx/>
              <a:buSzPct val="100000"/>
              <a:buFont typeface="+mj-lt"/>
              <a:buAutoNum type="arabicPeriod"/>
            </a:pPr>
            <a:r>
              <a:rPr lang="en-US" sz="2000" dirty="0">
                <a:latin typeface="Times New Roman" panose="02020603050405020304" pitchFamily="18" charset="0"/>
                <a:cs typeface="Times New Roman" panose="02020603050405020304" pitchFamily="18" charset="0"/>
              </a:rPr>
              <a:t>The system clock generation and control logic should be separate from all functional blocks of the system.</a:t>
            </a:r>
          </a:p>
          <a:p>
            <a:pPr marL="457200" indent="-457200">
              <a:buClrTx/>
              <a:buSzPct val="100000"/>
              <a:buFont typeface="+mj-lt"/>
              <a:buAutoNum type="arabicPeriod"/>
            </a:pPr>
            <a:r>
              <a:rPr lang="en-US" sz="2000" dirty="0">
                <a:latin typeface="Times New Roman" panose="02020603050405020304" pitchFamily="18" charset="0"/>
                <a:cs typeface="Times New Roman" panose="02020603050405020304" pitchFamily="18" charset="0"/>
              </a:rPr>
              <a:t>The number of clock domains and clock frequencies must be documented.</a:t>
            </a:r>
          </a:p>
          <a:p>
            <a:pPr marL="685800" lvl="1" indent="-457200">
              <a:buClrTx/>
              <a:buSzPct val="100000"/>
              <a:buFont typeface="+mj-lt"/>
              <a:buAutoNum type="arabicPeriod"/>
            </a:pPr>
            <a:r>
              <a:rPr lang="en-US" sz="1400" dirty="0">
                <a:latin typeface="Times New Roman" panose="02020603050405020304" pitchFamily="18" charset="0"/>
                <a:cs typeface="Times New Roman" panose="02020603050405020304" pitchFamily="18" charset="0"/>
              </a:rPr>
              <a:t>Required clock frequencies</a:t>
            </a:r>
          </a:p>
          <a:p>
            <a:pPr marL="685800" lvl="1" indent="-457200">
              <a:buClrTx/>
              <a:buSzPct val="100000"/>
              <a:buFont typeface="+mj-lt"/>
              <a:buAutoNum type="arabicPeriod"/>
            </a:pPr>
            <a:r>
              <a:rPr lang="en-US" sz="1400" dirty="0">
                <a:latin typeface="Times New Roman" panose="02020603050405020304" pitchFamily="18" charset="0"/>
                <a:cs typeface="Times New Roman" panose="02020603050405020304" pitchFamily="18" charset="0"/>
              </a:rPr>
              <a:t>External timing requirements (setup/hold and output timing) needed to interface to the rest of the system.</a:t>
            </a:r>
          </a:p>
          <a:p>
            <a:pPr marL="685800" lvl="1" indent="-457200">
              <a:buClrTx/>
              <a:buSzPct val="100000"/>
              <a:buFont typeface="+mj-lt"/>
              <a:buAutoNum type="arabicPeriod"/>
            </a:pPr>
            <a:r>
              <a:rPr lang="en-US" sz="1400" dirty="0">
                <a:latin typeface="Times New Roman" panose="02020603050405020304" pitchFamily="18" charset="0"/>
                <a:cs typeface="Times New Roman" panose="02020603050405020304" pitchFamily="18" charset="0"/>
              </a:rPr>
              <a:t>Skew requirements between different, but related, clock domains. (generated from each other or from the same source)</a:t>
            </a:r>
          </a:p>
          <a:p>
            <a:pPr marL="457200" indent="-457200">
              <a:buClrTx/>
              <a:buSzPct val="100000"/>
              <a:buFont typeface="+mj-lt"/>
              <a:buAutoNum type="arabicPeriod"/>
            </a:pPr>
            <a:r>
              <a:rPr lang="en-US" sz="2000" dirty="0">
                <a:latin typeface="Times New Roman" panose="02020603050405020304" pitchFamily="18" charset="0"/>
                <a:cs typeface="Times New Roman" panose="02020603050405020304" pitchFamily="18" charset="0"/>
              </a:rPr>
              <a:t>Use the smallest possible number of clock domains. If two asynchronous clock domains interact, they should meet in a single module, which should be as small as possible. Ideally, this module should consist solely of the flops required to transfer the data from one clock domain to the other.</a:t>
            </a:r>
          </a:p>
          <a:p>
            <a:pPr marL="457200" indent="-457200">
              <a:buClrTx/>
              <a:buSzPct val="100000"/>
              <a:buFont typeface="+mj-lt"/>
              <a:buAutoNum type="arabicPeriod"/>
            </a:pPr>
            <a:r>
              <a:rPr lang="en-US" sz="2100" dirty="0">
                <a:latin typeface="Times New Roman" panose="02020603050405020304" pitchFamily="18" charset="0"/>
                <a:cs typeface="Times New Roman" panose="02020603050405020304" pitchFamily="18" charset="0"/>
              </a:rPr>
              <a:t>If a Phase-Locked Loop (PLL) is used for on-chip clock generation, then some means of disabling or bypassing the PLL should be provided. For the sake of testing and debugging like DFT.</a:t>
            </a:r>
          </a:p>
          <a:p>
            <a:pPr marL="457200" indent="-457200">
              <a:buClrTx/>
              <a:buSzPct val="100000"/>
              <a:buFont typeface="+mj-lt"/>
              <a:buAutoNum type="arabicPeriod"/>
            </a:pPr>
            <a:r>
              <a:rPr lang="en-US" sz="2100" dirty="0">
                <a:latin typeface="Times New Roman" panose="02020603050405020304" pitchFamily="18" charset="0"/>
                <a:cs typeface="Times New Roman" panose="02020603050405020304" pitchFamily="18" charset="0"/>
              </a:rPr>
              <a:t>For hard blocks, which often have large insertion delay, they should have their own clock net that is used to compensate the effect of this insertion delay.</a:t>
            </a:r>
          </a:p>
        </p:txBody>
      </p:sp>
      <p:sp>
        <p:nvSpPr>
          <p:cNvPr id="3" name="Title 2">
            <a:extLst>
              <a:ext uri="{FF2B5EF4-FFF2-40B4-BE49-F238E27FC236}">
                <a16:creationId xmlns:a16="http://schemas.microsoft.com/office/drawing/2014/main" id="{59689957-D705-4D73-0279-B976A0BEA2E7}"/>
              </a:ext>
            </a:extLst>
          </p:cNvPr>
          <p:cNvSpPr>
            <a:spLocks noGrp="1"/>
          </p:cNvSpPr>
          <p:nvPr>
            <p:ph type="title"/>
          </p:nvPr>
        </p:nvSpPr>
        <p:spPr/>
        <p:txBody>
          <a:bodyPr/>
          <a:lstStyle/>
          <a:p>
            <a:r>
              <a:rPr lang="en-US" dirty="0"/>
              <a:t>2. Design for Timing Closure: Logic Design Issues</a:t>
            </a:r>
          </a:p>
        </p:txBody>
      </p:sp>
      <p:sp>
        <p:nvSpPr>
          <p:cNvPr id="4" name="Footer Placeholder 3">
            <a:extLst>
              <a:ext uri="{FF2B5EF4-FFF2-40B4-BE49-F238E27FC236}">
                <a16:creationId xmlns:a16="http://schemas.microsoft.com/office/drawing/2014/main" id="{A9CAD079-0066-E3FD-C15D-03E794FAFE0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018469C-2418-54D9-BE44-F20CE5A807C4}"/>
              </a:ext>
            </a:extLst>
          </p:cNvPr>
          <p:cNvSpPr>
            <a:spLocks noGrp="1"/>
          </p:cNvSpPr>
          <p:nvPr>
            <p:ph type="sldNum" sz="quarter" idx="4"/>
          </p:nvPr>
        </p:nvSpPr>
        <p:spPr/>
        <p:txBody>
          <a:bodyPr/>
          <a:lstStyle/>
          <a:p>
            <a:pPr>
              <a:defRPr/>
            </a:pPr>
            <a:fld id="{A9CE67A1-BA7F-A74E-B5D7-615746DEEC2B}" type="slidenum">
              <a:rPr lang="en-US" smtClean="0"/>
              <a:pPr>
                <a:defRPr/>
              </a:pPr>
              <a:t>12</a:t>
            </a:fld>
            <a:endParaRPr lang="en-US" baseline="-11000" dirty="0"/>
          </a:p>
        </p:txBody>
      </p:sp>
      <p:sp>
        <p:nvSpPr>
          <p:cNvPr id="6" name="Date Placeholder 5">
            <a:extLst>
              <a:ext uri="{FF2B5EF4-FFF2-40B4-BE49-F238E27FC236}">
                <a16:creationId xmlns:a16="http://schemas.microsoft.com/office/drawing/2014/main" id="{57932BD9-16B1-A1A4-1F5D-020029E0472E}"/>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1993823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B4EE41-18CD-B669-D807-73C95B22AB64}"/>
              </a:ext>
            </a:extLst>
          </p:cNvPr>
          <p:cNvSpPr>
            <a:spLocks noGrp="1"/>
          </p:cNvSpPr>
          <p:nvPr>
            <p:ph type="title"/>
          </p:nvPr>
        </p:nvSpPr>
        <p:spPr/>
        <p:txBody>
          <a:bodyPr/>
          <a:lstStyle/>
          <a:p>
            <a:r>
              <a:rPr lang="en-US" dirty="0"/>
              <a:t>2. Design for Timing Closure: Logic Design Issues</a:t>
            </a:r>
          </a:p>
        </p:txBody>
      </p:sp>
      <p:sp>
        <p:nvSpPr>
          <p:cNvPr id="4" name="Footer Placeholder 3">
            <a:extLst>
              <a:ext uri="{FF2B5EF4-FFF2-40B4-BE49-F238E27FC236}">
                <a16:creationId xmlns:a16="http://schemas.microsoft.com/office/drawing/2014/main" id="{466FE61F-5B30-FF08-AA01-9C3AEE1F2F9C}"/>
              </a:ext>
            </a:extLst>
          </p:cNvPr>
          <p:cNvSpPr>
            <a:spLocks noGrp="1"/>
          </p:cNvSpPr>
          <p:nvPr>
            <p:ph type="ftr" sz="quarter" idx="3"/>
          </p:nvPr>
        </p:nvSpPr>
        <p:spPr/>
        <p:txBody>
          <a:bodyPr/>
          <a:lstStyle/>
          <a:p>
            <a:r>
              <a:rPr lang="en-US"/>
              <a:t>©2022 Analog Devices, Inc. </a:t>
            </a:r>
            <a:endParaRPr lang="en-US" dirty="0"/>
          </a:p>
        </p:txBody>
      </p:sp>
      <p:sp>
        <p:nvSpPr>
          <p:cNvPr id="2" name="Content Placeholder 1">
            <a:extLst>
              <a:ext uri="{FF2B5EF4-FFF2-40B4-BE49-F238E27FC236}">
                <a16:creationId xmlns:a16="http://schemas.microsoft.com/office/drawing/2014/main" id="{238C7959-21D3-B3B0-A5D9-87A4E50AB828}"/>
              </a:ext>
            </a:extLst>
          </p:cNvPr>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2.4 Reset</a:t>
            </a:r>
          </a:p>
          <a:p>
            <a:pPr marL="0" indent="0">
              <a:buNone/>
            </a:pPr>
            <a:r>
              <a:rPr lang="en-US" sz="2000" b="1" dirty="0">
                <a:latin typeface="Times New Roman" panose="02020603050405020304" pitchFamily="18" charset="0"/>
                <a:cs typeface="Times New Roman" panose="02020603050405020304" pitchFamily="18" charset="0"/>
              </a:rPr>
              <a:t>Rule </a:t>
            </a:r>
            <a:r>
              <a:rPr lang="en-US" sz="2000" dirty="0">
                <a:latin typeface="Times New Roman" panose="02020603050405020304" pitchFamily="18" charset="0"/>
                <a:cs typeface="Times New Roman" panose="02020603050405020304" pitchFamily="18" charset="0"/>
              </a:rPr>
              <a:t>– The basic reset strategy for the chip must be documented. It is particularly important to address the following issues:</a:t>
            </a:r>
          </a:p>
          <a:p>
            <a:pPr marL="457200" indent="-457200">
              <a:spcBef>
                <a:spcPts val="0"/>
              </a:spcBef>
              <a:buClrTx/>
              <a:buSzPct val="100000"/>
              <a:buFont typeface="+mj-lt"/>
              <a:buAutoNum type="arabicPeriod"/>
            </a:pPr>
            <a:r>
              <a:rPr lang="en-US" sz="1600" dirty="0">
                <a:latin typeface="Times New Roman" panose="02020603050405020304" pitchFamily="18" charset="0"/>
                <a:cs typeface="Times New Roman" panose="02020603050405020304" pitchFamily="18" charset="0"/>
              </a:rPr>
              <a:t>Is it synchronous or asynchronous? </a:t>
            </a:r>
          </a:p>
          <a:p>
            <a:pPr marL="457200" indent="-457200">
              <a:spcBef>
                <a:spcPts val="0"/>
              </a:spcBef>
              <a:buClrTx/>
              <a:buSzPct val="100000"/>
              <a:buFont typeface="+mj-lt"/>
              <a:buAutoNum type="arabicPeriod"/>
            </a:pPr>
            <a:r>
              <a:rPr lang="en-US" sz="1600" dirty="0">
                <a:latin typeface="Times New Roman" panose="02020603050405020304" pitchFamily="18" charset="0"/>
                <a:cs typeface="Times New Roman" panose="02020603050405020304" pitchFamily="18" charset="0"/>
              </a:rPr>
              <a:t>Is there an internal or external power-on reset? </a:t>
            </a:r>
          </a:p>
          <a:p>
            <a:pPr marL="457200" indent="-457200">
              <a:spcBef>
                <a:spcPts val="0"/>
              </a:spcBef>
              <a:buClrTx/>
              <a:buSzPct val="100000"/>
              <a:buFont typeface="+mj-lt"/>
              <a:buAutoNum type="arabicPeriod"/>
            </a:pPr>
            <a:r>
              <a:rPr lang="en-US" sz="1600" dirty="0">
                <a:latin typeface="Times New Roman" panose="02020603050405020304" pitchFamily="18" charset="0"/>
                <a:cs typeface="Times New Roman" panose="02020603050405020304" pitchFamily="18" charset="0"/>
              </a:rPr>
              <a:t>Is there more than one reset (hard vs. soft reset)? </a:t>
            </a:r>
          </a:p>
          <a:p>
            <a:pPr marL="457200" indent="-457200">
              <a:spcBef>
                <a:spcPts val="0"/>
              </a:spcBef>
              <a:buClrTx/>
              <a:buSzPct val="100000"/>
              <a:buFont typeface="+mj-lt"/>
              <a:buAutoNum type="arabicPeriod"/>
            </a:pPr>
            <a:r>
              <a:rPr lang="en-US" sz="1600" dirty="0">
                <a:latin typeface="Times New Roman" panose="02020603050405020304" pitchFamily="18" charset="0"/>
                <a:cs typeface="Times New Roman" panose="02020603050405020304" pitchFamily="18" charset="0"/>
              </a:rPr>
              <a:t>Is each macro individually resettable for debug purposes?</a:t>
            </a:r>
          </a:p>
          <a:p>
            <a:pPr marL="0" indent="0">
              <a:buClrTx/>
              <a:buSzPct val="100000"/>
              <a:buNone/>
            </a:pPr>
            <a:endParaRPr lang="en-US" sz="2000" b="1" dirty="0">
              <a:latin typeface="Times New Roman" panose="02020603050405020304" pitchFamily="18" charset="0"/>
              <a:cs typeface="Times New Roman" panose="02020603050405020304" pitchFamily="18" charset="0"/>
            </a:endParaRPr>
          </a:p>
          <a:p>
            <a:pPr marL="0" indent="0">
              <a:buClrTx/>
              <a:buSzPct val="100000"/>
              <a:buNone/>
            </a:pPr>
            <a:endParaRPr lang="en-US" sz="2000" b="1" dirty="0">
              <a:latin typeface="Times New Roman" panose="02020603050405020304" pitchFamily="18" charset="0"/>
              <a:cs typeface="Times New Roman" panose="02020603050405020304" pitchFamily="18" charset="0"/>
            </a:endParaRPr>
          </a:p>
          <a:p>
            <a:pPr marL="0" indent="0">
              <a:buClrTx/>
              <a:buSzPct val="100000"/>
              <a:buNone/>
            </a:pPr>
            <a:endParaRPr lang="en-US" sz="2000" b="1" dirty="0">
              <a:latin typeface="Times New Roman" panose="02020603050405020304" pitchFamily="18" charset="0"/>
              <a:cs typeface="Times New Roman" panose="02020603050405020304" pitchFamily="18" charset="0"/>
            </a:endParaRPr>
          </a:p>
          <a:p>
            <a:pPr marL="0" indent="0">
              <a:buClrTx/>
              <a:buSzPct val="100000"/>
              <a:buNone/>
            </a:pPr>
            <a:r>
              <a:rPr lang="en-US" sz="2000" b="1" dirty="0">
                <a:latin typeface="Times New Roman" panose="02020603050405020304" pitchFamily="18" charset="0"/>
                <a:cs typeface="Times New Roman" panose="02020603050405020304" pitchFamily="18" charset="0"/>
              </a:rPr>
              <a:t>Note</a:t>
            </a:r>
            <a:r>
              <a:rPr lang="en-US" sz="2000" dirty="0">
                <a:latin typeface="Times New Roman" panose="02020603050405020304" pitchFamily="18" charset="0"/>
                <a:cs typeface="Times New Roman" panose="02020603050405020304" pitchFamily="18" charset="0"/>
              </a:rPr>
              <a:t> – whether reset is synchronous or asynchronous, the de-assertion of the signal must be synchronous to ensure all flops exit the reset state on the same clock and to avoid removal violation.</a:t>
            </a:r>
          </a:p>
          <a:p>
            <a:pPr marL="0" indent="0">
              <a:buClrTx/>
              <a:buSzPct val="100000"/>
              <a:buNone/>
            </a:pPr>
            <a:r>
              <a:rPr lang="en-US" sz="2000" b="1" dirty="0">
                <a:latin typeface="Times New Roman" panose="02020603050405020304" pitchFamily="18" charset="0"/>
                <a:cs typeface="Times New Roman" panose="02020603050405020304" pitchFamily="18" charset="0"/>
              </a:rPr>
              <a:t>Asynchronous Reset </a:t>
            </a:r>
            <a:r>
              <a:rPr lang="en-US" sz="2000" dirty="0">
                <a:latin typeface="Times New Roman" panose="02020603050405020304" pitchFamily="18" charset="0"/>
                <a:cs typeface="Times New Roman" panose="02020603050405020304" pitchFamily="18" charset="0"/>
              </a:rPr>
              <a:t>is, by far, the most common type of reset in the reusable design.</a:t>
            </a:r>
            <a:endParaRPr lang="en-US" sz="2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13BCEFE-4684-F8DF-9945-009D2F35EFB1}"/>
              </a:ext>
            </a:extLst>
          </p:cNvPr>
          <p:cNvSpPr>
            <a:spLocks noGrp="1"/>
          </p:cNvSpPr>
          <p:nvPr>
            <p:ph type="sldNum" sz="quarter" idx="4"/>
          </p:nvPr>
        </p:nvSpPr>
        <p:spPr/>
        <p:txBody>
          <a:bodyPr/>
          <a:lstStyle/>
          <a:p>
            <a:pPr>
              <a:defRPr/>
            </a:pPr>
            <a:fld id="{A9CE67A1-BA7F-A74E-B5D7-615746DEEC2B}" type="slidenum">
              <a:rPr lang="en-US" smtClean="0"/>
              <a:pPr>
                <a:defRPr/>
              </a:pPr>
              <a:t>13</a:t>
            </a:fld>
            <a:endParaRPr lang="en-US" baseline="-11000" dirty="0"/>
          </a:p>
        </p:txBody>
      </p:sp>
      <p:sp>
        <p:nvSpPr>
          <p:cNvPr id="6" name="Date Placeholder 5">
            <a:extLst>
              <a:ext uri="{FF2B5EF4-FFF2-40B4-BE49-F238E27FC236}">
                <a16:creationId xmlns:a16="http://schemas.microsoft.com/office/drawing/2014/main" id="{F56073B5-A069-1C77-0806-27147A9B693B}"/>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graphicFrame>
        <p:nvGraphicFramePr>
          <p:cNvPr id="7" name="Table 7">
            <a:extLst>
              <a:ext uri="{FF2B5EF4-FFF2-40B4-BE49-F238E27FC236}">
                <a16:creationId xmlns:a16="http://schemas.microsoft.com/office/drawing/2014/main" id="{1FBF3639-23C6-6CC2-EEF5-55529E864300}"/>
              </a:ext>
            </a:extLst>
          </p:cNvPr>
          <p:cNvGraphicFramePr>
            <a:graphicFrameLocks noGrp="1"/>
          </p:cNvGraphicFramePr>
          <p:nvPr>
            <p:extLst>
              <p:ext uri="{D42A27DB-BD31-4B8C-83A1-F6EECF244321}">
                <p14:modId xmlns:p14="http://schemas.microsoft.com/office/powerpoint/2010/main" val="3122229011"/>
              </p:ext>
            </p:extLst>
          </p:nvPr>
        </p:nvGraphicFramePr>
        <p:xfrm>
          <a:off x="342900" y="3204955"/>
          <a:ext cx="11365005" cy="1521974"/>
        </p:xfrm>
        <a:graphic>
          <a:graphicData uri="http://schemas.openxmlformats.org/drawingml/2006/table">
            <a:tbl>
              <a:tblPr firstRow="1" bandRow="1">
                <a:tableStyleId>{21E4AEA4-8DFA-4A89-87EB-49C32662AFE0}</a:tableStyleId>
              </a:tblPr>
              <a:tblGrid>
                <a:gridCol w="1306606">
                  <a:extLst>
                    <a:ext uri="{9D8B030D-6E8A-4147-A177-3AD203B41FA5}">
                      <a16:colId xmlns:a16="http://schemas.microsoft.com/office/drawing/2014/main" val="665158743"/>
                    </a:ext>
                  </a:extLst>
                </a:gridCol>
                <a:gridCol w="6270064">
                  <a:extLst>
                    <a:ext uri="{9D8B030D-6E8A-4147-A177-3AD203B41FA5}">
                      <a16:colId xmlns:a16="http://schemas.microsoft.com/office/drawing/2014/main" val="1327484779"/>
                    </a:ext>
                  </a:extLst>
                </a:gridCol>
                <a:gridCol w="3788335">
                  <a:extLst>
                    <a:ext uri="{9D8B030D-6E8A-4147-A177-3AD203B41FA5}">
                      <a16:colId xmlns:a16="http://schemas.microsoft.com/office/drawing/2014/main" val="187117293"/>
                    </a:ext>
                  </a:extLst>
                </a:gridCol>
              </a:tblGrid>
              <a:tr h="296892">
                <a:tc>
                  <a:txBody>
                    <a:bodyPr/>
                    <a:lstStyle/>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Asynchronous Reset</a:t>
                      </a:r>
                    </a:p>
                  </a:txBody>
                  <a:tcPr/>
                </a:tc>
                <a:tc>
                  <a:txBody>
                    <a:bodyPr/>
                    <a:lstStyle/>
                    <a:p>
                      <a:r>
                        <a:rPr lang="en-US" sz="1600" dirty="0">
                          <a:latin typeface="Times New Roman" panose="02020603050405020304" pitchFamily="18" charset="0"/>
                          <a:cs typeface="Times New Roman" panose="02020603050405020304" pitchFamily="18" charset="0"/>
                        </a:rPr>
                        <a:t>Synchronous Reset</a:t>
                      </a:r>
                    </a:p>
                  </a:txBody>
                  <a:tcPr/>
                </a:tc>
                <a:extLst>
                  <a:ext uri="{0D108BD9-81ED-4DB2-BD59-A6C34878D82A}">
                    <a16:rowId xmlns:a16="http://schemas.microsoft.com/office/drawing/2014/main" val="257343018"/>
                  </a:ext>
                </a:extLst>
              </a:tr>
              <a:tr h="593347">
                <a:tc>
                  <a:txBody>
                    <a:bodyPr/>
                    <a:lstStyle/>
                    <a:p>
                      <a:r>
                        <a:rPr lang="en-US" sz="1600" dirty="0">
                          <a:latin typeface="Times New Roman" panose="02020603050405020304" pitchFamily="18" charset="0"/>
                          <a:cs typeface="Times New Roman" panose="02020603050405020304" pitchFamily="18" charset="0"/>
                        </a:rPr>
                        <a:t>Adv.</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Doesn’t need free-running clock.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Uses separate inputs to the flop, so it doesn’t affect flop timing.</a:t>
                      </a:r>
                    </a:p>
                  </a:txBody>
                  <a:tcPr/>
                </a:tc>
                <a:tc>
                  <a:txBody>
                    <a:bodyPr/>
                    <a:lstStyle/>
                    <a:p>
                      <a:r>
                        <a:rPr lang="en-US" sz="1600" dirty="0">
                          <a:latin typeface="Times New Roman" panose="02020603050405020304" pitchFamily="18" charset="0"/>
                          <a:cs typeface="Times New Roman" panose="02020603050405020304" pitchFamily="18" charset="0"/>
                        </a:rPr>
                        <a:t>Easy to synthesis as it may considered an input to the register.</a:t>
                      </a:r>
                    </a:p>
                  </a:txBody>
                  <a:tcPr/>
                </a:tc>
                <a:extLst>
                  <a:ext uri="{0D108BD9-81ED-4DB2-BD59-A6C34878D82A}">
                    <a16:rowId xmlns:a16="http://schemas.microsoft.com/office/drawing/2014/main" val="1825273120"/>
                  </a:ext>
                </a:extLst>
              </a:tr>
              <a:tr h="593347">
                <a:tc>
                  <a:txBody>
                    <a:bodyPr/>
                    <a:lstStyle/>
                    <a:p>
                      <a:r>
                        <a:rPr lang="en-US" sz="1600" dirty="0" err="1">
                          <a:latin typeface="Times New Roman" panose="02020603050405020304" pitchFamily="18" charset="0"/>
                          <a:cs typeface="Times New Roman" panose="02020603050405020304" pitchFamily="18" charset="0"/>
                        </a:rPr>
                        <a:t>DisAdv</a:t>
                      </a:r>
                      <a:r>
                        <a:rPr lang="en-US" sz="1600" dirty="0">
                          <a:latin typeface="Times New Roman" panose="02020603050405020304" pitchFamily="18" charset="0"/>
                          <a:cs typeface="Times New Roman" panose="02020603050405020304" pitchFamily="18" charset="0"/>
                        </a:rPr>
                        <a:t>.</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Hard to implement since it’s like clock needs a special network.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Make the static timing analysis and cycle-based sim. more difficult.</a:t>
                      </a:r>
                    </a:p>
                  </a:txBody>
                  <a:tcPr/>
                </a:tc>
                <a:tc>
                  <a:txBody>
                    <a:bodyPr/>
                    <a:lstStyle/>
                    <a:p>
                      <a:r>
                        <a:rPr lang="en-US" sz="1600" dirty="0">
                          <a:latin typeface="Times New Roman" panose="02020603050405020304" pitchFamily="18" charset="0"/>
                          <a:cs typeface="Times New Roman" panose="02020603050405020304" pitchFamily="18" charset="0"/>
                        </a:rPr>
                        <a:t>Requires free-running clock, especially at the power up, for reset to occur.</a:t>
                      </a:r>
                    </a:p>
                  </a:txBody>
                  <a:tcPr/>
                </a:tc>
                <a:extLst>
                  <a:ext uri="{0D108BD9-81ED-4DB2-BD59-A6C34878D82A}">
                    <a16:rowId xmlns:a16="http://schemas.microsoft.com/office/drawing/2014/main" val="934012619"/>
                  </a:ext>
                </a:extLst>
              </a:tr>
            </a:tbl>
          </a:graphicData>
        </a:graphic>
      </p:graphicFrame>
    </p:spTree>
    <p:extLst>
      <p:ext uri="{BB962C8B-B14F-4D97-AF65-F5344CB8AC3E}">
        <p14:creationId xmlns:p14="http://schemas.microsoft.com/office/powerpoint/2010/main" val="2018325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788AEC-5AA2-EC34-0C75-9D2F3BE1D7DC}"/>
              </a:ext>
            </a:extLst>
          </p:cNvPr>
          <p:cNvSpPr>
            <a:spLocks noGrp="1"/>
          </p:cNvSpPr>
          <p:nvPr>
            <p:ph idx="1"/>
          </p:nvPr>
        </p:nvSpPr>
        <p:spPr>
          <a:xfrm>
            <a:off x="355600" y="1066800"/>
            <a:ext cx="10339294" cy="49149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2.5 Timing Exceptions and Multicycle Paths</a:t>
            </a:r>
          </a:p>
          <a:p>
            <a:r>
              <a:rPr lang="en-US" sz="2000" dirty="0">
                <a:latin typeface="Times New Roman" panose="02020603050405020304" pitchFamily="18" charset="0"/>
                <a:cs typeface="Times New Roman" panose="02020603050405020304" pitchFamily="18" charset="0"/>
              </a:rPr>
              <a:t>Asynchronous signals and other timing exceptions should be avoided; they make chip-level integration significantly more difficult.</a:t>
            </a:r>
          </a:p>
          <a:p>
            <a:r>
              <a:rPr lang="en-US" sz="2000" dirty="0">
                <a:latin typeface="Times New Roman" panose="02020603050405020304" pitchFamily="18" charset="0"/>
                <a:cs typeface="Times New Roman" panose="02020603050405020304" pitchFamily="18" charset="0"/>
              </a:rPr>
              <a:t>If there will be any timing exceptions, they need to be fully identified, so that the synthesis tool exert much time ensuring this path meets the timing requirements (and sometimes they even can’t).</a:t>
            </a:r>
          </a:p>
          <a:p>
            <a:r>
              <a:rPr lang="en-US" sz="2000" dirty="0">
                <a:latin typeface="Times New Roman" panose="02020603050405020304" pitchFamily="18" charset="0"/>
                <a:cs typeface="Times New Roman" panose="02020603050405020304" pitchFamily="18" charset="0"/>
              </a:rPr>
              <a:t>The problem is that the identification of the timing exception is a manual task that is prone to error so, it’s not recommended.</a:t>
            </a:r>
          </a:p>
        </p:txBody>
      </p:sp>
      <p:sp>
        <p:nvSpPr>
          <p:cNvPr id="3" name="Title 2">
            <a:extLst>
              <a:ext uri="{FF2B5EF4-FFF2-40B4-BE49-F238E27FC236}">
                <a16:creationId xmlns:a16="http://schemas.microsoft.com/office/drawing/2014/main" id="{C16D503D-DA57-1E3D-7B2C-4A95413C961D}"/>
              </a:ext>
            </a:extLst>
          </p:cNvPr>
          <p:cNvSpPr>
            <a:spLocks noGrp="1"/>
          </p:cNvSpPr>
          <p:nvPr>
            <p:ph type="title"/>
          </p:nvPr>
        </p:nvSpPr>
        <p:spPr/>
        <p:txBody>
          <a:bodyPr/>
          <a:lstStyle/>
          <a:p>
            <a:r>
              <a:rPr lang="en-US" dirty="0"/>
              <a:t>2. Design for Timing Closure: Logic Design Issues</a:t>
            </a:r>
          </a:p>
        </p:txBody>
      </p:sp>
      <p:sp>
        <p:nvSpPr>
          <p:cNvPr id="4" name="Footer Placeholder 3">
            <a:extLst>
              <a:ext uri="{FF2B5EF4-FFF2-40B4-BE49-F238E27FC236}">
                <a16:creationId xmlns:a16="http://schemas.microsoft.com/office/drawing/2014/main" id="{FC403AE3-943B-2E28-9E4F-5B59EEFCC13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87CC81BF-9DB2-FDCD-F5D8-C85BBBC622BC}"/>
              </a:ext>
            </a:extLst>
          </p:cNvPr>
          <p:cNvSpPr>
            <a:spLocks noGrp="1"/>
          </p:cNvSpPr>
          <p:nvPr>
            <p:ph type="sldNum" sz="quarter" idx="4"/>
          </p:nvPr>
        </p:nvSpPr>
        <p:spPr/>
        <p:txBody>
          <a:bodyPr/>
          <a:lstStyle/>
          <a:p>
            <a:pPr>
              <a:defRPr/>
            </a:pPr>
            <a:fld id="{A9CE67A1-BA7F-A74E-B5D7-615746DEEC2B}" type="slidenum">
              <a:rPr lang="en-US" smtClean="0"/>
              <a:pPr>
                <a:defRPr/>
              </a:pPr>
              <a:t>14</a:t>
            </a:fld>
            <a:endParaRPr lang="en-US" baseline="-11000" dirty="0"/>
          </a:p>
        </p:txBody>
      </p:sp>
      <p:sp>
        <p:nvSpPr>
          <p:cNvPr id="6" name="Date Placeholder 5">
            <a:extLst>
              <a:ext uri="{FF2B5EF4-FFF2-40B4-BE49-F238E27FC236}">
                <a16:creationId xmlns:a16="http://schemas.microsoft.com/office/drawing/2014/main" id="{D5380D45-9D11-41F4-D169-CEEF67554F6A}"/>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321628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846803-B3CA-8BE2-7ACD-84AB841FC2B6}"/>
              </a:ext>
            </a:extLst>
          </p:cNvPr>
          <p:cNvSpPr>
            <a:spLocks noGrp="1"/>
          </p:cNvSpPr>
          <p:nvPr>
            <p:ph type="title"/>
          </p:nvPr>
        </p:nvSpPr>
        <p:spPr/>
        <p:txBody>
          <a:bodyPr/>
          <a:lstStyle/>
          <a:p>
            <a:r>
              <a:rPr lang="en-US" dirty="0"/>
              <a:t>3. Design for Timing Closure: Physical Design Issues</a:t>
            </a:r>
          </a:p>
        </p:txBody>
      </p:sp>
      <p:sp>
        <p:nvSpPr>
          <p:cNvPr id="4" name="Footer Placeholder 3">
            <a:extLst>
              <a:ext uri="{FF2B5EF4-FFF2-40B4-BE49-F238E27FC236}">
                <a16:creationId xmlns:a16="http://schemas.microsoft.com/office/drawing/2014/main" id="{1F988854-6B7B-91DA-2445-4EEFB59681E5}"/>
              </a:ext>
            </a:extLst>
          </p:cNvPr>
          <p:cNvSpPr>
            <a:spLocks noGrp="1"/>
          </p:cNvSpPr>
          <p:nvPr>
            <p:ph type="ftr" sz="quarter" idx="3"/>
          </p:nvPr>
        </p:nvSpPr>
        <p:spPr/>
        <p:txBody>
          <a:bodyPr/>
          <a:lstStyle/>
          <a:p>
            <a:r>
              <a:rPr lang="en-US"/>
              <a:t>©2022 Analog Devices, Inc. </a:t>
            </a:r>
            <a:endParaRPr lang="en-US" dirty="0"/>
          </a:p>
        </p:txBody>
      </p:sp>
      <p:sp>
        <p:nvSpPr>
          <p:cNvPr id="2" name="Content Placeholder 1">
            <a:extLst>
              <a:ext uri="{FF2B5EF4-FFF2-40B4-BE49-F238E27FC236}">
                <a16:creationId xmlns:a16="http://schemas.microsoft.com/office/drawing/2014/main" id="{640775B7-799A-C742-D1D8-2BC6D9F117EE}"/>
              </a:ext>
            </a:extLst>
          </p:cNvPr>
          <p:cNvSpPr>
            <a:spLocks noGrp="1"/>
          </p:cNvSpPr>
          <p:nvPr>
            <p:ph idx="1"/>
          </p:nvPr>
        </p:nvSpPr>
        <p:spPr>
          <a:xfrm>
            <a:off x="355599" y="1066799"/>
            <a:ext cx="10787530" cy="5287701"/>
          </a:xfrm>
        </p:spPr>
        <p:txBody>
          <a:bodyPr>
            <a:normAutofit lnSpcReduction="10000"/>
          </a:bodyPr>
          <a:lstStyle/>
          <a:p>
            <a:r>
              <a:rPr lang="en-US" sz="2000" dirty="0">
                <a:latin typeface="Times New Roman" panose="02020603050405020304" pitchFamily="18" charset="0"/>
                <a:cs typeface="Times New Roman" panose="02020603050405020304" pitchFamily="18" charset="0"/>
              </a:rPr>
              <a:t>After synthesis and meeting timing requirements, timing closure becomes a physical design issue. </a:t>
            </a:r>
          </a:p>
          <a:p>
            <a:r>
              <a:rPr lang="en-US" sz="2000" dirty="0">
                <a:latin typeface="Times New Roman" panose="02020603050405020304" pitchFamily="18" charset="0"/>
                <a:cs typeface="Times New Roman" panose="02020603050405020304" pitchFamily="18" charset="0"/>
              </a:rPr>
              <a:t>So, we need to finish the timing closure rapidly by planning the physical design early (place and route).</a:t>
            </a:r>
          </a:p>
          <a:p>
            <a:pPr marL="0" indent="0">
              <a:buNone/>
            </a:pPr>
            <a:r>
              <a:rPr lang="en-US" sz="2400" b="1" dirty="0">
                <a:latin typeface="Times New Roman" panose="02020603050405020304" pitchFamily="18" charset="0"/>
                <a:cs typeface="Times New Roman" panose="02020603050405020304" pitchFamily="18" charset="0"/>
              </a:rPr>
              <a:t>3.1 Floorplanning</a:t>
            </a:r>
          </a:p>
          <a:p>
            <a:pPr marL="0" indent="0">
              <a:buNone/>
            </a:pPr>
            <a:r>
              <a:rPr lang="en-US" sz="2000" b="1" dirty="0">
                <a:latin typeface="Times New Roman" panose="02020603050405020304" pitchFamily="18" charset="0"/>
                <a:cs typeface="Times New Roman" panose="02020603050405020304" pitchFamily="18" charset="0"/>
              </a:rPr>
              <a:t>Rule – </a:t>
            </a:r>
            <a:r>
              <a:rPr lang="en-US" sz="2000" dirty="0">
                <a:latin typeface="Times New Roman" panose="02020603050405020304" pitchFamily="18" charset="0"/>
                <a:cs typeface="Times New Roman" panose="02020603050405020304" pitchFamily="18" charset="0"/>
              </a:rPr>
              <a:t>Floorplanning must begin early in the design process as the size of the chip is critical in determining the timing, performance and cost goals. Some floorplan should be developed as part of the initial functional specification for the SoC design. </a:t>
            </a:r>
          </a:p>
          <a:p>
            <a:r>
              <a:rPr lang="en-US" sz="2000" dirty="0">
                <a:latin typeface="Times New Roman" panose="02020603050405020304" pitchFamily="18" charset="0"/>
                <a:cs typeface="Times New Roman" panose="02020603050405020304" pitchFamily="18" charset="0"/>
              </a:rPr>
              <a:t>That will be critical in determining the functional interfaces between macros and clock distribution.</a:t>
            </a:r>
          </a:p>
          <a:p>
            <a:pPr marL="0" indent="0">
              <a:buNone/>
            </a:pPr>
            <a:r>
              <a:rPr lang="en-US" sz="2000" b="1" dirty="0">
                <a:latin typeface="Times New Roman" panose="02020603050405020304" pitchFamily="18" charset="0"/>
                <a:cs typeface="Times New Roman" panose="02020603050405020304" pitchFamily="18" charset="0"/>
              </a:rPr>
              <a:t>RTL Floorplanning: </a:t>
            </a:r>
            <a:r>
              <a:rPr lang="en-US" sz="2000" dirty="0">
                <a:latin typeface="Times New Roman" panose="02020603050405020304" pitchFamily="18" charset="0"/>
                <a:cs typeface="Times New Roman" panose="02020603050405020304" pitchFamily="18" charset="0"/>
              </a:rPr>
              <a:t>which uses pre-synthesis RTL to generate a floorplan.</a:t>
            </a:r>
          </a:p>
          <a:p>
            <a:r>
              <a:rPr lang="en-US" sz="2000" dirty="0">
                <a:latin typeface="Times New Roman" panose="02020603050405020304" pitchFamily="18" charset="0"/>
                <a:cs typeface="Times New Roman" panose="02020603050405020304" pitchFamily="18" charset="0"/>
              </a:rPr>
              <a:t>it’s useful to define a physical partitioning to be able to define time budgeting.</a:t>
            </a:r>
          </a:p>
          <a:p>
            <a:r>
              <a:rPr lang="en-US" sz="2000" dirty="0">
                <a:latin typeface="Times New Roman" panose="02020603050405020304" pitchFamily="18" charset="0"/>
                <a:cs typeface="Times New Roman" panose="02020603050405020304" pitchFamily="18" charset="0"/>
              </a:rPr>
              <a:t>The partitioning strategy includes the following:</a:t>
            </a:r>
          </a:p>
          <a:p>
            <a:pPr lvl="1"/>
            <a:r>
              <a:rPr lang="en-US" sz="1600" dirty="0">
                <a:latin typeface="Times New Roman" panose="02020603050405020304" pitchFamily="18" charset="0"/>
                <a:cs typeface="Times New Roman" panose="02020603050405020304" pitchFamily="18" charset="0"/>
              </a:rPr>
              <a:t>Define the logical hierarchies as soon as possible.</a:t>
            </a:r>
          </a:p>
          <a:p>
            <a:pPr lvl="1"/>
            <a:r>
              <a:rPr lang="en-US" sz="1600" dirty="0">
                <a:latin typeface="Times New Roman" panose="02020603050405020304" pitchFamily="18" charset="0"/>
                <a:cs typeface="Times New Roman" panose="02020603050405020304" pitchFamily="18" charset="0"/>
              </a:rPr>
              <a:t>Define the physical hierarchies based on physical relationships.</a:t>
            </a:r>
          </a:p>
          <a:p>
            <a:pPr lvl="1"/>
            <a:r>
              <a:rPr lang="en-US" sz="1600" dirty="0">
                <a:latin typeface="Times New Roman" panose="02020603050405020304" pitchFamily="18" charset="0"/>
                <a:cs typeface="Times New Roman" panose="02020603050405020304" pitchFamily="18" charset="0"/>
              </a:rPr>
              <a:t>Partition the constraints from a set of global constraints to several set of local constraints.</a:t>
            </a:r>
          </a:p>
          <a:p>
            <a:pPr lvl="1"/>
            <a:r>
              <a:rPr lang="en-US" sz="1600" dirty="0">
                <a:latin typeface="Times New Roman" panose="02020603050405020304" pitchFamily="18" charset="0"/>
                <a:cs typeface="Times New Roman" panose="02020603050405020304" pitchFamily="18" charset="0"/>
              </a:rPr>
              <a:t>Partition scan chips and define I/O pins for them in DFT.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14CD30F-3547-1705-4EA9-B82DBCC43E19}"/>
              </a:ext>
            </a:extLst>
          </p:cNvPr>
          <p:cNvSpPr>
            <a:spLocks noGrp="1"/>
          </p:cNvSpPr>
          <p:nvPr>
            <p:ph type="sldNum" sz="quarter" idx="4"/>
          </p:nvPr>
        </p:nvSpPr>
        <p:spPr/>
        <p:txBody>
          <a:bodyPr/>
          <a:lstStyle/>
          <a:p>
            <a:pPr>
              <a:defRPr/>
            </a:pPr>
            <a:fld id="{A9CE67A1-BA7F-A74E-B5D7-615746DEEC2B}" type="slidenum">
              <a:rPr lang="en-US" smtClean="0"/>
              <a:pPr>
                <a:defRPr/>
              </a:pPr>
              <a:t>15</a:t>
            </a:fld>
            <a:endParaRPr lang="en-US" baseline="-11000" dirty="0"/>
          </a:p>
        </p:txBody>
      </p:sp>
      <p:sp>
        <p:nvSpPr>
          <p:cNvPr id="6" name="Date Placeholder 5">
            <a:extLst>
              <a:ext uri="{FF2B5EF4-FFF2-40B4-BE49-F238E27FC236}">
                <a16:creationId xmlns:a16="http://schemas.microsoft.com/office/drawing/2014/main" id="{475D4714-F50E-5502-12E8-25E7286AE136}"/>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163782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209799-541C-EA8A-95E0-9139FDAD1C81}"/>
              </a:ext>
            </a:extLst>
          </p:cNvPr>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3.2 Synthesis Strategy and Time Budgets</a:t>
            </a:r>
          </a:p>
          <a:p>
            <a:pPr marL="0" indent="0">
              <a:buNone/>
            </a:pPr>
            <a:r>
              <a:rPr lang="en-US" sz="2000" b="1" dirty="0">
                <a:latin typeface="Times New Roman" panose="02020603050405020304" pitchFamily="18" charset="0"/>
                <a:cs typeface="Times New Roman" panose="02020603050405020304" pitchFamily="18" charset="0"/>
              </a:rPr>
              <a:t>Rule</a:t>
            </a:r>
            <a:r>
              <a:rPr lang="en-US" sz="2000" dirty="0">
                <a:latin typeface="Times New Roman" panose="02020603050405020304" pitchFamily="18" charset="0"/>
                <a:cs typeface="Times New Roman" panose="02020603050405020304" pitchFamily="18" charset="0"/>
              </a:rPr>
              <a:t> – Overall design goals for timing, area, and power should be documented before macros are designed or selected. In particular, the overall chip synthesis methodology needs to be planned very early in the chip design process.</a:t>
            </a:r>
          </a:p>
          <a:p>
            <a:r>
              <a:rPr lang="en-US" sz="2000" dirty="0">
                <a:latin typeface="Times New Roman" panose="02020603050405020304" pitchFamily="18" charset="0"/>
                <a:cs typeface="Times New Roman" panose="02020603050405020304" pitchFamily="18" charset="0"/>
              </a:rPr>
              <a:t>Each macro should have its own synthesis script that ensures that the internal timing of the macro can be met in the target technology.</a:t>
            </a:r>
          </a:p>
          <a:p>
            <a:r>
              <a:rPr lang="en-US" sz="2000" dirty="0">
                <a:latin typeface="Times New Roman" panose="02020603050405020304" pitchFamily="18" charset="0"/>
                <a:cs typeface="Times New Roman" panose="02020603050405020304" pitchFamily="18" charset="0"/>
              </a:rPr>
              <a:t>Chip-level synthesis then consists solely of connecting the macros and resizing output drive buffers to meet actual wire load and fanout. Hence, the macro will be internals (don’t touched) and output drivers that undergo incremental compile.</a:t>
            </a:r>
          </a:p>
          <a:p>
            <a:pPr marL="0" indent="0">
              <a:buNone/>
            </a:pPr>
            <a:r>
              <a:rPr lang="en-US" sz="2400" b="1" dirty="0">
                <a:latin typeface="Times New Roman" panose="02020603050405020304" pitchFamily="18" charset="0"/>
                <a:cs typeface="Times New Roman" panose="02020603050405020304" pitchFamily="18" charset="0"/>
              </a:rPr>
              <a:t>3.3 Hard Macros</a:t>
            </a:r>
          </a:p>
          <a:p>
            <a:pPr marL="0" indent="0">
              <a:buNone/>
            </a:pPr>
            <a:r>
              <a:rPr lang="en-US" sz="2000" b="1" dirty="0">
                <a:latin typeface="Times New Roman" panose="02020603050405020304" pitchFamily="18" charset="0"/>
                <a:cs typeface="Times New Roman" panose="02020603050405020304" pitchFamily="18" charset="0"/>
              </a:rPr>
              <a:t>Rule – </a:t>
            </a:r>
            <a:r>
              <a:rPr lang="en-US" sz="2000" dirty="0">
                <a:latin typeface="Times New Roman" panose="02020603050405020304" pitchFamily="18" charset="0"/>
                <a:cs typeface="Times New Roman" panose="02020603050405020304" pitchFamily="18" charset="0"/>
              </a:rPr>
              <a:t>A strategy for floorplanning, placing, and routing a combination of hard and synthesized soft macros must be developed before hard macros are selected or designed for the chip. To prevent any blockage in the placement or the routing of the entire chip.</a:t>
            </a:r>
            <a:endParaRPr lang="en-US" sz="2000" b="1"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F336353-7449-8E9B-0AFC-9B3970B49576}"/>
              </a:ext>
            </a:extLst>
          </p:cNvPr>
          <p:cNvSpPr>
            <a:spLocks noGrp="1"/>
          </p:cNvSpPr>
          <p:nvPr>
            <p:ph type="title"/>
          </p:nvPr>
        </p:nvSpPr>
        <p:spPr/>
        <p:txBody>
          <a:bodyPr/>
          <a:lstStyle/>
          <a:p>
            <a:r>
              <a:rPr lang="en-US" dirty="0"/>
              <a:t>3. Design for Timing Closure: Physical Design Issues</a:t>
            </a:r>
          </a:p>
        </p:txBody>
      </p:sp>
      <p:sp>
        <p:nvSpPr>
          <p:cNvPr id="4" name="Footer Placeholder 3">
            <a:extLst>
              <a:ext uri="{FF2B5EF4-FFF2-40B4-BE49-F238E27FC236}">
                <a16:creationId xmlns:a16="http://schemas.microsoft.com/office/drawing/2014/main" id="{A5C54A0A-9A4B-C4DE-B4C1-611D33652DCF}"/>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DF797AE-E11B-35A4-41F6-95C15CD46FB0}"/>
              </a:ext>
            </a:extLst>
          </p:cNvPr>
          <p:cNvSpPr>
            <a:spLocks noGrp="1"/>
          </p:cNvSpPr>
          <p:nvPr>
            <p:ph type="sldNum" sz="quarter" idx="4"/>
          </p:nvPr>
        </p:nvSpPr>
        <p:spPr/>
        <p:txBody>
          <a:bodyPr/>
          <a:lstStyle/>
          <a:p>
            <a:pPr>
              <a:defRPr/>
            </a:pPr>
            <a:fld id="{A9CE67A1-BA7F-A74E-B5D7-615746DEEC2B}" type="slidenum">
              <a:rPr lang="en-US" smtClean="0"/>
              <a:pPr>
                <a:defRPr/>
              </a:pPr>
              <a:t>16</a:t>
            </a:fld>
            <a:endParaRPr lang="en-US" baseline="-11000" dirty="0"/>
          </a:p>
        </p:txBody>
      </p:sp>
      <p:sp>
        <p:nvSpPr>
          <p:cNvPr id="6" name="Date Placeholder 5">
            <a:extLst>
              <a:ext uri="{FF2B5EF4-FFF2-40B4-BE49-F238E27FC236}">
                <a16:creationId xmlns:a16="http://schemas.microsoft.com/office/drawing/2014/main" id="{331570FC-AB9C-2B47-9654-9029A1E9CB45}"/>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609354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F1640B0-CB5F-683E-254C-1654B84A4CF6}"/>
              </a:ext>
            </a:extLst>
          </p:cNvPr>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3.4 Clock Distribution</a:t>
            </a:r>
          </a:p>
          <a:p>
            <a:pPr marL="0" indent="0">
              <a:buNone/>
            </a:pPr>
            <a:r>
              <a:rPr lang="en-US" sz="2000" b="1" dirty="0">
                <a:latin typeface="Times New Roman" panose="02020603050405020304" pitchFamily="18" charset="0"/>
                <a:cs typeface="Times New Roman" panose="02020603050405020304" pitchFamily="18" charset="0"/>
              </a:rPr>
              <a:t>Rule – </a:t>
            </a:r>
            <a:r>
              <a:rPr lang="en-US" sz="2000" dirty="0">
                <a:latin typeface="Times New Roman" panose="02020603050405020304" pitchFamily="18" charset="0"/>
                <a:cs typeface="Times New Roman" panose="02020603050405020304" pitchFamily="18" charset="0"/>
              </a:rPr>
              <a:t>The design team must decide on the basic clock distribution architecture for the chip early in the design process. The size of the chip, the target clock frequency, and the target library are all critical in determining the clock distribution architecture.</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E50B270-FAC1-F1CC-A008-2CCFCE241884}"/>
              </a:ext>
            </a:extLst>
          </p:cNvPr>
          <p:cNvSpPr>
            <a:spLocks noGrp="1"/>
          </p:cNvSpPr>
          <p:nvPr>
            <p:ph type="title"/>
          </p:nvPr>
        </p:nvSpPr>
        <p:spPr/>
        <p:txBody>
          <a:bodyPr/>
          <a:lstStyle/>
          <a:p>
            <a:r>
              <a:rPr lang="en-US" dirty="0"/>
              <a:t>3. Design for Timing Closure: Physical Design Issues</a:t>
            </a:r>
          </a:p>
        </p:txBody>
      </p:sp>
      <p:sp>
        <p:nvSpPr>
          <p:cNvPr id="4" name="Footer Placeholder 3">
            <a:extLst>
              <a:ext uri="{FF2B5EF4-FFF2-40B4-BE49-F238E27FC236}">
                <a16:creationId xmlns:a16="http://schemas.microsoft.com/office/drawing/2014/main" id="{E62856E5-0370-BB54-54C3-9E268C55917B}"/>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9588E635-B419-3B3A-6E89-35B28F64E8D4}"/>
              </a:ext>
            </a:extLst>
          </p:cNvPr>
          <p:cNvSpPr>
            <a:spLocks noGrp="1"/>
          </p:cNvSpPr>
          <p:nvPr>
            <p:ph type="sldNum" sz="quarter" idx="4"/>
          </p:nvPr>
        </p:nvSpPr>
        <p:spPr/>
        <p:txBody>
          <a:bodyPr/>
          <a:lstStyle/>
          <a:p>
            <a:pPr>
              <a:defRPr/>
            </a:pPr>
            <a:fld id="{A9CE67A1-BA7F-A74E-B5D7-615746DEEC2B}" type="slidenum">
              <a:rPr lang="en-US" smtClean="0"/>
              <a:pPr>
                <a:defRPr/>
              </a:pPr>
              <a:t>17</a:t>
            </a:fld>
            <a:endParaRPr lang="en-US" baseline="-11000" dirty="0"/>
          </a:p>
        </p:txBody>
      </p:sp>
      <p:sp>
        <p:nvSpPr>
          <p:cNvPr id="6" name="Date Placeholder 5">
            <a:extLst>
              <a:ext uri="{FF2B5EF4-FFF2-40B4-BE49-F238E27FC236}">
                <a16:creationId xmlns:a16="http://schemas.microsoft.com/office/drawing/2014/main" id="{E1684F16-7334-AF59-AF34-5120ED26BB1D}"/>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400723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A62263-21B5-A748-A877-D0EC16EA5375}"/>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best strategy for verification is </a:t>
            </a:r>
            <a:r>
              <a:rPr lang="en-US" sz="2000" u="sng" dirty="0">
                <a:latin typeface="Times New Roman" panose="02020603050405020304" pitchFamily="18" charset="0"/>
                <a:cs typeface="Times New Roman" panose="02020603050405020304" pitchFamily="18" charset="0"/>
              </a:rPr>
              <a:t>Bottom-Up</a:t>
            </a:r>
            <a:r>
              <a:rPr lang="en-US" sz="2000" dirty="0">
                <a:latin typeface="Times New Roman" panose="02020603050405020304" pitchFamily="18" charset="0"/>
                <a:cs typeface="Times New Roman" panose="02020603050405020304" pitchFamily="18" charset="0"/>
              </a:rPr>
              <a:t> by verifying each macro on its own as thoroughly as possible before integrated into the chip.</a:t>
            </a:r>
          </a:p>
          <a:p>
            <a:r>
              <a:rPr lang="en-US" sz="2000" b="1" dirty="0">
                <a:latin typeface="Times New Roman" panose="02020603050405020304" pitchFamily="18" charset="0"/>
                <a:cs typeface="Times New Roman" panose="02020603050405020304" pitchFamily="18" charset="0"/>
              </a:rPr>
              <a:t>Rule</a:t>
            </a:r>
            <a:r>
              <a:rPr lang="en-US" sz="2000" dirty="0">
                <a:latin typeface="Times New Roman" panose="02020603050405020304" pitchFamily="18" charset="0"/>
                <a:cs typeface="Times New Roman" panose="02020603050405020304" pitchFamily="18" charset="0"/>
              </a:rPr>
              <a:t> - The system-level verification strategy must be developed and documented before macro selection or design begins.</a:t>
            </a:r>
          </a:p>
          <a:p>
            <a:r>
              <a:rPr lang="en-US" sz="2000" b="1" dirty="0">
                <a:latin typeface="Times New Roman" panose="02020603050405020304" pitchFamily="18" charset="0"/>
                <a:cs typeface="Times New Roman" panose="02020603050405020304" pitchFamily="18" charset="0"/>
              </a:rPr>
              <a:t>Rule</a:t>
            </a:r>
            <a:r>
              <a:rPr lang="en-US" sz="2000" dirty="0">
                <a:latin typeface="Times New Roman" panose="02020603050405020304" pitchFamily="18" charset="0"/>
                <a:cs typeface="Times New Roman" panose="02020603050405020304" pitchFamily="18" charset="0"/>
              </a:rPr>
              <a:t> – The macro-level verification strategy must be developed and documented before the design of macros and major blocks for the chip begins. This strategy should be based on bottom-up verification.</a:t>
            </a:r>
          </a:p>
          <a:p>
            <a:r>
              <a:rPr lang="en-US" sz="2000" dirty="0">
                <a:latin typeface="Times New Roman" panose="02020603050405020304" pitchFamily="18" charset="0"/>
                <a:cs typeface="Times New Roman" panose="02020603050405020304" pitchFamily="18" charset="0"/>
              </a:rPr>
              <a:t>The verification strategy also determines the kinds of testbenches required for system-or chip-level verification. These testbenches must accurately reflect the environment in which the final chip will work.</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F8A8D25-8553-706D-D8C3-EB36E226060E}"/>
              </a:ext>
            </a:extLst>
          </p:cNvPr>
          <p:cNvSpPr>
            <a:spLocks noGrp="1"/>
          </p:cNvSpPr>
          <p:nvPr>
            <p:ph type="title"/>
          </p:nvPr>
        </p:nvSpPr>
        <p:spPr/>
        <p:txBody>
          <a:bodyPr/>
          <a:lstStyle/>
          <a:p>
            <a:r>
              <a:rPr lang="en-US" dirty="0"/>
              <a:t>4. Design for Verification: Verification Strategy</a:t>
            </a:r>
          </a:p>
        </p:txBody>
      </p:sp>
      <p:sp>
        <p:nvSpPr>
          <p:cNvPr id="4" name="Footer Placeholder 3">
            <a:extLst>
              <a:ext uri="{FF2B5EF4-FFF2-40B4-BE49-F238E27FC236}">
                <a16:creationId xmlns:a16="http://schemas.microsoft.com/office/drawing/2014/main" id="{822AD7F6-65A2-E0D9-11E0-30C5A985D43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3D9DC73-C2E5-7223-0A2A-EE7E0934D4E8}"/>
              </a:ext>
            </a:extLst>
          </p:cNvPr>
          <p:cNvSpPr>
            <a:spLocks noGrp="1"/>
          </p:cNvSpPr>
          <p:nvPr>
            <p:ph type="sldNum" sz="quarter" idx="4"/>
          </p:nvPr>
        </p:nvSpPr>
        <p:spPr/>
        <p:txBody>
          <a:bodyPr/>
          <a:lstStyle/>
          <a:p>
            <a:pPr>
              <a:defRPr/>
            </a:pPr>
            <a:fld id="{A9CE67A1-BA7F-A74E-B5D7-615746DEEC2B}" type="slidenum">
              <a:rPr lang="en-US" smtClean="0"/>
              <a:pPr>
                <a:defRPr/>
              </a:pPr>
              <a:t>18</a:t>
            </a:fld>
            <a:endParaRPr lang="en-US" baseline="-11000" dirty="0"/>
          </a:p>
        </p:txBody>
      </p:sp>
      <p:sp>
        <p:nvSpPr>
          <p:cNvPr id="6" name="Date Placeholder 5">
            <a:extLst>
              <a:ext uri="{FF2B5EF4-FFF2-40B4-BE49-F238E27FC236}">
                <a16:creationId xmlns:a16="http://schemas.microsoft.com/office/drawing/2014/main" id="{A3F578C4-D69C-CE7D-B70D-A6C17D4876ED}"/>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121245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422C7D-8F63-002E-0B02-B74E748D5EB6}"/>
              </a:ext>
            </a:extLst>
          </p:cNvPr>
          <p:cNvSpPr>
            <a:spLocks noGrp="1"/>
          </p:cNvSpPr>
          <p:nvPr>
            <p:ph idx="1"/>
          </p:nvPr>
        </p:nvSpPr>
        <p:spPr>
          <a:xfrm>
            <a:off x="355599" y="1066800"/>
            <a:ext cx="10837119" cy="4914900"/>
          </a:xfrm>
        </p:spPr>
        <p:txBody>
          <a:bodyPr>
            <a:normAutofit/>
          </a:bodyPr>
          <a:lstStyle/>
          <a:p>
            <a:r>
              <a:rPr lang="en-US" sz="2000" dirty="0">
                <a:latin typeface="Times New Roman" panose="02020603050405020304" pitchFamily="18" charset="0"/>
                <a:cs typeface="Times New Roman" panose="02020603050405020304" pitchFamily="18" charset="0"/>
              </a:rPr>
              <a:t>The standardization of buses has a clear purpose to reduce the design time and effort and the ability of reuse. But we also need to be careful of some issue that might be facing us during the reuse of a standard bus.</a:t>
            </a:r>
          </a:p>
          <a:p>
            <a:pPr marL="0" indent="0">
              <a:buNone/>
            </a:pPr>
            <a:r>
              <a:rPr lang="en-US" sz="2400" b="1" dirty="0">
                <a:latin typeface="Times New Roman" panose="02020603050405020304" pitchFamily="18" charset="0"/>
                <a:cs typeface="Times New Roman" panose="02020603050405020304" pitchFamily="18" charset="0"/>
              </a:rPr>
              <a:t>5.1 Basic Interface Issue</a:t>
            </a:r>
          </a:p>
          <a:p>
            <a:pPr marL="0" indent="0">
              <a:buNone/>
            </a:pPr>
            <a:r>
              <a:rPr lang="en-US" sz="2000" dirty="0">
                <a:latin typeface="Times New Roman" panose="02020603050405020304" pitchFamily="18" charset="0"/>
                <a:cs typeface="Times New Roman" panose="02020603050405020304" pitchFamily="18" charset="0"/>
              </a:rPr>
              <a:t>There’re several types of buses according to the application:</a:t>
            </a:r>
          </a:p>
          <a:p>
            <a:pPr marL="457200" indent="-457200">
              <a:buClrTx/>
              <a:buSzPct val="100000"/>
              <a:buFont typeface="+mj-lt"/>
              <a:buAutoNum type="arabicPeriod"/>
            </a:pPr>
            <a:r>
              <a:rPr lang="en-US" sz="2000" b="1" dirty="0">
                <a:latin typeface="Times New Roman" panose="02020603050405020304" pitchFamily="18" charset="0"/>
                <a:cs typeface="Times New Roman" panose="02020603050405020304" pitchFamily="18" charset="0"/>
              </a:rPr>
              <a:t>Private bus: </a:t>
            </a:r>
            <a:r>
              <a:rPr lang="en-US" sz="2000" dirty="0">
                <a:latin typeface="Times New Roman" panose="02020603050405020304" pitchFamily="18" charset="0"/>
                <a:cs typeface="Times New Roman" panose="02020603050405020304" pitchFamily="18" charset="0"/>
              </a:rPr>
              <a:t> that’s dedicated for a specific unit like a bus connecting a processor and a memory that are designed for a specific purpose. hence, the whole unit (processor, bus and memory) are reusable.</a:t>
            </a:r>
          </a:p>
          <a:p>
            <a:pPr marL="457200" indent="-457200">
              <a:buClrTx/>
              <a:buSzPct val="100000"/>
              <a:buFont typeface="+mj-lt"/>
              <a:buAutoNum type="arabicPeriod"/>
            </a:pPr>
            <a:r>
              <a:rPr lang="en-US" sz="2000" b="1" dirty="0">
                <a:latin typeface="Times New Roman" panose="02020603050405020304" pitchFamily="18" charset="0"/>
                <a:cs typeface="Times New Roman" panose="02020603050405020304" pitchFamily="18" charset="0"/>
              </a:rPr>
              <a:t>High-speed bus: </a:t>
            </a:r>
            <a:r>
              <a:rPr lang="en-US" sz="2000" dirty="0">
                <a:latin typeface="Times New Roman" panose="02020603050405020304" pitchFamily="18" charset="0"/>
                <a:cs typeface="Times New Roman" panose="02020603050405020304" pitchFamily="18" charset="0"/>
              </a:rPr>
              <a:t>provides a high-performance interface between the processor and the other high-bandwidth blocks in the design. </a:t>
            </a:r>
          </a:p>
          <a:p>
            <a:pPr marL="457200" indent="-457200">
              <a:buClrTx/>
              <a:buSzPct val="100000"/>
              <a:buFont typeface="+mj-lt"/>
              <a:buAutoNum type="arabicPeriod"/>
            </a:pPr>
            <a:r>
              <a:rPr lang="en-US" sz="2000" b="1" dirty="0">
                <a:latin typeface="Times New Roman" panose="02020603050405020304" pitchFamily="18" charset="0"/>
                <a:cs typeface="Times New Roman" panose="02020603050405020304" pitchFamily="18" charset="0"/>
              </a:rPr>
              <a:t>Low-speed bus: </a:t>
            </a:r>
            <a:r>
              <a:rPr lang="en-US" sz="2000" dirty="0">
                <a:latin typeface="Times New Roman" panose="02020603050405020304" pitchFamily="18" charset="0"/>
                <a:cs typeface="Times New Roman" panose="02020603050405020304" pitchFamily="18" charset="0"/>
              </a:rPr>
              <a:t>provides a separate bus for low-speed peripherals and peripherals rarely accessed by the processor. By reducing the clock speed, it is possible to reduce the power consumption of the bus and the peripherals on it significantly. </a:t>
            </a:r>
          </a:p>
        </p:txBody>
      </p:sp>
      <p:sp>
        <p:nvSpPr>
          <p:cNvPr id="3" name="Title 2">
            <a:extLst>
              <a:ext uri="{FF2B5EF4-FFF2-40B4-BE49-F238E27FC236}">
                <a16:creationId xmlns:a16="http://schemas.microsoft.com/office/drawing/2014/main" id="{3DA16FFC-B7D6-9091-CDE1-DAE268778B8A}"/>
              </a:ext>
            </a:extLst>
          </p:cNvPr>
          <p:cNvSpPr>
            <a:spLocks noGrp="1"/>
          </p:cNvSpPr>
          <p:nvPr>
            <p:ph type="title"/>
          </p:nvPr>
        </p:nvSpPr>
        <p:spPr/>
        <p:txBody>
          <a:bodyPr/>
          <a:lstStyle/>
          <a:p>
            <a:r>
              <a:rPr lang="en-US" dirty="0"/>
              <a:t>5. System Interconnect and On-Chip Buses</a:t>
            </a:r>
          </a:p>
        </p:txBody>
      </p:sp>
      <p:sp>
        <p:nvSpPr>
          <p:cNvPr id="4" name="Footer Placeholder 3">
            <a:extLst>
              <a:ext uri="{FF2B5EF4-FFF2-40B4-BE49-F238E27FC236}">
                <a16:creationId xmlns:a16="http://schemas.microsoft.com/office/drawing/2014/main" id="{2DEE112D-99EA-FEF1-DC17-1565AE7A261D}"/>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D3DCAF2-7487-7F4A-0ACC-E9AE70D1D785}"/>
              </a:ext>
            </a:extLst>
          </p:cNvPr>
          <p:cNvSpPr>
            <a:spLocks noGrp="1"/>
          </p:cNvSpPr>
          <p:nvPr>
            <p:ph type="sldNum" sz="quarter" idx="4"/>
          </p:nvPr>
        </p:nvSpPr>
        <p:spPr/>
        <p:txBody>
          <a:bodyPr/>
          <a:lstStyle/>
          <a:p>
            <a:pPr>
              <a:defRPr/>
            </a:pPr>
            <a:fld id="{A9CE67A1-BA7F-A74E-B5D7-615746DEEC2B}" type="slidenum">
              <a:rPr lang="en-US" smtClean="0"/>
              <a:pPr>
                <a:defRPr/>
              </a:pPr>
              <a:t>19</a:t>
            </a:fld>
            <a:endParaRPr lang="en-US" baseline="-11000" dirty="0"/>
          </a:p>
        </p:txBody>
      </p:sp>
      <p:sp>
        <p:nvSpPr>
          <p:cNvPr id="6" name="Date Placeholder 5">
            <a:extLst>
              <a:ext uri="{FF2B5EF4-FFF2-40B4-BE49-F238E27FC236}">
                <a16:creationId xmlns:a16="http://schemas.microsoft.com/office/drawing/2014/main" id="{483AF77F-8D34-8212-216B-4CE59BDD8A37}"/>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2943414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AEDE72-B29B-8BA1-A75A-2C035730661F}"/>
              </a:ext>
            </a:extLst>
          </p:cNvPr>
          <p:cNvSpPr>
            <a:spLocks noGrp="1"/>
          </p:cNvSpPr>
          <p:nvPr>
            <p:ph idx="1"/>
          </p:nvPr>
        </p:nvSpPr>
        <p:spPr>
          <a:xfrm>
            <a:off x="355600" y="1066800"/>
            <a:ext cx="10274300" cy="5549218"/>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5.2 Tri-state vs. Mux Buses</a:t>
            </a:r>
          </a:p>
          <a:p>
            <a:r>
              <a:rPr lang="en-US" sz="2000" dirty="0">
                <a:latin typeface="Times New Roman" panose="02020603050405020304" pitchFamily="18" charset="0"/>
                <a:cs typeface="Times New Roman" panose="02020603050405020304" pitchFamily="18" charset="0"/>
              </a:rPr>
              <a:t>Even though for board-level systems, it’s more popular to use tristate bus to reduce the number of wires in the design but on chip-level it’s always better to use mux-based buses to prevent any floating wires in the design that may cause reliability issue.</a:t>
            </a:r>
          </a:p>
          <a:p>
            <a:r>
              <a:rPr lang="en-US" sz="2000" b="1" dirty="0">
                <a:latin typeface="Times New Roman" panose="02020603050405020304" pitchFamily="18" charset="0"/>
                <a:cs typeface="Times New Roman" panose="02020603050405020304" pitchFamily="18" charset="0"/>
              </a:rPr>
              <a:t>Rule</a:t>
            </a:r>
            <a:r>
              <a:rPr lang="en-US" sz="2000" dirty="0">
                <a:latin typeface="Times New Roman" panose="02020603050405020304" pitchFamily="18" charset="0"/>
                <a:cs typeface="Times New Roman" panose="02020603050405020304" pitchFamily="18" charset="0"/>
              </a:rPr>
              <a:t> – For these reasons, we consider multiplexer-based buses to be the only acceptable architecture for on-chip interconnect. Tristate buses should never be used on chip.</a:t>
            </a:r>
          </a:p>
          <a:p>
            <a:pPr marL="0" indent="0">
              <a:buNone/>
            </a:pPr>
            <a:r>
              <a:rPr lang="en-US" sz="2400" b="1" dirty="0">
                <a:latin typeface="Times New Roman" panose="02020603050405020304" pitchFamily="18" charset="0"/>
                <a:cs typeface="Times New Roman" panose="02020603050405020304" pitchFamily="18" charset="0"/>
              </a:rPr>
              <a:t>5.3 Synchronous Design of Buses</a:t>
            </a:r>
          </a:p>
          <a:p>
            <a:r>
              <a:rPr lang="en-US" sz="2000" dirty="0">
                <a:latin typeface="Times New Roman" panose="02020603050405020304" pitchFamily="18" charset="0"/>
                <a:cs typeface="Times New Roman" panose="02020603050405020304" pitchFamily="18" charset="0"/>
              </a:rPr>
              <a:t>Besides meeting performance goals, on-chip buses must provide a well-defined environment for integrating reusable blocks from a variety of sources.</a:t>
            </a:r>
          </a:p>
          <a:p>
            <a:r>
              <a:rPr lang="en-US" sz="2000" b="1" dirty="0">
                <a:latin typeface="Times New Roman" panose="02020603050405020304" pitchFamily="18" charset="0"/>
                <a:cs typeface="Times New Roman" panose="02020603050405020304" pitchFamily="18" charset="0"/>
              </a:rPr>
              <a:t>Rule – </a:t>
            </a:r>
            <a:r>
              <a:rPr lang="en-US" sz="2000" dirty="0">
                <a:latin typeface="Times New Roman" panose="02020603050405020304" pitchFamily="18" charset="0"/>
                <a:cs typeface="Times New Roman" panose="02020603050405020304" pitchFamily="18" charset="0"/>
              </a:rPr>
              <a:t>On-chip buses must use a single-clock-edge, flip-flop based architecture.</a:t>
            </a:r>
          </a:p>
          <a:p>
            <a:pPr marL="0" indent="0">
              <a:buNone/>
            </a:pPr>
            <a:r>
              <a:rPr lang="en-US" sz="2400" b="1" dirty="0">
                <a:latin typeface="Times New Roman" panose="02020603050405020304" pitchFamily="18" charset="0"/>
                <a:cs typeface="Times New Roman" panose="02020603050405020304" pitchFamily="18" charset="0"/>
              </a:rPr>
              <a:t>5.4 Summary</a:t>
            </a:r>
          </a:p>
          <a:p>
            <a:pPr marL="0" indent="0">
              <a:buNone/>
            </a:pPr>
            <a:r>
              <a:rPr lang="en-US" sz="2000" dirty="0">
                <a:latin typeface="Times New Roman" panose="02020603050405020304" pitchFamily="18" charset="0"/>
                <a:cs typeface="Times New Roman" panose="02020603050405020304" pitchFamily="18" charset="0"/>
              </a:rPr>
              <a:t>There’re other standard rules need to be mentioned:</a:t>
            </a:r>
          </a:p>
          <a:p>
            <a:pPr marL="685800" lvl="1" indent="-457200">
              <a:buClrTx/>
              <a:buSzPct val="100000"/>
              <a:buFont typeface="+mj-lt"/>
              <a:buAutoNum type="arabicPeriod"/>
            </a:pPr>
            <a:r>
              <a:rPr lang="en-US" sz="1600" dirty="0">
                <a:latin typeface="Times New Roman" panose="02020603050405020304" pitchFamily="18" charset="0"/>
                <a:cs typeface="Times New Roman" panose="02020603050405020304" pitchFamily="18" charset="0"/>
              </a:rPr>
              <a:t>Separate address and data buses.</a:t>
            </a:r>
          </a:p>
          <a:p>
            <a:pPr marL="685800" lvl="1" indent="-457200">
              <a:buClrTx/>
              <a:buSzPct val="100000"/>
              <a:buFont typeface="+mj-lt"/>
              <a:buAutoNum type="arabicPeriod"/>
            </a:pPr>
            <a:r>
              <a:rPr lang="en-US" sz="1600" dirty="0">
                <a:latin typeface="Times New Roman" panose="02020603050405020304" pitchFamily="18" charset="0"/>
                <a:cs typeface="Times New Roman" panose="02020603050405020304" pitchFamily="18" charset="0"/>
              </a:rPr>
              <a:t>Separate control bus that define the kind of transaction taking place.</a:t>
            </a:r>
          </a:p>
          <a:p>
            <a:pPr marL="685800" lvl="1" indent="-457200">
              <a:buClrTx/>
              <a:buSzPct val="100000"/>
              <a:buFont typeface="+mj-lt"/>
              <a:buAutoNum type="arabicPeriod"/>
            </a:pPr>
            <a:r>
              <a:rPr lang="en-US" sz="1600" dirty="0">
                <a:latin typeface="Times New Roman" panose="02020603050405020304" pitchFamily="18" charset="0"/>
                <a:cs typeface="Times New Roman" panose="02020603050405020304" pitchFamily="18" charset="0"/>
              </a:rPr>
              <a:t>Support for multiple masters.</a:t>
            </a:r>
          </a:p>
          <a:p>
            <a:pPr marL="0" indent="0">
              <a:buNone/>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605EC24-8795-61C5-7D35-75A3F823DF19}"/>
              </a:ext>
            </a:extLst>
          </p:cNvPr>
          <p:cNvSpPr>
            <a:spLocks noGrp="1"/>
          </p:cNvSpPr>
          <p:nvPr>
            <p:ph type="title"/>
          </p:nvPr>
        </p:nvSpPr>
        <p:spPr/>
        <p:txBody>
          <a:bodyPr/>
          <a:lstStyle/>
          <a:p>
            <a:r>
              <a:rPr lang="en-US" dirty="0"/>
              <a:t>5. System Interconnect and On-Chip Buses</a:t>
            </a:r>
          </a:p>
        </p:txBody>
      </p:sp>
      <p:sp>
        <p:nvSpPr>
          <p:cNvPr id="4" name="Footer Placeholder 3">
            <a:extLst>
              <a:ext uri="{FF2B5EF4-FFF2-40B4-BE49-F238E27FC236}">
                <a16:creationId xmlns:a16="http://schemas.microsoft.com/office/drawing/2014/main" id="{D8780B7F-4911-6458-B89C-9727A7486973}"/>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DE8C6733-EDBE-78B6-7518-89EA9FEF1864}"/>
              </a:ext>
            </a:extLst>
          </p:cNvPr>
          <p:cNvSpPr>
            <a:spLocks noGrp="1"/>
          </p:cNvSpPr>
          <p:nvPr>
            <p:ph type="sldNum" sz="quarter" idx="4"/>
          </p:nvPr>
        </p:nvSpPr>
        <p:spPr/>
        <p:txBody>
          <a:bodyPr/>
          <a:lstStyle/>
          <a:p>
            <a:pPr>
              <a:defRPr/>
            </a:pPr>
            <a:fld id="{A9CE67A1-BA7F-A74E-B5D7-615746DEEC2B}" type="slidenum">
              <a:rPr lang="en-US" smtClean="0"/>
              <a:pPr>
                <a:defRPr/>
              </a:pPr>
              <a:t>20</a:t>
            </a:fld>
            <a:endParaRPr lang="en-US" baseline="-11000" dirty="0"/>
          </a:p>
        </p:txBody>
      </p:sp>
      <p:sp>
        <p:nvSpPr>
          <p:cNvPr id="6" name="Date Placeholder 5">
            <a:extLst>
              <a:ext uri="{FF2B5EF4-FFF2-40B4-BE49-F238E27FC236}">
                <a16:creationId xmlns:a16="http://schemas.microsoft.com/office/drawing/2014/main" id="{04B2E78E-76EC-B354-17C6-DB8D5C108E8C}"/>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23034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A6EDA2-59EB-D5FA-108A-B46A2E1C3442}"/>
              </a:ext>
            </a:extLst>
          </p:cNvPr>
          <p:cNvSpPr>
            <a:spLocks noGrp="1"/>
          </p:cNvSpPr>
          <p:nvPr>
            <p:ph idx="1"/>
          </p:nvPr>
        </p:nvSpPr>
        <p:spPr/>
        <p:txBody>
          <a:bodyPr/>
          <a:lstStyle/>
          <a:p>
            <a:pPr marL="0" indent="0">
              <a:buClrTx/>
              <a:buSzPct val="100000"/>
              <a:buNone/>
            </a:pPr>
            <a:r>
              <a:rPr lang="en-US" sz="2400" b="1" dirty="0">
                <a:latin typeface="Times New Roman" panose="02020603050405020304" pitchFamily="18" charset="0"/>
                <a:cs typeface="Times New Roman" panose="02020603050405020304" pitchFamily="18" charset="0"/>
              </a:rPr>
              <a:t>5.5 IP-to-IP interface</a:t>
            </a:r>
          </a:p>
          <a:p>
            <a:pPr marL="0" indent="0">
              <a:buClrTx/>
              <a:buSzPct val="100000"/>
              <a:buNone/>
            </a:pPr>
            <a:r>
              <a:rPr lang="en-US" sz="2000" b="1" dirty="0">
                <a:latin typeface="Times New Roman" panose="02020603050405020304" pitchFamily="18" charset="0"/>
                <a:cs typeface="Times New Roman" panose="02020603050405020304" pitchFamily="18" charset="0"/>
              </a:rPr>
              <a:t>Guideline </a:t>
            </a:r>
            <a:r>
              <a:rPr lang="en-US" sz="2000" dirty="0">
                <a:latin typeface="Times New Roman" panose="02020603050405020304" pitchFamily="18" charset="0"/>
                <a:cs typeface="Times New Roman" panose="02020603050405020304" pitchFamily="18" charset="0"/>
              </a:rPr>
              <a:t>– The design team should choose an industry-standard bus for the chip design. Wherever possible, blocks should be connected to the bus and/or to the chip’s I/O pins. Point-to-point connections between blocks should be used only where absolutely necessary, and even then should use an industry-standard interface. Custom interfaces should be used only when no standard exists. </a:t>
            </a:r>
          </a:p>
          <a:p>
            <a:pPr marL="0" indent="0">
              <a:buClrTx/>
              <a:buSzPct val="100000"/>
              <a:buNone/>
            </a:pPr>
            <a:r>
              <a:rPr lang="en-US" sz="2000" b="1" dirty="0">
                <a:latin typeface="Times New Roman" panose="02020603050405020304" pitchFamily="18" charset="0"/>
                <a:cs typeface="Times New Roman" panose="02020603050405020304" pitchFamily="18" charset="0"/>
              </a:rPr>
              <a:t>Guideline </a:t>
            </a:r>
            <a:r>
              <a:rPr lang="en-US" sz="2000" dirty="0">
                <a:latin typeface="Times New Roman" panose="02020603050405020304" pitchFamily="18" charset="0"/>
                <a:cs typeface="Times New Roman" panose="02020603050405020304" pitchFamily="18" charset="0"/>
              </a:rPr>
              <a:t>– In selecting macros for the chip design, either from internal sources or from third-party IP providers, the design team should only accept macros that interface directly to the selected bus.</a:t>
            </a:r>
            <a:endParaRPr lang="en-US" sz="2000" b="1" dirty="0">
              <a:latin typeface="Times New Roman" panose="02020603050405020304" pitchFamily="18" charset="0"/>
              <a:cs typeface="Times New Roman" panose="02020603050405020304" pitchFamily="18" charset="0"/>
            </a:endParaRPr>
          </a:p>
          <a:p>
            <a:pPr marL="0" indent="0">
              <a:buClrTx/>
              <a:buSzPct val="100000"/>
              <a:buNone/>
            </a:pPr>
            <a:endParaRPr lang="en-US" sz="2200" dirty="0">
              <a:latin typeface="Times New Roman" panose="02020603050405020304" pitchFamily="18" charset="0"/>
              <a:cs typeface="Times New Roman" panose="02020603050405020304" pitchFamily="18" charset="0"/>
            </a:endParaRPr>
          </a:p>
          <a:p>
            <a:pPr marL="457200" indent="-457200">
              <a:buClrTx/>
              <a:buSzPct val="100000"/>
              <a:buFont typeface="+mj-lt"/>
              <a:buAutoNum type="arabicPeriod"/>
            </a:pPr>
            <a:endParaRPr lang="en-US" sz="20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3" name="Title 2">
            <a:extLst>
              <a:ext uri="{FF2B5EF4-FFF2-40B4-BE49-F238E27FC236}">
                <a16:creationId xmlns:a16="http://schemas.microsoft.com/office/drawing/2014/main" id="{E099FDC7-3F2E-4715-C877-1D1537E8FCFC}"/>
              </a:ext>
            </a:extLst>
          </p:cNvPr>
          <p:cNvSpPr>
            <a:spLocks noGrp="1"/>
          </p:cNvSpPr>
          <p:nvPr>
            <p:ph type="title"/>
          </p:nvPr>
        </p:nvSpPr>
        <p:spPr/>
        <p:txBody>
          <a:bodyPr/>
          <a:lstStyle/>
          <a:p>
            <a:r>
              <a:rPr lang="en-US" dirty="0"/>
              <a:t>5. System Interconnect and On-Chip Buses</a:t>
            </a:r>
          </a:p>
        </p:txBody>
      </p:sp>
      <p:sp>
        <p:nvSpPr>
          <p:cNvPr id="4" name="Footer Placeholder 3">
            <a:extLst>
              <a:ext uri="{FF2B5EF4-FFF2-40B4-BE49-F238E27FC236}">
                <a16:creationId xmlns:a16="http://schemas.microsoft.com/office/drawing/2014/main" id="{8E1B628C-8AB7-5902-9359-A6ADFC8144AE}"/>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52E50AE5-54C8-F425-00A4-F4AE77B63341}"/>
              </a:ext>
            </a:extLst>
          </p:cNvPr>
          <p:cNvSpPr>
            <a:spLocks noGrp="1"/>
          </p:cNvSpPr>
          <p:nvPr>
            <p:ph type="sldNum" sz="quarter" idx="4"/>
          </p:nvPr>
        </p:nvSpPr>
        <p:spPr/>
        <p:txBody>
          <a:bodyPr/>
          <a:lstStyle/>
          <a:p>
            <a:pPr>
              <a:defRPr/>
            </a:pPr>
            <a:fld id="{A9CE67A1-BA7F-A74E-B5D7-615746DEEC2B}" type="slidenum">
              <a:rPr lang="en-US" smtClean="0"/>
              <a:pPr>
                <a:defRPr/>
              </a:pPr>
              <a:t>21</a:t>
            </a:fld>
            <a:endParaRPr lang="en-US" baseline="-11000" dirty="0"/>
          </a:p>
        </p:txBody>
      </p:sp>
      <p:sp>
        <p:nvSpPr>
          <p:cNvPr id="6" name="Date Placeholder 5">
            <a:extLst>
              <a:ext uri="{FF2B5EF4-FFF2-40B4-BE49-F238E27FC236}">
                <a16:creationId xmlns:a16="http://schemas.microsoft.com/office/drawing/2014/main" id="{99DC0EDB-3118-8964-745A-609756ABD41D}"/>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8" name="Picture 7">
            <a:extLst>
              <a:ext uri="{FF2B5EF4-FFF2-40B4-BE49-F238E27FC236}">
                <a16:creationId xmlns:a16="http://schemas.microsoft.com/office/drawing/2014/main" id="{522193B1-C595-269B-85B6-F38E4D62E210}"/>
              </a:ext>
            </a:extLst>
          </p:cNvPr>
          <p:cNvPicPr>
            <a:picLocks noChangeAspect="1"/>
          </p:cNvPicPr>
          <p:nvPr/>
        </p:nvPicPr>
        <p:blipFill>
          <a:blip r:embed="rId2"/>
          <a:stretch>
            <a:fillRect/>
          </a:stretch>
        </p:blipFill>
        <p:spPr>
          <a:xfrm>
            <a:off x="427473" y="3507748"/>
            <a:ext cx="5668527" cy="2954573"/>
          </a:xfrm>
          <a:prstGeom prst="rect">
            <a:avLst/>
          </a:prstGeom>
        </p:spPr>
      </p:pic>
    </p:spTree>
    <p:extLst>
      <p:ext uri="{BB962C8B-B14F-4D97-AF65-F5344CB8AC3E}">
        <p14:creationId xmlns:p14="http://schemas.microsoft.com/office/powerpoint/2010/main" val="308162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B81D85-6A1F-145B-49B0-A5FC4EB64A59}"/>
              </a:ext>
            </a:extLst>
          </p:cNvPr>
          <p:cNvSpPr>
            <a:spLocks noGrp="1"/>
          </p:cNvSpPr>
          <p:nvPr>
            <p:ph idx="1"/>
          </p:nvPr>
        </p:nvSpPr>
        <p:spPr>
          <a:xfrm>
            <a:off x="355600" y="798653"/>
            <a:ext cx="10274300" cy="5183047"/>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Rule</a:t>
            </a:r>
            <a:r>
              <a:rPr lang="en-US" sz="2000" dirty="0">
                <a:latin typeface="Times New Roman" panose="02020603050405020304" pitchFamily="18" charset="0"/>
                <a:cs typeface="Times New Roman" panose="02020603050405020304" pitchFamily="18" charset="0"/>
              </a:rPr>
              <a:t> – The design team must develop a strategy for the bring-up and debug of the SoC design at the beginning of the design process.</a:t>
            </a:r>
          </a:p>
          <a:p>
            <a:r>
              <a:rPr lang="en-US" sz="2000" dirty="0">
                <a:latin typeface="Times New Roman" panose="02020603050405020304" pitchFamily="18" charset="0"/>
                <a:cs typeface="Times New Roman" panose="02020603050405020304" pitchFamily="18" charset="0"/>
              </a:rPr>
              <a:t>The most effective debug strategies usually require specific features to be designed into the chip that greatly reduces the incremental cost of these features, in terms of design effort and schedule.</a:t>
            </a:r>
          </a:p>
          <a:p>
            <a:pPr marL="0" indent="0">
              <a:buNone/>
            </a:pPr>
            <a:r>
              <a:rPr lang="en-US" sz="2000" b="1" dirty="0">
                <a:latin typeface="Times New Roman" panose="02020603050405020304" pitchFamily="18" charset="0"/>
                <a:cs typeface="Times New Roman" panose="02020603050405020304" pitchFamily="18" charset="0"/>
              </a:rPr>
              <a:t>Guideline</a:t>
            </a:r>
            <a:r>
              <a:rPr lang="en-US" sz="2000" dirty="0">
                <a:latin typeface="Times New Roman" panose="02020603050405020304" pitchFamily="18" charset="0"/>
                <a:cs typeface="Times New Roman" panose="02020603050405020304" pitchFamily="18" charset="0"/>
              </a:rPr>
              <a:t> – Controllability and observability are the keys to an easy debug process.</a:t>
            </a:r>
          </a:p>
          <a:p>
            <a:pPr lvl="1"/>
            <a:r>
              <a:rPr lang="en-US" sz="1600" b="1" dirty="0">
                <a:latin typeface="Times New Roman" panose="02020603050405020304" pitchFamily="18" charset="0"/>
                <a:cs typeface="Times New Roman" panose="02020603050405020304" pitchFamily="18" charset="0"/>
              </a:rPr>
              <a:t>Controllability</a:t>
            </a:r>
            <a:r>
              <a:rPr lang="en-US" sz="1600" dirty="0">
                <a:latin typeface="Times New Roman" panose="02020603050405020304" pitchFamily="18" charset="0"/>
                <a:cs typeface="Times New Roman" panose="02020603050405020304" pitchFamily="18" charset="0"/>
              </a:rPr>
              <a:t> is best achieved by design features in the macros themselves. The system should be designed so that each macro can be effectively turned off, turned on, or put into a debug mode where only its most basic functions are operational.</a:t>
            </a:r>
          </a:p>
          <a:p>
            <a:pPr lvl="1"/>
            <a:r>
              <a:rPr lang="en-US" sz="1600" b="1" dirty="0">
                <a:latin typeface="Times New Roman" panose="02020603050405020304" pitchFamily="18" charset="0"/>
                <a:cs typeface="Times New Roman" panose="02020603050405020304" pitchFamily="18" charset="0"/>
              </a:rPr>
              <a:t>Observability</a:t>
            </a:r>
            <a:r>
              <a:rPr lang="en-US" sz="1600" dirty="0">
                <a:latin typeface="Times New Roman" panose="02020603050405020304" pitchFamily="18" charset="0"/>
                <a:cs typeface="Times New Roman" panose="02020603050405020304" pitchFamily="18" charset="0"/>
              </a:rPr>
              <a:t> is a major problem for SoC designs. We’d like to be able to put logic analyzer probes on internal nodes in the chip, and debug the chip the way we debug boards. For SoC designs, we can come close to this by adding additional circuitry on the chip to aid observability. </a:t>
            </a:r>
          </a:p>
        </p:txBody>
      </p:sp>
      <p:sp>
        <p:nvSpPr>
          <p:cNvPr id="3" name="Title 2">
            <a:extLst>
              <a:ext uri="{FF2B5EF4-FFF2-40B4-BE49-F238E27FC236}">
                <a16:creationId xmlns:a16="http://schemas.microsoft.com/office/drawing/2014/main" id="{6F8C5249-D6FD-3540-2C5C-CA9DB1588191}"/>
              </a:ext>
            </a:extLst>
          </p:cNvPr>
          <p:cNvSpPr>
            <a:spLocks noGrp="1"/>
          </p:cNvSpPr>
          <p:nvPr>
            <p:ph type="title"/>
          </p:nvPr>
        </p:nvSpPr>
        <p:spPr>
          <a:xfrm>
            <a:off x="342900" y="219456"/>
            <a:ext cx="10287000" cy="421654"/>
          </a:xfrm>
        </p:spPr>
        <p:txBody>
          <a:bodyPr/>
          <a:lstStyle/>
          <a:p>
            <a:r>
              <a:rPr lang="en-US" sz="3200" dirty="0"/>
              <a:t>6. Design for Bring-Up and Debug: On-Chip Debug Structures</a:t>
            </a:r>
          </a:p>
        </p:txBody>
      </p:sp>
      <p:sp>
        <p:nvSpPr>
          <p:cNvPr id="4" name="Footer Placeholder 3">
            <a:extLst>
              <a:ext uri="{FF2B5EF4-FFF2-40B4-BE49-F238E27FC236}">
                <a16:creationId xmlns:a16="http://schemas.microsoft.com/office/drawing/2014/main" id="{69CF84FA-3B97-4572-3F4C-BCB5A7A0A3E8}"/>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C9DC7995-78EB-5BA9-8F39-7656382CEEA6}"/>
              </a:ext>
            </a:extLst>
          </p:cNvPr>
          <p:cNvSpPr>
            <a:spLocks noGrp="1"/>
          </p:cNvSpPr>
          <p:nvPr>
            <p:ph type="sldNum" sz="quarter" idx="4"/>
          </p:nvPr>
        </p:nvSpPr>
        <p:spPr/>
        <p:txBody>
          <a:bodyPr/>
          <a:lstStyle/>
          <a:p>
            <a:pPr>
              <a:defRPr/>
            </a:pPr>
            <a:fld id="{A9CE67A1-BA7F-A74E-B5D7-615746DEEC2B}" type="slidenum">
              <a:rPr lang="en-US" smtClean="0"/>
              <a:pPr>
                <a:defRPr/>
              </a:pPr>
              <a:t>22</a:t>
            </a:fld>
            <a:endParaRPr lang="en-US" baseline="-11000" dirty="0"/>
          </a:p>
        </p:txBody>
      </p:sp>
      <p:sp>
        <p:nvSpPr>
          <p:cNvPr id="6" name="Date Placeholder 5">
            <a:extLst>
              <a:ext uri="{FF2B5EF4-FFF2-40B4-BE49-F238E27FC236}">
                <a16:creationId xmlns:a16="http://schemas.microsoft.com/office/drawing/2014/main" id="{4CDF7B19-9DCA-BAF4-06DD-16D77E40741B}"/>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793781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788A48B-87EC-ED5F-C802-FF6A0A36D2B1}"/>
                  </a:ext>
                </a:extLst>
              </p:cNvPr>
              <p:cNvSpPr>
                <a:spLocks noGrp="1"/>
              </p:cNvSpPr>
              <p:nvPr>
                <p:ph idx="1"/>
              </p:nvPr>
            </p:nvSpPr>
            <p:spPr/>
            <p:txBody>
              <a:bodyPr>
                <a:normAutofit fontScale="70000" lnSpcReduction="20000"/>
              </a:bodyPr>
              <a:lstStyle/>
              <a:p>
                <a:r>
                  <a:rPr lang="en-US" sz="2900" dirty="0">
                    <a:latin typeface="Times New Roman" panose="02020603050405020304" pitchFamily="18" charset="0"/>
                    <a:cs typeface="Times New Roman" panose="02020603050405020304" pitchFamily="18" charset="0"/>
                  </a:rPr>
                  <a:t>Power in CMOS circuits consists static and dynamic power.</a:t>
                </a:r>
              </a:p>
              <a:p>
                <a:r>
                  <a:rPr lang="en-US" sz="2900" b="1" dirty="0">
                    <a:latin typeface="Times New Roman" panose="02020603050405020304" pitchFamily="18" charset="0"/>
                    <a:cs typeface="Times New Roman" panose="02020603050405020304" pitchFamily="18" charset="0"/>
                  </a:rPr>
                  <a:t>Static Power:</a:t>
                </a:r>
                <a:r>
                  <a:rPr lang="en-US" sz="2900" dirty="0">
                    <a:latin typeface="Times New Roman" panose="02020603050405020304" pitchFamily="18" charset="0"/>
                    <a:cs typeface="Times New Roman" panose="02020603050405020304" pitchFamily="18" charset="0"/>
                  </a:rPr>
                  <a:t> Nowadays to achieve high speed the designers use low Vth but at a cost of high static power. So, designers are using a combination of low and high Vth to achieve the optimum balance between high speed and low power.</a:t>
                </a:r>
              </a:p>
              <a:p>
                <a:r>
                  <a:rPr lang="en-US" sz="2900" b="1" dirty="0">
                    <a:latin typeface="Times New Roman" panose="02020603050405020304" pitchFamily="18" charset="0"/>
                    <a:cs typeface="Times New Roman" panose="02020603050405020304" pitchFamily="18" charset="0"/>
                  </a:rPr>
                  <a:t>Dynamic Power:  			</a:t>
                </a:r>
                <a14:m>
                  <m:oMath xmlns:m="http://schemas.openxmlformats.org/officeDocument/2006/math">
                    <m:r>
                      <a:rPr lang="en-US" sz="2900" b="0" i="1" smtClean="0">
                        <a:latin typeface="Cambria Math" panose="02040503050406030204" pitchFamily="18" charset="0"/>
                        <a:cs typeface="Times New Roman" panose="02020603050405020304" pitchFamily="18" charset="0"/>
                      </a:rPr>
                      <m:t>𝑃</m:t>
                    </m:r>
                    <m:r>
                      <a:rPr lang="en-US" sz="2900" b="0" i="1" smtClean="0">
                        <a:latin typeface="Cambria Math" panose="02040503050406030204" pitchFamily="18" charset="0"/>
                        <a:cs typeface="Times New Roman" panose="02020603050405020304" pitchFamily="18" charset="0"/>
                      </a:rPr>
                      <m:t>= </m:t>
                    </m:r>
                    <m:r>
                      <a:rPr lang="en-US" sz="2900" b="0" i="1" smtClean="0">
                        <a:latin typeface="Cambria Math" panose="02040503050406030204" pitchFamily="18" charset="0"/>
                        <a:ea typeface="Cambria Math" panose="02040503050406030204" pitchFamily="18" charset="0"/>
                        <a:cs typeface="Times New Roman" panose="02020603050405020304" pitchFamily="18" charset="0"/>
                      </a:rPr>
                      <m:t>𝛴</m:t>
                    </m:r>
                    <m:r>
                      <a:rPr lang="en-US" sz="29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900" b="0" i="1" smtClean="0">
                        <a:latin typeface="Cambria Math" panose="02040503050406030204" pitchFamily="18" charset="0"/>
                        <a:ea typeface="Cambria Math" panose="02040503050406030204" pitchFamily="18" charset="0"/>
                        <a:cs typeface="Times New Roman" panose="02020603050405020304" pitchFamily="18" charset="0"/>
                      </a:rPr>
                      <m:t>𝛼</m:t>
                    </m:r>
                    <m:r>
                      <a:rPr lang="en-US" sz="2900" b="0" i="1" smtClean="0">
                        <a:latin typeface="Cambria Math" panose="02040503050406030204" pitchFamily="18" charset="0"/>
                        <a:ea typeface="Cambria Math" panose="02040503050406030204" pitchFamily="18" charset="0"/>
                        <a:cs typeface="Times New Roman" panose="02020603050405020304" pitchFamily="18" charset="0"/>
                      </a:rPr>
                      <m:t>𝑓𝐶</m:t>
                    </m:r>
                    <m:sSup>
                      <m:sSupPr>
                        <m:ctrlPr>
                          <a:rPr lang="en-US" sz="29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2900" b="0" i="1" smtClean="0">
                            <a:latin typeface="Cambria Math" panose="02040503050406030204" pitchFamily="18" charset="0"/>
                            <a:ea typeface="Cambria Math" panose="02040503050406030204" pitchFamily="18" charset="0"/>
                            <a:cs typeface="Times New Roman" panose="02020603050405020304" pitchFamily="18" charset="0"/>
                          </a:rPr>
                          <m:t>𝑉</m:t>
                        </m:r>
                      </m:e>
                      <m:sup>
                        <m:r>
                          <a:rPr lang="en-US" sz="29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a14:m>
                <a:r>
                  <a:rPr lang="en-US" sz="2900" dirty="0">
                    <a:latin typeface="Times New Roman" panose="02020603050405020304" pitchFamily="18" charset="0"/>
                    <a:cs typeface="Times New Roman" panose="02020603050405020304" pitchFamily="18" charset="0"/>
                  </a:rPr>
                  <a:t> </a:t>
                </a:r>
              </a:p>
              <a:p>
                <a:r>
                  <a:rPr lang="en-US" sz="2900" dirty="0">
                    <a:latin typeface="Times New Roman" panose="02020603050405020304" pitchFamily="18" charset="0"/>
                    <a:cs typeface="Times New Roman" panose="02020603050405020304" pitchFamily="18" charset="0"/>
                  </a:rPr>
                  <a:t>The basic approach is to reduce </a:t>
                </a:r>
                <a14:m>
                  <m:oMath xmlns:m="http://schemas.openxmlformats.org/officeDocument/2006/math">
                    <m:r>
                      <a:rPr lang="en-US" sz="2900" b="0" i="1" smtClean="0">
                        <a:latin typeface="Cambria Math" panose="02040503050406030204" pitchFamily="18" charset="0"/>
                        <a:ea typeface="Cambria Math" panose="02040503050406030204" pitchFamily="18" charset="0"/>
                        <a:cs typeface="Times New Roman" panose="02020603050405020304" pitchFamily="18" charset="0"/>
                      </a:rPr>
                      <m:t>𝛼</m:t>
                    </m:r>
                    <m:r>
                      <a:rPr lang="en-US" sz="29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9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US" sz="29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900" b="0" i="1" smtClean="0">
                        <a:latin typeface="Cambria Math" panose="02040503050406030204" pitchFamily="18" charset="0"/>
                        <a:ea typeface="Cambria Math" panose="02040503050406030204" pitchFamily="18" charset="0"/>
                        <a:cs typeface="Times New Roman" panose="02020603050405020304" pitchFamily="18" charset="0"/>
                      </a:rPr>
                      <m:t>𝑉</m:t>
                    </m:r>
                  </m:oMath>
                </a14:m>
                <a:r>
                  <a:rPr lang="en-US" sz="2900" dirty="0">
                    <a:latin typeface="Times New Roman" panose="02020603050405020304" pitchFamily="18" charset="0"/>
                    <a:cs typeface="Times New Roman" panose="02020603050405020304" pitchFamily="18" charset="0"/>
                  </a:rPr>
                  <a:t>and f is then fixed by the required system performance.</a:t>
                </a:r>
              </a:p>
              <a:p>
                <a:pPr marL="0" indent="0">
                  <a:buNone/>
                </a:pPr>
                <a:r>
                  <a:rPr lang="en-US" sz="3400" b="1" dirty="0">
                    <a:latin typeface="Times New Roman" panose="02020603050405020304" pitchFamily="18" charset="0"/>
                    <a:cs typeface="Times New Roman" panose="02020603050405020304" pitchFamily="18" charset="0"/>
                  </a:rPr>
                  <a:t>7.1 Lowering the Supply Voltage</a:t>
                </a:r>
              </a:p>
              <a:p>
                <a:r>
                  <a:rPr lang="en-US" sz="2900" dirty="0">
                    <a:latin typeface="Times New Roman" panose="02020603050405020304" pitchFamily="18" charset="0"/>
                    <a:cs typeface="Times New Roman" panose="02020603050405020304" pitchFamily="18" charset="0"/>
                  </a:rPr>
                  <a:t>Lowering the supply voltage has the largest effect on power, since power varies with the square of the voltage. But lowering the supply will cause other effects that must be overcome.</a:t>
                </a:r>
              </a:p>
              <a:p>
                <a:r>
                  <a:rPr lang="en-US" sz="2900" dirty="0">
                    <a:latin typeface="Times New Roman" panose="02020603050405020304" pitchFamily="18" charset="0"/>
                    <a:cs typeface="Times New Roman" panose="02020603050405020304" pitchFamily="18" charset="0"/>
                  </a:rPr>
                  <a:t>The primary problem is that lowering the supply voltage will increase the delay of the cell.</a:t>
                </a:r>
              </a:p>
              <a:p>
                <a:r>
                  <a:rPr lang="en-US" sz="2900" dirty="0">
                    <a:latin typeface="Times New Roman" panose="02020603050405020304" pitchFamily="18" charset="0"/>
                    <a:cs typeface="Times New Roman" panose="02020603050405020304" pitchFamily="18" charset="0"/>
                  </a:rPr>
                  <a:t>To compensate this issue, designers use pipelining and parallelism to increase the performance of the design but at a cost of higher area and capacitance.</a:t>
                </a:r>
              </a:p>
              <a:p>
                <a:r>
                  <a:rPr lang="en-US" sz="2900" dirty="0">
                    <a:latin typeface="Times New Roman" panose="02020603050405020304" pitchFamily="18" charset="0"/>
                    <a:cs typeface="Times New Roman" panose="02020603050405020304" pitchFamily="18" charset="0"/>
                  </a:rPr>
                  <a:t>I/O voltages must meet the requirements of the board design, and are usually higher (3.3v to 5v) than the minimum voltage that the process will support. Most designers run the I/O at the required voltage and use a separate lower voltage power supply for the core logic of the chip.</a:t>
                </a:r>
              </a:p>
            </p:txBody>
          </p:sp>
        </mc:Choice>
        <mc:Fallback xmlns="">
          <p:sp>
            <p:nvSpPr>
              <p:cNvPr id="2" name="Content Placeholder 1">
                <a:extLst>
                  <a:ext uri="{FF2B5EF4-FFF2-40B4-BE49-F238E27FC236}">
                    <a16:creationId xmlns:a16="http://schemas.microsoft.com/office/drawing/2014/main" id="{D788A48B-87EC-ED5F-C802-FF6A0A36D2B1}"/>
                  </a:ext>
                </a:extLst>
              </p:cNvPr>
              <p:cNvSpPr>
                <a:spLocks noGrp="1" noRot="1" noChangeAspect="1" noMove="1" noResize="1" noEditPoints="1" noAdjustHandles="1" noChangeArrowheads="1" noChangeShapeType="1" noTextEdit="1"/>
              </p:cNvSpPr>
              <p:nvPr>
                <p:ph idx="1"/>
              </p:nvPr>
            </p:nvSpPr>
            <p:spPr>
              <a:blipFill>
                <a:blip r:embed="rId2"/>
                <a:stretch>
                  <a:fillRect l="-1779" t="-3350" r="-130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25E09DC-14EE-B0F0-00C4-991C4326D1A6}"/>
              </a:ext>
            </a:extLst>
          </p:cNvPr>
          <p:cNvSpPr>
            <a:spLocks noGrp="1"/>
          </p:cNvSpPr>
          <p:nvPr>
            <p:ph type="title"/>
          </p:nvPr>
        </p:nvSpPr>
        <p:spPr/>
        <p:txBody>
          <a:bodyPr/>
          <a:lstStyle/>
          <a:p>
            <a:r>
              <a:rPr lang="en-US" dirty="0"/>
              <a:t>7. Design for Low Power</a:t>
            </a:r>
          </a:p>
        </p:txBody>
      </p:sp>
      <p:sp>
        <p:nvSpPr>
          <p:cNvPr id="4" name="Footer Placeholder 3">
            <a:extLst>
              <a:ext uri="{FF2B5EF4-FFF2-40B4-BE49-F238E27FC236}">
                <a16:creationId xmlns:a16="http://schemas.microsoft.com/office/drawing/2014/main" id="{EDD483D8-F922-89A8-B875-7F19E19CEA9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0339755F-211E-C972-C3FE-7B2CFBD017F1}"/>
              </a:ext>
            </a:extLst>
          </p:cNvPr>
          <p:cNvSpPr>
            <a:spLocks noGrp="1"/>
          </p:cNvSpPr>
          <p:nvPr>
            <p:ph type="sldNum" sz="quarter" idx="4"/>
          </p:nvPr>
        </p:nvSpPr>
        <p:spPr/>
        <p:txBody>
          <a:bodyPr/>
          <a:lstStyle/>
          <a:p>
            <a:pPr>
              <a:defRPr/>
            </a:pPr>
            <a:fld id="{A9CE67A1-BA7F-A74E-B5D7-615746DEEC2B}" type="slidenum">
              <a:rPr lang="en-US" smtClean="0"/>
              <a:pPr>
                <a:defRPr/>
              </a:pPr>
              <a:t>23</a:t>
            </a:fld>
            <a:endParaRPr lang="en-US" baseline="-11000" dirty="0"/>
          </a:p>
        </p:txBody>
      </p:sp>
      <p:sp>
        <p:nvSpPr>
          <p:cNvPr id="6" name="Date Placeholder 5">
            <a:extLst>
              <a:ext uri="{FF2B5EF4-FFF2-40B4-BE49-F238E27FC236}">
                <a16:creationId xmlns:a16="http://schemas.microsoft.com/office/drawing/2014/main" id="{C65D8FE3-C40F-8968-D8FC-9864868B0574}"/>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1573961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7FD373-4F40-8944-16E7-270007D8E4BF}"/>
              </a:ext>
            </a:extLst>
          </p:cNvPr>
          <p:cNvSpPr>
            <a:spLocks noGrp="1"/>
          </p:cNvSpPr>
          <p:nvPr>
            <p:ph idx="1"/>
          </p:nvPr>
        </p:nvSpPr>
        <p:spPr>
          <a:xfrm>
            <a:off x="355600" y="1066800"/>
            <a:ext cx="10274300" cy="5543218"/>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7.2 Reducing the capacitance and switching activity</a:t>
            </a:r>
          </a:p>
          <a:p>
            <a:r>
              <a:rPr lang="en-US" sz="2000" dirty="0">
                <a:latin typeface="Times New Roman" panose="02020603050405020304" pitchFamily="18" charset="0"/>
                <a:cs typeface="Times New Roman" panose="02020603050405020304" pitchFamily="18" charset="0"/>
              </a:rPr>
              <a:t>The standard cell library provider can use a variety of techniques to produce a low power library.</a:t>
            </a:r>
          </a:p>
          <a:p>
            <a:r>
              <a:rPr lang="en-US" sz="2000" dirty="0">
                <a:latin typeface="Times New Roman" panose="02020603050405020304" pitchFamily="18" charset="0"/>
                <a:cs typeface="Times New Roman" panose="02020603050405020304" pitchFamily="18" charset="0"/>
              </a:rPr>
              <a:t>Once we have selected a good low-power library, we can use architectural and design techniques to reduce system power. In real chips, memory design, I/O cells, and the clocking network often dominate overall power. These areas deserve special attention when doing low-power design.</a:t>
            </a:r>
          </a:p>
          <a:p>
            <a:r>
              <a:rPr lang="en-US" sz="2000" dirty="0">
                <a:latin typeface="Times New Roman" panose="02020603050405020304" pitchFamily="18" charset="0"/>
                <a:cs typeface="Times New Roman" panose="02020603050405020304" pitchFamily="18" charset="0"/>
              </a:rPr>
              <a:t>Reducing power in I/O requires minimizing the internal, short-circuit switching current (by selecting the right I/O cell from the library) and minimizing the capacitance of the external load.</a:t>
            </a:r>
          </a:p>
          <a:p>
            <a:pPr marL="0" indent="0">
              <a:buNone/>
            </a:pPr>
            <a:r>
              <a:rPr lang="en-US" sz="2000" b="1" dirty="0">
                <a:latin typeface="Times New Roman" panose="02020603050405020304" pitchFamily="18" charset="0"/>
                <a:cs typeface="Times New Roman" panose="02020603050405020304" pitchFamily="18" charset="0"/>
              </a:rPr>
              <a:t>Memory Architecture</a:t>
            </a:r>
          </a:p>
          <a:p>
            <a:r>
              <a:rPr lang="en-US" sz="2000" dirty="0">
                <a:latin typeface="Times New Roman" panose="02020603050405020304" pitchFamily="18" charset="0"/>
                <a:cs typeface="Times New Roman" panose="02020603050405020304" pitchFamily="18" charset="0"/>
              </a:rPr>
              <a:t>Reducing power in on-chip memories involves bot circuitry and architectural techniques. Where most silicon providers have memory compilers that can produce a variety of memory designs that trade off area, power, and speed.</a:t>
            </a:r>
          </a:p>
          <a:p>
            <a:r>
              <a:rPr lang="en-US" sz="2000" dirty="0">
                <a:latin typeface="Times New Roman" panose="02020603050405020304" pitchFamily="18" charset="0"/>
                <a:cs typeface="Times New Roman" panose="02020603050405020304" pitchFamily="18" charset="0"/>
              </a:rPr>
              <a:t>The memory architecture itself can reduce power significantly. Instead of using a single, deep memory, it may be possible to partition the memory into several blocks, selected by a decode of the upper or lower address bits. Only the block being accessed is powered up. This approach again produces redundant logic (in extra decode logic), so it reduces power at the expense of (slightly) increasing area.</a:t>
            </a:r>
          </a:p>
        </p:txBody>
      </p:sp>
      <p:sp>
        <p:nvSpPr>
          <p:cNvPr id="3" name="Title 2">
            <a:extLst>
              <a:ext uri="{FF2B5EF4-FFF2-40B4-BE49-F238E27FC236}">
                <a16:creationId xmlns:a16="http://schemas.microsoft.com/office/drawing/2014/main" id="{F6CC3169-026C-9D46-65BF-7FB5DB82E60A}"/>
              </a:ext>
            </a:extLst>
          </p:cNvPr>
          <p:cNvSpPr>
            <a:spLocks noGrp="1"/>
          </p:cNvSpPr>
          <p:nvPr>
            <p:ph type="title"/>
          </p:nvPr>
        </p:nvSpPr>
        <p:spPr/>
        <p:txBody>
          <a:bodyPr/>
          <a:lstStyle/>
          <a:p>
            <a:r>
              <a:rPr lang="en-US" dirty="0"/>
              <a:t>7. Design for Low Power</a:t>
            </a:r>
          </a:p>
        </p:txBody>
      </p:sp>
      <p:sp>
        <p:nvSpPr>
          <p:cNvPr id="4" name="Footer Placeholder 3">
            <a:extLst>
              <a:ext uri="{FF2B5EF4-FFF2-40B4-BE49-F238E27FC236}">
                <a16:creationId xmlns:a16="http://schemas.microsoft.com/office/drawing/2014/main" id="{BA3FF205-D1DA-92DD-C2C8-07E2300D14F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98E83F7-F24A-3D30-8508-23D0FCE94A7A}"/>
              </a:ext>
            </a:extLst>
          </p:cNvPr>
          <p:cNvSpPr>
            <a:spLocks noGrp="1"/>
          </p:cNvSpPr>
          <p:nvPr>
            <p:ph type="sldNum" sz="quarter" idx="4"/>
          </p:nvPr>
        </p:nvSpPr>
        <p:spPr/>
        <p:txBody>
          <a:bodyPr/>
          <a:lstStyle/>
          <a:p>
            <a:pPr>
              <a:defRPr/>
            </a:pPr>
            <a:fld id="{A9CE67A1-BA7F-A74E-B5D7-615746DEEC2B}" type="slidenum">
              <a:rPr lang="en-US" smtClean="0"/>
              <a:pPr>
                <a:defRPr/>
              </a:pPr>
              <a:t>24</a:t>
            </a:fld>
            <a:endParaRPr lang="en-US" baseline="-11000" dirty="0"/>
          </a:p>
        </p:txBody>
      </p:sp>
      <p:sp>
        <p:nvSpPr>
          <p:cNvPr id="6" name="Date Placeholder 5">
            <a:extLst>
              <a:ext uri="{FF2B5EF4-FFF2-40B4-BE49-F238E27FC236}">
                <a16:creationId xmlns:a16="http://schemas.microsoft.com/office/drawing/2014/main" id="{7B5329B4-0F14-346C-601C-9D5202DE7586}"/>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2433555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E5BC48-06DE-9B5C-9D7B-E04F461169F2}"/>
              </a:ext>
            </a:extLst>
          </p:cNvPr>
          <p:cNvSpPr>
            <a:spLocks noGrp="1"/>
          </p:cNvSpPr>
          <p:nvPr>
            <p:ph idx="1"/>
          </p:nvPr>
        </p:nvSpPr>
        <p:spPr>
          <a:xfrm>
            <a:off x="355600" y="1066800"/>
            <a:ext cx="10274300" cy="5543218"/>
          </a:xfrm>
        </p:spPr>
        <p:txBody>
          <a:bodyPr/>
          <a:lstStyle/>
          <a:p>
            <a:pPr marL="0" indent="0">
              <a:buNone/>
            </a:pPr>
            <a:r>
              <a:rPr lang="en-US" sz="2400" b="1" dirty="0">
                <a:latin typeface="Times New Roman" panose="02020603050405020304" pitchFamily="18" charset="0"/>
                <a:cs typeface="Times New Roman" panose="02020603050405020304" pitchFamily="18" charset="0"/>
              </a:rPr>
              <a:t>7.2 Reducing the capacitance and switching activity</a:t>
            </a:r>
          </a:p>
          <a:p>
            <a:pPr marL="0" indent="0">
              <a:buNone/>
            </a:pPr>
            <a:r>
              <a:rPr lang="en-US" sz="2000" b="1" dirty="0">
                <a:latin typeface="Times New Roman" panose="02020603050405020304" pitchFamily="18" charset="0"/>
                <a:cs typeface="Times New Roman" panose="02020603050405020304" pitchFamily="18" charset="0"/>
              </a:rPr>
              <a:t>Clock Distribution</a:t>
            </a:r>
          </a:p>
          <a:p>
            <a:r>
              <a:rPr lang="en-US" sz="2000" dirty="0">
                <a:latin typeface="Times New Roman" panose="02020603050405020304" pitchFamily="18" charset="0"/>
                <a:cs typeface="Times New Roman" panose="02020603050405020304" pitchFamily="18" charset="0"/>
              </a:rPr>
              <a:t>Shutting down clock distribution to part of the circuit by “clock gating” can significantly reduce chip power. Clock gating, however, can be very technology dependent; careful design is required to assure a portable, reusable design.</a:t>
            </a:r>
          </a:p>
          <a:p>
            <a:r>
              <a:rPr lang="en-US" sz="2000" dirty="0">
                <a:latin typeface="Times New Roman" panose="02020603050405020304" pitchFamily="18" charset="0"/>
                <a:cs typeface="Times New Roman" panose="02020603050405020304" pitchFamily="18" charset="0"/>
              </a:rPr>
              <a:t>we can either gate the clock of a whole block or just a single flip-flop depending on the situation.</a:t>
            </a:r>
          </a:p>
          <a:p>
            <a:r>
              <a:rPr lang="en-US" sz="2000" dirty="0">
                <a:latin typeface="Times New Roman" panose="02020603050405020304" pitchFamily="18" charset="0"/>
                <a:cs typeface="Times New Roman" panose="02020603050405020304" pitchFamily="18" charset="0"/>
              </a:rPr>
              <a:t>Gating the whole block will reduce the power significantly but needs to be carefully designed and detailed knowledge of the gate used. For this reason, the clock gating circuit itself tends to be technology dependent and not reusable.</a:t>
            </a:r>
          </a:p>
          <a:p>
            <a:r>
              <a:rPr lang="en-US" sz="2000" dirty="0">
                <a:latin typeface="Times New Roman" panose="02020603050405020304" pitchFamily="18" charset="0"/>
                <a:cs typeface="Times New Roman" panose="02020603050405020304" pitchFamily="18" charset="0"/>
              </a:rPr>
              <a:t>In some cases, it may not be possible to gate the clock to an entire block, and the designer may want to gate the clock on a flop-by-flop basis.</a:t>
            </a:r>
            <a:r>
              <a:rPr lang="en-US" sz="1400" dirty="0"/>
              <a:t> </a:t>
            </a:r>
            <a:r>
              <a:rPr lang="en-US" sz="2000" dirty="0">
                <a:latin typeface="Times New Roman" panose="02020603050405020304" pitchFamily="18" charset="0"/>
                <a:cs typeface="Times New Roman" panose="02020603050405020304" pitchFamily="18" charset="0"/>
              </a:rPr>
              <a:t>This case usually occurs on flops where we selectively hold data.</a:t>
            </a:r>
          </a:p>
          <a:p>
            <a:r>
              <a:rPr lang="en-US" sz="2000" b="1" dirty="0">
                <a:latin typeface="Times New Roman" panose="02020603050405020304" pitchFamily="18" charset="0"/>
                <a:cs typeface="Times New Roman" panose="02020603050405020304" pitchFamily="18" charset="0"/>
              </a:rPr>
              <a:t>Guideline</a:t>
            </a:r>
            <a:r>
              <a:rPr lang="en-US" sz="2000" dirty="0">
                <a:latin typeface="Times New Roman" panose="02020603050405020304" pitchFamily="18" charset="0"/>
                <a:cs typeface="Times New Roman" panose="02020603050405020304" pitchFamily="18" charset="0"/>
              </a:rPr>
              <a:t> – It’s always recommended to prevent using clock gating for registers since it’s technology dependent and hence, not reusable and use enabling signal instead. </a:t>
            </a:r>
            <a:endParaRPr lang="en-US" sz="2000" b="1"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3" name="Title 2">
            <a:extLst>
              <a:ext uri="{FF2B5EF4-FFF2-40B4-BE49-F238E27FC236}">
                <a16:creationId xmlns:a16="http://schemas.microsoft.com/office/drawing/2014/main" id="{CA973A82-3954-B518-CCF6-BE0E5C3725DF}"/>
              </a:ext>
            </a:extLst>
          </p:cNvPr>
          <p:cNvSpPr>
            <a:spLocks noGrp="1"/>
          </p:cNvSpPr>
          <p:nvPr>
            <p:ph type="title"/>
          </p:nvPr>
        </p:nvSpPr>
        <p:spPr/>
        <p:txBody>
          <a:bodyPr/>
          <a:lstStyle/>
          <a:p>
            <a:r>
              <a:rPr lang="en-US" dirty="0"/>
              <a:t>7. Design for Low Power</a:t>
            </a:r>
          </a:p>
        </p:txBody>
      </p:sp>
      <p:sp>
        <p:nvSpPr>
          <p:cNvPr id="4" name="Footer Placeholder 3">
            <a:extLst>
              <a:ext uri="{FF2B5EF4-FFF2-40B4-BE49-F238E27FC236}">
                <a16:creationId xmlns:a16="http://schemas.microsoft.com/office/drawing/2014/main" id="{05081105-8AF2-AEF3-34FE-980CA5D258EA}"/>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A235FE23-5C7F-150B-BFD7-EDFF668BC3AC}"/>
              </a:ext>
            </a:extLst>
          </p:cNvPr>
          <p:cNvSpPr>
            <a:spLocks noGrp="1"/>
          </p:cNvSpPr>
          <p:nvPr>
            <p:ph type="sldNum" sz="quarter" idx="4"/>
          </p:nvPr>
        </p:nvSpPr>
        <p:spPr/>
        <p:txBody>
          <a:bodyPr/>
          <a:lstStyle/>
          <a:p>
            <a:pPr>
              <a:defRPr/>
            </a:pPr>
            <a:fld id="{A9CE67A1-BA7F-A74E-B5D7-615746DEEC2B}" type="slidenum">
              <a:rPr lang="en-US" smtClean="0"/>
              <a:pPr>
                <a:defRPr/>
              </a:pPr>
              <a:t>25</a:t>
            </a:fld>
            <a:endParaRPr lang="en-US" baseline="-11000" dirty="0"/>
          </a:p>
        </p:txBody>
      </p:sp>
      <p:sp>
        <p:nvSpPr>
          <p:cNvPr id="6" name="Date Placeholder 5">
            <a:extLst>
              <a:ext uri="{FF2B5EF4-FFF2-40B4-BE49-F238E27FC236}">
                <a16:creationId xmlns:a16="http://schemas.microsoft.com/office/drawing/2014/main" id="{54123BD5-F556-3652-B728-0A6B3AA19638}"/>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1062737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B421F7-78DD-EF86-DC10-9D03876F96B1}"/>
              </a:ext>
            </a:extLst>
          </p:cNvPr>
          <p:cNvSpPr>
            <a:spLocks noGrp="1"/>
          </p:cNvSpPr>
          <p:nvPr>
            <p:ph idx="1"/>
          </p:nvPr>
        </p:nvSpPr>
        <p:spPr>
          <a:xfrm>
            <a:off x="355600" y="1066800"/>
            <a:ext cx="11219084" cy="4914900"/>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7.3 Sizing and Other Synthesis Techniques</a:t>
            </a:r>
          </a:p>
          <a:p>
            <a:r>
              <a:rPr lang="en-US" sz="2000" dirty="0">
                <a:latin typeface="Times New Roman" panose="02020603050405020304" pitchFamily="18" charset="0"/>
                <a:cs typeface="Times New Roman" panose="02020603050405020304" pitchFamily="18" charset="0"/>
              </a:rPr>
              <a:t>Gate sizing can produce a significant power savings in many designs. This technique consists of reducing the drive strength of gates to the lowest level that meets the timing requirements for the design. Synthesis tools can do this automatically, without any requirement for changing the RTL code. </a:t>
            </a:r>
          </a:p>
          <a:p>
            <a:r>
              <a:rPr lang="en-US" sz="2000" dirty="0">
                <a:latin typeface="Times New Roman" panose="02020603050405020304" pitchFamily="18" charset="0"/>
                <a:cs typeface="Times New Roman" panose="02020603050405020304" pitchFamily="18" charset="0"/>
              </a:rPr>
              <a:t>Some incremental improvement can be gained by restructuring logic to reduce the number of intermediate, spurious transitions in the logic. Again, synthesis tools can do this automatically.</a:t>
            </a:r>
          </a:p>
          <a:p>
            <a:pPr marL="0" indent="0">
              <a:buNone/>
            </a:pPr>
            <a:r>
              <a:rPr lang="en-US" sz="2400" b="1" dirty="0">
                <a:latin typeface="Times New Roman" panose="02020603050405020304" pitchFamily="18" charset="0"/>
                <a:cs typeface="Times New Roman" panose="02020603050405020304" pitchFamily="18" charset="0"/>
              </a:rPr>
              <a:t>7.4 Summary</a:t>
            </a:r>
          </a:p>
          <a:p>
            <a:r>
              <a:rPr lang="en-US" sz="2000" dirty="0">
                <a:latin typeface="Times New Roman" panose="02020603050405020304" pitchFamily="18" charset="0"/>
                <a:cs typeface="Times New Roman" panose="02020603050405020304" pitchFamily="18" charset="0"/>
              </a:rPr>
              <a:t>There’s an analysis that have been made to estimate the power reduction due to the previous techniques.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21x reduction in power by lowering the voltage from 5v to l.lv. With changing the geometry to lower designed specifically for low power.</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3-4x reduction from gate sizing, low-power I/O cells, and similar gate-level optimizations.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 2-3x improvement by clock gating.</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 8x improvement in a memory-array using the multi-block technique described above.</a:t>
            </a:r>
          </a:p>
          <a:p>
            <a:pPr lvl="1"/>
            <a:endParaRPr lang="en-US" sz="16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4E7106F0-3B6E-F2D1-D060-CA23B1BAFDE1}"/>
              </a:ext>
            </a:extLst>
          </p:cNvPr>
          <p:cNvSpPr>
            <a:spLocks noGrp="1"/>
          </p:cNvSpPr>
          <p:nvPr>
            <p:ph type="title"/>
          </p:nvPr>
        </p:nvSpPr>
        <p:spPr/>
        <p:txBody>
          <a:bodyPr/>
          <a:lstStyle/>
          <a:p>
            <a:r>
              <a:rPr lang="en-US" dirty="0"/>
              <a:t>7. Design for Low Power</a:t>
            </a:r>
          </a:p>
        </p:txBody>
      </p:sp>
      <p:sp>
        <p:nvSpPr>
          <p:cNvPr id="4" name="Footer Placeholder 3">
            <a:extLst>
              <a:ext uri="{FF2B5EF4-FFF2-40B4-BE49-F238E27FC236}">
                <a16:creationId xmlns:a16="http://schemas.microsoft.com/office/drawing/2014/main" id="{EAE3366C-7AB4-22B0-E99E-BDF509EDBE4E}"/>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A597080E-582F-A94F-FEA2-ABD3B6925C69}"/>
              </a:ext>
            </a:extLst>
          </p:cNvPr>
          <p:cNvSpPr>
            <a:spLocks noGrp="1"/>
          </p:cNvSpPr>
          <p:nvPr>
            <p:ph type="sldNum" sz="quarter" idx="4"/>
          </p:nvPr>
        </p:nvSpPr>
        <p:spPr/>
        <p:txBody>
          <a:bodyPr/>
          <a:lstStyle/>
          <a:p>
            <a:pPr>
              <a:defRPr/>
            </a:pPr>
            <a:fld id="{A9CE67A1-BA7F-A74E-B5D7-615746DEEC2B}" type="slidenum">
              <a:rPr lang="en-US" smtClean="0"/>
              <a:pPr>
                <a:defRPr/>
              </a:pPr>
              <a:t>26</a:t>
            </a:fld>
            <a:endParaRPr lang="en-US" baseline="-11000" dirty="0"/>
          </a:p>
        </p:txBody>
      </p:sp>
      <p:sp>
        <p:nvSpPr>
          <p:cNvPr id="6" name="Date Placeholder 5">
            <a:extLst>
              <a:ext uri="{FF2B5EF4-FFF2-40B4-BE49-F238E27FC236}">
                <a16:creationId xmlns:a16="http://schemas.microsoft.com/office/drawing/2014/main" id="{970AE6FD-3229-6AF5-AC9A-B11C559789AB}"/>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835118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4188B7-EB9E-6CCA-5376-759891CC11D7}"/>
              </a:ext>
            </a:extLst>
          </p:cNvPr>
          <p:cNvSpPr>
            <a:spLocks noGrp="1"/>
          </p:cNvSpPr>
          <p:nvPr>
            <p:ph idx="1"/>
          </p:nvPr>
        </p:nvSpPr>
        <p:spPr>
          <a:xfrm>
            <a:off x="355600" y="1066800"/>
            <a:ext cx="10274300" cy="5543218"/>
          </a:xfrm>
        </p:spPr>
        <p:txBody>
          <a:bodyPr>
            <a:normAutofit/>
          </a:bodyPr>
          <a:lstStyle/>
          <a:p>
            <a:pPr marL="0" indent="0">
              <a:buNone/>
            </a:pPr>
            <a:r>
              <a:rPr lang="en-US" sz="2400" b="1" dirty="0">
                <a:latin typeface="Times New Roman" panose="02020603050405020304" pitchFamily="18" charset="0"/>
                <a:ea typeface="Tahoma" panose="020B0604030504040204" pitchFamily="34" charset="0"/>
                <a:cs typeface="Times New Roman" panose="02020603050405020304" pitchFamily="18" charset="0"/>
              </a:rPr>
              <a:t>8.1 System-Level Test Issues</a:t>
            </a:r>
          </a:p>
          <a:p>
            <a:pPr marL="0" indent="0">
              <a:buNone/>
            </a:pPr>
            <a:r>
              <a:rPr lang="en-US" sz="2000" b="1" dirty="0">
                <a:latin typeface="Times New Roman" panose="02020603050405020304" pitchFamily="18" charset="0"/>
                <a:cs typeface="Times New Roman" panose="02020603050405020304" pitchFamily="18" charset="0"/>
              </a:rPr>
              <a:t>Rule</a:t>
            </a:r>
            <a:r>
              <a:rPr lang="en-US" sz="2000" dirty="0">
                <a:latin typeface="Times New Roman" panose="02020603050405020304" pitchFamily="18" charset="0"/>
                <a:cs typeface="Times New Roman" panose="02020603050405020304" pitchFamily="18" charset="0"/>
              </a:rPr>
              <a:t> – The system-level chip manufacturing test strategy must be documented.</a:t>
            </a:r>
          </a:p>
          <a:p>
            <a:pPr marL="0" indent="0">
              <a:buNone/>
            </a:pPr>
            <a:r>
              <a:rPr lang="en-US" sz="2000" b="1" dirty="0">
                <a:latin typeface="Times New Roman" panose="02020603050405020304" pitchFamily="18" charset="0"/>
                <a:cs typeface="Times New Roman" panose="02020603050405020304" pitchFamily="18" charset="0"/>
              </a:rPr>
              <a:t>Guideline</a:t>
            </a:r>
            <a:r>
              <a:rPr lang="en-US" sz="2000" dirty="0">
                <a:latin typeface="Times New Roman" panose="02020603050405020304" pitchFamily="18" charset="0"/>
                <a:cs typeface="Times New Roman" panose="02020603050405020304" pitchFamily="18" charset="0"/>
              </a:rPr>
              <a:t> – On-chip test structures are recommended for all blocks.</a:t>
            </a:r>
          </a:p>
          <a:p>
            <a:pPr marL="0" indent="0">
              <a:buNone/>
            </a:pPr>
            <a:r>
              <a:rPr lang="en-US" sz="2000" b="1" dirty="0">
                <a:latin typeface="Times New Roman" panose="02020603050405020304" pitchFamily="18" charset="0"/>
                <a:cs typeface="Times New Roman" panose="02020603050405020304" pitchFamily="18" charset="0"/>
              </a:rPr>
              <a:t>Guideline</a:t>
            </a:r>
            <a:r>
              <a:rPr lang="en-US" sz="2000" dirty="0">
                <a:latin typeface="Times New Roman" panose="02020603050405020304" pitchFamily="18" charset="0"/>
                <a:cs typeface="Times New Roman" panose="02020603050405020304" pitchFamily="18" charset="0"/>
              </a:rPr>
              <a:t> – Include an asynchronous set or reset function for all flip-flops. To set the chip to a known state which makes test programs easier to create. </a:t>
            </a:r>
          </a:p>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8.2 Memory Test </a:t>
            </a:r>
          </a:p>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lang="en-US" sz="2000" b="1" dirty="0">
                <a:latin typeface="Times New Roman" panose="02020603050405020304" pitchFamily="18" charset="0"/>
                <a:cs typeface="Times New Roman" panose="02020603050405020304" pitchFamily="18" charset="0"/>
              </a:rPr>
              <a:t>Guideline</a:t>
            </a:r>
            <a:r>
              <a:rPr lang="en-US" sz="2000" dirty="0">
                <a:latin typeface="Times New Roman" panose="02020603050405020304" pitchFamily="18" charset="0"/>
                <a:cs typeface="Times New Roman" panose="02020603050405020304" pitchFamily="18" charset="0"/>
              </a:rPr>
              <a:t> – Some form of BIST (Built In Self Test) is recommended for RAMs, because this provides a rapid, easy-to-control test methodology. However, some BIST solutions are not sufficient to test data retention.</a:t>
            </a:r>
          </a:p>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02D7783-8808-4190-1991-64668923AEF7}"/>
              </a:ext>
            </a:extLst>
          </p:cNvPr>
          <p:cNvSpPr>
            <a:spLocks noGrp="1"/>
          </p:cNvSpPr>
          <p:nvPr>
            <p:ph type="title"/>
          </p:nvPr>
        </p:nvSpPr>
        <p:spPr/>
        <p:txBody>
          <a:bodyPr/>
          <a:lstStyle/>
          <a:p>
            <a:r>
              <a:rPr lang="en-US" dirty="0"/>
              <a:t>8. Design for Test: Manufacturing Test Strategies</a:t>
            </a:r>
          </a:p>
        </p:txBody>
      </p:sp>
      <p:sp>
        <p:nvSpPr>
          <p:cNvPr id="4" name="Footer Placeholder 3">
            <a:extLst>
              <a:ext uri="{FF2B5EF4-FFF2-40B4-BE49-F238E27FC236}">
                <a16:creationId xmlns:a16="http://schemas.microsoft.com/office/drawing/2014/main" id="{2A0A8278-E63E-2894-6384-3FD979751927}"/>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1B9D9467-7AB8-2423-8CA3-6C3EB833F294}"/>
              </a:ext>
            </a:extLst>
          </p:cNvPr>
          <p:cNvSpPr>
            <a:spLocks noGrp="1"/>
          </p:cNvSpPr>
          <p:nvPr>
            <p:ph type="sldNum" sz="quarter" idx="4"/>
          </p:nvPr>
        </p:nvSpPr>
        <p:spPr/>
        <p:txBody>
          <a:bodyPr/>
          <a:lstStyle/>
          <a:p>
            <a:pPr>
              <a:defRPr/>
            </a:pPr>
            <a:fld id="{A9CE67A1-BA7F-A74E-B5D7-615746DEEC2B}" type="slidenum">
              <a:rPr lang="en-US" smtClean="0"/>
              <a:pPr>
                <a:defRPr/>
              </a:pPr>
              <a:t>27</a:t>
            </a:fld>
            <a:endParaRPr lang="en-US" baseline="-11000" dirty="0"/>
          </a:p>
        </p:txBody>
      </p:sp>
      <p:sp>
        <p:nvSpPr>
          <p:cNvPr id="6" name="Date Placeholder 5">
            <a:extLst>
              <a:ext uri="{FF2B5EF4-FFF2-40B4-BE49-F238E27FC236}">
                <a16:creationId xmlns:a16="http://schemas.microsoft.com/office/drawing/2014/main" id="{A174A899-AE45-F569-8468-310882562967}"/>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244006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E27100-007C-B974-6BFF-E5A81B0FA0F0}"/>
              </a:ext>
            </a:extLst>
          </p:cNvPr>
          <p:cNvSpPr>
            <a:spLocks noGrp="1"/>
          </p:cNvSpPr>
          <p:nvPr>
            <p:ph idx="1"/>
          </p:nvPr>
        </p:nvSpPr>
        <p:spPr/>
        <p:txBody>
          <a:bodyPr/>
          <a:lstStyle/>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8.3 Microprocessor Test </a:t>
            </a:r>
          </a:p>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key challenge in integrating the processor into the overall scan testing of the chip involves </a:t>
            </a:r>
          </a:p>
          <a:p>
            <a:pPr marL="0" marR="0" lvl="0" indent="0" algn="l" defTabSz="457200" rtl="0" eaLnBrk="1" fontAlgn="auto" latinLnBrk="0" hangingPunct="1">
              <a:lnSpc>
                <a:spcPct val="90000"/>
              </a:lnSpc>
              <a:spcBef>
                <a:spcPts val="0"/>
              </a:spcBef>
              <a:spcAft>
                <a:spcPts val="400"/>
              </a:spcAft>
              <a:buClr>
                <a:srgbClr val="B1B3B3"/>
              </a:buClr>
              <a:buSzPct val="65000"/>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dealing with the interface between the processor and the rest of the chip.</a:t>
            </a:r>
          </a:p>
          <a:p>
            <a:pPr marL="0" marR="0" lvl="0" indent="0" algn="l" defTabSz="457200" rtl="0" eaLnBrk="1" fontAlgn="auto" latinLnBrk="0" hangingPunct="1">
              <a:lnSpc>
                <a:spcPct val="90000"/>
              </a:lnSpc>
              <a:spcBef>
                <a:spcPts val="0"/>
              </a:spcBef>
              <a:spcAft>
                <a:spcPts val="400"/>
              </a:spcAft>
              <a:buClr>
                <a:srgbClr val="B1B3B3"/>
              </a:buClr>
              <a:buSzPct val="65000"/>
              <a:buFont typeface="Arial" panose="020B0604020202020204" pitchFamily="34" charset="0"/>
              <a:buNone/>
              <a:tabLst/>
              <a:defRPr/>
            </a:pPr>
            <a:r>
              <a:rPr kumimoji="0" lang="en-US" sz="20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The shadow registers provide isolation between the processor scan chain and that of the rest of the chip, making scan test pattern generation two separate, local problems.</a:t>
            </a:r>
          </a:p>
          <a:p>
            <a:endParaRPr lang="en-US" dirty="0"/>
          </a:p>
        </p:txBody>
      </p:sp>
      <p:sp>
        <p:nvSpPr>
          <p:cNvPr id="3" name="Title 2">
            <a:extLst>
              <a:ext uri="{FF2B5EF4-FFF2-40B4-BE49-F238E27FC236}">
                <a16:creationId xmlns:a16="http://schemas.microsoft.com/office/drawing/2014/main" id="{4969DA96-7517-6943-0927-28AD55E320E4}"/>
              </a:ext>
            </a:extLst>
          </p:cNvPr>
          <p:cNvSpPr>
            <a:spLocks noGrp="1"/>
          </p:cNvSpPr>
          <p:nvPr>
            <p:ph type="title"/>
          </p:nvPr>
        </p:nvSpPr>
        <p:spPr/>
        <p:txBody>
          <a:bodyPr/>
          <a:lstStyle/>
          <a:p>
            <a:r>
              <a:rPr lang="en-US" dirty="0"/>
              <a:t>8. Design for Test: Manufacturing Test Strategies</a:t>
            </a:r>
          </a:p>
        </p:txBody>
      </p:sp>
      <p:sp>
        <p:nvSpPr>
          <p:cNvPr id="4" name="Footer Placeholder 3">
            <a:extLst>
              <a:ext uri="{FF2B5EF4-FFF2-40B4-BE49-F238E27FC236}">
                <a16:creationId xmlns:a16="http://schemas.microsoft.com/office/drawing/2014/main" id="{6E1B011E-C75D-1DC4-D359-57B5550CC43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47C29574-6F84-2ED3-4BFA-0A86BF4D6DDA}"/>
              </a:ext>
            </a:extLst>
          </p:cNvPr>
          <p:cNvSpPr>
            <a:spLocks noGrp="1"/>
          </p:cNvSpPr>
          <p:nvPr>
            <p:ph type="sldNum" sz="quarter" idx="4"/>
          </p:nvPr>
        </p:nvSpPr>
        <p:spPr/>
        <p:txBody>
          <a:bodyPr/>
          <a:lstStyle/>
          <a:p>
            <a:pPr>
              <a:defRPr/>
            </a:pPr>
            <a:fld id="{A9CE67A1-BA7F-A74E-B5D7-615746DEEC2B}" type="slidenum">
              <a:rPr lang="en-US" smtClean="0"/>
              <a:pPr>
                <a:defRPr/>
              </a:pPr>
              <a:t>28</a:t>
            </a:fld>
            <a:endParaRPr lang="en-US" baseline="-11000" dirty="0"/>
          </a:p>
        </p:txBody>
      </p:sp>
      <p:sp>
        <p:nvSpPr>
          <p:cNvPr id="6" name="Date Placeholder 5">
            <a:extLst>
              <a:ext uri="{FF2B5EF4-FFF2-40B4-BE49-F238E27FC236}">
                <a16:creationId xmlns:a16="http://schemas.microsoft.com/office/drawing/2014/main" id="{8A7FF90E-8BF1-E14E-A432-215A985784E5}"/>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pic>
        <p:nvPicPr>
          <p:cNvPr id="9" name="Picture 8">
            <a:extLst>
              <a:ext uri="{FF2B5EF4-FFF2-40B4-BE49-F238E27FC236}">
                <a16:creationId xmlns:a16="http://schemas.microsoft.com/office/drawing/2014/main" id="{B67122A0-6CF8-FEB3-BCBF-2B3A0892A582}"/>
              </a:ext>
            </a:extLst>
          </p:cNvPr>
          <p:cNvPicPr>
            <a:picLocks noChangeAspect="1"/>
          </p:cNvPicPr>
          <p:nvPr/>
        </p:nvPicPr>
        <p:blipFill>
          <a:blip r:embed="rId2"/>
          <a:stretch>
            <a:fillRect/>
          </a:stretch>
        </p:blipFill>
        <p:spPr>
          <a:xfrm>
            <a:off x="2530765" y="3049502"/>
            <a:ext cx="6350023" cy="2932198"/>
          </a:xfrm>
          <a:prstGeom prst="rect">
            <a:avLst/>
          </a:prstGeom>
        </p:spPr>
      </p:pic>
    </p:spTree>
    <p:extLst>
      <p:ext uri="{BB962C8B-B14F-4D97-AF65-F5344CB8AC3E}">
        <p14:creationId xmlns:p14="http://schemas.microsoft.com/office/powerpoint/2010/main" val="1722809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05C6FC-A38A-B928-9C36-CC56389D4E9C}"/>
              </a:ext>
            </a:extLst>
          </p:cNvPr>
          <p:cNvSpPr>
            <a:spLocks noGrp="1"/>
          </p:cNvSpPr>
          <p:nvPr>
            <p:ph idx="1"/>
          </p:nvPr>
        </p:nvSpPr>
        <p:spPr/>
        <p:txBody>
          <a:bodyPr/>
          <a:lstStyle/>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8.4 Other Macros</a:t>
            </a:r>
          </a:p>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lang="en-US" sz="2000" b="1" dirty="0">
                <a:latin typeface="Times New Roman" panose="02020603050405020304" pitchFamily="18" charset="0"/>
                <a:cs typeface="Times New Roman" panose="02020603050405020304" pitchFamily="18" charset="0"/>
              </a:rPr>
              <a:t>Guideline</a:t>
            </a:r>
            <a:r>
              <a:rPr lang="en-US" sz="2000" dirty="0">
                <a:latin typeface="Times New Roman" panose="02020603050405020304" pitchFamily="18" charset="0"/>
                <a:cs typeface="Times New Roman" panose="02020603050405020304" pitchFamily="18" charset="0"/>
              </a:rPr>
              <a:t> – For most other blocks, the best choice is a full-scan technique. Full scan provides very high coverage for very little design effort.</a:t>
            </a:r>
            <a:r>
              <a:rPr kumimoji="0" 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 </a:t>
            </a:r>
          </a:p>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rPr>
              <a:t>8.5 Logic BIST</a:t>
            </a:r>
          </a:p>
          <a:p>
            <a:pPr>
              <a:buClr>
                <a:srgbClr val="B1B3B3"/>
              </a:buClr>
              <a:defRPr/>
            </a:pPr>
            <a:r>
              <a:rPr lang="en-US" sz="2000" dirty="0">
                <a:latin typeface="Times New Roman" panose="02020603050405020304" pitchFamily="18" charset="0"/>
                <a:cs typeface="Times New Roman" panose="02020603050405020304" pitchFamily="18" charset="0"/>
              </a:rPr>
              <a:t>Logic BIST is a variation on the full-scan approach. Where full scan must have its scan chain integrated into the chip’s overall scan chain(s), logic BIST uses a Linear Feedback Shift Register (LFSR) to generate the test patterns locally.</a:t>
            </a:r>
            <a:r>
              <a:rPr lang="en-US" sz="1600" dirty="0"/>
              <a:t> </a:t>
            </a:r>
          </a:p>
          <a:p>
            <a:pPr>
              <a:buClr>
                <a:srgbClr val="B1B3B3"/>
              </a:buClr>
              <a:defRPr/>
            </a:pPr>
            <a:r>
              <a:rPr lang="en-US" sz="2000" dirty="0">
                <a:latin typeface="Times New Roman" panose="02020603050405020304" pitchFamily="18" charset="0"/>
                <a:cs typeface="Times New Roman" panose="02020603050405020304" pitchFamily="18" charset="0"/>
              </a:rPr>
              <a:t>Logic BIST has the advantage of keeping all pattern generation and checking within the macro. This provides some element of additional security against reverse engineering of the macro. It also reduces the requirements for scan memory in the tester and allows testing at higher clock rates than can be achieved on most testers.</a:t>
            </a:r>
          </a:p>
          <a:p>
            <a:pPr marL="0" indent="0">
              <a:buClr>
                <a:srgbClr val="B1B3B3"/>
              </a:buClr>
              <a:buNone/>
              <a:defRPr/>
            </a:pPr>
            <a:endParaRPr kumimoji="0" 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endParaRPr kumimoji="0" 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a:p>
            <a:pPr marL="0" indent="0">
              <a:buNone/>
            </a:pPr>
            <a:endParaRPr lang="en-US" dirty="0"/>
          </a:p>
        </p:txBody>
      </p:sp>
      <p:sp>
        <p:nvSpPr>
          <p:cNvPr id="3" name="Title 2">
            <a:extLst>
              <a:ext uri="{FF2B5EF4-FFF2-40B4-BE49-F238E27FC236}">
                <a16:creationId xmlns:a16="http://schemas.microsoft.com/office/drawing/2014/main" id="{3E13AB20-E942-A00B-5537-E94C89AD40C4}"/>
              </a:ext>
            </a:extLst>
          </p:cNvPr>
          <p:cNvSpPr>
            <a:spLocks noGrp="1"/>
          </p:cNvSpPr>
          <p:nvPr>
            <p:ph type="title"/>
          </p:nvPr>
        </p:nvSpPr>
        <p:spPr/>
        <p:txBody>
          <a:bodyPr/>
          <a:lstStyle/>
          <a:p>
            <a:r>
              <a:rPr lang="en-US" dirty="0"/>
              <a:t>8. Design for Test: Manufacturing Test Strategies</a:t>
            </a:r>
          </a:p>
        </p:txBody>
      </p:sp>
      <p:sp>
        <p:nvSpPr>
          <p:cNvPr id="4" name="Footer Placeholder 3">
            <a:extLst>
              <a:ext uri="{FF2B5EF4-FFF2-40B4-BE49-F238E27FC236}">
                <a16:creationId xmlns:a16="http://schemas.microsoft.com/office/drawing/2014/main" id="{9C8CFA6F-9FC9-8B90-7CAB-6E9758DC7427}"/>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BD6191F5-BBF7-DE0E-885E-CCAF6EC43756}"/>
              </a:ext>
            </a:extLst>
          </p:cNvPr>
          <p:cNvSpPr>
            <a:spLocks noGrp="1"/>
          </p:cNvSpPr>
          <p:nvPr>
            <p:ph type="sldNum" sz="quarter" idx="4"/>
          </p:nvPr>
        </p:nvSpPr>
        <p:spPr/>
        <p:txBody>
          <a:bodyPr/>
          <a:lstStyle/>
          <a:p>
            <a:pPr>
              <a:defRPr/>
            </a:pPr>
            <a:fld id="{A9CE67A1-BA7F-A74E-B5D7-615746DEEC2B}" type="slidenum">
              <a:rPr lang="en-US" smtClean="0"/>
              <a:pPr>
                <a:defRPr/>
              </a:pPr>
              <a:t>29</a:t>
            </a:fld>
            <a:endParaRPr lang="en-US" baseline="-11000" dirty="0"/>
          </a:p>
        </p:txBody>
      </p:sp>
      <p:sp>
        <p:nvSpPr>
          <p:cNvPr id="6" name="Date Placeholder 5">
            <a:extLst>
              <a:ext uri="{FF2B5EF4-FFF2-40B4-BE49-F238E27FC236}">
                <a16:creationId xmlns:a16="http://schemas.microsoft.com/office/drawing/2014/main" id="{A24E526E-228E-63E4-13DC-74675D7DDA62}"/>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1880650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46874F-7CF2-FF85-635C-436CAAF0F39C}"/>
              </a:ext>
            </a:extLst>
          </p:cNvPr>
          <p:cNvSpPr>
            <a:spLocks noGrp="1"/>
          </p:cNvSpPr>
          <p:nvPr>
            <p:ph idx="1"/>
          </p:nvPr>
        </p:nvSpPr>
        <p:spPr>
          <a:xfrm>
            <a:off x="355600" y="1066800"/>
            <a:ext cx="10274300" cy="5549218"/>
          </a:xfrm>
        </p:spPr>
        <p:txBody>
          <a:bodyPr>
            <a:normAutofit/>
          </a:bodyPr>
          <a:lstStyle/>
          <a:p>
            <a:r>
              <a:rPr lang="en-US" sz="2000" dirty="0">
                <a:latin typeface="Times New Roman" panose="02020603050405020304" pitchFamily="18" charset="0"/>
                <a:cs typeface="Times New Roman" panose="02020603050405020304" pitchFamily="18" charset="0"/>
              </a:rPr>
              <a:t>We conclude this chapter with a discussion of the technical infrastructure that must be in place for the standard model of reuse to be successful.</a:t>
            </a:r>
          </a:p>
          <a:p>
            <a:pPr marL="0" indent="0">
              <a:buNone/>
            </a:pPr>
            <a:r>
              <a:rPr lang="en-US" sz="2400" b="1" dirty="0">
                <a:latin typeface="Times New Roman" panose="02020603050405020304" pitchFamily="18" charset="0"/>
                <a:cs typeface="Times New Roman" panose="02020603050405020304" pitchFamily="18" charset="0"/>
              </a:rPr>
              <a:t>9.1 Libraries</a:t>
            </a:r>
          </a:p>
          <a:p>
            <a:r>
              <a:rPr lang="en-US" sz="1800" dirty="0">
                <a:latin typeface="Times New Roman" panose="02020603050405020304" pitchFamily="18" charset="0"/>
                <a:cs typeface="Times New Roman" panose="02020603050405020304" pitchFamily="18" charset="0"/>
              </a:rPr>
              <a:t>design teams must have access to high-quality standard cell libraries: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Full set of views (synthesis, physical and power views).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Need to be validated in hardware so that design teams can have a high degree of confidence in their timing and power characteristics.</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libraries should have a reasonably accurate, validated wire load models to enable useful pre-layout synthesis and timing analysis of designs.</a:t>
            </a:r>
          </a:p>
          <a:p>
            <a:r>
              <a:rPr lang="en-US" sz="1800" dirty="0">
                <a:latin typeface="Times New Roman" panose="02020603050405020304" pitchFamily="18" charset="0"/>
                <a:cs typeface="Times New Roman" panose="02020603050405020304" pitchFamily="18" charset="0"/>
              </a:rPr>
              <a:t>These libraries need to be tested in the SoC flow before they can be considered completely validated.</a:t>
            </a:r>
          </a:p>
          <a:p>
            <a:r>
              <a:rPr lang="en-US" sz="1800" dirty="0">
                <a:latin typeface="Times New Roman" panose="02020603050405020304" pitchFamily="18" charset="0"/>
                <a:cs typeface="Times New Roman" panose="02020603050405020304" pitchFamily="18" charset="0"/>
              </a:rPr>
              <a:t>These libraries should also include a set of memory compilers. These memory compilers should provide for some tradeoffs between power, area, and timing performance.</a:t>
            </a:r>
          </a:p>
          <a:p>
            <a:r>
              <a:rPr lang="en-US" sz="1800" dirty="0">
                <a:latin typeface="Times New Roman" panose="02020603050405020304" pitchFamily="18" charset="0"/>
                <a:cs typeface="Times New Roman" panose="02020603050405020304" pitchFamily="18" charset="0"/>
              </a:rPr>
              <a:t>Libraries should also provide special cells for clock gating.</a:t>
            </a:r>
          </a:p>
          <a:p>
            <a:r>
              <a:rPr lang="en-US" sz="1800" dirty="0">
                <a:latin typeface="Times New Roman" panose="02020603050405020304" pitchFamily="18" charset="0"/>
                <a:cs typeface="Times New Roman" panose="02020603050405020304" pitchFamily="18" charset="0"/>
              </a:rPr>
              <a:t>Certain analog block that are frequently used like PLLs, ADC and DAC.</a:t>
            </a:r>
          </a:p>
          <a:p>
            <a:r>
              <a:rPr lang="en-US" sz="1800" b="1" dirty="0">
                <a:latin typeface="Times New Roman" panose="02020603050405020304" pitchFamily="18" charset="0"/>
                <a:cs typeface="Times New Roman" panose="02020603050405020304" pitchFamily="18" charset="0"/>
              </a:rPr>
              <a:t>Guideline</a:t>
            </a:r>
            <a:r>
              <a:rPr lang="en-US" sz="1800" dirty="0">
                <a:latin typeface="Times New Roman" panose="02020603050405020304" pitchFamily="18" charset="0"/>
                <a:cs typeface="Times New Roman" panose="02020603050405020304" pitchFamily="18" charset="0"/>
              </a:rPr>
              <a:t> – cell names should be unique to the library.</a:t>
            </a:r>
          </a:p>
        </p:txBody>
      </p:sp>
      <p:sp>
        <p:nvSpPr>
          <p:cNvPr id="3" name="Title 2">
            <a:extLst>
              <a:ext uri="{FF2B5EF4-FFF2-40B4-BE49-F238E27FC236}">
                <a16:creationId xmlns:a16="http://schemas.microsoft.com/office/drawing/2014/main" id="{32DCA60D-709A-E07B-71E0-B9C4E168E17F}"/>
              </a:ext>
            </a:extLst>
          </p:cNvPr>
          <p:cNvSpPr>
            <a:spLocks noGrp="1"/>
          </p:cNvSpPr>
          <p:nvPr>
            <p:ph type="title"/>
          </p:nvPr>
        </p:nvSpPr>
        <p:spPr/>
        <p:txBody>
          <a:bodyPr/>
          <a:lstStyle/>
          <a:p>
            <a:r>
              <a:rPr lang="en-US" dirty="0"/>
              <a:t>9. Prerequisites for Reuse</a:t>
            </a:r>
          </a:p>
        </p:txBody>
      </p:sp>
      <p:sp>
        <p:nvSpPr>
          <p:cNvPr id="4" name="Footer Placeholder 3">
            <a:extLst>
              <a:ext uri="{FF2B5EF4-FFF2-40B4-BE49-F238E27FC236}">
                <a16:creationId xmlns:a16="http://schemas.microsoft.com/office/drawing/2014/main" id="{D1339E75-B43A-D141-EF4E-D17DB484C072}"/>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6570571D-8D1F-3F0F-5A04-4CD4C1064245}"/>
              </a:ext>
            </a:extLst>
          </p:cNvPr>
          <p:cNvSpPr>
            <a:spLocks noGrp="1"/>
          </p:cNvSpPr>
          <p:nvPr>
            <p:ph type="sldNum" sz="quarter" idx="4"/>
          </p:nvPr>
        </p:nvSpPr>
        <p:spPr/>
        <p:txBody>
          <a:bodyPr/>
          <a:lstStyle/>
          <a:p>
            <a:pPr>
              <a:defRPr/>
            </a:pPr>
            <a:fld id="{A9CE67A1-BA7F-A74E-B5D7-615746DEEC2B}" type="slidenum">
              <a:rPr lang="en-US" smtClean="0"/>
              <a:pPr>
                <a:defRPr/>
              </a:pPr>
              <a:t>30</a:t>
            </a:fld>
            <a:endParaRPr lang="en-US" baseline="-11000" dirty="0"/>
          </a:p>
        </p:txBody>
      </p:sp>
      <p:sp>
        <p:nvSpPr>
          <p:cNvPr id="6" name="Date Placeholder 5">
            <a:extLst>
              <a:ext uri="{FF2B5EF4-FFF2-40B4-BE49-F238E27FC236}">
                <a16:creationId xmlns:a16="http://schemas.microsoft.com/office/drawing/2014/main" id="{C4D34238-68E8-96C4-0E1F-FC17390A5F80}"/>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3579712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06286D-A9D5-A026-C213-982A06CA30F1}"/>
              </a:ext>
            </a:extLst>
          </p:cNvPr>
          <p:cNvSpPr>
            <a:spLocks noGrp="1"/>
          </p:cNvSpPr>
          <p:nvPr>
            <p:ph idx="1"/>
          </p:nvPr>
        </p:nvSpPr>
        <p:spPr/>
        <p:txBody>
          <a:bodyPr/>
          <a:lstStyle/>
          <a:p>
            <a:pPr marL="0" marR="0" lvl="0" indent="0" algn="l" defTabSz="457200" rtl="0" eaLnBrk="1" fontAlgn="auto" latinLnBrk="0" hangingPunct="1">
              <a:lnSpc>
                <a:spcPct val="90000"/>
              </a:lnSpc>
              <a:spcBef>
                <a:spcPts val="1000"/>
              </a:spcBef>
              <a:spcAft>
                <a:spcPts val="400"/>
              </a:spcAft>
              <a:buClr>
                <a:srgbClr val="B1B3B3"/>
              </a:buClr>
              <a:buSzPct val="65000"/>
              <a:buFont typeface="Arial" panose="020B0604020202020204" pitchFamily="34" charset="0"/>
              <a:buNone/>
              <a:tabLst/>
              <a:defRPr/>
            </a:pPr>
            <a:r>
              <a:rPr kumimoji="0" 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9.2 Physical Design Rules</a:t>
            </a:r>
          </a:p>
          <a:p>
            <a:r>
              <a:rPr lang="en-US" sz="2000" dirty="0">
                <a:latin typeface="Times New Roman" panose="02020603050405020304" pitchFamily="18" charset="0"/>
                <a:cs typeface="Times New Roman" panose="02020603050405020304" pitchFamily="18" charset="0"/>
              </a:rPr>
              <a:t>One common problem in large designs is that several pieces of hard IP are integrated from different sources. If these blocks have been designed with different physical design rules, and verified using different DRC decks, then physical verification at the chip level can be a major problem.</a:t>
            </a:r>
          </a:p>
          <a:p>
            <a:r>
              <a:rPr lang="en-US" sz="2000" dirty="0">
                <a:latin typeface="Times New Roman" panose="02020603050405020304" pitchFamily="18" charset="0"/>
                <a:cs typeface="Times New Roman" panose="02020603050405020304" pitchFamily="18" charset="0"/>
              </a:rPr>
              <a:t>There have to be a standard DRC and LVS rules be developed and validated that should be used by all the design teams, so that physical designs can be exchanged and integrated without undue effort.</a:t>
            </a:r>
          </a:p>
        </p:txBody>
      </p:sp>
      <p:sp>
        <p:nvSpPr>
          <p:cNvPr id="3" name="Title 2">
            <a:extLst>
              <a:ext uri="{FF2B5EF4-FFF2-40B4-BE49-F238E27FC236}">
                <a16:creationId xmlns:a16="http://schemas.microsoft.com/office/drawing/2014/main" id="{131162BC-4738-F117-45C7-FEF32467E83E}"/>
              </a:ext>
            </a:extLst>
          </p:cNvPr>
          <p:cNvSpPr>
            <a:spLocks noGrp="1"/>
          </p:cNvSpPr>
          <p:nvPr>
            <p:ph type="title"/>
          </p:nvPr>
        </p:nvSpPr>
        <p:spPr/>
        <p:txBody>
          <a:bodyPr/>
          <a:lstStyle/>
          <a:p>
            <a:r>
              <a:rPr lang="en-US" dirty="0"/>
              <a:t>9. Prerequisites for Reuse</a:t>
            </a:r>
          </a:p>
        </p:txBody>
      </p:sp>
      <p:sp>
        <p:nvSpPr>
          <p:cNvPr id="4" name="Footer Placeholder 3">
            <a:extLst>
              <a:ext uri="{FF2B5EF4-FFF2-40B4-BE49-F238E27FC236}">
                <a16:creationId xmlns:a16="http://schemas.microsoft.com/office/drawing/2014/main" id="{084CD240-EB73-5182-FB70-68B89480F180}"/>
              </a:ext>
            </a:extLst>
          </p:cNvPr>
          <p:cNvSpPr>
            <a:spLocks noGrp="1"/>
          </p:cNvSpPr>
          <p:nvPr>
            <p:ph type="ftr" sz="quarter" idx="3"/>
          </p:nvPr>
        </p:nvSpPr>
        <p:spPr/>
        <p:txBody>
          <a:bodyPr/>
          <a:lstStyle/>
          <a:p>
            <a:r>
              <a:rPr lang="en-US"/>
              <a:t>©2022 Analog Devices, Inc. </a:t>
            </a:r>
            <a:endParaRPr lang="en-US" dirty="0"/>
          </a:p>
        </p:txBody>
      </p:sp>
      <p:sp>
        <p:nvSpPr>
          <p:cNvPr id="5" name="Slide Number Placeholder 4">
            <a:extLst>
              <a:ext uri="{FF2B5EF4-FFF2-40B4-BE49-F238E27FC236}">
                <a16:creationId xmlns:a16="http://schemas.microsoft.com/office/drawing/2014/main" id="{287FF740-DA01-61AF-B225-9D89E738FF88}"/>
              </a:ext>
            </a:extLst>
          </p:cNvPr>
          <p:cNvSpPr>
            <a:spLocks noGrp="1"/>
          </p:cNvSpPr>
          <p:nvPr>
            <p:ph type="sldNum" sz="quarter" idx="4"/>
          </p:nvPr>
        </p:nvSpPr>
        <p:spPr/>
        <p:txBody>
          <a:bodyPr/>
          <a:lstStyle/>
          <a:p>
            <a:pPr>
              <a:defRPr/>
            </a:pPr>
            <a:fld id="{A9CE67A1-BA7F-A74E-B5D7-615746DEEC2B}" type="slidenum">
              <a:rPr lang="en-US" smtClean="0"/>
              <a:pPr>
                <a:defRPr/>
              </a:pPr>
              <a:t>31</a:t>
            </a:fld>
            <a:endParaRPr lang="en-US" baseline="-11000" dirty="0"/>
          </a:p>
        </p:txBody>
      </p:sp>
      <p:sp>
        <p:nvSpPr>
          <p:cNvPr id="6" name="Date Placeholder 5">
            <a:extLst>
              <a:ext uri="{FF2B5EF4-FFF2-40B4-BE49-F238E27FC236}">
                <a16:creationId xmlns:a16="http://schemas.microsoft.com/office/drawing/2014/main" id="{86E0AEDB-8464-319F-932F-C77315EE8A8D}"/>
              </a:ext>
            </a:extLst>
          </p:cNvPr>
          <p:cNvSpPr>
            <a:spLocks noGrp="1"/>
          </p:cNvSpPr>
          <p:nvPr>
            <p:ph type="dt" sz="half" idx="2"/>
          </p:nvPr>
        </p:nvSpPr>
        <p:spPr/>
        <p:txBody>
          <a:bodyPr/>
          <a:lstStyle/>
          <a:p>
            <a:fld id="{EAFD7BB1-AB7F-4336-A8B3-6627E5D36FE4}" type="datetime3">
              <a:rPr lang="en-US" smtClean="0"/>
              <a:t>11 October 2022</a:t>
            </a:fld>
            <a:endParaRPr lang="en-US" dirty="0"/>
          </a:p>
        </p:txBody>
      </p:sp>
    </p:spTree>
    <p:extLst>
      <p:ext uri="{BB962C8B-B14F-4D97-AF65-F5344CB8AC3E}">
        <p14:creationId xmlns:p14="http://schemas.microsoft.com/office/powerpoint/2010/main" val="2425064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DITemplate">
  <a:themeElements>
    <a:clrScheme name="ADI Corporate Palette 1">
      <a:dk1>
        <a:srgbClr val="000000"/>
      </a:dk1>
      <a:lt1>
        <a:srgbClr val="FFFFFF"/>
      </a:lt1>
      <a:dk2>
        <a:srgbClr val="555659"/>
      </a:dk2>
      <a:lt2>
        <a:srgbClr val="B1B3B3"/>
      </a:lt2>
      <a:accent1>
        <a:srgbClr val="41B6E6"/>
      </a:accent1>
      <a:accent2>
        <a:srgbClr val="0067B9"/>
      </a:accent2>
      <a:accent3>
        <a:srgbClr val="FED141"/>
      </a:accent3>
      <a:accent4>
        <a:srgbClr val="00B2A9"/>
      </a:accent4>
      <a:accent5>
        <a:srgbClr val="8637BA"/>
      </a:accent5>
      <a:accent6>
        <a:srgbClr val="FF7500"/>
      </a:accent6>
      <a:hlink>
        <a:srgbClr val="1B9CD0"/>
      </a:hlink>
      <a:folHlink>
        <a:srgbClr val="8637BA"/>
      </a:folHlink>
    </a:clrScheme>
    <a:fontScheme name="ADI Corporate Fonts">
      <a:majorFont>
        <a:latin typeface="Barlow"/>
        <a:ea typeface=""/>
        <a:cs typeface=""/>
      </a:majorFont>
      <a:minorFont>
        <a:latin typeface="Barl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miter lim="800000"/>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marL="228600" indent="-228600" defTabSz="457200">
          <a:spcBef>
            <a:spcPts val="1000"/>
          </a:spcBef>
          <a:buClr>
            <a:srgbClr val="1E4056"/>
          </a:buClr>
          <a:buSzPct val="75000"/>
          <a:buFont typeface="Barlow"/>
          <a:buChar char="►"/>
          <a:defRPr sz="2000" dirty="0">
            <a:solidFill>
              <a:srgbClr val="000000"/>
            </a:solidFill>
          </a:defRPr>
        </a:defPPr>
      </a:lstStyle>
    </a:txDef>
  </a:objectDefaults>
  <a:extraClrSchemeLst/>
  <a:extLst>
    <a:ext uri="{05A4C25C-085E-4340-85A3-A5531E510DB2}">
      <thm15:themeFamily xmlns:thm15="http://schemas.microsoft.com/office/thememl/2012/main" name="ADI Corporate PowerPoint Template" id="{9AB9AA7E-1902-F64D-879D-6E535C6B277F}" vid="{87C4F2EC-017C-2A4C-889E-1FC8D2DA43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ADI 2019 16x9 Light</Template>
  <TotalTime>2046</TotalTime>
  <Words>4700</Words>
  <Application>Microsoft Office PowerPoint</Application>
  <PresentationFormat>Widescreen</PresentationFormat>
  <Paragraphs>346</Paragraphs>
  <Slides>31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Barlow</vt:lpstr>
      <vt:lpstr>Cambria Math</vt:lpstr>
      <vt:lpstr>Times New Roman</vt:lpstr>
      <vt:lpstr>Wingdings</vt:lpstr>
      <vt:lpstr>Wingdings 3</vt:lpstr>
      <vt:lpstr>1_ADITemplate</vt:lpstr>
      <vt:lpstr>PowerPoint Presentation</vt:lpstr>
      <vt:lpstr>Chapter content</vt:lpstr>
      <vt:lpstr>Chapter Introduction</vt:lpstr>
      <vt:lpstr>1. The Standard Model</vt:lpstr>
      <vt:lpstr>1. The Standard Model</vt:lpstr>
      <vt:lpstr>1. The Standard Model</vt:lpstr>
      <vt:lpstr>1. The Standard Model</vt:lpstr>
      <vt:lpstr>2. Design for Timing Closure: Logic Design Issues</vt:lpstr>
      <vt:lpstr>2. Design for Timing Closure: Logic Design Issues</vt:lpstr>
      <vt:lpstr>2. Design for Timing Closure: Logic Design Issues</vt:lpstr>
      <vt:lpstr>2. Design for Timing Closure: Logic Design Issues</vt:lpstr>
      <vt:lpstr>2. Design for Timing Closure: Logic Design Issues</vt:lpstr>
      <vt:lpstr>2. Design for Timing Closure: Logic Design Issues</vt:lpstr>
      <vt:lpstr>2. Design for Timing Closure: Logic Design Issues</vt:lpstr>
      <vt:lpstr>3. Design for Timing Closure: Physical Design Issues</vt:lpstr>
      <vt:lpstr>3. Design for Timing Closure: Physical Design Issues</vt:lpstr>
      <vt:lpstr>3. Design for Timing Closure: Physical Design Issues</vt:lpstr>
      <vt:lpstr>4. Design for Verification: Verification Strategy</vt:lpstr>
      <vt:lpstr>5. System Interconnect and On-Chip Buses</vt:lpstr>
      <vt:lpstr>5. System Interconnect and On-Chip Buses</vt:lpstr>
      <vt:lpstr>5. System Interconnect and On-Chip Buses</vt:lpstr>
      <vt:lpstr>6. Design for Bring-Up and Debug: On-Chip Debug Structures</vt:lpstr>
      <vt:lpstr>7. Design for Low Power</vt:lpstr>
      <vt:lpstr>7. Design for Low Power</vt:lpstr>
      <vt:lpstr>7. Design for Low Power</vt:lpstr>
      <vt:lpstr>7. Design for Low Power</vt:lpstr>
      <vt:lpstr>8. Design for Test: Manufacturing Test Strategies</vt:lpstr>
      <vt:lpstr>8. Design for Test: Manufacturing Test Strategies</vt:lpstr>
      <vt:lpstr>8. Design for Test: Manufacturing Test Strategies</vt:lpstr>
      <vt:lpstr>9. Prerequisites for Reuse</vt:lpstr>
      <vt:lpstr>9. Prerequisites for Reuse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Slides: Header Titles (Arial 36 pt.)</dc:title>
  <dc:subject/>
  <dc:creator>Mehana, Ahmed</dc:creator>
  <cp:keywords/>
  <dc:description>ADI PowerPoint v.8 © 1995 - 2019 Analog Devices, Inc. All Rights Reserved</dc:description>
  <cp:lastModifiedBy>youssef khaled</cp:lastModifiedBy>
  <cp:revision>26</cp:revision>
  <cp:lastPrinted>2015-04-02T14:52:35Z</cp:lastPrinted>
  <dcterms:created xsi:type="dcterms:W3CDTF">2022-01-31T08:24:08Z</dcterms:created>
  <dcterms:modified xsi:type="dcterms:W3CDTF">2022-10-11T06:18:57Z</dcterms:modified>
  <cp:category/>
</cp:coreProperties>
</file>