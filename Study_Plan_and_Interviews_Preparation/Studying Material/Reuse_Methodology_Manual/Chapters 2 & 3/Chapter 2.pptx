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18"/>
  </p:notesMasterIdLst>
  <p:handoutMasterIdLst>
    <p:handoutMasterId r:id="rId19"/>
  </p:handoutMasterIdLst>
  <p:sldIdLst>
    <p:sldId id="277" r:id="rId2"/>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7" r:id="rId16"/>
    <p:sldId id="298" r:id="rId1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8EA"/>
    <a:srgbClr val="CBCED2"/>
    <a:srgbClr val="27B34F"/>
    <a:srgbClr val="009FBD"/>
    <a:srgbClr val="009F59"/>
    <a:srgbClr val="003D61"/>
    <a:srgbClr val="3DDCE6"/>
    <a:srgbClr val="7C4A8B"/>
    <a:srgbClr val="1E4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95" autoAdjust="0"/>
  </p:normalViewPr>
  <p:slideViewPr>
    <p:cSldViewPr snapToGrid="0" snapToObjects="1">
      <p:cViewPr varScale="1">
        <p:scale>
          <a:sx n="85" d="100"/>
          <a:sy n="85" d="100"/>
        </p:scale>
        <p:origin x="547" y="58"/>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3" d="100"/>
          <a:sy n="113" d="100"/>
        </p:scale>
        <p:origin x="303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a:solidFill>
                <a:schemeClr val="bg1">
                  <a:lumMod val="50000"/>
                </a:scheme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b="1" smtClean="0">
                <a:solidFill>
                  <a:schemeClr val="bg1">
                    <a:lumMod val="50000"/>
                  </a:schemeClr>
                </a:solidFill>
                <a:latin typeface="Arial" panose="020B0604020202020204" pitchFamily="34" charset="0"/>
                <a:cs typeface="Arial" panose="020B0604020202020204" pitchFamily="34" charset="0"/>
              </a:rPr>
              <a:t>‹#›</a:t>
            </a:fld>
            <a:endParaRPr lang="en-US" b="1">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8"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10/11/2022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a:latin typeface="Arial" panose="020B0604020202020204" pitchFamily="34" charset="0"/>
                <a:cs typeface="Arial" panose="020B0604020202020204" pitchFamily="34" charset="0"/>
              </a:defRPr>
            </a:lvl1pPr>
          </a:lstStyle>
          <a:p>
            <a:r>
              <a:rPr lang="en-US" i="1"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1">
                <a:solidFill>
                  <a:schemeClr val="tx1">
                    <a:lumMod val="50000"/>
                    <a:lumOff val="50000"/>
                  </a:schemeClr>
                </a:solidFill>
                <a:latin typeface="Arial" panose="020B0604020202020204" pitchFamily="34" charset="0"/>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10/11/2022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This is the light cover slide option. </a:t>
            </a:r>
          </a:p>
        </p:txBody>
      </p:sp>
      <p:sp>
        <p:nvSpPr>
          <p:cNvPr id="4" name="Slide Number Placeholder 3"/>
          <p:cNvSpPr>
            <a:spLocks noGrp="1"/>
          </p:cNvSpPr>
          <p:nvPr>
            <p:ph type="sldNum" sz="quarter" idx="10"/>
          </p:nvPr>
        </p:nvSpPr>
        <p:spPr/>
        <p:txBody>
          <a:bodyPr/>
          <a:lstStyle/>
          <a:p>
            <a:fld id="{900B8651-D313-4300-801F-836567026953}" type="slidenum">
              <a:rPr lang="en-US" smtClean="0"/>
              <a:pPr/>
              <a:t>1</a:t>
            </a:fld>
            <a:endParaRPr lang="en-US" dirty="0"/>
          </a:p>
        </p:txBody>
      </p:sp>
    </p:spTree>
    <p:extLst>
      <p:ext uri="{BB962C8B-B14F-4D97-AF65-F5344CB8AC3E}">
        <p14:creationId xmlns:p14="http://schemas.microsoft.com/office/powerpoint/2010/main" val="29882166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11 October 2022</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dirty="0"/>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dirty="0"/>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11 October 2022</a:t>
            </a:fld>
            <a:endParaRPr lang="en-US" dirty="0"/>
          </a:p>
        </p:txBody>
      </p:sp>
    </p:spTree>
    <p:extLst>
      <p:ext uri="{BB962C8B-B14F-4D97-AF65-F5344CB8AC3E}">
        <p14:creationId xmlns:p14="http://schemas.microsoft.com/office/powerpoint/2010/main" val="36150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11 October 2022</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438D909-D066-2449-B22A-2B1EEA3D2FFD}"/>
              </a:ext>
            </a:extLst>
          </p:cNvPr>
          <p:cNvSpPr>
            <a:spLocks noGrp="1"/>
          </p:cNvSpPr>
          <p:nvPr>
            <p:ph type="body" idx="1"/>
          </p:nvPr>
        </p:nvSpPr>
        <p:spPr>
          <a:xfrm>
            <a:off x="342900" y="4587041"/>
            <a:ext cx="6470276" cy="553998"/>
          </a:xfrm>
        </p:spPr>
        <p:txBody>
          <a:bodyPr/>
          <a:lstStyle/>
          <a:p>
            <a:r>
              <a:rPr lang="en-US" dirty="0"/>
              <a:t>Reuse Methodology Manual for System-On-Chip Designs</a:t>
            </a:r>
          </a:p>
        </p:txBody>
      </p:sp>
      <p:sp>
        <p:nvSpPr>
          <p:cNvPr id="7" name="Text Placeholder 6">
            <a:extLst>
              <a:ext uri="{FF2B5EF4-FFF2-40B4-BE49-F238E27FC236}">
                <a16:creationId xmlns:a16="http://schemas.microsoft.com/office/drawing/2014/main" id="{550F983F-8671-C045-8D77-8BA3DBF89922}"/>
              </a:ext>
            </a:extLst>
          </p:cNvPr>
          <p:cNvSpPr>
            <a:spLocks noGrp="1"/>
          </p:cNvSpPr>
          <p:nvPr>
            <p:ph type="body" sz="quarter" idx="12"/>
          </p:nvPr>
        </p:nvSpPr>
        <p:spPr>
          <a:xfrm>
            <a:off x="342899" y="3159909"/>
            <a:ext cx="7015843" cy="1329595"/>
          </a:xfrm>
        </p:spPr>
        <p:txBody>
          <a:bodyPr/>
          <a:lstStyle/>
          <a:p>
            <a:r>
              <a:rPr lang="en-US" dirty="0"/>
              <a:t>Chapter 2: The System-on-Chip Design Process</a:t>
            </a:r>
          </a:p>
        </p:txBody>
      </p:sp>
      <p:sp>
        <p:nvSpPr>
          <p:cNvPr id="3" name="Footer Placeholder 2">
            <a:extLst>
              <a:ext uri="{FF2B5EF4-FFF2-40B4-BE49-F238E27FC236}">
                <a16:creationId xmlns:a16="http://schemas.microsoft.com/office/drawing/2014/main" id="{26A78CC7-C0D2-AC43-BD98-28E9A2C31B6B}"/>
              </a:ext>
            </a:extLst>
          </p:cNvPr>
          <p:cNvSpPr>
            <a:spLocks noGrp="1"/>
          </p:cNvSpPr>
          <p:nvPr>
            <p:ph type="ftr" sz="quarter" idx="3"/>
          </p:nvPr>
        </p:nvSpPr>
        <p:spPr/>
        <p:txBody>
          <a:bodyPr>
            <a:normAutofit/>
          </a:bodyPr>
          <a:lstStyle/>
          <a:p>
            <a:r>
              <a:rPr lang="en-US"/>
              <a:t>©2022 Analog Devices, Inc. </a:t>
            </a:r>
            <a:endParaRPr lang="en-US" dirty="0"/>
          </a:p>
        </p:txBody>
      </p:sp>
      <p:sp>
        <p:nvSpPr>
          <p:cNvPr id="2" name="Date Placeholder 1">
            <a:extLst>
              <a:ext uri="{FF2B5EF4-FFF2-40B4-BE49-F238E27FC236}">
                <a16:creationId xmlns:a16="http://schemas.microsoft.com/office/drawing/2014/main" id="{3AEFC6CC-B436-497C-85D7-DBAEA1EB28CB}"/>
              </a:ext>
            </a:extLst>
          </p:cNvPr>
          <p:cNvSpPr>
            <a:spLocks noGrp="1"/>
          </p:cNvSpPr>
          <p:nvPr>
            <p:ph type="dt" sz="half" idx="2"/>
          </p:nvPr>
        </p:nvSpPr>
        <p:spPr/>
        <p:txBody>
          <a:bodyPr/>
          <a:lstStyle/>
          <a:p>
            <a:fld id="{430F8550-9198-4116-B655-9B08CBD80A03}" type="datetime3">
              <a:rPr lang="en-US" smtClean="0"/>
              <a:t>11 October 2022</a:t>
            </a:fld>
            <a:endParaRPr lang="en-US" dirty="0"/>
          </a:p>
        </p:txBody>
      </p:sp>
      <p:sp>
        <p:nvSpPr>
          <p:cNvPr id="4" name="Slide Number Placeholder 3">
            <a:extLst>
              <a:ext uri="{FF2B5EF4-FFF2-40B4-BE49-F238E27FC236}">
                <a16:creationId xmlns:a16="http://schemas.microsoft.com/office/drawing/2014/main" id="{A58A6B8A-2262-46A8-863B-A6AB13D75060}"/>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Tree>
    <p:extLst>
      <p:ext uri="{BB962C8B-B14F-4D97-AF65-F5344CB8AC3E}">
        <p14:creationId xmlns:p14="http://schemas.microsoft.com/office/powerpoint/2010/main" val="13433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F650F-E93C-4F7D-8AAD-C095630BE456}"/>
              </a:ext>
            </a:extLst>
          </p:cNvPr>
          <p:cNvSpPr>
            <a:spLocks noGrp="1"/>
          </p:cNvSpPr>
          <p:nvPr>
            <p:ph idx="1"/>
          </p:nvPr>
        </p:nvSpPr>
        <p:spPr/>
        <p:txBody>
          <a:bodyPr/>
          <a:lstStyle/>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A Canonical SoC Design</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System Design Flow</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The role of specifications throughout the life of a project</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Steps for system design process</a:t>
            </a:r>
          </a:p>
          <a:p>
            <a:pPr lvl="1"/>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A3B9023-179E-4AA0-A65F-CD08E3CA7504}"/>
              </a:ext>
            </a:extLst>
          </p:cNvPr>
          <p:cNvSpPr>
            <a:spLocks noGrp="1"/>
          </p:cNvSpPr>
          <p:nvPr>
            <p:ph type="title"/>
          </p:nvPr>
        </p:nvSpPr>
        <p:spPr/>
        <p:txBody>
          <a:bodyPr/>
          <a:lstStyle/>
          <a:p>
            <a:r>
              <a:rPr lang="en-US" dirty="0"/>
              <a:t>Chapter content</a:t>
            </a:r>
          </a:p>
        </p:txBody>
      </p:sp>
      <p:sp>
        <p:nvSpPr>
          <p:cNvPr id="4" name="Footer Placeholder 3">
            <a:extLst>
              <a:ext uri="{FF2B5EF4-FFF2-40B4-BE49-F238E27FC236}">
                <a16:creationId xmlns:a16="http://schemas.microsoft.com/office/drawing/2014/main" id="{C76F1DB5-D534-4952-AABB-629A085FA61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D74343D-D99B-4878-8A48-F64276F0691C}"/>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EE37DA8C-4E6D-4F89-890E-48684285BBF5}"/>
              </a:ext>
            </a:extLst>
          </p:cNvPr>
          <p:cNvSpPr>
            <a:spLocks noGrp="1"/>
          </p:cNvSpPr>
          <p:nvPr>
            <p:ph type="dt" sz="half" idx="2"/>
          </p:nvPr>
        </p:nvSpPr>
        <p:spPr/>
        <p:txBody>
          <a:bodyPr/>
          <a:lstStyle/>
          <a:p>
            <a:fld id="{4F68034E-5448-46F8-9344-AFA6D74952E0}" type="datetime3">
              <a:rPr lang="en-US" smtClean="0"/>
              <a:t>11 October 2022</a:t>
            </a:fld>
            <a:endParaRPr lang="en-US" dirty="0"/>
          </a:p>
        </p:txBody>
      </p:sp>
    </p:spTree>
    <p:extLst>
      <p:ext uri="{BB962C8B-B14F-4D97-AF65-F5344CB8AC3E}">
        <p14:creationId xmlns:p14="http://schemas.microsoft.com/office/powerpoint/2010/main" val="170345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a:xfrm>
            <a:off x="355600" y="1066800"/>
            <a:ext cx="6302944" cy="4914900"/>
          </a:xfrm>
        </p:spPr>
        <p:txBody>
          <a:bodyPr>
            <a:normAutofit/>
          </a:bodyPr>
          <a:lstStyle/>
          <a:p>
            <a:pPr>
              <a:buSzPct val="100000"/>
            </a:pPr>
            <a:r>
              <a:rPr lang="en-US" sz="1800" dirty="0">
                <a:latin typeface="Times New Roman" panose="02020603050405020304" pitchFamily="18" charset="0"/>
                <a:cs typeface="Times New Roman" panose="02020603050405020304" pitchFamily="18" charset="0"/>
              </a:rPr>
              <a:t>The following design represents a generic (canonical) form of an SoC that it consists of:</a:t>
            </a:r>
          </a:p>
          <a:p>
            <a:pPr lvl="1">
              <a:spcBef>
                <a:spcPts val="0"/>
              </a:spcBef>
              <a:buClrTx/>
              <a:buSzPct val="100000"/>
              <a:buFont typeface="Arial" panose="020B0604020202020204" pitchFamily="34" charset="0"/>
              <a:buChar char="•"/>
            </a:pPr>
            <a:r>
              <a:rPr lang="en-US" sz="1600" dirty="0">
                <a:latin typeface="+mn-lt"/>
              </a:rPr>
              <a:t>A microprocessor and its memory subsystem </a:t>
            </a:r>
          </a:p>
          <a:p>
            <a:pPr lvl="1">
              <a:spcBef>
                <a:spcPts val="0"/>
              </a:spcBef>
              <a:buClrTx/>
              <a:buSzPct val="100000"/>
              <a:buFont typeface="Arial" panose="020B0604020202020204" pitchFamily="34" charset="0"/>
              <a:buChar char="•"/>
            </a:pPr>
            <a:r>
              <a:rPr lang="en-US" sz="1600" dirty="0">
                <a:latin typeface="+mn-lt"/>
              </a:rPr>
              <a:t>On-chip buses (high-speed and low-speed) to provide the datapath between cores </a:t>
            </a:r>
          </a:p>
          <a:p>
            <a:pPr lvl="1">
              <a:spcBef>
                <a:spcPts val="0"/>
              </a:spcBef>
              <a:buClrTx/>
              <a:buSzPct val="100000"/>
              <a:buFont typeface="Arial" panose="020B0604020202020204" pitchFamily="34" charset="0"/>
              <a:buChar char="•"/>
            </a:pPr>
            <a:r>
              <a:rPr lang="en-US" sz="1600" dirty="0">
                <a:latin typeface="+mn-lt"/>
              </a:rPr>
              <a:t>A memory controller for external memory </a:t>
            </a:r>
          </a:p>
          <a:p>
            <a:pPr lvl="1">
              <a:spcBef>
                <a:spcPts val="0"/>
              </a:spcBef>
              <a:buClrTx/>
              <a:buSzPct val="100000"/>
              <a:buFont typeface="Arial" panose="020B0604020202020204" pitchFamily="34" charset="0"/>
              <a:buChar char="•"/>
            </a:pPr>
            <a:r>
              <a:rPr lang="en-US" sz="1600" dirty="0">
                <a:latin typeface="+mn-lt"/>
              </a:rPr>
              <a:t>A communications controller </a:t>
            </a:r>
          </a:p>
          <a:p>
            <a:pPr lvl="1">
              <a:spcBef>
                <a:spcPts val="0"/>
              </a:spcBef>
              <a:buClrTx/>
              <a:buSzPct val="100000"/>
              <a:buFont typeface="Arial" panose="020B0604020202020204" pitchFamily="34" charset="0"/>
              <a:buChar char="•"/>
            </a:pPr>
            <a:r>
              <a:rPr lang="en-US" sz="1600" dirty="0">
                <a:latin typeface="+mn-lt"/>
              </a:rPr>
              <a:t>A video decoder </a:t>
            </a:r>
          </a:p>
          <a:p>
            <a:pPr lvl="1">
              <a:spcBef>
                <a:spcPts val="0"/>
              </a:spcBef>
              <a:buClrTx/>
              <a:buSzPct val="100000"/>
              <a:buFont typeface="Arial" panose="020B0604020202020204" pitchFamily="34" charset="0"/>
              <a:buChar char="•"/>
            </a:pPr>
            <a:r>
              <a:rPr lang="en-US" sz="1600" dirty="0">
                <a:latin typeface="+mn-lt"/>
              </a:rPr>
              <a:t>A timer and interrupt controller </a:t>
            </a:r>
          </a:p>
          <a:p>
            <a:pPr lvl="1">
              <a:spcBef>
                <a:spcPts val="0"/>
              </a:spcBef>
              <a:buClrTx/>
              <a:buSzPct val="100000"/>
              <a:buFont typeface="Arial" panose="020B0604020202020204" pitchFamily="34" charset="0"/>
              <a:buChar char="•"/>
            </a:pPr>
            <a:r>
              <a:rPr lang="en-US" sz="1600" dirty="0">
                <a:latin typeface="+mn-lt"/>
              </a:rPr>
              <a:t>A general purpose I/O (GPIO) interface </a:t>
            </a:r>
          </a:p>
          <a:p>
            <a:pPr lvl="1">
              <a:spcBef>
                <a:spcPts val="0"/>
              </a:spcBef>
              <a:buClrTx/>
              <a:buSzPct val="100000"/>
              <a:buFont typeface="Arial" panose="020B0604020202020204" pitchFamily="34" charset="0"/>
              <a:buChar char="•"/>
            </a:pPr>
            <a:r>
              <a:rPr lang="en-US" sz="1600" dirty="0">
                <a:latin typeface="+mn-lt"/>
              </a:rPr>
              <a:t>A UART interface</a:t>
            </a:r>
          </a:p>
          <a:p>
            <a:pPr>
              <a:spcBef>
                <a:spcPts val="0"/>
              </a:spcBef>
              <a:buClrTx/>
              <a:buSzPct val="100000"/>
            </a:pPr>
            <a:r>
              <a:rPr lang="en-US" sz="1800" dirty="0">
                <a:latin typeface="+mn-lt"/>
                <a:cs typeface="Times New Roman" panose="02020603050405020304" pitchFamily="18" charset="0"/>
              </a:rPr>
              <a:t>The main idea here is that normally the chip consists of multiple blocks that are designed and verified first before being assembled to the chip.</a:t>
            </a:r>
          </a:p>
          <a:p>
            <a:pPr>
              <a:spcBef>
                <a:spcPts val="0"/>
              </a:spcBef>
              <a:buClrTx/>
              <a:buSzPct val="100000"/>
            </a:pPr>
            <a:r>
              <a:rPr lang="en-US" sz="1800" dirty="0">
                <a:latin typeface="+mn-lt"/>
                <a:cs typeface="Times New Roman" panose="02020603050405020304" pitchFamily="18" charset="0"/>
              </a:rPr>
              <a:t>Thus, the canonical design is just a miniature version of an SoC design that allows us to discuss the challenges of developing these chips utilizing reusable macros.</a:t>
            </a: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81991"/>
          </a:xfrm>
        </p:spPr>
        <p:txBody>
          <a:bodyPr/>
          <a:lstStyle/>
          <a:p>
            <a:r>
              <a:rPr lang="en-US" dirty="0"/>
              <a:t>1. A Canonical SoC Design</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CDEB243E-D86A-615F-800B-894BE98477BC}"/>
              </a:ext>
            </a:extLst>
          </p:cNvPr>
          <p:cNvPicPr>
            <a:picLocks noChangeAspect="1"/>
          </p:cNvPicPr>
          <p:nvPr/>
        </p:nvPicPr>
        <p:blipFill>
          <a:blip r:embed="rId2"/>
          <a:stretch>
            <a:fillRect/>
          </a:stretch>
        </p:blipFill>
        <p:spPr>
          <a:xfrm>
            <a:off x="6753420" y="876301"/>
            <a:ext cx="5082980" cy="4686706"/>
          </a:xfrm>
          <a:prstGeom prst="rect">
            <a:avLst/>
          </a:prstGeom>
        </p:spPr>
      </p:pic>
    </p:spTree>
    <p:extLst>
      <p:ext uri="{BB962C8B-B14F-4D97-AF65-F5344CB8AC3E}">
        <p14:creationId xmlns:p14="http://schemas.microsoft.com/office/powerpoint/2010/main" val="399735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37F84D-8AAE-7699-C269-34128E71542F}"/>
              </a:ext>
            </a:extLst>
          </p:cNvPr>
          <p:cNvSpPr>
            <a:spLocks noGrp="1"/>
          </p:cNvSpPr>
          <p:nvPr>
            <p:ph idx="1"/>
          </p:nvPr>
        </p:nvSpPr>
        <p:spPr>
          <a:xfrm>
            <a:off x="355600" y="1066800"/>
            <a:ext cx="7138894" cy="5364480"/>
          </a:xfrm>
        </p:spPr>
        <p:txBody>
          <a:bodyPr>
            <a:normAutofit/>
          </a:bodyPr>
          <a:lstStyle/>
          <a:p>
            <a:r>
              <a:rPr lang="en-US" sz="1800" dirty="0">
                <a:latin typeface="+mn-lt"/>
              </a:rPr>
              <a:t>To meet the challenges of SoC, chip designers are changing their design flows in two major ways:</a:t>
            </a:r>
          </a:p>
          <a:p>
            <a:pPr lvl="1">
              <a:buFont typeface="Arial" panose="020B0604020202020204" pitchFamily="34" charset="0"/>
              <a:buChar char="•"/>
            </a:pPr>
            <a:r>
              <a:rPr lang="en-US" sz="1600" dirty="0">
                <a:latin typeface="+mn-lt"/>
              </a:rPr>
              <a:t>From a “waterfall model” to a “spiral model”</a:t>
            </a:r>
          </a:p>
          <a:p>
            <a:pPr lvl="1">
              <a:buFont typeface="Arial" panose="020B0604020202020204" pitchFamily="34" charset="0"/>
              <a:buChar char="•"/>
            </a:pPr>
            <a:r>
              <a:rPr lang="en-US" sz="1600" dirty="0">
                <a:latin typeface="+mn-lt"/>
              </a:rPr>
              <a:t>From a “top-down” methodology to a combination of “top-down and bottom-up”</a:t>
            </a:r>
          </a:p>
          <a:p>
            <a:pPr marL="0" indent="0">
              <a:buNone/>
            </a:pPr>
            <a:r>
              <a:rPr lang="en-US" sz="2000" b="1" dirty="0">
                <a:latin typeface="+mn-lt"/>
              </a:rPr>
              <a:t>2.1 Waterfall vs. Spiral</a:t>
            </a:r>
          </a:p>
          <a:p>
            <a:r>
              <a:rPr lang="en-US" sz="1800" dirty="0">
                <a:latin typeface="+mn-lt"/>
              </a:rPr>
              <a:t>In a waterfall model, the project transitions from phase to phase in a step function, never returning to the activities of the previous phase. In this model, the design is often tossed “over the wall” from one team to the next without much interaction between the teams.</a:t>
            </a:r>
          </a:p>
          <a:p>
            <a:r>
              <a:rPr lang="en-US" sz="1800" dirty="0">
                <a:latin typeface="+mn-lt"/>
              </a:rPr>
              <a:t>The obvious problem here is the “handoffs” where typically in any system, it’s rarely each stage will give clean results, rather it’s always needed to get back to the previous stages to fix some issues.</a:t>
            </a:r>
          </a:p>
          <a:p>
            <a:r>
              <a:rPr lang="en-US" sz="1800" dirty="0">
                <a:latin typeface="+mn-lt"/>
              </a:rPr>
              <a:t>For large, deep submicron designs, this waterfall methodology simply does not work. Physical design issues must be considered early in the design process to ensure that the design can meet its performance goals.</a:t>
            </a:r>
          </a:p>
        </p:txBody>
      </p:sp>
      <p:sp>
        <p:nvSpPr>
          <p:cNvPr id="3" name="Title 2">
            <a:extLst>
              <a:ext uri="{FF2B5EF4-FFF2-40B4-BE49-F238E27FC236}">
                <a16:creationId xmlns:a16="http://schemas.microsoft.com/office/drawing/2014/main" id="{34433031-6EEC-C6E9-3330-34515EFA9CBE}"/>
              </a:ext>
            </a:extLst>
          </p:cNvPr>
          <p:cNvSpPr>
            <a:spLocks noGrp="1"/>
          </p:cNvSpPr>
          <p:nvPr>
            <p:ph type="title"/>
          </p:nvPr>
        </p:nvSpPr>
        <p:spPr>
          <a:xfrm>
            <a:off x="342900" y="219456"/>
            <a:ext cx="10287000" cy="481991"/>
          </a:xfrm>
        </p:spPr>
        <p:txBody>
          <a:bodyPr/>
          <a:lstStyle/>
          <a:p>
            <a:r>
              <a:rPr lang="en-US" dirty="0"/>
              <a:t>2. System Design Flow</a:t>
            </a:r>
          </a:p>
        </p:txBody>
      </p:sp>
      <p:sp>
        <p:nvSpPr>
          <p:cNvPr id="4" name="Footer Placeholder 3">
            <a:extLst>
              <a:ext uri="{FF2B5EF4-FFF2-40B4-BE49-F238E27FC236}">
                <a16:creationId xmlns:a16="http://schemas.microsoft.com/office/drawing/2014/main" id="{0C19E3F6-57BC-C4EF-CA1F-3A605F68F07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3067114F-37F1-691A-41AD-55E851111BBD}"/>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D41EBD5C-8B26-B988-1B51-2E9E9BF66C1E}"/>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B5F88CEB-C24A-5DDC-7EA9-0776ABDBD307}"/>
              </a:ext>
            </a:extLst>
          </p:cNvPr>
          <p:cNvPicPr>
            <a:picLocks noChangeAspect="1"/>
          </p:cNvPicPr>
          <p:nvPr/>
        </p:nvPicPr>
        <p:blipFill>
          <a:blip r:embed="rId2"/>
          <a:stretch>
            <a:fillRect/>
          </a:stretch>
        </p:blipFill>
        <p:spPr>
          <a:xfrm>
            <a:off x="8000848" y="1066800"/>
            <a:ext cx="3505504" cy="5044877"/>
          </a:xfrm>
          <a:prstGeom prst="rect">
            <a:avLst/>
          </a:prstGeom>
        </p:spPr>
      </p:pic>
    </p:spTree>
    <p:extLst>
      <p:ext uri="{BB962C8B-B14F-4D97-AF65-F5344CB8AC3E}">
        <p14:creationId xmlns:p14="http://schemas.microsoft.com/office/powerpoint/2010/main" val="286520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7478AE-AFBA-23D4-F30B-1BBFCA73AA42}"/>
              </a:ext>
            </a:extLst>
          </p:cNvPr>
          <p:cNvSpPr>
            <a:spLocks noGrp="1"/>
          </p:cNvSpPr>
          <p:nvPr>
            <p:ph idx="1"/>
          </p:nvPr>
        </p:nvSpPr>
        <p:spPr>
          <a:xfrm>
            <a:off x="355599" y="1066800"/>
            <a:ext cx="7811247" cy="4914900"/>
          </a:xfrm>
        </p:spPr>
        <p:txBody>
          <a:bodyPr>
            <a:normAutofit/>
          </a:bodyPr>
          <a:lstStyle/>
          <a:p>
            <a:pPr marL="0" indent="0">
              <a:buNone/>
            </a:pPr>
            <a:r>
              <a:rPr lang="en-US" sz="2000" b="1" dirty="0">
                <a:latin typeface="+mn-lt"/>
              </a:rPr>
              <a:t>2.1 Waterfall vs. Spiral</a:t>
            </a:r>
          </a:p>
          <a:p>
            <a:r>
              <a:rPr lang="en-US" sz="1800" dirty="0">
                <a:latin typeface="+mn-lt"/>
              </a:rPr>
              <a:t>For the problems discussed, in addition to the increasing of the design complexity,  many teams are moving to the newer spiral development model. </a:t>
            </a:r>
          </a:p>
          <a:p>
            <a:r>
              <a:rPr lang="en-US" sz="1800" dirty="0">
                <a:latin typeface="+mn-lt"/>
              </a:rPr>
              <a:t>In the spiral model, the design team works on multiple aspects of the design simultaneously, incrementally improving in each area as the design converges on completion. Where the flow is characterized by:</a:t>
            </a:r>
          </a:p>
          <a:p>
            <a:pPr lvl="1"/>
            <a:r>
              <a:rPr lang="en-US" sz="1600" dirty="0">
                <a:latin typeface="+mn-lt"/>
              </a:rPr>
              <a:t>Parallel, concurrent development of hardware and software </a:t>
            </a:r>
          </a:p>
          <a:p>
            <a:pPr lvl="1"/>
            <a:r>
              <a:rPr lang="en-US" sz="1600" dirty="0">
                <a:latin typeface="+mn-lt"/>
              </a:rPr>
              <a:t>Parallel verification and synthesis of modules </a:t>
            </a:r>
          </a:p>
          <a:p>
            <a:pPr lvl="1"/>
            <a:r>
              <a:rPr lang="en-US" sz="1600" dirty="0">
                <a:latin typeface="+mn-lt"/>
              </a:rPr>
              <a:t>Floorplanning and place-and-route included in the synthesis process </a:t>
            </a:r>
          </a:p>
          <a:p>
            <a:pPr lvl="1"/>
            <a:r>
              <a:rPr lang="en-US" sz="1600" dirty="0">
                <a:latin typeface="+mn-lt"/>
              </a:rPr>
              <a:t>Modules developed only if a pre-designed hard or soft macro is not available </a:t>
            </a:r>
          </a:p>
          <a:p>
            <a:pPr lvl="1"/>
            <a:r>
              <a:rPr lang="en-US" sz="1600" dirty="0">
                <a:latin typeface="+mn-lt"/>
              </a:rPr>
              <a:t>Planned iteration throughout</a:t>
            </a:r>
          </a:p>
          <a:p>
            <a:pPr marL="0" indent="0">
              <a:buNone/>
            </a:pPr>
            <a:endParaRPr lang="en-US" sz="2000" b="1" dirty="0">
              <a:latin typeface="+mn-lt"/>
            </a:endParaRPr>
          </a:p>
          <a:p>
            <a:endParaRPr lang="en-US" sz="2000" dirty="0"/>
          </a:p>
        </p:txBody>
      </p:sp>
      <p:sp>
        <p:nvSpPr>
          <p:cNvPr id="3" name="Title 2">
            <a:extLst>
              <a:ext uri="{FF2B5EF4-FFF2-40B4-BE49-F238E27FC236}">
                <a16:creationId xmlns:a16="http://schemas.microsoft.com/office/drawing/2014/main" id="{96A88222-9B42-1A69-990E-EF56657F15EF}"/>
              </a:ext>
            </a:extLst>
          </p:cNvPr>
          <p:cNvSpPr>
            <a:spLocks noGrp="1"/>
          </p:cNvSpPr>
          <p:nvPr>
            <p:ph type="title"/>
          </p:nvPr>
        </p:nvSpPr>
        <p:spPr>
          <a:xfrm>
            <a:off x="342900" y="219456"/>
            <a:ext cx="10287000" cy="481991"/>
          </a:xfrm>
        </p:spPr>
        <p:txBody>
          <a:bodyPr/>
          <a:lstStyle/>
          <a:p>
            <a:r>
              <a:rPr lang="en-US" dirty="0"/>
              <a:t>2. System Design Flow</a:t>
            </a:r>
          </a:p>
        </p:txBody>
      </p:sp>
      <p:sp>
        <p:nvSpPr>
          <p:cNvPr id="4" name="Footer Placeholder 3">
            <a:extLst>
              <a:ext uri="{FF2B5EF4-FFF2-40B4-BE49-F238E27FC236}">
                <a16:creationId xmlns:a16="http://schemas.microsoft.com/office/drawing/2014/main" id="{D75D8522-5B55-4F30-A9D9-20A473E3E07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322E8FE-D279-3DEC-2848-C0D6237B3498}"/>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8CCD5BB6-DD5D-F593-0ACB-8449BD075644}"/>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CBDE4FC4-EE98-501F-741D-3A441A69D1F1}"/>
              </a:ext>
            </a:extLst>
          </p:cNvPr>
          <p:cNvPicPr>
            <a:picLocks noChangeAspect="1"/>
          </p:cNvPicPr>
          <p:nvPr/>
        </p:nvPicPr>
        <p:blipFill>
          <a:blip r:embed="rId2"/>
          <a:stretch>
            <a:fillRect/>
          </a:stretch>
        </p:blipFill>
        <p:spPr>
          <a:xfrm>
            <a:off x="8178029" y="978957"/>
            <a:ext cx="3756986" cy="4900085"/>
          </a:xfrm>
          <a:prstGeom prst="rect">
            <a:avLst/>
          </a:prstGeom>
        </p:spPr>
      </p:pic>
    </p:spTree>
    <p:extLst>
      <p:ext uri="{BB962C8B-B14F-4D97-AF65-F5344CB8AC3E}">
        <p14:creationId xmlns:p14="http://schemas.microsoft.com/office/powerpoint/2010/main" val="36148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E21BD6-2FD5-16B6-E792-78551D48B3C5}"/>
              </a:ext>
            </a:extLst>
          </p:cNvPr>
          <p:cNvSpPr>
            <a:spLocks noGrp="1"/>
          </p:cNvSpPr>
          <p:nvPr>
            <p:ph idx="1"/>
          </p:nvPr>
        </p:nvSpPr>
        <p:spPr>
          <a:xfrm>
            <a:off x="355600" y="1066800"/>
            <a:ext cx="10274300" cy="5253318"/>
          </a:xfrm>
        </p:spPr>
        <p:txBody>
          <a:bodyPr>
            <a:normAutofit lnSpcReduction="10000"/>
          </a:bodyPr>
          <a:lstStyle/>
          <a:p>
            <a:pPr marL="0" indent="0">
              <a:buNone/>
            </a:pPr>
            <a:r>
              <a:rPr lang="en-US" sz="2000" b="1" dirty="0">
                <a:latin typeface="+mn-lt"/>
              </a:rPr>
              <a:t>2.2 Top-Down vs. Bottom-Up</a:t>
            </a:r>
            <a:endParaRPr lang="en-US" sz="2000" dirty="0">
              <a:latin typeface="+mn-lt"/>
            </a:endParaRPr>
          </a:p>
          <a:p>
            <a:r>
              <a:rPr lang="en-US" sz="1800" dirty="0">
                <a:latin typeface="+mn-lt"/>
              </a:rPr>
              <a:t>The classic top-down design process can be viewed as a recursive routine that begins with specification and decomposition, and ends with integration and verification: </a:t>
            </a:r>
          </a:p>
          <a:p>
            <a:pPr marL="571500" lvl="1" indent="-342900">
              <a:buFont typeface="+mj-lt"/>
              <a:buAutoNum type="arabicPeriod"/>
            </a:pPr>
            <a:r>
              <a:rPr lang="en-US" sz="1600" dirty="0">
                <a:latin typeface="+mn-lt"/>
              </a:rPr>
              <a:t>Write complete specifications for the system or subsystem being designed. </a:t>
            </a:r>
          </a:p>
          <a:p>
            <a:pPr marL="571500" lvl="1" indent="-342900">
              <a:buFont typeface="+mj-lt"/>
              <a:buAutoNum type="arabicPeriod"/>
            </a:pPr>
            <a:r>
              <a:rPr lang="en-US" sz="1600" dirty="0">
                <a:latin typeface="+mn-lt"/>
              </a:rPr>
              <a:t>Refine its architecture and algorithms, including software design and hardware/software </a:t>
            </a:r>
            <a:r>
              <a:rPr lang="en-US" sz="1600" dirty="0" err="1">
                <a:latin typeface="+mn-lt"/>
              </a:rPr>
              <a:t>cosimulation</a:t>
            </a:r>
            <a:r>
              <a:rPr lang="en-US" sz="1600" dirty="0">
                <a:latin typeface="+mn-lt"/>
              </a:rPr>
              <a:t> if necessary.</a:t>
            </a:r>
          </a:p>
          <a:p>
            <a:pPr marL="571500" lvl="1" indent="-342900">
              <a:buFont typeface="+mj-lt"/>
              <a:buAutoNum type="arabicPeriod"/>
            </a:pPr>
            <a:r>
              <a:rPr lang="en-US" sz="1600" dirty="0">
                <a:latin typeface="+mn-lt"/>
              </a:rPr>
              <a:t>Decompose the architecture into well-defined macros. </a:t>
            </a:r>
          </a:p>
          <a:p>
            <a:pPr marL="571500" lvl="1" indent="-342900">
              <a:buFont typeface="+mj-lt"/>
              <a:buAutoNum type="arabicPeriod"/>
            </a:pPr>
            <a:r>
              <a:rPr lang="en-US" sz="1600" dirty="0">
                <a:latin typeface="+mn-lt"/>
              </a:rPr>
              <a:t>Design or select macros; this is where the recursion occurs. </a:t>
            </a:r>
          </a:p>
          <a:p>
            <a:pPr marL="571500" lvl="1" indent="-342900">
              <a:buFont typeface="+mj-lt"/>
              <a:buAutoNum type="arabicPeriod"/>
            </a:pPr>
            <a:r>
              <a:rPr lang="en-US" sz="1600" dirty="0">
                <a:latin typeface="+mn-lt"/>
              </a:rPr>
              <a:t>Integrate macros into the top level; verify functionality and timing. </a:t>
            </a:r>
          </a:p>
          <a:p>
            <a:pPr marL="571500" lvl="1" indent="-342900">
              <a:buFont typeface="+mj-lt"/>
              <a:buAutoNum type="arabicPeriod"/>
            </a:pPr>
            <a:r>
              <a:rPr lang="en-US" sz="1600" dirty="0">
                <a:latin typeface="+mn-lt"/>
              </a:rPr>
              <a:t>Deliver the subsystem/system to the next higher level of integration; at the top level, this is </a:t>
            </a:r>
            <a:r>
              <a:rPr lang="en-US" sz="1600" dirty="0" err="1">
                <a:latin typeface="+mn-lt"/>
              </a:rPr>
              <a:t>tapeout</a:t>
            </a:r>
            <a:r>
              <a:rPr lang="en-US" sz="1600" dirty="0">
                <a:latin typeface="+mn-lt"/>
              </a:rPr>
              <a:t>. </a:t>
            </a:r>
          </a:p>
          <a:p>
            <a:pPr marL="571500" lvl="1" indent="-342900">
              <a:buFont typeface="+mj-lt"/>
              <a:buAutoNum type="arabicPeriod"/>
            </a:pPr>
            <a:r>
              <a:rPr lang="en-US" sz="1600" dirty="0">
                <a:latin typeface="+mn-lt"/>
              </a:rPr>
              <a:t>Verify all aspects of the design (functionality, timing, etc.).</a:t>
            </a:r>
          </a:p>
          <a:p>
            <a:r>
              <a:rPr lang="en-US" sz="1800" dirty="0">
                <a:latin typeface="+mn-lt"/>
              </a:rPr>
              <a:t>like the waterfall model, the top-down design methodology is an idealization of what can really be achieved. A top-down methodology assumes that the lowest level blocks specified can, in fact, be designed and built. If it turns out that a block is not feasible to design, the whole specification process has to be repeated.</a:t>
            </a:r>
          </a:p>
          <a:p>
            <a:r>
              <a:rPr lang="en-US" sz="1800" dirty="0">
                <a:latin typeface="+mn-lt"/>
              </a:rPr>
              <a:t>For this reason, real world design teams usually use a mixture of top-down and bottom-up methodologies, building critical low-level blocks while they refine the system and block specifications</a:t>
            </a:r>
          </a:p>
          <a:p>
            <a:r>
              <a:rPr lang="en-US" sz="1800" dirty="0">
                <a:latin typeface="+mn-lt"/>
              </a:rPr>
              <a:t>Libraries of reusable hard and soft macros clearly facilitate this process by providing a source of pre-verified blocks, proving that at least some parts of the design can be designed and fabricated in the target technology and perform to specification.</a:t>
            </a:r>
          </a:p>
        </p:txBody>
      </p:sp>
      <p:sp>
        <p:nvSpPr>
          <p:cNvPr id="3" name="Title 2">
            <a:extLst>
              <a:ext uri="{FF2B5EF4-FFF2-40B4-BE49-F238E27FC236}">
                <a16:creationId xmlns:a16="http://schemas.microsoft.com/office/drawing/2014/main" id="{A7C82BAF-DDF8-3DA9-E2B5-5EF741E7D586}"/>
              </a:ext>
            </a:extLst>
          </p:cNvPr>
          <p:cNvSpPr>
            <a:spLocks noGrp="1"/>
          </p:cNvSpPr>
          <p:nvPr>
            <p:ph type="title"/>
          </p:nvPr>
        </p:nvSpPr>
        <p:spPr>
          <a:xfrm>
            <a:off x="342900" y="219456"/>
            <a:ext cx="10287000" cy="481991"/>
          </a:xfrm>
        </p:spPr>
        <p:txBody>
          <a:bodyPr/>
          <a:lstStyle/>
          <a:p>
            <a:r>
              <a:rPr lang="en-US" dirty="0"/>
              <a:t>2. System Design Flow</a:t>
            </a:r>
          </a:p>
        </p:txBody>
      </p:sp>
      <p:sp>
        <p:nvSpPr>
          <p:cNvPr id="4" name="Footer Placeholder 3">
            <a:extLst>
              <a:ext uri="{FF2B5EF4-FFF2-40B4-BE49-F238E27FC236}">
                <a16:creationId xmlns:a16="http://schemas.microsoft.com/office/drawing/2014/main" id="{A02CC1CB-0192-BB72-E823-C1D10B640DD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4A92889-AF59-7640-9700-D8FF23D0A4DD}"/>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FBFF05C3-B5ED-8DC4-7F30-236A1A6BFF7D}"/>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41972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853424-B497-68D1-6244-BEB84B094DFE}"/>
              </a:ext>
            </a:extLst>
          </p:cNvPr>
          <p:cNvSpPr>
            <a:spLocks noGrp="1"/>
          </p:cNvSpPr>
          <p:nvPr>
            <p:ph idx="1"/>
          </p:nvPr>
        </p:nvSpPr>
        <p:spPr>
          <a:xfrm>
            <a:off x="355600" y="1066800"/>
            <a:ext cx="10274300" cy="5387788"/>
          </a:xfrm>
        </p:spPr>
        <p:txBody>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Times New Roman"/>
                <a:ea typeface="+mn-ea"/>
                <a:cs typeface="+mn-cs"/>
              </a:rPr>
              <a:t>2.3 Construct By Correction</a:t>
            </a:r>
          </a:p>
          <a:p>
            <a:pPr>
              <a:buClr>
                <a:srgbClr val="B1B3B3"/>
              </a:buClr>
              <a:defRPr/>
            </a:pPr>
            <a:r>
              <a:rPr lang="en-US" sz="1800" dirty="0">
                <a:latin typeface="+mn-lt"/>
              </a:rPr>
              <a:t>The Sun Microsystems engineers that developed the UltraSPARC processor have described their design process as “construct by correction”.</a:t>
            </a:r>
          </a:p>
          <a:p>
            <a:pPr>
              <a:buClr>
                <a:srgbClr val="B1B3B3"/>
              </a:buClr>
              <a:defRPr/>
            </a:pPr>
            <a:r>
              <a:rPr lang="en-US" sz="1800" dirty="0">
                <a:latin typeface="+mn-lt"/>
              </a:rPr>
              <a:t>In this project, a single team took the design from architectural definition through place and route. In this case, the engineers had to learn how to use the place and route tools, whereas, in the past, they had always relied on a separate team for physical design.</a:t>
            </a:r>
          </a:p>
          <a:p>
            <a:pPr>
              <a:buClr>
                <a:srgbClr val="B1B3B3"/>
              </a:buClr>
              <a:defRPr/>
            </a:pPr>
            <a:r>
              <a:rPr lang="en-US" sz="1800" dirty="0">
                <a:latin typeface="+mn-lt"/>
              </a:rPr>
              <a:t>By going through the entire flow, the team was able to see for themselves the impact that their architectural decisions had on the area, power, and performance of the final design. Also, they were able to see their mistakes, correct them and refine the design several times before the design was finally released to fabrication.</a:t>
            </a:r>
          </a:p>
          <a:p>
            <a:pPr>
              <a:buClr>
                <a:srgbClr val="B1B3B3"/>
              </a:buClr>
              <a:defRPr/>
            </a:pPr>
            <a:r>
              <a:rPr lang="en-US" sz="1800" dirty="0">
                <a:latin typeface="+mn-lt"/>
              </a:rPr>
              <a:t>The UltraSPARC team made the first pass through the design cycle—from architecture to layout—as fast as possible, allowing for multiple iterations through the entire process.</a:t>
            </a:r>
          </a:p>
          <a:p>
            <a:pPr>
              <a:buClr>
                <a:srgbClr val="B1B3B3"/>
              </a:buClr>
              <a:defRPr/>
            </a:pPr>
            <a:r>
              <a:rPr lang="en-US" sz="1800" dirty="0">
                <a:latin typeface="+mn-lt"/>
              </a:rPr>
              <a:t>This process is the opposite of “correct by construction” where the intent is to get the design completely right during the first pass. As discussed above, it was not possible at the architectural phase of the design to foresee all the implication their decision would have on the final physical design.</a:t>
            </a:r>
          </a:p>
        </p:txBody>
      </p:sp>
      <p:sp>
        <p:nvSpPr>
          <p:cNvPr id="3" name="Title 2">
            <a:extLst>
              <a:ext uri="{FF2B5EF4-FFF2-40B4-BE49-F238E27FC236}">
                <a16:creationId xmlns:a16="http://schemas.microsoft.com/office/drawing/2014/main" id="{37C00959-9C6A-4B54-9146-2AFA912552EE}"/>
              </a:ext>
            </a:extLst>
          </p:cNvPr>
          <p:cNvSpPr>
            <a:spLocks noGrp="1"/>
          </p:cNvSpPr>
          <p:nvPr>
            <p:ph type="title"/>
          </p:nvPr>
        </p:nvSpPr>
        <p:spPr>
          <a:xfrm>
            <a:off x="342900" y="219456"/>
            <a:ext cx="10287000" cy="481991"/>
          </a:xfrm>
        </p:spPr>
        <p:txBody>
          <a:bodyPr/>
          <a:lstStyle/>
          <a:p>
            <a:r>
              <a:rPr lang="en-US" dirty="0"/>
              <a:t>2. System Design Flow</a:t>
            </a:r>
          </a:p>
        </p:txBody>
      </p:sp>
      <p:sp>
        <p:nvSpPr>
          <p:cNvPr id="4" name="Footer Placeholder 3">
            <a:extLst>
              <a:ext uri="{FF2B5EF4-FFF2-40B4-BE49-F238E27FC236}">
                <a16:creationId xmlns:a16="http://schemas.microsoft.com/office/drawing/2014/main" id="{8AF07F84-4829-EB84-4754-63392B486BD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C512BAC1-DD01-193A-EAE1-BCE7BC104A44}"/>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7F7094A6-F9FF-ECE1-2DBC-6646D512672A}"/>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73141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853424-B497-68D1-6244-BEB84B094DFE}"/>
              </a:ext>
            </a:extLst>
          </p:cNvPr>
          <p:cNvSpPr>
            <a:spLocks noGrp="1"/>
          </p:cNvSpPr>
          <p:nvPr>
            <p:ph idx="1"/>
          </p:nvPr>
        </p:nvSpPr>
        <p:spPr>
          <a:xfrm>
            <a:off x="355600" y="1066800"/>
            <a:ext cx="10274300" cy="5387788"/>
          </a:xfrm>
        </p:spPr>
        <p:txBody>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Times New Roman"/>
                <a:ea typeface="+mn-ea"/>
                <a:cs typeface="+mn-cs"/>
              </a:rPr>
              <a:t>2.4 Summary</a:t>
            </a:r>
          </a:p>
          <a:p>
            <a:pPr>
              <a:buClr>
                <a:srgbClr val="B1B3B3"/>
              </a:buClr>
              <a:defRPr/>
            </a:pPr>
            <a:r>
              <a:rPr lang="en-US" sz="1800" dirty="0">
                <a:latin typeface="+mn-lt"/>
              </a:rPr>
              <a:t>It has been found that iteration in the development process is inevitable. So, it would be a significant value in planning for iteration to minimize the overall design time (number of major iterations). As going back to the specification after an initial layout of a chip is expensive.</a:t>
            </a:r>
          </a:p>
          <a:p>
            <a:pPr>
              <a:buClr>
                <a:srgbClr val="B1B3B3"/>
              </a:buClr>
              <a:defRPr/>
            </a:pPr>
            <a:r>
              <a:rPr lang="en-US" sz="1800" dirty="0">
                <a:latin typeface="+mn-lt"/>
              </a:rPr>
              <a:t>We would prefer to iterate in tight, local loops, such as coding, verifying, and synthesizing small blocks. These loops can be very fast and productive.</a:t>
            </a:r>
          </a:p>
          <a:p>
            <a:pPr>
              <a:buClr>
                <a:srgbClr val="B1B3B3"/>
              </a:buClr>
              <a:defRPr/>
            </a:pPr>
            <a:r>
              <a:rPr lang="en-US" sz="1800" dirty="0">
                <a:latin typeface="+mn-lt"/>
              </a:rPr>
              <a:t>Spending time in carefully specifying a design is the best way to minimize the number of iterative loops and to minimize the amount of time spent in each loop.</a:t>
            </a:r>
          </a:p>
          <a:p>
            <a:pPr marL="0" indent="0">
              <a:buClr>
                <a:srgbClr val="B1B3B3"/>
              </a:buClr>
              <a:buNone/>
              <a:defRPr/>
            </a:pPr>
            <a:endParaRPr lang="en-US" sz="1800" dirty="0">
              <a:latin typeface="+mn-lt"/>
            </a:endParaRPr>
          </a:p>
        </p:txBody>
      </p:sp>
      <p:sp>
        <p:nvSpPr>
          <p:cNvPr id="3" name="Title 2">
            <a:extLst>
              <a:ext uri="{FF2B5EF4-FFF2-40B4-BE49-F238E27FC236}">
                <a16:creationId xmlns:a16="http://schemas.microsoft.com/office/drawing/2014/main" id="{37C00959-9C6A-4B54-9146-2AFA912552EE}"/>
              </a:ext>
            </a:extLst>
          </p:cNvPr>
          <p:cNvSpPr>
            <a:spLocks noGrp="1"/>
          </p:cNvSpPr>
          <p:nvPr>
            <p:ph type="title"/>
          </p:nvPr>
        </p:nvSpPr>
        <p:spPr>
          <a:xfrm>
            <a:off x="342900" y="219456"/>
            <a:ext cx="10287000" cy="481991"/>
          </a:xfrm>
        </p:spPr>
        <p:txBody>
          <a:bodyPr/>
          <a:lstStyle/>
          <a:p>
            <a:r>
              <a:rPr lang="en-US" dirty="0"/>
              <a:t>2. System Design Flow</a:t>
            </a:r>
          </a:p>
        </p:txBody>
      </p:sp>
      <p:sp>
        <p:nvSpPr>
          <p:cNvPr id="4" name="Footer Placeholder 3">
            <a:extLst>
              <a:ext uri="{FF2B5EF4-FFF2-40B4-BE49-F238E27FC236}">
                <a16:creationId xmlns:a16="http://schemas.microsoft.com/office/drawing/2014/main" id="{8AF07F84-4829-EB84-4754-63392B486BD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C512BAC1-DD01-193A-EAE1-BCE7BC104A44}"/>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7F7094A6-F9FF-ECE1-2DBC-6646D512672A}"/>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4478043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870AD1-A140-B9F3-61A6-7D8342AC79F4}"/>
              </a:ext>
            </a:extLst>
          </p:cNvPr>
          <p:cNvSpPr>
            <a:spLocks noGrp="1"/>
          </p:cNvSpPr>
          <p:nvPr>
            <p:ph idx="1"/>
          </p:nvPr>
        </p:nvSpPr>
        <p:spPr/>
        <p:txBody>
          <a:bodyPr>
            <a:normAutofit/>
          </a:bodyPr>
          <a:lstStyle/>
          <a:p>
            <a:r>
              <a:rPr lang="en-US" sz="1800" dirty="0">
                <a:latin typeface="+mn-lt"/>
              </a:rPr>
              <a:t>The first part of the design process consists of recursively developing, verifying, and refining a set of specifications until they are detailed enough to allow RTL coding to begin.</a:t>
            </a:r>
          </a:p>
          <a:p>
            <a:r>
              <a:rPr lang="en-US" sz="1800" dirty="0">
                <a:latin typeface="+mn-lt"/>
              </a:rPr>
              <a:t>In a successful design methodology, it is the most crucial, challenging, and lengthy phase of the project. If you know what you want to build, implementation mistakes are quickly spotted and fixed. If you don’t know, you may not spot major errors until late in the design cycle or until fabrication.</a:t>
            </a:r>
          </a:p>
          <a:p>
            <a:r>
              <a:rPr lang="en-US" sz="1800" dirty="0">
                <a:latin typeface="+mn-lt"/>
              </a:rPr>
              <a:t>Similarly, the cost of documenting a specification during the early phases of a design is much less than the cost of documenting it after the design is completed. Where documenting after the completion adds no value for the designer and either delays the project or is skipped altogether.</a:t>
            </a:r>
          </a:p>
          <a:p>
            <a:pPr marL="0" indent="0">
              <a:buNone/>
            </a:pPr>
            <a:endParaRPr lang="en-US" sz="1800" dirty="0">
              <a:latin typeface="+mn-lt"/>
            </a:endParaRPr>
          </a:p>
        </p:txBody>
      </p:sp>
      <p:sp>
        <p:nvSpPr>
          <p:cNvPr id="3" name="Title 2">
            <a:extLst>
              <a:ext uri="{FF2B5EF4-FFF2-40B4-BE49-F238E27FC236}">
                <a16:creationId xmlns:a16="http://schemas.microsoft.com/office/drawing/2014/main" id="{C9B2F6CB-8ECE-91B2-A97A-54963F49E9CF}"/>
              </a:ext>
            </a:extLst>
          </p:cNvPr>
          <p:cNvSpPr>
            <a:spLocks noGrp="1"/>
          </p:cNvSpPr>
          <p:nvPr>
            <p:ph type="title"/>
          </p:nvPr>
        </p:nvSpPr>
        <p:spPr>
          <a:xfrm>
            <a:off x="342900" y="219456"/>
            <a:ext cx="10287000" cy="481991"/>
          </a:xfrm>
        </p:spPr>
        <p:txBody>
          <a:bodyPr/>
          <a:lstStyle/>
          <a:p>
            <a:r>
              <a:rPr lang="en-US" dirty="0"/>
              <a:t>3. The Specification Problem	</a:t>
            </a:r>
          </a:p>
        </p:txBody>
      </p:sp>
      <p:sp>
        <p:nvSpPr>
          <p:cNvPr id="4" name="Footer Placeholder 3">
            <a:extLst>
              <a:ext uri="{FF2B5EF4-FFF2-40B4-BE49-F238E27FC236}">
                <a16:creationId xmlns:a16="http://schemas.microsoft.com/office/drawing/2014/main" id="{FF837E81-5BF0-4C2C-5D44-F43A0F0BBEA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8E89F80-D02F-D156-8A38-DFCE94AC429B}"/>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CCD21579-4870-659A-F636-1EB04B1B96BE}"/>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407906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870AD1-A140-B9F3-61A6-7D8342AC79F4}"/>
              </a:ext>
            </a:extLst>
          </p:cNvPr>
          <p:cNvSpPr>
            <a:spLocks noGrp="1"/>
          </p:cNvSpPr>
          <p:nvPr>
            <p:ph idx="1"/>
          </p:nvPr>
        </p:nvSpPr>
        <p:spPr/>
        <p:txBody>
          <a:bodyPr>
            <a:normAutofit/>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Times New Roman"/>
                <a:ea typeface="+mn-ea"/>
                <a:cs typeface="+mn-cs"/>
              </a:rPr>
              <a:t>3.1 Specification Requirements</a:t>
            </a:r>
            <a:endParaRPr lang="en-US" sz="1800" dirty="0">
              <a:latin typeface="+mn-lt"/>
            </a:endParaRPr>
          </a:p>
          <a:p>
            <a:pPr>
              <a:buClr>
                <a:srgbClr val="B1B3B3"/>
              </a:buClr>
              <a:defRPr/>
            </a:pPr>
            <a:r>
              <a:rPr lang="en-US" sz="1800" dirty="0">
                <a:latin typeface="+mn-lt"/>
              </a:rPr>
              <a:t>Specifications describe the behavior of a system; more specifically, they describe how to manipulate the interfaces of a system to produce the desired behavior.</a:t>
            </a:r>
          </a:p>
          <a:p>
            <a:pPr>
              <a:buClr>
                <a:srgbClr val="B1B3B3"/>
              </a:buClr>
              <a:defRPr/>
            </a:pPr>
            <a:r>
              <a:rPr lang="en-US" sz="1800" b="1" dirty="0">
                <a:latin typeface="+mn-lt"/>
              </a:rPr>
              <a:t>Functional specifications </a:t>
            </a:r>
            <a:r>
              <a:rPr lang="en-US" sz="1800" dirty="0">
                <a:latin typeface="+mn-lt"/>
              </a:rPr>
              <a:t>describe the interfaces of a system or block as seen by the user of the systems. They describe the pins, buses, and registers, and how these can be used to manipulate data.</a:t>
            </a:r>
          </a:p>
          <a:p>
            <a:pPr>
              <a:buClr>
                <a:srgbClr val="B1B3B3"/>
              </a:buClr>
              <a:defRPr/>
            </a:pPr>
            <a:r>
              <a:rPr lang="en-US" sz="1800" b="1" dirty="0">
                <a:latin typeface="+mn-lt"/>
              </a:rPr>
              <a:t>Architectural specifications </a:t>
            </a:r>
            <a:r>
              <a:rPr lang="en-US" sz="1800" dirty="0">
                <a:latin typeface="+mn-lt"/>
              </a:rPr>
              <a:t>describe the interfaces between component parts and how transactions on these interfaces coordinate the functions of each block, and create the desired system-level behavior.</a:t>
            </a:r>
          </a:p>
          <a:p>
            <a:r>
              <a:rPr lang="en-US" sz="1800" dirty="0">
                <a:latin typeface="+mn-lt"/>
              </a:rPr>
              <a:t>In an SoC design, specifications are required for both the hardware and software portions of the design. The specifications must completely describe all the interfaces between the design and its environment, including:</a:t>
            </a:r>
          </a:p>
          <a:p>
            <a:pPr marL="0" indent="0">
              <a:buNone/>
            </a:pPr>
            <a:endParaRPr lang="en-US" sz="1800" dirty="0">
              <a:latin typeface="+mn-lt"/>
            </a:endParaRPr>
          </a:p>
        </p:txBody>
      </p:sp>
      <p:sp>
        <p:nvSpPr>
          <p:cNvPr id="3" name="Title 2">
            <a:extLst>
              <a:ext uri="{FF2B5EF4-FFF2-40B4-BE49-F238E27FC236}">
                <a16:creationId xmlns:a16="http://schemas.microsoft.com/office/drawing/2014/main" id="{C9B2F6CB-8ECE-91B2-A97A-54963F49E9CF}"/>
              </a:ext>
            </a:extLst>
          </p:cNvPr>
          <p:cNvSpPr>
            <a:spLocks noGrp="1"/>
          </p:cNvSpPr>
          <p:nvPr>
            <p:ph type="title"/>
          </p:nvPr>
        </p:nvSpPr>
        <p:spPr>
          <a:xfrm>
            <a:off x="342900" y="219456"/>
            <a:ext cx="10287000" cy="481991"/>
          </a:xfrm>
        </p:spPr>
        <p:txBody>
          <a:bodyPr/>
          <a:lstStyle/>
          <a:p>
            <a:r>
              <a:rPr lang="en-US" dirty="0"/>
              <a:t>3. The Specification Problem	</a:t>
            </a:r>
          </a:p>
        </p:txBody>
      </p:sp>
      <p:sp>
        <p:nvSpPr>
          <p:cNvPr id="4" name="Footer Placeholder 3">
            <a:extLst>
              <a:ext uri="{FF2B5EF4-FFF2-40B4-BE49-F238E27FC236}">
                <a16:creationId xmlns:a16="http://schemas.microsoft.com/office/drawing/2014/main" id="{FF837E81-5BF0-4C2C-5D44-F43A0F0BBEA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8E89F80-D02F-D156-8A38-DFCE94AC429B}"/>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CCD21579-4870-659A-F636-1EB04B1B96BE}"/>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graphicFrame>
        <p:nvGraphicFramePr>
          <p:cNvPr id="7" name="Table 7">
            <a:extLst>
              <a:ext uri="{FF2B5EF4-FFF2-40B4-BE49-F238E27FC236}">
                <a16:creationId xmlns:a16="http://schemas.microsoft.com/office/drawing/2014/main" id="{1BEC0DDC-A46A-C821-5F28-09BD22CF62A3}"/>
              </a:ext>
            </a:extLst>
          </p:cNvPr>
          <p:cNvGraphicFramePr>
            <a:graphicFrameLocks noGrp="1"/>
          </p:cNvGraphicFramePr>
          <p:nvPr>
            <p:extLst>
              <p:ext uri="{D42A27DB-BD31-4B8C-83A1-F6EECF244321}">
                <p14:modId xmlns:p14="http://schemas.microsoft.com/office/powerpoint/2010/main" val="1096251785"/>
              </p:ext>
            </p:extLst>
          </p:nvPr>
        </p:nvGraphicFramePr>
        <p:xfrm>
          <a:off x="579717" y="4189159"/>
          <a:ext cx="8128000" cy="2108200"/>
        </p:xfrm>
        <a:graphic>
          <a:graphicData uri="http://schemas.openxmlformats.org/drawingml/2006/table">
            <a:tbl>
              <a:tblPr firstRow="1" bandRow="1">
                <a:tableStyleId>{2D5ABB26-0587-4C30-8999-92F81FD0307C}</a:tableStyleId>
              </a:tblPr>
              <a:tblGrid>
                <a:gridCol w="5605930">
                  <a:extLst>
                    <a:ext uri="{9D8B030D-6E8A-4147-A177-3AD203B41FA5}">
                      <a16:colId xmlns:a16="http://schemas.microsoft.com/office/drawing/2014/main" val="4017804687"/>
                    </a:ext>
                  </a:extLst>
                </a:gridCol>
                <a:gridCol w="2522070">
                  <a:extLst>
                    <a:ext uri="{9D8B030D-6E8A-4147-A177-3AD203B41FA5}">
                      <a16:colId xmlns:a16="http://schemas.microsoft.com/office/drawing/2014/main" val="812736898"/>
                    </a:ext>
                  </a:extLst>
                </a:gridCol>
              </a:tblGrid>
              <a:tr h="370840">
                <a:tc>
                  <a:txBody>
                    <a:bodyPr/>
                    <a:lstStyle/>
                    <a:p>
                      <a:r>
                        <a:rPr lang="en-US" dirty="0"/>
                        <a:t>Hardware:</a:t>
                      </a:r>
                    </a:p>
                  </a:txBody>
                  <a:tcPr/>
                </a:tc>
                <a:tc>
                  <a:txBody>
                    <a:bodyPr/>
                    <a:lstStyle/>
                    <a:p>
                      <a:r>
                        <a:rPr lang="en-US" dirty="0"/>
                        <a:t>Software:</a:t>
                      </a:r>
                    </a:p>
                  </a:txBody>
                  <a:tcPr/>
                </a:tc>
                <a:extLst>
                  <a:ext uri="{0D108BD9-81ED-4DB2-BD59-A6C34878D82A}">
                    <a16:rowId xmlns:a16="http://schemas.microsoft.com/office/drawing/2014/main" val="2672150405"/>
                  </a:ext>
                </a:extLst>
              </a:tr>
              <a:tr h="370840">
                <a:tc>
                  <a:txBody>
                    <a:bodyPr/>
                    <a:lstStyle/>
                    <a:p>
                      <a:pPr marL="285750" indent="-285750">
                        <a:buFont typeface="Arial" panose="020B0604020202020204" pitchFamily="34" charset="0"/>
                        <a:buChar char="•"/>
                      </a:pPr>
                      <a:r>
                        <a:rPr lang="en-US" dirty="0"/>
                        <a:t>Functionality </a:t>
                      </a:r>
                    </a:p>
                    <a:p>
                      <a:pPr marL="285750" indent="-285750">
                        <a:buFont typeface="Arial" panose="020B0604020202020204" pitchFamily="34" charset="0"/>
                        <a:buChar char="•"/>
                      </a:pPr>
                      <a:r>
                        <a:rPr lang="en-US" dirty="0"/>
                        <a:t>External interfaces to other hardware (pins, buses, and how to use them)</a:t>
                      </a:r>
                    </a:p>
                    <a:p>
                      <a:pPr marL="285750" indent="-285750">
                        <a:buFont typeface="Arial" panose="020B0604020202020204" pitchFamily="34" charset="0"/>
                        <a:buChar char="•"/>
                      </a:pPr>
                      <a:r>
                        <a:rPr lang="en-US" dirty="0"/>
                        <a:t>Interface to SW (register definitions)</a:t>
                      </a:r>
                    </a:p>
                    <a:p>
                      <a:pPr marL="285750" indent="-285750">
                        <a:buFont typeface="Arial" panose="020B0604020202020204" pitchFamily="34" charset="0"/>
                        <a:buChar char="•"/>
                      </a:pPr>
                      <a:r>
                        <a:rPr lang="en-US" dirty="0"/>
                        <a:t>Timing Performance </a:t>
                      </a:r>
                    </a:p>
                    <a:p>
                      <a:pPr marL="285750" indent="-285750">
                        <a:buFont typeface="Arial" panose="020B0604020202020204" pitchFamily="34" charset="0"/>
                        <a:buChar char="•"/>
                      </a:pPr>
                      <a:r>
                        <a:rPr lang="en-US" dirty="0"/>
                        <a:t>Physical design issues such as area and power </a:t>
                      </a:r>
                    </a:p>
                  </a:txBody>
                  <a:tcPr/>
                </a:tc>
                <a:tc>
                  <a:txBody>
                    <a:bodyPr/>
                    <a:lstStyle/>
                    <a:p>
                      <a:pPr marL="285750" indent="-285750">
                        <a:buFont typeface="Arial" panose="020B0604020202020204" pitchFamily="34" charset="0"/>
                        <a:buChar char="•"/>
                      </a:pPr>
                      <a:r>
                        <a:rPr lang="en-US" dirty="0"/>
                        <a:t>Functionality </a:t>
                      </a:r>
                    </a:p>
                    <a:p>
                      <a:pPr marL="285750" indent="-285750">
                        <a:buFont typeface="Arial" panose="020B0604020202020204" pitchFamily="34" charset="0"/>
                        <a:buChar char="•"/>
                      </a:pPr>
                      <a:r>
                        <a:rPr lang="en-US" dirty="0"/>
                        <a:t>Timing </a:t>
                      </a:r>
                    </a:p>
                    <a:p>
                      <a:pPr marL="285750" indent="-285750">
                        <a:buFont typeface="Arial" panose="020B0604020202020204" pitchFamily="34" charset="0"/>
                        <a:buChar char="•"/>
                      </a:pPr>
                      <a:r>
                        <a:rPr lang="en-US" dirty="0"/>
                        <a:t>Performance </a:t>
                      </a:r>
                    </a:p>
                    <a:p>
                      <a:pPr marL="285750" indent="-285750">
                        <a:buFont typeface="Arial" panose="020B0604020202020204" pitchFamily="34" charset="0"/>
                        <a:buChar char="•"/>
                      </a:pPr>
                      <a:r>
                        <a:rPr lang="en-US" dirty="0"/>
                        <a:t>Interface to HW </a:t>
                      </a:r>
                    </a:p>
                    <a:p>
                      <a:pPr marL="285750" indent="-285750">
                        <a:buFont typeface="Arial" panose="020B0604020202020204" pitchFamily="34" charset="0"/>
                        <a:buChar char="•"/>
                      </a:pPr>
                      <a:r>
                        <a:rPr lang="en-US" dirty="0"/>
                        <a:t>SW structure, kernel</a:t>
                      </a:r>
                    </a:p>
                  </a:txBody>
                  <a:tcPr/>
                </a:tc>
                <a:extLst>
                  <a:ext uri="{0D108BD9-81ED-4DB2-BD59-A6C34878D82A}">
                    <a16:rowId xmlns:a16="http://schemas.microsoft.com/office/drawing/2014/main" val="1313553206"/>
                  </a:ext>
                </a:extLst>
              </a:tr>
            </a:tbl>
          </a:graphicData>
        </a:graphic>
      </p:graphicFrame>
    </p:spTree>
    <p:extLst>
      <p:ext uri="{BB962C8B-B14F-4D97-AF65-F5344CB8AC3E}">
        <p14:creationId xmlns:p14="http://schemas.microsoft.com/office/powerpoint/2010/main" val="25662601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870AD1-A140-B9F3-61A6-7D8342AC79F4}"/>
              </a:ext>
            </a:extLst>
          </p:cNvPr>
          <p:cNvSpPr>
            <a:spLocks noGrp="1"/>
          </p:cNvSpPr>
          <p:nvPr>
            <p:ph idx="1"/>
          </p:nvPr>
        </p:nvSpPr>
        <p:spPr>
          <a:xfrm>
            <a:off x="355600" y="887506"/>
            <a:ext cx="10823388" cy="5722512"/>
          </a:xfrm>
        </p:spPr>
        <p:txBody>
          <a:bodyPr>
            <a:normAutofit lnSpcReduction="10000"/>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Times New Roman"/>
                <a:ea typeface="+mn-ea"/>
                <a:cs typeface="+mn-cs"/>
              </a:rPr>
              <a:t>3.2 Types of Specifications</a:t>
            </a:r>
            <a:endParaRPr lang="en-US" sz="1800" dirty="0">
              <a:latin typeface="+mn-lt"/>
            </a:endParaRPr>
          </a:p>
          <a:p>
            <a:pPr>
              <a:buClr>
                <a:srgbClr val="B1B3B3"/>
              </a:buClr>
              <a:defRPr/>
            </a:pPr>
            <a:r>
              <a:rPr lang="en-US" sz="1800" dirty="0">
                <a:latin typeface="+mn-lt"/>
              </a:rPr>
              <a:t>Traditionally, specifications have been written in a natural language, such as English, and have been plagued by ambiguities, incompleteness, and errors. Many companies, realizing the problems this causes, have started using executable specifications for some or all of the system.</a:t>
            </a:r>
          </a:p>
          <a:p>
            <a:pPr>
              <a:buClr>
                <a:srgbClr val="B1B3B3"/>
              </a:buClr>
              <a:defRPr/>
            </a:pPr>
            <a:r>
              <a:rPr lang="en-US" sz="1800" b="1" dirty="0">
                <a:latin typeface="+mn-lt"/>
              </a:rPr>
              <a:t>Formal Specifications </a:t>
            </a:r>
            <a:r>
              <a:rPr lang="en-US" sz="1800" dirty="0">
                <a:latin typeface="+mn-lt"/>
              </a:rPr>
              <a:t>the desired characteristics of the design are defined independently of any implementation.</a:t>
            </a:r>
          </a:p>
          <a:p>
            <a:pPr lvl="1">
              <a:buClr>
                <a:srgbClr val="B1B3B3"/>
              </a:buClr>
              <a:buFont typeface="Arial" panose="020B0604020202020204" pitchFamily="34" charset="0"/>
              <a:buChar char="•"/>
              <a:defRPr/>
            </a:pPr>
            <a:r>
              <a:rPr lang="en-US" sz="1600" dirty="0">
                <a:latin typeface="+mn-lt"/>
              </a:rPr>
              <a:t>Once a formal specification is generated for a design, formal methods such as property checking can be used to prove that a specific implementation meets the requirements of the specification.</a:t>
            </a:r>
          </a:p>
          <a:p>
            <a:pPr lvl="1">
              <a:buClr>
                <a:srgbClr val="B1B3B3"/>
              </a:buClr>
              <a:buFont typeface="Arial" panose="020B0604020202020204" pitchFamily="34" charset="0"/>
              <a:buChar char="•"/>
              <a:defRPr/>
            </a:pPr>
            <a:r>
              <a:rPr lang="en-US" sz="1600" dirty="0">
                <a:latin typeface="+mn-lt"/>
              </a:rPr>
              <a:t>A number of formal specification languages have been developed, including one for VHDL called VSPEC.</a:t>
            </a:r>
          </a:p>
          <a:p>
            <a:pPr lvl="1">
              <a:buClr>
                <a:srgbClr val="B1B3B3"/>
              </a:buClr>
              <a:buFont typeface="Arial" panose="020B0604020202020204" pitchFamily="34" charset="0"/>
              <a:buChar char="•"/>
              <a:defRPr/>
            </a:pPr>
            <a:r>
              <a:rPr lang="en-US" sz="1600" dirty="0">
                <a:latin typeface="+mn-lt"/>
              </a:rPr>
              <a:t>These languages typically provide a mechanism for describing not only functional behavior, but timing, power, and area requirements as well.</a:t>
            </a:r>
            <a:endParaRPr lang="en-US" sz="1600" b="1" dirty="0">
              <a:latin typeface="+mn-lt"/>
            </a:endParaRPr>
          </a:p>
          <a:p>
            <a:pPr>
              <a:buClr>
                <a:srgbClr val="B1B3B3"/>
              </a:buClr>
              <a:defRPr/>
            </a:pPr>
            <a:r>
              <a:rPr lang="en-US" sz="1800" b="1" dirty="0">
                <a:latin typeface="+mn-lt"/>
              </a:rPr>
              <a:t>Executable specifications </a:t>
            </a:r>
            <a:r>
              <a:rPr lang="en-US" sz="1800" dirty="0">
                <a:latin typeface="+mn-lt"/>
              </a:rPr>
              <a:t>more useful for describing functional behavior in most design situations. </a:t>
            </a:r>
          </a:p>
          <a:p>
            <a:pPr lvl="1">
              <a:buClr>
                <a:srgbClr val="B1B3B3"/>
              </a:buClr>
              <a:defRPr/>
            </a:pPr>
            <a:r>
              <a:rPr lang="en-US" sz="1600" dirty="0">
                <a:latin typeface="+mn-lt"/>
              </a:rPr>
              <a:t>An executable specification is typically an abstract model for the hardware and/or software being specified.</a:t>
            </a:r>
          </a:p>
          <a:p>
            <a:pPr lvl="1">
              <a:buClr>
                <a:srgbClr val="B1B3B3"/>
              </a:buClr>
              <a:defRPr/>
            </a:pPr>
            <a:r>
              <a:rPr lang="en-US" sz="1600" dirty="0">
                <a:latin typeface="+mn-lt"/>
              </a:rPr>
              <a:t>For high-level specifications, it is typically written in C, C++. For lower levels, hardware is usually described in Verilog or VHDL.</a:t>
            </a:r>
          </a:p>
          <a:p>
            <a:pPr lvl="1">
              <a:buClr>
                <a:srgbClr val="B1B3B3"/>
              </a:buClr>
              <a:defRPr/>
            </a:pPr>
            <a:r>
              <a:rPr lang="en-US" sz="1600" dirty="0">
                <a:latin typeface="+mn-lt"/>
              </a:rPr>
              <a:t>Developing these models early in the design process allows the design team to verify the basic functionality and interfaces of the hardware and software long before the detailed design begins.</a:t>
            </a:r>
          </a:p>
          <a:p>
            <a:pPr>
              <a:buClr>
                <a:srgbClr val="B1B3B3"/>
              </a:buClr>
              <a:defRPr/>
            </a:pPr>
            <a:r>
              <a:rPr lang="en-US" sz="1800" dirty="0">
                <a:latin typeface="+mn-lt"/>
              </a:rPr>
              <a:t>Most executable specifications address only the functional behavior of a system, so it may still be necessary to describe critical physical specifications—timing, clock frequency, area, and power requirements—in a written document.</a:t>
            </a:r>
          </a:p>
          <a:p>
            <a:pPr lvl="1">
              <a:buClr>
                <a:srgbClr val="B1B3B3"/>
              </a:buClr>
              <a:defRPr/>
            </a:pPr>
            <a:endParaRPr lang="en-US" sz="1200" b="1" dirty="0">
              <a:latin typeface="+mn-lt"/>
            </a:endParaRPr>
          </a:p>
        </p:txBody>
      </p:sp>
      <p:sp>
        <p:nvSpPr>
          <p:cNvPr id="3" name="Title 2">
            <a:extLst>
              <a:ext uri="{FF2B5EF4-FFF2-40B4-BE49-F238E27FC236}">
                <a16:creationId xmlns:a16="http://schemas.microsoft.com/office/drawing/2014/main" id="{C9B2F6CB-8ECE-91B2-A97A-54963F49E9CF}"/>
              </a:ext>
            </a:extLst>
          </p:cNvPr>
          <p:cNvSpPr>
            <a:spLocks noGrp="1"/>
          </p:cNvSpPr>
          <p:nvPr>
            <p:ph type="title"/>
          </p:nvPr>
        </p:nvSpPr>
        <p:spPr>
          <a:xfrm>
            <a:off x="342900" y="219456"/>
            <a:ext cx="10287000" cy="481991"/>
          </a:xfrm>
        </p:spPr>
        <p:txBody>
          <a:bodyPr/>
          <a:lstStyle/>
          <a:p>
            <a:r>
              <a:rPr lang="en-US" dirty="0"/>
              <a:t>3. The Specification Problem	</a:t>
            </a:r>
          </a:p>
        </p:txBody>
      </p:sp>
      <p:sp>
        <p:nvSpPr>
          <p:cNvPr id="4" name="Footer Placeholder 3">
            <a:extLst>
              <a:ext uri="{FF2B5EF4-FFF2-40B4-BE49-F238E27FC236}">
                <a16:creationId xmlns:a16="http://schemas.microsoft.com/office/drawing/2014/main" id="{FF837E81-5BF0-4C2C-5D44-F43A0F0BBEA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8E89F80-D02F-D156-8A38-DFCE94AC429B}"/>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CCD21579-4870-659A-F636-1EB04B1B96BE}"/>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201185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AE14A8-1C8A-9FAB-4E31-6DED347EB9AA}"/>
              </a:ext>
            </a:extLst>
          </p:cNvPr>
          <p:cNvSpPr>
            <a:spLocks noGrp="1"/>
          </p:cNvSpPr>
          <p:nvPr>
            <p:ph idx="1"/>
          </p:nvPr>
        </p:nvSpPr>
        <p:spPr/>
        <p:txBody>
          <a:bodyPr/>
          <a:lstStyle/>
          <a:p>
            <a:r>
              <a:rPr lang="en-US" sz="1800" dirty="0">
                <a:latin typeface="+mn-lt"/>
              </a:rPr>
              <a:t>Determining the optimal architecture in terms of cost and performance involves a large number of complex decisions and tradeoffs, such as:</a:t>
            </a:r>
          </a:p>
          <a:p>
            <a:pPr lvl="1">
              <a:buFont typeface="Arial" panose="020B0604020202020204" pitchFamily="34" charset="0"/>
              <a:buChar char="•"/>
            </a:pPr>
            <a:r>
              <a:rPr lang="en-US" sz="1600" dirty="0">
                <a:latin typeface="+mn-lt"/>
              </a:rPr>
              <a:t>What goes in software and what goes in hardware? </a:t>
            </a:r>
          </a:p>
          <a:p>
            <a:pPr lvl="1">
              <a:buFont typeface="Arial" panose="020B0604020202020204" pitchFamily="34" charset="0"/>
              <a:buChar char="•"/>
            </a:pPr>
            <a:r>
              <a:rPr lang="en-US" sz="1600" dirty="0">
                <a:latin typeface="+mn-lt"/>
              </a:rPr>
              <a:t>What processor(s) to use, and how many?</a:t>
            </a:r>
          </a:p>
          <a:p>
            <a:pPr lvl="1">
              <a:buFont typeface="Arial" panose="020B0604020202020204" pitchFamily="34" charset="0"/>
              <a:buChar char="•"/>
            </a:pPr>
            <a:r>
              <a:rPr lang="en-US" sz="1600" dirty="0">
                <a:latin typeface="+mn-lt"/>
              </a:rPr>
              <a:t>What bus architecture is required to achieve the required system performance?</a:t>
            </a:r>
          </a:p>
          <a:p>
            <a:pPr lvl="1">
              <a:buFont typeface="Arial" panose="020B0604020202020204" pitchFamily="34" charset="0"/>
              <a:buChar char="•"/>
            </a:pPr>
            <a:r>
              <a:rPr lang="en-US" sz="1600" dirty="0">
                <a:latin typeface="+mn-lt"/>
              </a:rPr>
              <a:t>What memory architecture to use to reach an appropriate balance between power, area, and speed?</a:t>
            </a:r>
          </a:p>
          <a:p>
            <a:r>
              <a:rPr lang="en-US" sz="1800" dirty="0">
                <a:latin typeface="+mn-lt"/>
              </a:rPr>
              <a:t>In most SoC designs, it is not possible, purely by analysis, to develop a system architecture that meets the design team’s cost and performance objectives. Thus, the system design process consists of proposing a candidate system design and then developing a series of models to evaluate and refine the design.</a:t>
            </a:r>
          </a:p>
          <a:p>
            <a:endParaRPr lang="en-US" sz="1800" dirty="0">
              <a:latin typeface="+mn-lt"/>
            </a:endParaRPr>
          </a:p>
        </p:txBody>
      </p:sp>
      <p:sp>
        <p:nvSpPr>
          <p:cNvPr id="3" name="Title 2">
            <a:extLst>
              <a:ext uri="{FF2B5EF4-FFF2-40B4-BE49-F238E27FC236}">
                <a16:creationId xmlns:a16="http://schemas.microsoft.com/office/drawing/2014/main" id="{F0B19013-614A-AA73-9E23-C4F8DAF2B827}"/>
              </a:ext>
            </a:extLst>
          </p:cNvPr>
          <p:cNvSpPr>
            <a:spLocks noGrp="1"/>
          </p:cNvSpPr>
          <p:nvPr>
            <p:ph type="title"/>
          </p:nvPr>
        </p:nvSpPr>
        <p:spPr>
          <a:xfrm>
            <a:off x="342900" y="219456"/>
            <a:ext cx="10287000" cy="481991"/>
          </a:xfrm>
        </p:spPr>
        <p:txBody>
          <a:bodyPr/>
          <a:lstStyle/>
          <a:p>
            <a:r>
              <a:rPr lang="en-US" dirty="0"/>
              <a:t>4. The System Design Process</a:t>
            </a:r>
          </a:p>
        </p:txBody>
      </p:sp>
      <p:sp>
        <p:nvSpPr>
          <p:cNvPr id="4" name="Footer Placeholder 3">
            <a:extLst>
              <a:ext uri="{FF2B5EF4-FFF2-40B4-BE49-F238E27FC236}">
                <a16:creationId xmlns:a16="http://schemas.microsoft.com/office/drawing/2014/main" id="{ED5CEABA-A5AE-F4D5-D01D-B27FFC7AC5C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2FA98BF-07FB-DFC0-63B9-A319B7D758CA}"/>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9FD52A18-6E46-3EF1-A303-E6BDDE96CA93}"/>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019019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E4EC5C-088B-AC56-E5BD-AEA87B27C90F}"/>
              </a:ext>
            </a:extLst>
          </p:cNvPr>
          <p:cNvSpPr>
            <a:spLocks noGrp="1"/>
          </p:cNvSpPr>
          <p:nvPr>
            <p:ph idx="1"/>
          </p:nvPr>
        </p:nvSpPr>
        <p:spPr>
          <a:xfrm>
            <a:off x="355600" y="1066800"/>
            <a:ext cx="7926830" cy="4914900"/>
          </a:xfrm>
        </p:spPr>
        <p:txBody>
          <a:bodyPr>
            <a:normAutofit/>
          </a:bodyPr>
          <a:lstStyle/>
          <a:p>
            <a:r>
              <a:rPr lang="en-US" sz="1800" dirty="0">
                <a:latin typeface="+mn-lt"/>
              </a:rPr>
              <a:t>The system design process shown employs both executable and written specifications to specify and refine a system architecture. This process involves the following steps:</a:t>
            </a:r>
          </a:p>
          <a:p>
            <a:pPr marL="0" indent="0">
              <a:buNone/>
            </a:pPr>
            <a:r>
              <a:rPr lang="en-US" sz="1800" b="1" dirty="0">
                <a:latin typeface="+mn-lt"/>
              </a:rPr>
              <a:t>1. Create the System Specifications:</a:t>
            </a:r>
          </a:p>
          <a:p>
            <a:pPr lvl="1">
              <a:buFont typeface="Arial" panose="020B0604020202020204" pitchFamily="34" charset="0"/>
              <a:buChar char="•"/>
            </a:pPr>
            <a:r>
              <a:rPr lang="en-US" sz="1600" dirty="0">
                <a:latin typeface="+mn-lt"/>
              </a:rPr>
              <a:t>Identifying the objectives of the design; that is, the system requirements: the required functions, performance, cost, and development time for the system.</a:t>
            </a:r>
          </a:p>
          <a:p>
            <a:pPr lvl="1">
              <a:buFont typeface="Arial" panose="020B0604020202020204" pitchFamily="34" charset="0"/>
              <a:buChar char="•"/>
            </a:pPr>
            <a:r>
              <a:rPr lang="en-US" sz="1600" dirty="0">
                <a:latin typeface="+mn-lt"/>
              </a:rPr>
              <a:t>These are formulated into a preliminary specification, often written jointly by engineering and marketing.</a:t>
            </a:r>
          </a:p>
          <a:p>
            <a:pPr marL="0" indent="0">
              <a:buNone/>
            </a:pPr>
            <a:r>
              <a:rPr lang="en-US" sz="1800" b="1" dirty="0">
                <a:latin typeface="+mn-lt"/>
              </a:rPr>
              <a:t>2. Develop a Behavioral Model</a:t>
            </a:r>
          </a:p>
          <a:p>
            <a:pPr lvl="1">
              <a:buFont typeface="Arial" panose="020B0604020202020204" pitchFamily="34" charset="0"/>
              <a:buChar char="•"/>
            </a:pPr>
            <a:r>
              <a:rPr lang="en-US" sz="1600" dirty="0">
                <a:latin typeface="+mn-lt"/>
              </a:rPr>
              <a:t>The next step is to develop an initial high-level design and create a high-level behavioral model for the overall system.</a:t>
            </a:r>
          </a:p>
          <a:p>
            <a:pPr lvl="1">
              <a:buFont typeface="Arial" panose="020B0604020202020204" pitchFamily="34" charset="0"/>
              <a:buChar char="•"/>
            </a:pPr>
            <a:r>
              <a:rPr lang="en-US" sz="1600" dirty="0">
                <a:latin typeface="+mn-lt"/>
              </a:rPr>
              <a:t>This model can be used to test the basic algorithms of the system design and to show that they meet the requirements outlined in the specification.</a:t>
            </a:r>
          </a:p>
          <a:p>
            <a:pPr lvl="1">
              <a:buFont typeface="Arial" panose="020B0604020202020204" pitchFamily="34" charset="0"/>
              <a:buChar char="•"/>
            </a:pPr>
            <a:r>
              <a:rPr lang="en-US" sz="1600" dirty="0">
                <a:latin typeface="+mn-lt"/>
              </a:rPr>
              <a:t>This high-level model provides an executable specification for the key functions of the system. It can then be used as the reference for future versions of the design.</a:t>
            </a:r>
            <a:endParaRPr lang="en-US" sz="1800" dirty="0">
              <a:latin typeface="+mn-lt"/>
            </a:endParaRPr>
          </a:p>
        </p:txBody>
      </p:sp>
      <p:sp>
        <p:nvSpPr>
          <p:cNvPr id="3" name="Title 2">
            <a:extLst>
              <a:ext uri="{FF2B5EF4-FFF2-40B4-BE49-F238E27FC236}">
                <a16:creationId xmlns:a16="http://schemas.microsoft.com/office/drawing/2014/main" id="{64C49674-C7BC-E424-54EB-1D18D6ED4B11}"/>
              </a:ext>
            </a:extLst>
          </p:cNvPr>
          <p:cNvSpPr>
            <a:spLocks noGrp="1"/>
          </p:cNvSpPr>
          <p:nvPr>
            <p:ph type="title"/>
          </p:nvPr>
        </p:nvSpPr>
        <p:spPr>
          <a:xfrm>
            <a:off x="342900" y="219456"/>
            <a:ext cx="10287000" cy="481991"/>
          </a:xfrm>
        </p:spPr>
        <p:txBody>
          <a:bodyPr/>
          <a:lstStyle/>
          <a:p>
            <a:r>
              <a:rPr lang="en-US" dirty="0"/>
              <a:t>4. The System Design Process</a:t>
            </a:r>
          </a:p>
        </p:txBody>
      </p:sp>
      <p:sp>
        <p:nvSpPr>
          <p:cNvPr id="4" name="Footer Placeholder 3">
            <a:extLst>
              <a:ext uri="{FF2B5EF4-FFF2-40B4-BE49-F238E27FC236}">
                <a16:creationId xmlns:a16="http://schemas.microsoft.com/office/drawing/2014/main" id="{2638A5CB-5447-9B9B-7499-5A880D7E034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98B8883-287B-AF0E-3406-059342C65DDA}"/>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F188ED5A-1554-3698-B734-5AD2E2C12064}"/>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D0506162-D75B-ED77-038C-CA703738A3C2}"/>
              </a:ext>
            </a:extLst>
          </p:cNvPr>
          <p:cNvPicPr>
            <a:picLocks noChangeAspect="1"/>
          </p:cNvPicPr>
          <p:nvPr/>
        </p:nvPicPr>
        <p:blipFill>
          <a:blip r:embed="rId2"/>
          <a:stretch>
            <a:fillRect/>
          </a:stretch>
        </p:blipFill>
        <p:spPr>
          <a:xfrm>
            <a:off x="8282430" y="1116472"/>
            <a:ext cx="3467516" cy="4865228"/>
          </a:xfrm>
          <a:prstGeom prst="rect">
            <a:avLst/>
          </a:prstGeom>
        </p:spPr>
      </p:pic>
    </p:spTree>
    <p:extLst>
      <p:ext uri="{BB962C8B-B14F-4D97-AF65-F5344CB8AC3E}">
        <p14:creationId xmlns:p14="http://schemas.microsoft.com/office/powerpoint/2010/main" val="4242885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E4EC5C-088B-AC56-E5BD-AEA87B27C90F}"/>
              </a:ext>
            </a:extLst>
          </p:cNvPr>
          <p:cNvSpPr>
            <a:spLocks noGrp="1"/>
          </p:cNvSpPr>
          <p:nvPr>
            <p:ph idx="1"/>
          </p:nvPr>
        </p:nvSpPr>
        <p:spPr>
          <a:xfrm>
            <a:off x="355600" y="1066800"/>
            <a:ext cx="7926830" cy="4914900"/>
          </a:xfrm>
        </p:spPr>
        <p:txBody>
          <a:bodyPr>
            <a:normAutofit/>
          </a:bodyPr>
          <a:lstStyle/>
          <a:p>
            <a:pPr marL="0" indent="0">
              <a:buNone/>
            </a:pPr>
            <a:r>
              <a:rPr lang="en-US" sz="1800" b="1" dirty="0">
                <a:latin typeface="+mn-lt"/>
              </a:rPr>
              <a:t>3. Refine and Test the Behavioral Model:</a:t>
            </a:r>
          </a:p>
          <a:p>
            <a:pPr lvl="1">
              <a:buFont typeface="Arial" panose="020B0604020202020204" pitchFamily="34" charset="0"/>
              <a:buChar char="•"/>
            </a:pPr>
            <a:r>
              <a:rPr lang="en-US" sz="1600" dirty="0">
                <a:latin typeface="+mn-lt"/>
              </a:rPr>
              <a:t>A verification environment for the high-level model is developed to refine and test the algorithm.</a:t>
            </a:r>
          </a:p>
          <a:p>
            <a:pPr lvl="1">
              <a:buFont typeface="Arial" panose="020B0604020202020204" pitchFamily="34" charset="0"/>
              <a:buChar char="•"/>
            </a:pPr>
            <a:r>
              <a:rPr lang="en-US" sz="1600" dirty="0">
                <a:latin typeface="+mn-lt"/>
              </a:rPr>
              <a:t>These are formulated into a preliminary specification, often written jointly by engineering and marketing.</a:t>
            </a:r>
          </a:p>
          <a:p>
            <a:pPr lvl="1">
              <a:buFont typeface="Arial" panose="020B0604020202020204" pitchFamily="34" charset="0"/>
              <a:buChar char="•"/>
            </a:pPr>
            <a:r>
              <a:rPr lang="en-US" sz="1600" dirty="0">
                <a:latin typeface="+mn-lt"/>
              </a:rPr>
              <a:t>If properly designed, it can also be used later to verify models for the hardware and software, such as an RTL model verified using hardware/software </a:t>
            </a:r>
            <a:r>
              <a:rPr lang="en-US" sz="1600" dirty="0" err="1">
                <a:latin typeface="+mn-lt"/>
              </a:rPr>
              <a:t>cosimulation</a:t>
            </a:r>
            <a:r>
              <a:rPr lang="en-US" sz="1600" dirty="0">
                <a:latin typeface="+mn-lt"/>
              </a:rPr>
              <a:t>.</a:t>
            </a:r>
          </a:p>
          <a:p>
            <a:pPr lvl="1">
              <a:buFont typeface="Arial" panose="020B0604020202020204" pitchFamily="34" charset="0"/>
              <a:buChar char="•"/>
            </a:pPr>
            <a:r>
              <a:rPr lang="en-US" sz="1600" dirty="0" err="1">
                <a:latin typeface="+mn-lt"/>
              </a:rPr>
              <a:t>Forsystems</a:t>
            </a:r>
            <a:r>
              <a:rPr lang="en-US" sz="1600" dirty="0">
                <a:latin typeface="+mn-lt"/>
              </a:rPr>
              <a:t> with very high algorithmic content, considerable model development, testing, and refinement occurs before the hardware/software partitioning.</a:t>
            </a:r>
          </a:p>
          <a:p>
            <a:pPr lvl="1">
              <a:buFont typeface="Arial" panose="020B0604020202020204" pitchFamily="34" charset="0"/>
              <a:buChar char="•"/>
            </a:pPr>
            <a:r>
              <a:rPr lang="en-US" sz="1600" dirty="0">
                <a:latin typeface="+mn-lt"/>
              </a:rPr>
              <a:t>For instance, a graphics or multimedia system may be initially coded in C/C++ with all floating-point operations. This approach allows the system architect to code and debug the basic algorithm quickly. Once the algorithm is determined, a fixed-point version of the model is developed. This allows the architect to determine what accuracy is required in each operation to achieve performance goals while minimizing die area. (was discussed in a previous meeting with Dr. Ahmed Hesham)</a:t>
            </a:r>
          </a:p>
          <a:p>
            <a:pPr marL="0" indent="0">
              <a:buNone/>
            </a:pPr>
            <a:endParaRPr lang="en-US" sz="2200" dirty="0">
              <a:latin typeface="+mn-lt"/>
            </a:endParaRPr>
          </a:p>
        </p:txBody>
      </p:sp>
      <p:sp>
        <p:nvSpPr>
          <p:cNvPr id="3" name="Title 2">
            <a:extLst>
              <a:ext uri="{FF2B5EF4-FFF2-40B4-BE49-F238E27FC236}">
                <a16:creationId xmlns:a16="http://schemas.microsoft.com/office/drawing/2014/main" id="{64C49674-C7BC-E424-54EB-1D18D6ED4B11}"/>
              </a:ext>
            </a:extLst>
          </p:cNvPr>
          <p:cNvSpPr>
            <a:spLocks noGrp="1"/>
          </p:cNvSpPr>
          <p:nvPr>
            <p:ph type="title"/>
          </p:nvPr>
        </p:nvSpPr>
        <p:spPr>
          <a:xfrm>
            <a:off x="342900" y="219456"/>
            <a:ext cx="10287000" cy="481991"/>
          </a:xfrm>
        </p:spPr>
        <p:txBody>
          <a:bodyPr/>
          <a:lstStyle/>
          <a:p>
            <a:r>
              <a:rPr lang="en-US" dirty="0"/>
              <a:t>4. The System Design Process</a:t>
            </a:r>
          </a:p>
        </p:txBody>
      </p:sp>
      <p:sp>
        <p:nvSpPr>
          <p:cNvPr id="4" name="Footer Placeholder 3">
            <a:extLst>
              <a:ext uri="{FF2B5EF4-FFF2-40B4-BE49-F238E27FC236}">
                <a16:creationId xmlns:a16="http://schemas.microsoft.com/office/drawing/2014/main" id="{2638A5CB-5447-9B9B-7499-5A880D7E034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98B8883-287B-AF0E-3406-059342C65DDA}"/>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F188ED5A-1554-3698-B734-5AD2E2C12064}"/>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D0506162-D75B-ED77-038C-CA703738A3C2}"/>
              </a:ext>
            </a:extLst>
          </p:cNvPr>
          <p:cNvPicPr>
            <a:picLocks noChangeAspect="1"/>
          </p:cNvPicPr>
          <p:nvPr/>
        </p:nvPicPr>
        <p:blipFill>
          <a:blip r:embed="rId2"/>
          <a:stretch>
            <a:fillRect/>
          </a:stretch>
        </p:blipFill>
        <p:spPr>
          <a:xfrm>
            <a:off x="8282430" y="1116472"/>
            <a:ext cx="3467516" cy="4865228"/>
          </a:xfrm>
          <a:prstGeom prst="rect">
            <a:avLst/>
          </a:prstGeom>
        </p:spPr>
      </p:pic>
    </p:spTree>
    <p:extLst>
      <p:ext uri="{BB962C8B-B14F-4D97-AF65-F5344CB8AC3E}">
        <p14:creationId xmlns:p14="http://schemas.microsoft.com/office/powerpoint/2010/main" val="25246172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E4EC5C-088B-AC56-E5BD-AEA87B27C90F}"/>
              </a:ext>
            </a:extLst>
          </p:cNvPr>
          <p:cNvSpPr>
            <a:spLocks noGrp="1"/>
          </p:cNvSpPr>
          <p:nvPr>
            <p:ph idx="1"/>
          </p:nvPr>
        </p:nvSpPr>
        <p:spPr>
          <a:xfrm>
            <a:off x="355600" y="1066799"/>
            <a:ext cx="7926830" cy="5468471"/>
          </a:xfrm>
        </p:spPr>
        <p:txBody>
          <a:bodyPr>
            <a:normAutofit fontScale="92500" lnSpcReduction="10000"/>
          </a:bodyPr>
          <a:lstStyle/>
          <a:p>
            <a:pPr marL="0" indent="0">
              <a:buNone/>
            </a:pPr>
            <a:r>
              <a:rPr lang="en-US" sz="1800" b="1" dirty="0">
                <a:latin typeface="+mn-lt"/>
              </a:rPr>
              <a:t>4. Determine the hardware/software partition (decomposition):</a:t>
            </a:r>
          </a:p>
          <a:p>
            <a:pPr lvl="1">
              <a:buFont typeface="Arial" panose="020B0604020202020204" pitchFamily="34" charset="0"/>
              <a:buChar char="•"/>
            </a:pPr>
            <a:r>
              <a:rPr lang="en-US" sz="1700" dirty="0">
                <a:latin typeface="+mn-lt"/>
              </a:rPr>
              <a:t>As the high-level model is refined, the system architects determine the hardware/software partition; that is, the division of system functionality between hardware and software. This requires judgement by experience and good understanding of the different tradeoffs.</a:t>
            </a:r>
          </a:p>
          <a:p>
            <a:pPr lvl="1">
              <a:buFont typeface="Arial" panose="020B0604020202020204" pitchFamily="34" charset="0"/>
              <a:buChar char="•"/>
            </a:pPr>
            <a:r>
              <a:rPr lang="en-US" sz="1700" dirty="0">
                <a:latin typeface="+mn-lt"/>
              </a:rPr>
              <a:t>The final step in hardware/software partitioning is to define the interfaces between hardware and software, and specify the communication protocols between them.</a:t>
            </a:r>
          </a:p>
          <a:p>
            <a:pPr>
              <a:buFont typeface="Arial" panose="020B0604020202020204" pitchFamily="34" charset="0"/>
              <a:buChar char="•"/>
            </a:pPr>
            <a:r>
              <a:rPr lang="en-US" sz="1800" b="1" dirty="0">
                <a:latin typeface="+mn-lt"/>
              </a:rPr>
              <a:t>5. Specify and develop a hardware architectural model</a:t>
            </a:r>
          </a:p>
          <a:p>
            <a:pPr lvl="1">
              <a:buFont typeface="Arial" panose="020B0604020202020204" pitchFamily="34" charset="0"/>
              <a:buChar char="•"/>
            </a:pPr>
            <a:r>
              <a:rPr lang="en-US" sz="1700" dirty="0">
                <a:latin typeface="+mn-lt"/>
              </a:rPr>
              <a:t>Once the requirements for the hardware are defined, it is necessary to specify a detailed hardware architecture. This involves determining which hardware blocks will be used and how they will communicate.</a:t>
            </a:r>
          </a:p>
          <a:p>
            <a:pPr lvl="1">
              <a:buFont typeface="Arial" panose="020B0604020202020204" pitchFamily="34" charset="0"/>
              <a:buChar char="•"/>
            </a:pPr>
            <a:r>
              <a:rPr lang="en-US" sz="1700" dirty="0">
                <a:latin typeface="+mn-lt"/>
              </a:rPr>
              <a:t>Memory architecture, bus structure and bus bandwidth can be critical issues. Most SoC chips have many different blocks communicating over one or more buses. The traffic over these buses and thus the required bandwidth can be very application dependent, so it becomes necessary to evaluate architectures by running substantial amounts of representative application code on them.</a:t>
            </a:r>
          </a:p>
          <a:p>
            <a:pPr lvl="1">
              <a:buFont typeface="Arial" panose="020B0604020202020204" pitchFamily="34" charset="0"/>
              <a:buChar char="•"/>
            </a:pPr>
            <a:r>
              <a:rPr lang="en-US" sz="1700" dirty="0">
                <a:latin typeface="+mn-lt"/>
              </a:rPr>
              <a:t>Running significant amounts of application code on an RTL-level design is often too time consuming to be practical. To address this problem, designers are using transaction-level models to model interfaces and bus behavior. By eliminating the detailed behavior of pins and signals on a bus or interface, these models can run considerably faster than RTL models, yet still give accurate estimates of performance.</a:t>
            </a:r>
          </a:p>
          <a:p>
            <a:pPr lvl="1">
              <a:buFont typeface="Arial" panose="020B0604020202020204" pitchFamily="34" charset="0"/>
              <a:buChar char="•"/>
            </a:pPr>
            <a:r>
              <a:rPr lang="en-US" sz="1700" dirty="0">
                <a:latin typeface="+mn-lt"/>
              </a:rPr>
              <a:t>Determining the final hardware architecture consists of developing, testing, and modifying architectural-level models of the system until an architecture is demonstrated to meet the system requirements.</a:t>
            </a:r>
          </a:p>
        </p:txBody>
      </p:sp>
      <p:sp>
        <p:nvSpPr>
          <p:cNvPr id="3" name="Title 2">
            <a:extLst>
              <a:ext uri="{FF2B5EF4-FFF2-40B4-BE49-F238E27FC236}">
                <a16:creationId xmlns:a16="http://schemas.microsoft.com/office/drawing/2014/main" id="{64C49674-C7BC-E424-54EB-1D18D6ED4B11}"/>
              </a:ext>
            </a:extLst>
          </p:cNvPr>
          <p:cNvSpPr>
            <a:spLocks noGrp="1"/>
          </p:cNvSpPr>
          <p:nvPr>
            <p:ph type="title"/>
          </p:nvPr>
        </p:nvSpPr>
        <p:spPr>
          <a:xfrm>
            <a:off x="342900" y="219456"/>
            <a:ext cx="10287000" cy="481991"/>
          </a:xfrm>
        </p:spPr>
        <p:txBody>
          <a:bodyPr/>
          <a:lstStyle/>
          <a:p>
            <a:r>
              <a:rPr lang="en-US" dirty="0"/>
              <a:t>4. The System Design Process</a:t>
            </a:r>
          </a:p>
        </p:txBody>
      </p:sp>
      <p:sp>
        <p:nvSpPr>
          <p:cNvPr id="4" name="Footer Placeholder 3">
            <a:extLst>
              <a:ext uri="{FF2B5EF4-FFF2-40B4-BE49-F238E27FC236}">
                <a16:creationId xmlns:a16="http://schemas.microsoft.com/office/drawing/2014/main" id="{2638A5CB-5447-9B9B-7499-5A880D7E034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98B8883-287B-AF0E-3406-059342C65DDA}"/>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F188ED5A-1554-3698-B734-5AD2E2C12064}"/>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D0506162-D75B-ED77-038C-CA703738A3C2}"/>
              </a:ext>
            </a:extLst>
          </p:cNvPr>
          <p:cNvPicPr>
            <a:picLocks noChangeAspect="1"/>
          </p:cNvPicPr>
          <p:nvPr/>
        </p:nvPicPr>
        <p:blipFill>
          <a:blip r:embed="rId2"/>
          <a:stretch>
            <a:fillRect/>
          </a:stretch>
        </p:blipFill>
        <p:spPr>
          <a:xfrm>
            <a:off x="8282430" y="1116472"/>
            <a:ext cx="3467516" cy="4865228"/>
          </a:xfrm>
          <a:prstGeom prst="rect">
            <a:avLst/>
          </a:prstGeom>
        </p:spPr>
      </p:pic>
    </p:spTree>
    <p:extLst>
      <p:ext uri="{BB962C8B-B14F-4D97-AF65-F5344CB8AC3E}">
        <p14:creationId xmlns:p14="http://schemas.microsoft.com/office/powerpoint/2010/main" val="22377767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E4EC5C-088B-AC56-E5BD-AEA87B27C90F}"/>
              </a:ext>
            </a:extLst>
          </p:cNvPr>
          <p:cNvSpPr>
            <a:spLocks noGrp="1"/>
          </p:cNvSpPr>
          <p:nvPr>
            <p:ph idx="1"/>
          </p:nvPr>
        </p:nvSpPr>
        <p:spPr>
          <a:xfrm>
            <a:off x="355600" y="1066800"/>
            <a:ext cx="7926830" cy="4914900"/>
          </a:xfrm>
        </p:spPr>
        <p:txBody>
          <a:bodyPr>
            <a:normAutofit/>
          </a:bodyPr>
          <a:lstStyle/>
          <a:p>
            <a:pPr marL="0" indent="0">
              <a:buNone/>
            </a:pPr>
            <a:r>
              <a:rPr lang="en-US" sz="1800" b="1" dirty="0">
                <a:latin typeface="+mn-lt"/>
              </a:rPr>
              <a:t>6. Refine and Test the architectural Model:</a:t>
            </a:r>
          </a:p>
          <a:p>
            <a:pPr lvl="1">
              <a:buFont typeface="Arial" panose="020B0604020202020204" pitchFamily="34" charset="0"/>
              <a:buChar char="•"/>
            </a:pPr>
            <a:r>
              <a:rPr lang="en-US" sz="1600" dirty="0">
                <a:latin typeface="+mn-lt"/>
              </a:rPr>
              <a:t>One of the classic problems in system design is that software development often starts only once the hardware has been built. This serialization of hardware and software development has led to many delayed or even cancelled projects.</a:t>
            </a:r>
          </a:p>
          <a:p>
            <a:pPr lvl="1">
              <a:buFont typeface="Arial" panose="020B0604020202020204" pitchFamily="34" charset="0"/>
              <a:buChar char="•"/>
            </a:pPr>
            <a:r>
              <a:rPr lang="en-US" sz="1600" dirty="0">
                <a:latin typeface="+mn-lt"/>
              </a:rPr>
              <a:t>The architectural model for the system can be used for hardware/software </a:t>
            </a:r>
            <a:r>
              <a:rPr lang="en-US" sz="1600" dirty="0" err="1">
                <a:latin typeface="+mn-lt"/>
              </a:rPr>
              <a:t>cosimulation</a:t>
            </a:r>
            <a:r>
              <a:rPr lang="en-US" sz="1600" dirty="0">
                <a:latin typeface="+mn-lt"/>
              </a:rPr>
              <a:t>. It provides sufficient accuracy that software can be developed and debugged on it, long in advance of getting actual hardware.</a:t>
            </a:r>
          </a:p>
          <a:p>
            <a:pPr lvl="1">
              <a:buFont typeface="Arial" panose="020B0604020202020204" pitchFamily="34" charset="0"/>
              <a:buChar char="•"/>
            </a:pPr>
            <a:r>
              <a:rPr lang="en-US" sz="1600" dirty="0">
                <a:latin typeface="+mn-lt"/>
              </a:rPr>
              <a:t>Having fast, accurate models of the hardware will be key to this aspect of SoC design.</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lang="en-US" sz="1800" b="1" dirty="0">
                <a:latin typeface="Times New Roman"/>
              </a:rPr>
              <a:t>7</a:t>
            </a:r>
            <a:r>
              <a:rPr kumimoji="0" lang="en-US" sz="1800" b="1" i="0" u="none" strike="noStrike" kern="1200" cap="none" spc="0" normalizeH="0" baseline="0" noProof="0" dirty="0">
                <a:ln>
                  <a:noFill/>
                </a:ln>
                <a:solidFill>
                  <a:srgbClr val="000000"/>
                </a:solidFill>
                <a:effectLst/>
                <a:uLnTx/>
                <a:uFillTx/>
                <a:latin typeface="Times New Roman"/>
                <a:ea typeface="+mn-ea"/>
                <a:cs typeface="+mn-cs"/>
              </a:rPr>
              <a:t>. Specify Implementation blocks</a:t>
            </a:r>
          </a:p>
          <a:p>
            <a:pPr lvl="1">
              <a:spcBef>
                <a:spcPts val="1000"/>
              </a:spcBef>
              <a:buClr>
                <a:srgbClr val="B1B3B3"/>
              </a:buClr>
              <a:buSzPct val="65000"/>
              <a:defRPr/>
            </a:pPr>
            <a:r>
              <a:rPr lang="en-US" sz="1600" dirty="0">
                <a:latin typeface="+mn-lt"/>
              </a:rPr>
              <a:t>The output of the architectural exploration activity is a hardware specification: a detailed specification of the functionality, performance, and interfaces for the hardware system and its component blocks.</a:t>
            </a:r>
          </a:p>
          <a:p>
            <a:pPr lvl="1">
              <a:spcBef>
                <a:spcPts val="1000"/>
              </a:spcBef>
              <a:buClr>
                <a:srgbClr val="B1B3B3"/>
              </a:buClr>
              <a:buSzPct val="65000"/>
              <a:defRPr/>
            </a:pPr>
            <a:r>
              <a:rPr lang="en-US" sz="1600" dirty="0">
                <a:latin typeface="+mn-lt"/>
              </a:rPr>
              <a:t>In its written form, the hardware specification includes a description of the basic functions, the timing, area, and power requirements, and the physical and software interfaces, with detailed descriptions of the I/O pins and the register map.</a:t>
            </a:r>
          </a:p>
          <a:p>
            <a:pPr lvl="1">
              <a:spcBef>
                <a:spcPts val="1000"/>
              </a:spcBef>
              <a:buClr>
                <a:srgbClr val="B1B3B3"/>
              </a:buClr>
              <a:buSzPct val="65000"/>
              <a:defRPr/>
            </a:pPr>
            <a:r>
              <a:rPr lang="en-US" sz="1600" dirty="0">
                <a:latin typeface="+mn-lt"/>
              </a:rPr>
              <a:t>The architectural model itself functions as an executable specification for the hardware.</a:t>
            </a:r>
            <a:endParaRPr kumimoji="0" lang="en-US" sz="1600" b="1" i="0" u="none" strike="noStrike" kern="1200" cap="none" spc="0" normalizeH="0" baseline="0" noProof="0" dirty="0">
              <a:ln>
                <a:noFill/>
              </a:ln>
              <a:solidFill>
                <a:srgbClr val="000000"/>
              </a:solidFill>
              <a:effectLst/>
              <a:uLnTx/>
              <a:uFillTx/>
              <a:latin typeface="+mn-lt"/>
              <a:ea typeface="+mn-ea"/>
              <a:cs typeface="+mn-cs"/>
            </a:endParaRPr>
          </a:p>
          <a:p>
            <a:pPr marL="0" indent="0">
              <a:buNone/>
            </a:pPr>
            <a:endParaRPr lang="en-US" sz="2200" dirty="0">
              <a:latin typeface="+mn-lt"/>
            </a:endParaRPr>
          </a:p>
        </p:txBody>
      </p:sp>
      <p:sp>
        <p:nvSpPr>
          <p:cNvPr id="3" name="Title 2">
            <a:extLst>
              <a:ext uri="{FF2B5EF4-FFF2-40B4-BE49-F238E27FC236}">
                <a16:creationId xmlns:a16="http://schemas.microsoft.com/office/drawing/2014/main" id="{64C49674-C7BC-E424-54EB-1D18D6ED4B11}"/>
              </a:ext>
            </a:extLst>
          </p:cNvPr>
          <p:cNvSpPr>
            <a:spLocks noGrp="1"/>
          </p:cNvSpPr>
          <p:nvPr>
            <p:ph type="title"/>
          </p:nvPr>
        </p:nvSpPr>
        <p:spPr>
          <a:xfrm>
            <a:off x="342900" y="219456"/>
            <a:ext cx="10287000" cy="481991"/>
          </a:xfrm>
        </p:spPr>
        <p:txBody>
          <a:bodyPr/>
          <a:lstStyle/>
          <a:p>
            <a:r>
              <a:rPr lang="en-US" dirty="0"/>
              <a:t>4. The System Design Process</a:t>
            </a:r>
          </a:p>
        </p:txBody>
      </p:sp>
      <p:sp>
        <p:nvSpPr>
          <p:cNvPr id="4" name="Footer Placeholder 3">
            <a:extLst>
              <a:ext uri="{FF2B5EF4-FFF2-40B4-BE49-F238E27FC236}">
                <a16:creationId xmlns:a16="http://schemas.microsoft.com/office/drawing/2014/main" id="{2638A5CB-5447-9B9B-7499-5A880D7E034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98B8883-287B-AF0E-3406-059342C65DDA}"/>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F188ED5A-1554-3698-B734-5AD2E2C12064}"/>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D0506162-D75B-ED77-038C-CA703738A3C2}"/>
              </a:ext>
            </a:extLst>
          </p:cNvPr>
          <p:cNvPicPr>
            <a:picLocks noChangeAspect="1"/>
          </p:cNvPicPr>
          <p:nvPr/>
        </p:nvPicPr>
        <p:blipFill>
          <a:blip r:embed="rId2"/>
          <a:stretch>
            <a:fillRect/>
          </a:stretch>
        </p:blipFill>
        <p:spPr>
          <a:xfrm>
            <a:off x="8282430" y="1116472"/>
            <a:ext cx="3467516" cy="4865228"/>
          </a:xfrm>
          <a:prstGeom prst="rect">
            <a:avLst/>
          </a:prstGeom>
        </p:spPr>
      </p:pic>
    </p:spTree>
    <p:extLst>
      <p:ext uri="{BB962C8B-B14F-4D97-AF65-F5344CB8AC3E}">
        <p14:creationId xmlns:p14="http://schemas.microsoft.com/office/powerpoint/2010/main" val="9732988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ADI 2019 16x9 Light</Template>
  <TotalTime>2466</TotalTime>
  <Words>2827</Words>
  <Application>Microsoft Office PowerPoint</Application>
  <PresentationFormat>Widescreen</PresentationFormat>
  <Paragraphs>186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Barlow</vt:lpstr>
      <vt:lpstr>Times New Roman</vt:lpstr>
      <vt:lpstr>Wingdings</vt:lpstr>
      <vt:lpstr>Wingdings 3</vt:lpstr>
      <vt:lpstr>1_ADITemplate</vt:lpstr>
      <vt:lpstr>PowerPoint Presentation</vt:lpstr>
      <vt:lpstr>Chapter content</vt:lpstr>
      <vt:lpstr>1. A Canonical SoC Design</vt:lpstr>
      <vt:lpstr>2. System Design Flow</vt:lpstr>
      <vt:lpstr>2. System Design Flow</vt:lpstr>
      <vt:lpstr>2. System Design Flow</vt:lpstr>
      <vt:lpstr>2. System Design Flow</vt:lpstr>
      <vt:lpstr>2. System Design Flow</vt:lpstr>
      <vt:lpstr>3. The Specification Problem </vt:lpstr>
      <vt:lpstr>3. The Specification Problem </vt:lpstr>
      <vt:lpstr>3. The Specification Problem </vt:lpstr>
      <vt:lpstr>4. The System Design Process</vt:lpstr>
      <vt:lpstr>4. The System Design Process</vt:lpstr>
      <vt:lpstr>4. The System Design Process</vt:lpstr>
      <vt:lpstr>4. The System Design Process</vt:lpstr>
      <vt:lpstr>4. The System Design Process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Slides: Header Titles (Arial 36 pt.)</dc:title>
  <dc:subject/>
  <dc:creator>Mehana, Ahmed</dc:creator>
  <cp:keywords/>
  <dc:description>ADI PowerPoint v.8 © 1995 - 2019 Analog Devices, Inc. All Rights Reserved</dc:description>
  <cp:lastModifiedBy>youssef khaled</cp:lastModifiedBy>
  <cp:revision>37</cp:revision>
  <cp:lastPrinted>2015-04-02T14:52:35Z</cp:lastPrinted>
  <dcterms:created xsi:type="dcterms:W3CDTF">2022-01-31T08:24:08Z</dcterms:created>
  <dcterms:modified xsi:type="dcterms:W3CDTF">2022-10-11T19:19:09Z</dcterms:modified>
  <cp:category/>
</cp:coreProperties>
</file>